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tags/tag3.xml" ContentType="application/vnd.openxmlformats-officedocument.presentationml.tags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6.xml" ContentType="application/vnd.openxmlformats-officedocument.presentationml.tags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9" r:id="rId2"/>
    <p:sldId id="262" r:id="rId3"/>
    <p:sldId id="265" r:id="rId4"/>
    <p:sldId id="291" r:id="rId5"/>
    <p:sldId id="266" r:id="rId6"/>
    <p:sldId id="290" r:id="rId7"/>
    <p:sldId id="274" r:id="rId8"/>
    <p:sldId id="279" r:id="rId9"/>
    <p:sldId id="276" r:id="rId10"/>
    <p:sldId id="267" r:id="rId11"/>
    <p:sldId id="289" r:id="rId12"/>
    <p:sldId id="269" r:id="rId13"/>
    <p:sldId id="292" r:id="rId14"/>
    <p:sldId id="280" r:id="rId15"/>
    <p:sldId id="293" r:id="rId16"/>
    <p:sldId id="281" r:id="rId17"/>
    <p:sldId id="294" r:id="rId18"/>
    <p:sldId id="282" r:id="rId19"/>
    <p:sldId id="295" r:id="rId20"/>
    <p:sldId id="283" r:id="rId21"/>
    <p:sldId id="296" r:id="rId22"/>
    <p:sldId id="284" r:id="rId23"/>
    <p:sldId id="285" r:id="rId24"/>
    <p:sldId id="286" r:id="rId25"/>
    <p:sldId id="287" r:id="rId26"/>
    <p:sldId id="288" r:id="rId27"/>
    <p:sldId id="298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AFE"/>
    <a:srgbClr val="0024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6923" autoAdjust="0"/>
  </p:normalViewPr>
  <p:slideViewPr>
    <p:cSldViewPr snapToGrid="0">
      <p:cViewPr>
        <p:scale>
          <a:sx n="50" d="100"/>
          <a:sy n="50" d="100"/>
        </p:scale>
        <p:origin x="720" y="3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8995B-B683-4FC5-8F29-E83AB3DECD83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C10804-8C70-4382-AB20-05252F80E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7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Bonjour à tous, je suis BELKADI HAMZA, étudiant en 1</a:t>
            </a:r>
            <a:r>
              <a:rPr lang="fr-FR" baseline="30000" dirty="0"/>
              <a:t>er</a:t>
            </a:r>
            <a:r>
              <a:rPr lang="fr-FR" dirty="0"/>
              <a:t> année master d’excellence en intelligence artificiel. Aujourd’hui, je vais vous présenter un « Aperçu Pratique de la Conception des Systèmes ». Cette présentation a pour but d’introduire les concepts fondamentaux qui permettent de construire des systèmes informatiques robustes, performants et évolutifs.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84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Tout système informatique repose sur une architecture de base : un utilisateur, un serveur et une base de données. C’est le modèle client-serveur que nous allons explorer et enrichir tout au long de cette présentation.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81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Avant de parler de réseau, rappelons les composants clés d’un ordinateur </a:t>
            </a:r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: </a:t>
            </a:r>
          </a:p>
          <a:p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le CPU pour le traitement, </a:t>
            </a:r>
          </a:p>
          <a:p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la RAM pour la mémoire vive, </a:t>
            </a:r>
          </a:p>
          <a:p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et le disque pour le stockage permanent. </a:t>
            </a:r>
          </a:p>
          <a:p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La mémoire cache sert d'intermédiaire rapide entre ces composants.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14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applications communiquent entre elles via des APIs. Il existe différents paradigmes 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23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application suit un cycle : développement, construction, déploiement. Aujourd’hui, on utilise souvent des outils d’automatisation et des conteneurs pour déployer rapidement et de manière 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40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maintenant au réseau. Pour qu’un utilisateur communique avec un serveur, il faut des adresses IP.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21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Une adresse IP est l’identifiant unique d’un appareil sur un réseau, comme l’adresse postale d’une maison.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IPv4 : 32 bits, environ 4 milliards d’adresses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IPv6 : 128 bits, un nombre quasi illimité d’adresses </a:t>
            </a:r>
          </a:p>
          <a:p>
            <a:r>
              <a:rPr lang="fr-FR" dirty="0"/>
              <a:t>Sans adresse IP, pas de communication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18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Mais nous n’utilisons pas des adresses IP numériques pour surfer sur le web. Nous utilisons des noms de domaine comme google.com. </a:t>
            </a:r>
          </a:p>
          <a:p>
            <a:r>
              <a:rPr lang="fr-FR" dirty="0"/>
              <a:t>Le DNS est l’annuaire d’Internet qui traduit ces noms en adresses IP.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04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dirty="0"/>
              <a:t>Une fois l’adresse obtenue, les machines communiquent via des protocoles :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HTTP : pour les pages web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HTTPS : la version sécurisée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RPC : pour appeler des fonctions à distance </a:t>
            </a:r>
          </a:p>
          <a:p>
            <a:pPr algn="l"/>
            <a:r>
              <a:rPr lang="fr-FR" dirty="0"/>
              <a:t>C’est le langage commun des machines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88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dirty="0"/>
              <a:t>Pour transporter les données, on utilise principalement deux protocoles 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TCP : fiable et ordonné, comme un appel téléphonique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UDP : rapide mais sans garantie, comme une lettre jetée dans une boîte </a:t>
            </a:r>
          </a:p>
          <a:p>
            <a:pPr algn="l"/>
            <a:r>
              <a:rPr lang="fr-FR" dirty="0"/>
              <a:t>Le choix dépend de l’application : TCP pour le web, UDP pour le streaming ou les jeux.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Revenons à notre architecture globale. Maintenant, nous allons nous concentrer sur la partie application : comment on la construit et la déploie.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07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dirty="0"/>
              <a:t>REST : simple et standard, idéal pour les API publiques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dirty="0" err="1"/>
              <a:t>GraphQL</a:t>
            </a:r>
            <a:r>
              <a:rPr lang="fr-FR" dirty="0"/>
              <a:t> : flexible, évite de récupérer trop ou trop peu de données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fr-FR" dirty="0" err="1"/>
              <a:t>gRPC</a:t>
            </a:r>
            <a:r>
              <a:rPr lang="fr-FR" dirty="0"/>
              <a:t> : haute performance, binaire, parfait pour les </a:t>
            </a:r>
            <a:r>
              <a:rPr lang="fr-FR" dirty="0" err="1"/>
              <a:t>microservices</a:t>
            </a:r>
            <a:r>
              <a:rPr lang="fr-FR" dirty="0"/>
              <a:t> internes </a:t>
            </a:r>
          </a:p>
          <a:p>
            <a:pPr algn="l">
              <a:buFont typeface="Arial" panose="020B0604020202020204" pitchFamily="34" charset="0"/>
              <a:buNone/>
            </a:pPr>
            <a:r>
              <a:rPr lang="fr-FR" dirty="0"/>
              <a:t>Le choix dépend des besoins en performance et en flexibilité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1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Passons maintenant à la performance et la scalabilité. </a:t>
            </a:r>
          </a:p>
          <a:p>
            <a:r>
              <a:rPr lang="fr-FR" dirty="0"/>
              <a:t>Comment fait-on pour que le système supporte des millions d’utilisateurs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259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fr-FR" dirty="0"/>
              <a:t>Le cache est une couche de mémoire rapide qui stocke les données fréquemment demandées.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dirty="0"/>
              <a:t>Cache Hit : la donnée est dans le cache → réponse rapide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r>
              <a:rPr lang="fr-FR" dirty="0"/>
              <a:t>Cache Miss : la donnée n’est pas dans le cache → on va la chercher en base de données </a:t>
            </a:r>
          </a:p>
          <a:p>
            <a:pPr algn="just"/>
            <a:r>
              <a:rPr lang="fr-FR" dirty="0"/>
              <a:t>Cela réduit la charge sur la base de données et accélère les réponses.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1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les contenus statiques (images, vidéos, CSS, JS), on utilise un CDN (Content Delivery Network).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65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 CDN est un réseau de serveurs distribués géographiquement.</a:t>
            </a:r>
          </a:p>
          <a:p>
            <a:r>
              <a:rPr lang="fr-FR" dirty="0"/>
              <a:t>L’utilisateur est redirigé vers le serveur le plus proche, ce qui réduit la latence et accélère le chargement.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157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dirty="0"/>
              <a:t>Les proxys sont des intermédiaires entre l’utilisateur et le serveur.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Proxy </a:t>
            </a:r>
            <a:r>
              <a:rPr lang="fr-FR" dirty="0" err="1"/>
              <a:t>Forward</a:t>
            </a:r>
            <a:r>
              <a:rPr lang="fr-FR" dirty="0"/>
              <a:t> : côté client, pour anonymiser ou filtrer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Proxy Reverse : côté serveur, pour répartir la charge ou sécuriser.</a:t>
            </a: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fr-FR" dirty="0"/>
              <a:t>Un proxy reverse, par exemple, peut cacher l’architecture interne du serveur et répartir les requêtes entre plusieurs machines.</a:t>
            </a:r>
            <a:endParaRPr lang="fr-FR" b="0" i="0" dirty="0">
              <a:solidFill>
                <a:srgbClr val="E3E3E8"/>
              </a:solidFill>
              <a:effectLst/>
              <a:latin typeface="system-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61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gérer un grand nombre de connexions, on utilise un </a:t>
            </a:r>
            <a:r>
              <a:rPr lang="fr-FR" dirty="0" err="1"/>
              <a:t>Load</a:t>
            </a:r>
            <a:r>
              <a:rPr lang="fr-FR" dirty="0"/>
              <a:t> Balancer (équilibreur de charge).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04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load</a:t>
            </a:r>
            <a:r>
              <a:rPr lang="fr-FR" dirty="0"/>
              <a:t> balancer répartit les requêtes entre plusieurs serveurs pour éviter la surcharge d’un seul.</a:t>
            </a:r>
          </a:p>
          <a:p>
            <a:r>
              <a:rPr lang="fr-FR" dirty="0"/>
              <a:t>C’est essentiel pour la haute disponibilité et la scalabilité horizontale.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71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Enfin, parlons des données. Comment stocke-t-on et gère-t-on les données de manière efficace et fiable 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67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deux grandes familles 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SQL : structuré, relationnel, avec des schémas fixes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fr-FR" dirty="0"/>
              <a:t>NoSQL : non relationnel, flexible, adapté aux données non structurées </a:t>
            </a:r>
          </a:p>
          <a:p>
            <a:r>
              <a:rPr lang="fr-FR" dirty="0"/>
              <a:t>Le choix dépend du type de données et des besoins en scalabilité.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01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améliorer la disponibilité et la performance des bases de données, on utilise 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 err="1">
                <a:solidFill>
                  <a:srgbClr val="E3E3E8"/>
                </a:solidFill>
                <a:effectLst/>
                <a:latin typeface="system-ui"/>
              </a:rPr>
              <a:t>Replication</a:t>
            </a:r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 : copie des données sur plusieurs serveurs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r-FR" b="1" i="0" dirty="0" err="1">
                <a:solidFill>
                  <a:srgbClr val="E3E3E8"/>
                </a:solidFill>
                <a:effectLst/>
                <a:latin typeface="system-ui"/>
              </a:rPr>
              <a:t>Sharding</a:t>
            </a:r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 : division des données en partitions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492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dirty="0"/>
              <a:t>Un concept fondamental en bases de données distribuées est le théorème CAP :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 err="1"/>
              <a:t>Consistency</a:t>
            </a:r>
            <a:r>
              <a:rPr lang="fr-FR" dirty="0"/>
              <a:t> : tous les nœuds voient les mêmes données au même moment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 err="1"/>
              <a:t>Availability</a:t>
            </a:r>
            <a:r>
              <a:rPr lang="fr-FR" dirty="0"/>
              <a:t> : le système répond toujours, même en cas de panne partielle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Partition </a:t>
            </a:r>
            <a:r>
              <a:rPr lang="fr-FR" dirty="0" err="1"/>
              <a:t>Tolerance</a:t>
            </a:r>
            <a:r>
              <a:rPr lang="fr-FR" dirty="0"/>
              <a:t> : le système continue de fonctionner même si des nœuds sont coupés </a:t>
            </a:r>
          </a:p>
          <a:p>
            <a:pPr algn="l"/>
            <a:r>
              <a:rPr lang="fr-FR" dirty="0"/>
              <a:t>En cas de partition réseau, on doit choisir entre CP (cohérence) et AP (disponibilité).</a:t>
            </a:r>
            <a:endParaRPr lang="fr-FR" b="0" i="0" dirty="0">
              <a:solidFill>
                <a:srgbClr val="E3E3E8"/>
              </a:solidFill>
              <a:effectLst/>
              <a:latin typeface="system-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742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les fichiers volumineux (images, vidéos, PDF), on utilise du stockage d’objets (BLOB : </a:t>
            </a:r>
            <a:r>
              <a:rPr lang="fr-FR" dirty="0" err="1"/>
              <a:t>Binary</a:t>
            </a:r>
            <a:r>
              <a:rPr lang="fr-FR" dirty="0"/>
              <a:t> Large Object). </a:t>
            </a:r>
          </a:p>
          <a:p>
            <a:r>
              <a:rPr lang="fr-FR" dirty="0"/>
              <a:t>Chaque objet a un identifiant unique et des métadonnées associées.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5392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fr-FR" dirty="0"/>
              <a:t>Enfin, pour gérer l’asynchronisme et découpler les composants, on utilise des files d’attente de messages. 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Les </a:t>
            </a:r>
            <a:r>
              <a:rPr lang="fr-FR" b="1" dirty="0" err="1"/>
              <a:t>producers</a:t>
            </a:r>
            <a:r>
              <a:rPr lang="fr-FR" dirty="0"/>
              <a:t> envoient des messages dans une file</a:t>
            </a:r>
          </a:p>
          <a:p>
            <a:pPr marL="628650" lvl="1" indent="-171450" algn="l">
              <a:buFont typeface="Arial" panose="020B0604020202020204" pitchFamily="34" charset="0"/>
              <a:buChar char="•"/>
            </a:pPr>
            <a:r>
              <a:rPr lang="fr-FR" dirty="0"/>
              <a:t>Les </a:t>
            </a:r>
            <a:r>
              <a:rPr lang="fr-FR" b="1" dirty="0" err="1"/>
              <a:t>consumers</a:t>
            </a:r>
            <a:r>
              <a:rPr lang="fr-FR" dirty="0"/>
              <a:t> les récupèrent et les </a:t>
            </a:r>
            <a:r>
              <a:rPr lang="fr-FR" dirty="0" err="1"/>
              <a:t>traitent</a:t>
            </a:r>
            <a:r>
              <a:rPr lang="fr-FR" b="0" i="0" dirty="0" err="1">
                <a:solidFill>
                  <a:srgbClr val="E3E3E8"/>
                </a:solidFill>
                <a:effectLst/>
                <a:latin typeface="system-ui"/>
              </a:rPr>
              <a:t>nvoient</a:t>
            </a:r>
            <a:r>
              <a:rPr lang="fr-FR" b="0" i="0" dirty="0">
                <a:solidFill>
                  <a:srgbClr val="E3E3E8"/>
                </a:solidFill>
                <a:effectLst/>
                <a:latin typeface="system-ui"/>
              </a:rPr>
              <a:t> des messages et des consommateurs qui les traitent via des topics.</a:t>
            </a:r>
          </a:p>
          <a:p>
            <a:pPr algn="l"/>
            <a:r>
              <a:rPr lang="fr-FR" dirty="0"/>
              <a:t>Cela permet de gérer les pics de charge et d’assurer la fiabilité des traitements.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044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Merci de </a:t>
            </a:r>
            <a:r>
              <a:rPr lang="en-US" dirty="0" err="1"/>
              <a:t>votre</a:t>
            </a:r>
            <a:r>
              <a:rPr lang="en-US" dirty="0"/>
              <a:t>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C10804-8C70-4382-AB20-05252F80EDF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48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430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5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5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96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477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782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85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415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8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87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722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719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976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563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4375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0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BD48FB5-C305-4DA8-AAF8-21AD66982451}" type="datetimeFigureOut">
              <a:rPr lang="en-US" smtClean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F8D4191-397C-408B-8BC3-BFD2C369BD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13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29C1-3D1D-D8F2-E6D4-3E7B99956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3445"/>
            <a:ext cx="10515600" cy="732155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tx1"/>
                </a:solidFill>
              </a:rPr>
              <a:t>Aperçu Pratique De La Conception De Systèmes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EBD6F1-53D7-0C67-A64D-DEEC09490B14}"/>
              </a:ext>
            </a:extLst>
          </p:cNvPr>
          <p:cNvGrpSpPr/>
          <p:nvPr/>
        </p:nvGrpSpPr>
        <p:grpSpPr>
          <a:xfrm>
            <a:off x="4274666" y="2300509"/>
            <a:ext cx="3642669" cy="3018982"/>
            <a:chOff x="3855565" y="1742573"/>
            <a:chExt cx="3642669" cy="3018982"/>
          </a:xfrm>
        </p:grpSpPr>
        <p:pic>
          <p:nvPicPr>
            <p:cNvPr id="9218" name="Picture 2">
              <a:extLst>
                <a:ext uri="{FF2B5EF4-FFF2-40B4-BE49-F238E27FC236}">
                  <a16:creationId xmlns:a16="http://schemas.microsoft.com/office/drawing/2014/main" id="{3307B5B2-1820-D62C-5AAE-A1AB288C53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5949" y="1742573"/>
              <a:ext cx="2501900" cy="2501900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0ED39DC-014C-8A0E-E746-E3C9CCB38C7E}"/>
                </a:ext>
              </a:extLst>
            </p:cNvPr>
            <p:cNvSpPr txBox="1"/>
            <p:nvPr/>
          </p:nvSpPr>
          <p:spPr>
            <a:xfrm>
              <a:off x="3855565" y="4299890"/>
              <a:ext cx="36426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BELKADI HAMZA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94A593E-1636-D8DF-3824-46E3FAA2C0C3}"/>
              </a:ext>
            </a:extLst>
          </p:cNvPr>
          <p:cNvSpPr txBox="1"/>
          <p:nvPr/>
        </p:nvSpPr>
        <p:spPr>
          <a:xfrm>
            <a:off x="2768215" y="5903051"/>
            <a:ext cx="6655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Master D'excellence En Intelligence Artificielle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959213-D153-1B4D-70C2-2BA6B54DCF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021" y="123084"/>
            <a:ext cx="1645920" cy="64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EF1B2B-0AC5-41EC-3C04-E0FE66838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059" y="118537"/>
            <a:ext cx="1645920" cy="6400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3193BB6-CBBF-876C-61A5-92939F1ED293}"/>
              </a:ext>
            </a:extLst>
          </p:cNvPr>
          <p:cNvSpPr txBox="1"/>
          <p:nvPr/>
        </p:nvSpPr>
        <p:spPr>
          <a:xfrm>
            <a:off x="3247081" y="6249944"/>
            <a:ext cx="56978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2025/2026</a:t>
            </a:r>
          </a:p>
        </p:txBody>
      </p:sp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BB303853-F59D-B954-BFD8-82164EFC5E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0495" t="9663" r="20812" b="10676"/>
          <a:stretch/>
        </p:blipFill>
        <p:spPr>
          <a:xfrm>
            <a:off x="809380" y="5312122"/>
            <a:ext cx="457200" cy="972713"/>
          </a:xfrm>
          <a:prstGeom prst="rect">
            <a:avLst/>
          </a:prstGeom>
        </p:spPr>
      </p:pic>
      <p:pic>
        <p:nvPicPr>
          <p:cNvPr id="21" name="Graphic 20" descr="Monitor with solid fill">
            <a:extLst>
              <a:ext uri="{FF2B5EF4-FFF2-40B4-BE49-F238E27FC236}">
                <a16:creationId xmlns:a16="http://schemas.microsoft.com/office/drawing/2014/main" id="{17471EA0-9927-041D-4A4A-09D3F247B3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515" t="14557" r="8414" b="14388"/>
          <a:stretch/>
        </p:blipFill>
        <p:spPr>
          <a:xfrm>
            <a:off x="809380" y="2265617"/>
            <a:ext cx="457200" cy="6129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1F57F8-DD03-1B4D-F274-E844754753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809380" y="3653521"/>
            <a:ext cx="457200" cy="883693"/>
          </a:xfrm>
          <a:prstGeom prst="rect">
            <a:avLst/>
          </a:prstGeom>
        </p:spPr>
      </p:pic>
      <p:pic>
        <p:nvPicPr>
          <p:cNvPr id="28" name="Graphic 27" descr="Database with solid fill">
            <a:extLst>
              <a:ext uri="{FF2B5EF4-FFF2-40B4-BE49-F238E27FC236}">
                <a16:creationId xmlns:a16="http://schemas.microsoft.com/office/drawing/2014/main" id="{B6880A6A-B845-104A-C217-B8623DAB8D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20495" t="9663" r="20812" b="10676"/>
          <a:stretch/>
        </p:blipFill>
        <p:spPr>
          <a:xfrm>
            <a:off x="11233150" y="5312122"/>
            <a:ext cx="457200" cy="972713"/>
          </a:xfrm>
          <a:prstGeom prst="rect">
            <a:avLst/>
          </a:prstGeom>
        </p:spPr>
      </p:pic>
      <p:pic>
        <p:nvPicPr>
          <p:cNvPr id="29" name="Graphic 28" descr="Monitor with solid fill">
            <a:extLst>
              <a:ext uri="{FF2B5EF4-FFF2-40B4-BE49-F238E27FC236}">
                <a16:creationId xmlns:a16="http://schemas.microsoft.com/office/drawing/2014/main" id="{2744BF2B-A2F6-B737-3A98-B6DD18EAC2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515" t="14557" r="8414" b="14388"/>
          <a:stretch/>
        </p:blipFill>
        <p:spPr>
          <a:xfrm>
            <a:off x="11233150" y="2265617"/>
            <a:ext cx="457200" cy="61299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FFEE217-A299-9B9A-7890-5A9870883A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1233150" y="3653521"/>
            <a:ext cx="457200" cy="88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9274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038ED34-0C86-B9A4-74B4-8602B279C597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7407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des Ordinateurs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B9D57D81-272D-6BA4-9512-9347584D7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1530781" y="1554480"/>
            <a:ext cx="9130438" cy="5303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88682C-CEE8-C503-E122-5C63BAB476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57" b="20409"/>
          <a:stretch/>
        </p:blipFill>
        <p:spPr>
          <a:xfrm>
            <a:off x="5440881" y="2281175"/>
            <a:ext cx="1269842" cy="6924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2D555E7-49C2-9EA0-CEC4-43FD8D8595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" b="41"/>
          <a:stretch/>
        </p:blipFill>
        <p:spPr>
          <a:xfrm>
            <a:off x="5460492" y="3935141"/>
            <a:ext cx="1271016" cy="12688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0F61EE4-ECC2-8185-FF06-EA4070D892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0" t="7128" r="16081" b="7194"/>
          <a:stretch/>
        </p:blipFill>
        <p:spPr>
          <a:xfrm>
            <a:off x="8516929" y="3102525"/>
            <a:ext cx="994063" cy="12710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0EC62B-458D-608E-65FC-D62B018E0D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857" y="3103113"/>
            <a:ext cx="1269841" cy="1269841"/>
          </a:xfrm>
          <a:prstGeom prst="rect">
            <a:avLst/>
          </a:prstGeom>
        </p:spPr>
      </p:pic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33312DF-C2F4-19FE-8FCA-4762B9D17544}"/>
              </a:ext>
            </a:extLst>
          </p:cNvPr>
          <p:cNvCxnSpPr>
            <a:stCxn id="18" idx="0"/>
            <a:endCxn id="12" idx="1"/>
          </p:cNvCxnSpPr>
          <p:nvPr/>
        </p:nvCxnSpPr>
        <p:spPr>
          <a:xfrm rot="5400000" flipH="1" flipV="1">
            <a:off x="4010485" y="1672718"/>
            <a:ext cx="475689" cy="238510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014B7CF-5295-1AFE-4002-1DD54BDDB3D2}"/>
              </a:ext>
            </a:extLst>
          </p:cNvPr>
          <p:cNvCxnSpPr>
            <a:cxnSpLocks/>
            <a:stCxn id="18" idx="2"/>
            <a:endCxn id="16" idx="1"/>
          </p:cNvCxnSpPr>
          <p:nvPr/>
        </p:nvCxnSpPr>
        <p:spPr>
          <a:xfrm rot="16200000" flipH="1">
            <a:off x="4159818" y="3268914"/>
            <a:ext cx="196634" cy="240471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F1C881E-32F4-885F-53A2-89A685BBC723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>
            <a:off x="6710723" y="2627424"/>
            <a:ext cx="2303238" cy="47510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4F4CFD6-3A19-A4D5-4543-40A150700E82}"/>
              </a:ext>
            </a:extLst>
          </p:cNvPr>
          <p:cNvCxnSpPr>
            <a:cxnSpLocks/>
            <a:stCxn id="16" idx="3"/>
            <a:endCxn id="14" idx="2"/>
          </p:cNvCxnSpPr>
          <p:nvPr/>
        </p:nvCxnSpPr>
        <p:spPr>
          <a:xfrm flipV="1">
            <a:off x="6731508" y="4373541"/>
            <a:ext cx="2282453" cy="19604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Speech Bubble: Oval 47">
            <a:extLst>
              <a:ext uri="{FF2B5EF4-FFF2-40B4-BE49-F238E27FC236}">
                <a16:creationId xmlns:a16="http://schemas.microsoft.com/office/drawing/2014/main" id="{83BB51A9-FB98-40C7-825E-C376ABD69CA0}"/>
              </a:ext>
            </a:extLst>
          </p:cNvPr>
          <p:cNvSpPr/>
          <p:nvPr/>
        </p:nvSpPr>
        <p:spPr>
          <a:xfrm>
            <a:off x="772737" y="3003635"/>
            <a:ext cx="1230620" cy="894080"/>
          </a:xfrm>
          <a:prstGeom prst="wedgeEllipseCallout">
            <a:avLst>
              <a:gd name="adj1" fmla="val 78267"/>
              <a:gd name="adj2" fmla="val 43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Disque</a:t>
            </a:r>
            <a:endParaRPr lang="en-US" dirty="0"/>
          </a:p>
        </p:txBody>
      </p:sp>
      <p:sp>
        <p:nvSpPr>
          <p:cNvPr id="49" name="Speech Bubble: Oval 48">
            <a:extLst>
              <a:ext uri="{FF2B5EF4-FFF2-40B4-BE49-F238E27FC236}">
                <a16:creationId xmlns:a16="http://schemas.microsoft.com/office/drawing/2014/main" id="{6A88719F-84AA-77AC-C47F-7F6D5DFDBBFC}"/>
              </a:ext>
            </a:extLst>
          </p:cNvPr>
          <p:cNvSpPr/>
          <p:nvPr/>
        </p:nvSpPr>
        <p:spPr>
          <a:xfrm>
            <a:off x="5460492" y="1014223"/>
            <a:ext cx="1230620" cy="894080"/>
          </a:xfrm>
          <a:prstGeom prst="wedgeEllipseCallout">
            <a:avLst>
              <a:gd name="adj1" fmla="val 523"/>
              <a:gd name="adj2" fmla="val 844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</a:p>
        </p:txBody>
      </p:sp>
      <p:sp>
        <p:nvSpPr>
          <p:cNvPr id="50" name="Speech Bubble: Oval 49">
            <a:extLst>
              <a:ext uri="{FF2B5EF4-FFF2-40B4-BE49-F238E27FC236}">
                <a16:creationId xmlns:a16="http://schemas.microsoft.com/office/drawing/2014/main" id="{79C90A0A-2D2D-61C0-9E2A-4E9AEB6F13CE}"/>
              </a:ext>
            </a:extLst>
          </p:cNvPr>
          <p:cNvSpPr/>
          <p:nvPr/>
        </p:nvSpPr>
        <p:spPr>
          <a:xfrm>
            <a:off x="5500888" y="5580970"/>
            <a:ext cx="1230620" cy="894080"/>
          </a:xfrm>
          <a:prstGeom prst="wedgeEllipseCallout">
            <a:avLst>
              <a:gd name="adj1" fmla="val -2229"/>
              <a:gd name="adj2" fmla="val -897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51" name="Speech Bubble: Oval 50">
            <a:extLst>
              <a:ext uri="{FF2B5EF4-FFF2-40B4-BE49-F238E27FC236}">
                <a16:creationId xmlns:a16="http://schemas.microsoft.com/office/drawing/2014/main" id="{4D79C083-FD5A-1075-414F-56380BF803DA}"/>
              </a:ext>
            </a:extLst>
          </p:cNvPr>
          <p:cNvSpPr/>
          <p:nvPr/>
        </p:nvSpPr>
        <p:spPr>
          <a:xfrm flipH="1">
            <a:off x="9880604" y="3102525"/>
            <a:ext cx="1538658" cy="894080"/>
          </a:xfrm>
          <a:prstGeom prst="wedgeEllipseCallout">
            <a:avLst>
              <a:gd name="adj1" fmla="val 78267"/>
              <a:gd name="adj2" fmla="val 43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Mémoire</a:t>
            </a:r>
            <a:r>
              <a:rPr lang="en-US" dirty="0"/>
              <a:t> Cache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9D527A-E748-EF7F-4495-61F558753159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383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76D8B9-7380-8E95-1F4C-94B73EA75894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6949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d’Application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B9D57D81-272D-6BA4-9512-9347584D7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779525" y="1396838"/>
            <a:ext cx="908613" cy="1498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14444-69EE-A9D9-6C1D-D4715622B856}"/>
              </a:ext>
            </a:extLst>
          </p:cNvPr>
          <p:cNvSpPr txBox="1"/>
          <p:nvPr/>
        </p:nvSpPr>
        <p:spPr>
          <a:xfrm flipH="1">
            <a:off x="800210" y="3095394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Dev</a:t>
            </a:r>
          </a:p>
        </p:txBody>
      </p:sp>
      <p:pic>
        <p:nvPicPr>
          <p:cNvPr id="3" name="Graphic 2" descr="Database with solid fill">
            <a:extLst>
              <a:ext uri="{FF2B5EF4-FFF2-40B4-BE49-F238E27FC236}">
                <a16:creationId xmlns:a16="http://schemas.microsoft.com/office/drawing/2014/main" id="{8580B73F-D6E6-73F4-AE66-51E8D10E0C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0495" t="9663" r="20812" b="10676"/>
          <a:stretch/>
        </p:blipFill>
        <p:spPr>
          <a:xfrm>
            <a:off x="10658420" y="4203756"/>
            <a:ext cx="641967" cy="13658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9EABDD-48A5-0880-5BDD-09B81D787907}"/>
              </a:ext>
            </a:extLst>
          </p:cNvPr>
          <p:cNvSpPr txBox="1"/>
          <p:nvPr/>
        </p:nvSpPr>
        <p:spPr>
          <a:xfrm flipH="1">
            <a:off x="10546332" y="5784721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0FFDA-3E49-11CF-25A6-E5F404A8FA46}"/>
              </a:ext>
            </a:extLst>
          </p:cNvPr>
          <p:cNvSpPr txBox="1"/>
          <p:nvPr/>
        </p:nvSpPr>
        <p:spPr>
          <a:xfrm flipH="1">
            <a:off x="5227600" y="5835757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6904B-D816-5DF2-EEA7-30322098EA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431034" y="4137201"/>
            <a:ext cx="775504" cy="1498923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669D15A-B3B2-78EF-5723-DE51EA94835C}"/>
              </a:ext>
            </a:extLst>
          </p:cNvPr>
          <p:cNvSpPr/>
          <p:nvPr/>
        </p:nvSpPr>
        <p:spPr>
          <a:xfrm>
            <a:off x="5214266" y="1699259"/>
            <a:ext cx="1463040" cy="894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Build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66B06C0-A821-5BEF-A6A4-0A3F1B75DA91}"/>
              </a:ext>
            </a:extLst>
          </p:cNvPr>
          <p:cNvSpPr/>
          <p:nvPr/>
        </p:nvSpPr>
        <p:spPr>
          <a:xfrm>
            <a:off x="9822435" y="1699259"/>
            <a:ext cx="1463040" cy="894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Deployment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73EA7D-9166-F117-60BD-1B3A0749722E}"/>
              </a:ext>
            </a:extLst>
          </p:cNvPr>
          <p:cNvCxnSpPr>
            <a:cxnSpLocks/>
            <a:stCxn id="5" idx="3"/>
            <a:endCxn id="81" idx="1"/>
          </p:cNvCxnSpPr>
          <p:nvPr/>
        </p:nvCxnSpPr>
        <p:spPr>
          <a:xfrm flipV="1">
            <a:off x="1688138" y="2146127"/>
            <a:ext cx="3404561" cy="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C0B5670-22F6-C177-704F-53B1646D57A9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6677306" y="2146299"/>
            <a:ext cx="314512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3E6CA1A0-11EE-BCAB-ED59-F6CD9E3465FD}"/>
              </a:ext>
            </a:extLst>
          </p:cNvPr>
          <p:cNvCxnSpPr>
            <a:cxnSpLocks/>
            <a:stCxn id="81" idx="2"/>
            <a:endCxn id="6" idx="0"/>
          </p:cNvCxnSpPr>
          <p:nvPr/>
        </p:nvCxnSpPr>
        <p:spPr>
          <a:xfrm rot="5400000">
            <a:off x="6414794" y="2299408"/>
            <a:ext cx="1241786" cy="243380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90B28DC-5C9A-78B7-D79E-E31F50F40981}"/>
              </a:ext>
            </a:extLst>
          </p:cNvPr>
          <p:cNvCxnSpPr>
            <a:stCxn id="6" idx="3"/>
            <a:endCxn id="3" idx="1"/>
          </p:cNvCxnSpPr>
          <p:nvPr/>
        </p:nvCxnSpPr>
        <p:spPr>
          <a:xfrm flipV="1">
            <a:off x="6206538" y="4886662"/>
            <a:ext cx="445188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7" name="Graphic 66" descr="Monitor with solid fill">
            <a:extLst>
              <a:ext uri="{FF2B5EF4-FFF2-40B4-BE49-F238E27FC236}">
                <a16:creationId xmlns:a16="http://schemas.microsoft.com/office/drawing/2014/main" id="{F9962DE4-EA38-6488-23DE-92CAA929AD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757740" y="4137201"/>
            <a:ext cx="908613" cy="149892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94095C58-A2D0-3098-83AF-B1033C98BB9A}"/>
              </a:ext>
            </a:extLst>
          </p:cNvPr>
          <p:cNvSpPr txBox="1"/>
          <p:nvPr/>
        </p:nvSpPr>
        <p:spPr>
          <a:xfrm flipH="1">
            <a:off x="778425" y="5835757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BDA3FD5-23E0-E48E-FD9B-4A333746A2C1}"/>
              </a:ext>
            </a:extLst>
          </p:cNvPr>
          <p:cNvCxnSpPr>
            <a:stCxn id="67" idx="3"/>
            <a:endCxn id="6" idx="1"/>
          </p:cNvCxnSpPr>
          <p:nvPr/>
        </p:nvCxnSpPr>
        <p:spPr>
          <a:xfrm>
            <a:off x="1666353" y="4886663"/>
            <a:ext cx="37646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67BFCC3-31A3-3987-F78A-CF5A5AB7F060}"/>
              </a:ext>
            </a:extLst>
          </p:cNvPr>
          <p:cNvSpPr/>
          <p:nvPr/>
        </p:nvSpPr>
        <p:spPr>
          <a:xfrm>
            <a:off x="5092699" y="1396838"/>
            <a:ext cx="6319775" cy="1498577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DAE1FD9-4F6C-2984-3C69-09007C7068D9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2246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F735278-D892-4FD2-E5EC-91C4BBFD7A88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9706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Adresse IP 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B9D57D81-272D-6BA4-9512-9347584D7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15" t="14557" r="8414" b="14388"/>
          <a:stretch/>
        </p:blipFill>
        <p:spPr>
          <a:xfrm>
            <a:off x="552848" y="2741926"/>
            <a:ext cx="1896404" cy="149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6904B-D816-5DF2-EEA7-30322098E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397701" y="2741926"/>
            <a:ext cx="775504" cy="1498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14444-69EE-A9D9-6C1D-D4715622B856}"/>
              </a:ext>
            </a:extLst>
          </p:cNvPr>
          <p:cNvSpPr txBox="1"/>
          <p:nvPr/>
        </p:nvSpPr>
        <p:spPr>
          <a:xfrm flipH="1">
            <a:off x="1067979" y="4386991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0FFDA-3E49-11CF-25A6-E5F404A8FA46}"/>
              </a:ext>
            </a:extLst>
          </p:cNvPr>
          <p:cNvSpPr txBox="1"/>
          <p:nvPr/>
        </p:nvSpPr>
        <p:spPr>
          <a:xfrm flipH="1">
            <a:off x="10193302" y="4386991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4173DC-C0E5-604D-AA1C-7D757108619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449252" y="3491388"/>
            <a:ext cx="7948449" cy="3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506A4FFF-3583-FF19-8DEB-95B5081921E5}"/>
              </a:ext>
            </a:extLst>
          </p:cNvPr>
          <p:cNvSpPr txBox="1"/>
          <p:nvPr/>
        </p:nvSpPr>
        <p:spPr>
          <a:xfrm>
            <a:off x="414855" y="2225760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: XX.XX.XX.XX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B47787-49D8-0B08-8F75-C30A6F3238E9}"/>
              </a:ext>
            </a:extLst>
          </p:cNvPr>
          <p:cNvSpPr txBox="1"/>
          <p:nvPr/>
        </p:nvSpPr>
        <p:spPr>
          <a:xfrm>
            <a:off x="9698293" y="2225760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 : XX.XX.XX.XX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24EBEF-BA20-7D11-E855-0458EE0A7468}"/>
              </a:ext>
            </a:extLst>
          </p:cNvPr>
          <p:cNvSpPr/>
          <p:nvPr/>
        </p:nvSpPr>
        <p:spPr>
          <a:xfrm>
            <a:off x="599814" y="5227049"/>
            <a:ext cx="1987431" cy="770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IP ADDRESS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0AAF25-E4E7-2500-152A-2D1F314C3A15}"/>
              </a:ext>
            </a:extLst>
          </p:cNvPr>
          <p:cNvSpPr/>
          <p:nvPr/>
        </p:nvSpPr>
        <p:spPr>
          <a:xfrm>
            <a:off x="3359464" y="4807801"/>
            <a:ext cx="1299163" cy="4297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IPv4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DDE60D-8EE0-9EB1-4E41-102E2700372B}"/>
              </a:ext>
            </a:extLst>
          </p:cNvPr>
          <p:cNvSpPr/>
          <p:nvPr/>
        </p:nvSpPr>
        <p:spPr>
          <a:xfrm>
            <a:off x="3359464" y="5986554"/>
            <a:ext cx="1299163" cy="4297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IPv6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2E4586-E0DB-7142-877D-4BC3CF1CC04F}"/>
              </a:ext>
            </a:extLst>
          </p:cNvPr>
          <p:cNvSpPr txBox="1"/>
          <p:nvPr/>
        </p:nvSpPr>
        <p:spPr>
          <a:xfrm>
            <a:off x="5996540" y="4807801"/>
            <a:ext cx="450462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Environ 4 milliards d'adresses.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CFDA97-B9EA-C4F4-31E8-FA695CA69DC4}"/>
              </a:ext>
            </a:extLst>
          </p:cNvPr>
          <p:cNvSpPr txBox="1"/>
          <p:nvPr/>
        </p:nvSpPr>
        <p:spPr>
          <a:xfrm>
            <a:off x="5996540" y="6046985"/>
            <a:ext cx="450462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Un nombre pratiquement illimité d'adresses.</a:t>
            </a:r>
            <a:endParaRPr lang="en-US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AD30130-0022-0B2C-7276-30CC93D1EF2B}"/>
              </a:ext>
            </a:extLst>
          </p:cNvPr>
          <p:cNvCxnSpPr>
            <a:stCxn id="3" idx="2"/>
            <a:endCxn id="10" idx="1"/>
          </p:cNvCxnSpPr>
          <p:nvPr/>
        </p:nvCxnSpPr>
        <p:spPr>
          <a:xfrm rot="16200000" flipH="1">
            <a:off x="2374314" y="5216286"/>
            <a:ext cx="204366" cy="17659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ED154235-84B6-2301-DB7C-271DF8718581}"/>
              </a:ext>
            </a:extLst>
          </p:cNvPr>
          <p:cNvCxnSpPr>
            <a:stCxn id="3" idx="0"/>
            <a:endCxn id="7" idx="1"/>
          </p:cNvCxnSpPr>
          <p:nvPr/>
        </p:nvCxnSpPr>
        <p:spPr>
          <a:xfrm rot="5400000" flipH="1" flipV="1">
            <a:off x="2374314" y="4241899"/>
            <a:ext cx="204366" cy="17659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DCD293A-E42D-38C8-5C52-4D142A75F0B9}"/>
              </a:ext>
            </a:extLst>
          </p:cNvPr>
          <p:cNvSpPr txBox="1"/>
          <p:nvPr/>
        </p:nvSpPr>
        <p:spPr>
          <a:xfrm>
            <a:off x="1586019" y="1105556"/>
            <a:ext cx="901996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Une adresse IP(Internet Protocol)</a:t>
            </a:r>
            <a:r>
              <a:rPr lang="fr-FR" dirty="0"/>
              <a:t> est l'identifiant numérique unique d'un appareil sur un réseau, permettant aux données d'être envoyées et reçues correctement, tout comme l'adresse postale d'une maison assure la livraison du courrier.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99B479-B97A-F7AE-3ED8-49B2F88CBBA2}"/>
              </a:ext>
            </a:extLst>
          </p:cNvPr>
          <p:cNvSpPr txBox="1"/>
          <p:nvPr/>
        </p:nvSpPr>
        <p:spPr>
          <a:xfrm>
            <a:off x="4805448" y="4807801"/>
            <a:ext cx="9793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32 bits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3E6903-C890-C362-57EE-D52460A53CEB}"/>
              </a:ext>
            </a:extLst>
          </p:cNvPr>
          <p:cNvSpPr txBox="1"/>
          <p:nvPr/>
        </p:nvSpPr>
        <p:spPr>
          <a:xfrm>
            <a:off x="4805448" y="6046985"/>
            <a:ext cx="9793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128 bits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1360EE8-5A61-B2FA-7740-DE6CBC4C2281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8047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3" grpId="0" animBg="1"/>
      <p:bldP spid="7" grpId="0" animBg="1"/>
      <p:bldP spid="10" grpId="0" animBg="1"/>
      <p:bldP spid="12" grpId="0" animBg="1"/>
      <p:bldP spid="14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DNS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B9D57D81-272D-6BA4-9512-9347584D7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15" t="14557" r="8414" b="14388"/>
          <a:stretch/>
        </p:blipFill>
        <p:spPr>
          <a:xfrm>
            <a:off x="552848" y="2741926"/>
            <a:ext cx="1896404" cy="149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6904B-D816-5DF2-EEA7-30322098E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397701" y="2741926"/>
            <a:ext cx="775504" cy="1498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14444-69EE-A9D9-6C1D-D4715622B856}"/>
              </a:ext>
            </a:extLst>
          </p:cNvPr>
          <p:cNvSpPr txBox="1"/>
          <p:nvPr/>
        </p:nvSpPr>
        <p:spPr>
          <a:xfrm flipH="1">
            <a:off x="1067979" y="4386991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0FFDA-3E49-11CF-25A6-E5F404A8FA46}"/>
              </a:ext>
            </a:extLst>
          </p:cNvPr>
          <p:cNvSpPr txBox="1"/>
          <p:nvPr/>
        </p:nvSpPr>
        <p:spPr>
          <a:xfrm flipH="1">
            <a:off x="10193302" y="4386991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EF924D-CA90-5C27-BEF2-F53AD5AD8D61}"/>
              </a:ext>
            </a:extLst>
          </p:cNvPr>
          <p:cNvSpPr/>
          <p:nvPr/>
        </p:nvSpPr>
        <p:spPr>
          <a:xfrm>
            <a:off x="3479800" y="2741234"/>
            <a:ext cx="5232400" cy="1499616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C8D71-7B96-3A97-E09C-A4CF1AF3ED6F}"/>
              </a:ext>
            </a:extLst>
          </p:cNvPr>
          <p:cNvSpPr txBox="1"/>
          <p:nvPr/>
        </p:nvSpPr>
        <p:spPr>
          <a:xfrm>
            <a:off x="5356054" y="222576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424CB6-E40B-5E84-F8E9-35124B9C0832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2449252" y="3491042"/>
            <a:ext cx="1030548" cy="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4173DC-C0E5-604D-AA1C-7D757108619C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>
            <a:off x="8712200" y="3491042"/>
            <a:ext cx="1685501" cy="3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6EBE075-D61D-D0A7-F96A-5C1916E5C527}"/>
              </a:ext>
            </a:extLst>
          </p:cNvPr>
          <p:cNvSpPr txBox="1"/>
          <p:nvPr/>
        </p:nvSpPr>
        <p:spPr>
          <a:xfrm>
            <a:off x="7142932" y="3813287"/>
            <a:ext cx="97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Packets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87A1A4-A875-361F-B1E9-D981CA0D60AA}"/>
              </a:ext>
            </a:extLst>
          </p:cNvPr>
          <p:cNvGrpSpPr/>
          <p:nvPr/>
        </p:nvGrpSpPr>
        <p:grpSpPr>
          <a:xfrm>
            <a:off x="7142055" y="2920216"/>
            <a:ext cx="981446" cy="909789"/>
            <a:chOff x="6141456" y="2910613"/>
            <a:chExt cx="981446" cy="909789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C2D3B96-125A-9E73-59BB-D93D47FBEA18}"/>
                </a:ext>
              </a:extLst>
            </p:cNvPr>
            <p:cNvGrpSpPr/>
            <p:nvPr/>
          </p:nvGrpSpPr>
          <p:grpSpPr>
            <a:xfrm>
              <a:off x="6145002" y="2910613"/>
              <a:ext cx="977900" cy="261360"/>
              <a:chOff x="7388702" y="2971318"/>
              <a:chExt cx="977900" cy="261360"/>
            </a:xfrm>
          </p:grpSpPr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EE0C6D1C-5C95-5B8A-A2EB-E663BB3A1163}"/>
                  </a:ext>
                </a:extLst>
              </p:cNvPr>
              <p:cNvSpPr/>
              <p:nvPr/>
            </p:nvSpPr>
            <p:spPr>
              <a:xfrm>
                <a:off x="7388702" y="2971318"/>
                <a:ext cx="977900" cy="26136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1A35C740-D9DF-6DDD-20D6-573FD8362CF7}"/>
                  </a:ext>
                </a:extLst>
              </p:cNvPr>
              <p:cNvSpPr/>
              <p:nvPr/>
            </p:nvSpPr>
            <p:spPr>
              <a:xfrm>
                <a:off x="7434287" y="2997758"/>
                <a:ext cx="886731" cy="2349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29D614-6EB9-DE4A-0A16-9313488C2FC6}"/>
                </a:ext>
              </a:extLst>
            </p:cNvPr>
            <p:cNvSpPr/>
            <p:nvPr/>
          </p:nvSpPr>
          <p:spPr>
            <a:xfrm>
              <a:off x="6195840" y="2994713"/>
              <a:ext cx="878914" cy="6468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….</a:t>
              </a:r>
            </a:p>
            <a:p>
              <a:pPr algn="ctr"/>
              <a:r>
                <a:rPr lang="en-US" sz="1200" dirty="0"/>
                <a:t>….</a:t>
              </a:r>
            </a:p>
            <a:p>
              <a:pPr algn="ctr"/>
              <a:endParaRPr lang="en-US" sz="12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D3BAF1A-C1F7-26FC-6567-2A50F09C393A}"/>
                </a:ext>
              </a:extLst>
            </p:cNvPr>
            <p:cNvSpPr/>
            <p:nvPr/>
          </p:nvSpPr>
          <p:spPr>
            <a:xfrm flipV="1">
              <a:off x="6141456" y="3173599"/>
              <a:ext cx="977900" cy="646803"/>
            </a:xfrm>
            <a:custGeom>
              <a:avLst/>
              <a:gdLst>
                <a:gd name="connsiteX0" fmla="*/ 0 w 977900"/>
                <a:gd name="connsiteY0" fmla="*/ 646803 h 646803"/>
                <a:gd name="connsiteX1" fmla="*/ 488950 w 977900"/>
                <a:gd name="connsiteY1" fmla="*/ 385443 h 646803"/>
                <a:gd name="connsiteX2" fmla="*/ 977900 w 977900"/>
                <a:gd name="connsiteY2" fmla="*/ 646803 h 646803"/>
                <a:gd name="connsiteX3" fmla="*/ 977900 w 977900"/>
                <a:gd name="connsiteY3" fmla="*/ 0 h 646803"/>
                <a:gd name="connsiteX4" fmla="*/ 0 w 977900"/>
                <a:gd name="connsiteY4" fmla="*/ 0 h 646803"/>
                <a:gd name="connsiteX5" fmla="*/ 0 w 977900"/>
                <a:gd name="connsiteY5" fmla="*/ 646803 h 64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0" h="646803">
                  <a:moveTo>
                    <a:pt x="0" y="646803"/>
                  </a:moveTo>
                  <a:lnTo>
                    <a:pt x="488950" y="385443"/>
                  </a:lnTo>
                  <a:lnTo>
                    <a:pt x="977900" y="646803"/>
                  </a:lnTo>
                  <a:lnTo>
                    <a:pt x="977900" y="0"/>
                  </a:lnTo>
                  <a:lnTo>
                    <a:pt x="0" y="0"/>
                  </a:lnTo>
                  <a:lnTo>
                    <a:pt x="0" y="6468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C88C18E8-F70B-7D71-9541-6B5D38FFCE6E}"/>
              </a:ext>
            </a:extLst>
          </p:cNvPr>
          <p:cNvSpPr txBox="1"/>
          <p:nvPr/>
        </p:nvSpPr>
        <p:spPr>
          <a:xfrm>
            <a:off x="746689" y="2920216"/>
            <a:ext cx="1508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APP PROTOCOLE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ABB0AB-EB63-AE63-6F71-0411B37F25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4134753" y="2946656"/>
            <a:ext cx="504121" cy="8826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C43BB6-32C2-EC4D-A3E0-1685AFF7F2B1}"/>
              </a:ext>
            </a:extLst>
          </p:cNvPr>
          <p:cNvSpPr txBox="1"/>
          <p:nvPr/>
        </p:nvSpPr>
        <p:spPr>
          <a:xfrm>
            <a:off x="4043610" y="381328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1A24B6-FA46-0E32-D01F-3CEB259DFC45}"/>
              </a:ext>
            </a:extLst>
          </p:cNvPr>
          <p:cNvCxnSpPr>
            <a:stCxn id="8" idx="3"/>
          </p:cNvCxnSpPr>
          <p:nvPr/>
        </p:nvCxnSpPr>
        <p:spPr>
          <a:xfrm flipV="1">
            <a:off x="4638874" y="3387984"/>
            <a:ext cx="25031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C2AB1D9-AF0D-3697-962B-FC25DE968E42}"/>
              </a:ext>
            </a:extLst>
          </p:cNvPr>
          <p:cNvSpPr txBox="1"/>
          <p:nvPr/>
        </p:nvSpPr>
        <p:spPr>
          <a:xfrm>
            <a:off x="1586019" y="1105556"/>
            <a:ext cx="90199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Le DNS (Domain Name System) </a:t>
            </a:r>
            <a:r>
              <a:rPr lang="fr-FR" dirty="0"/>
              <a:t>est l'annuaire téléphonique d'Internet qui traduit les noms de domaine lisibles par l'homme en adresses IP.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E4A0C5-3969-031A-C05D-49F4FC483FF4}"/>
              </a:ext>
            </a:extLst>
          </p:cNvPr>
          <p:cNvSpPr txBox="1"/>
          <p:nvPr/>
        </p:nvSpPr>
        <p:spPr>
          <a:xfrm>
            <a:off x="891296" y="3006206"/>
            <a:ext cx="1308115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google.com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8427A2-4DEE-A4F8-AFCF-2D95E7E348A2}"/>
              </a:ext>
            </a:extLst>
          </p:cNvPr>
          <p:cNvSpPr txBox="1"/>
          <p:nvPr/>
        </p:nvSpPr>
        <p:spPr>
          <a:xfrm>
            <a:off x="3499066" y="2982654"/>
            <a:ext cx="1781257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142.250.179.206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D7B9DAD-1947-D208-D7A9-A6719054B558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6451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22222E-6 L 0.23255 2.22222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2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500"/>
                            </p:stCondLst>
                            <p:childTnLst>
                              <p:par>
                                <p:cTn id="14" presetID="53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500"/>
                            </p:stCondLst>
                            <p:childTnLst>
                              <p:par>
                                <p:cTn id="2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44444E-6 L 0.26497 0.0020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42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500"/>
                            </p:stCondLst>
                            <p:childTnLst>
                              <p:par>
                                <p:cTn id="29" presetID="53" presetClass="exit" presetSubtype="3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3" grpId="0" animBg="1"/>
      <p:bldP spid="23" grpId="1" animBg="1"/>
      <p:bldP spid="23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Protocoles d'Application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B9D57D81-272D-6BA4-9512-9347584D7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15" t="14557" r="8414" b="14388"/>
          <a:stretch/>
        </p:blipFill>
        <p:spPr>
          <a:xfrm>
            <a:off x="552848" y="2741926"/>
            <a:ext cx="1896404" cy="149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6904B-D816-5DF2-EEA7-30322098E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397701" y="2741926"/>
            <a:ext cx="775504" cy="1498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14444-69EE-A9D9-6C1D-D4715622B856}"/>
              </a:ext>
            </a:extLst>
          </p:cNvPr>
          <p:cNvSpPr txBox="1"/>
          <p:nvPr/>
        </p:nvSpPr>
        <p:spPr>
          <a:xfrm flipH="1">
            <a:off x="1067979" y="4386991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0FFDA-3E49-11CF-25A6-E5F404A8FA46}"/>
              </a:ext>
            </a:extLst>
          </p:cNvPr>
          <p:cNvSpPr txBox="1"/>
          <p:nvPr/>
        </p:nvSpPr>
        <p:spPr>
          <a:xfrm flipH="1">
            <a:off x="10193302" y="4386991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4173DC-C0E5-604D-AA1C-7D757108619C}"/>
              </a:ext>
            </a:extLst>
          </p:cNvPr>
          <p:cNvCxnSpPr>
            <a:cxnSpLocks/>
            <a:stCxn id="5" idx="3"/>
            <a:endCxn id="33" idx="1"/>
          </p:cNvCxnSpPr>
          <p:nvPr/>
        </p:nvCxnSpPr>
        <p:spPr>
          <a:xfrm flipV="1">
            <a:off x="2449252" y="3491042"/>
            <a:ext cx="1030548" cy="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767348-5BF4-7A5E-883F-C1AAFFC55867}"/>
              </a:ext>
            </a:extLst>
          </p:cNvPr>
          <p:cNvSpPr txBox="1"/>
          <p:nvPr/>
        </p:nvSpPr>
        <p:spPr>
          <a:xfrm>
            <a:off x="4885113" y="4807801"/>
            <a:ext cx="649056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Le protocole standard pour transférer les pages web entre un navigateur et un serveur.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A1C90D-F58E-0A85-B7A2-AF39657A1666}"/>
              </a:ext>
            </a:extLst>
          </p:cNvPr>
          <p:cNvSpPr txBox="1"/>
          <p:nvPr/>
        </p:nvSpPr>
        <p:spPr>
          <a:xfrm>
            <a:off x="4885113" y="5427393"/>
            <a:ext cx="64905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La version sécurisée et chiffrée de HTTP, qui protège vos données.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EE4B29-B33D-1414-75A2-D80DF098BF8B}"/>
              </a:ext>
            </a:extLst>
          </p:cNvPr>
          <p:cNvSpPr txBox="1"/>
          <p:nvPr/>
        </p:nvSpPr>
        <p:spPr>
          <a:xfrm>
            <a:off x="4885113" y="6046985"/>
            <a:ext cx="64905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Un protocole qui permet à un programme d'appeler et d'exécuter une fonction sur un autre ordinateur à distance.</a:t>
            </a: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A53B503-3BF7-F203-0EA4-F36684ED0F2E}"/>
              </a:ext>
            </a:extLst>
          </p:cNvPr>
          <p:cNvSpPr/>
          <p:nvPr/>
        </p:nvSpPr>
        <p:spPr>
          <a:xfrm>
            <a:off x="599814" y="5365548"/>
            <a:ext cx="1987431" cy="770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PROTOCOLE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33DDA80-A83A-FB1D-01D6-1C4CE5F3624C}"/>
              </a:ext>
            </a:extLst>
          </p:cNvPr>
          <p:cNvGrpSpPr/>
          <p:nvPr/>
        </p:nvGrpSpPr>
        <p:grpSpPr>
          <a:xfrm>
            <a:off x="2587245" y="5535677"/>
            <a:ext cx="2071382" cy="429763"/>
            <a:chOff x="2587245" y="5535677"/>
            <a:chExt cx="2071382" cy="42976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658FB50-C7CF-5508-59B3-EDDB6FCAC2A3}"/>
                </a:ext>
              </a:extLst>
            </p:cNvPr>
            <p:cNvSpPr/>
            <p:nvPr/>
          </p:nvSpPr>
          <p:spPr>
            <a:xfrm>
              <a:off x="3359464" y="5535677"/>
              <a:ext cx="1299163" cy="42976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/>
                <a:t>HTTPS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144F8D5-83F3-FA77-23C2-34BEB994F187}"/>
                </a:ext>
              </a:extLst>
            </p:cNvPr>
            <p:cNvCxnSpPr>
              <a:stCxn id="2" idx="3"/>
              <a:endCxn id="7" idx="1"/>
            </p:cNvCxnSpPr>
            <p:nvPr/>
          </p:nvCxnSpPr>
          <p:spPr>
            <a:xfrm>
              <a:off x="2587245" y="5750559"/>
              <a:ext cx="7722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38C7583-986A-12F1-4A1B-ADB73D8CCDD6}"/>
              </a:ext>
            </a:extLst>
          </p:cNvPr>
          <p:cNvGrpSpPr/>
          <p:nvPr/>
        </p:nvGrpSpPr>
        <p:grpSpPr>
          <a:xfrm>
            <a:off x="1593530" y="6135569"/>
            <a:ext cx="3065097" cy="449463"/>
            <a:chOff x="1593530" y="6135569"/>
            <a:chExt cx="3065097" cy="44946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18A7AD2-0E2D-1249-6785-F0C6C31799FF}"/>
                </a:ext>
              </a:extLst>
            </p:cNvPr>
            <p:cNvSpPr/>
            <p:nvPr/>
          </p:nvSpPr>
          <p:spPr>
            <a:xfrm>
              <a:off x="3359464" y="6155269"/>
              <a:ext cx="1299163" cy="42976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/>
                <a:t>RPC</a:t>
              </a: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C8556F8E-3E23-C0EC-70F1-72BA49C79751}"/>
                </a:ext>
              </a:extLst>
            </p:cNvPr>
            <p:cNvCxnSpPr>
              <a:stCxn id="2" idx="2"/>
              <a:endCxn id="8" idx="1"/>
            </p:cNvCxnSpPr>
            <p:nvPr/>
          </p:nvCxnSpPr>
          <p:spPr>
            <a:xfrm rot="16200000" flipH="1">
              <a:off x="2359206" y="5369893"/>
              <a:ext cx="234582" cy="17659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188F70F-0E11-C5C2-5016-D8533225A41E}"/>
              </a:ext>
            </a:extLst>
          </p:cNvPr>
          <p:cNvGrpSpPr/>
          <p:nvPr/>
        </p:nvGrpSpPr>
        <p:grpSpPr>
          <a:xfrm>
            <a:off x="1593531" y="4916085"/>
            <a:ext cx="3065096" cy="449463"/>
            <a:chOff x="1593531" y="4916085"/>
            <a:chExt cx="3065096" cy="44946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8E63A78-994A-3D95-C62E-D4FDCD9C701C}"/>
                </a:ext>
              </a:extLst>
            </p:cNvPr>
            <p:cNvSpPr/>
            <p:nvPr/>
          </p:nvSpPr>
          <p:spPr>
            <a:xfrm>
              <a:off x="3359464" y="4916085"/>
              <a:ext cx="1299163" cy="42976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/>
                <a:t>HTTP</a:t>
              </a:r>
            </a:p>
          </p:txBody>
        </p:sp>
        <p:cxnSp>
          <p:nvCxnSpPr>
            <p:cNvPr id="16" name="Connector: Elbow 15">
              <a:extLst>
                <a:ext uri="{FF2B5EF4-FFF2-40B4-BE49-F238E27FC236}">
                  <a16:creationId xmlns:a16="http://schemas.microsoft.com/office/drawing/2014/main" id="{24623F5F-1218-29C3-C7FD-354BC2E3479F}"/>
                </a:ext>
              </a:extLst>
            </p:cNvPr>
            <p:cNvCxnSpPr>
              <a:stCxn id="2" idx="0"/>
              <a:endCxn id="3" idx="1"/>
            </p:cNvCxnSpPr>
            <p:nvPr/>
          </p:nvCxnSpPr>
          <p:spPr>
            <a:xfrm rot="5400000" flipH="1" flipV="1">
              <a:off x="2359207" y="4365291"/>
              <a:ext cx="234581" cy="17659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79BC582-BD99-3814-2444-13C06696E337}"/>
              </a:ext>
            </a:extLst>
          </p:cNvPr>
          <p:cNvSpPr txBox="1"/>
          <p:nvPr/>
        </p:nvSpPr>
        <p:spPr>
          <a:xfrm>
            <a:off x="746689" y="2920216"/>
            <a:ext cx="1508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APP PROTOCOLE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5854D-A389-9637-1970-60865602156F}"/>
              </a:ext>
            </a:extLst>
          </p:cNvPr>
          <p:cNvSpPr txBox="1"/>
          <p:nvPr/>
        </p:nvSpPr>
        <p:spPr>
          <a:xfrm>
            <a:off x="1586019" y="1105556"/>
            <a:ext cx="9019963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Un protocole </a:t>
            </a:r>
            <a:r>
              <a:rPr lang="fr-FR" dirty="0"/>
              <a:t>est un ensemble de règles standardisées qui définit comment deux appareils communiquent et échangent des données sur un réseau. C'est le langage commun des machines.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5A2751C-7783-0063-E6CD-43DA373AF274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1FCBCF-1085-3A18-F5A3-53A040C2B836}"/>
              </a:ext>
            </a:extLst>
          </p:cNvPr>
          <p:cNvCxnSpPr>
            <a:cxnSpLocks/>
            <a:stCxn id="33" idx="3"/>
            <a:endCxn id="6" idx="1"/>
          </p:cNvCxnSpPr>
          <p:nvPr/>
        </p:nvCxnSpPr>
        <p:spPr>
          <a:xfrm>
            <a:off x="8712200" y="3491042"/>
            <a:ext cx="1685501" cy="3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E83FE5E-97DD-B945-BCD0-BEE3E90E2FA5}"/>
              </a:ext>
            </a:extLst>
          </p:cNvPr>
          <p:cNvSpPr/>
          <p:nvPr/>
        </p:nvSpPr>
        <p:spPr>
          <a:xfrm>
            <a:off x="3479800" y="2741234"/>
            <a:ext cx="5232400" cy="1499616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6C2893-863B-AB9F-45EC-A0ACC057B632}"/>
              </a:ext>
            </a:extLst>
          </p:cNvPr>
          <p:cNvSpPr txBox="1"/>
          <p:nvPr/>
        </p:nvSpPr>
        <p:spPr>
          <a:xfrm>
            <a:off x="5356054" y="222576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8EB794-DE4C-9410-D97A-4ECFAEF4B9B1}"/>
              </a:ext>
            </a:extLst>
          </p:cNvPr>
          <p:cNvSpPr txBox="1"/>
          <p:nvPr/>
        </p:nvSpPr>
        <p:spPr>
          <a:xfrm>
            <a:off x="7142932" y="3813287"/>
            <a:ext cx="97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Packets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79C7C01-F030-4929-5E97-33595C01872E}"/>
              </a:ext>
            </a:extLst>
          </p:cNvPr>
          <p:cNvGrpSpPr/>
          <p:nvPr/>
        </p:nvGrpSpPr>
        <p:grpSpPr>
          <a:xfrm>
            <a:off x="7142055" y="2920216"/>
            <a:ext cx="981446" cy="909789"/>
            <a:chOff x="6141456" y="2910613"/>
            <a:chExt cx="981446" cy="90978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5959184-0BF8-1638-BE8F-1C18006340D3}"/>
                </a:ext>
              </a:extLst>
            </p:cNvPr>
            <p:cNvGrpSpPr/>
            <p:nvPr/>
          </p:nvGrpSpPr>
          <p:grpSpPr>
            <a:xfrm>
              <a:off x="6145002" y="2910613"/>
              <a:ext cx="977900" cy="261360"/>
              <a:chOff x="7388702" y="2971318"/>
              <a:chExt cx="977900" cy="261360"/>
            </a:xfrm>
          </p:grpSpPr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EBCC1149-FC82-B737-45BF-1B7B4D1608F1}"/>
                  </a:ext>
                </a:extLst>
              </p:cNvPr>
              <p:cNvSpPr/>
              <p:nvPr/>
            </p:nvSpPr>
            <p:spPr>
              <a:xfrm>
                <a:off x="7388702" y="2971318"/>
                <a:ext cx="977900" cy="26136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Isosceles Triangle 40">
                <a:extLst>
                  <a:ext uri="{FF2B5EF4-FFF2-40B4-BE49-F238E27FC236}">
                    <a16:creationId xmlns:a16="http://schemas.microsoft.com/office/drawing/2014/main" id="{9BC9F7F3-FBA3-7C70-2039-940B8DCC31DE}"/>
                  </a:ext>
                </a:extLst>
              </p:cNvPr>
              <p:cNvSpPr/>
              <p:nvPr/>
            </p:nvSpPr>
            <p:spPr>
              <a:xfrm>
                <a:off x="7434287" y="2997758"/>
                <a:ext cx="886731" cy="2349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39035D0-7CAF-1C69-7CC0-50038D48A912}"/>
                </a:ext>
              </a:extLst>
            </p:cNvPr>
            <p:cNvSpPr/>
            <p:nvPr/>
          </p:nvSpPr>
          <p:spPr>
            <a:xfrm>
              <a:off x="6195840" y="2994713"/>
              <a:ext cx="878914" cy="6468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….</a:t>
              </a:r>
            </a:p>
            <a:p>
              <a:pPr algn="ctr"/>
              <a:r>
                <a:rPr lang="en-US" sz="1200" dirty="0"/>
                <a:t>….</a:t>
              </a:r>
            </a:p>
            <a:p>
              <a:pPr algn="ctr"/>
              <a:endParaRPr lang="en-US" sz="1200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3F79370-6007-AE97-5B8B-6B31DC51DB2A}"/>
                </a:ext>
              </a:extLst>
            </p:cNvPr>
            <p:cNvSpPr/>
            <p:nvPr/>
          </p:nvSpPr>
          <p:spPr>
            <a:xfrm flipV="1">
              <a:off x="6141456" y="3173599"/>
              <a:ext cx="977900" cy="646803"/>
            </a:xfrm>
            <a:custGeom>
              <a:avLst/>
              <a:gdLst>
                <a:gd name="connsiteX0" fmla="*/ 0 w 977900"/>
                <a:gd name="connsiteY0" fmla="*/ 646803 h 646803"/>
                <a:gd name="connsiteX1" fmla="*/ 488950 w 977900"/>
                <a:gd name="connsiteY1" fmla="*/ 385443 h 646803"/>
                <a:gd name="connsiteX2" fmla="*/ 977900 w 977900"/>
                <a:gd name="connsiteY2" fmla="*/ 646803 h 646803"/>
                <a:gd name="connsiteX3" fmla="*/ 977900 w 977900"/>
                <a:gd name="connsiteY3" fmla="*/ 0 h 646803"/>
                <a:gd name="connsiteX4" fmla="*/ 0 w 977900"/>
                <a:gd name="connsiteY4" fmla="*/ 0 h 646803"/>
                <a:gd name="connsiteX5" fmla="*/ 0 w 977900"/>
                <a:gd name="connsiteY5" fmla="*/ 646803 h 64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0" h="646803">
                  <a:moveTo>
                    <a:pt x="0" y="646803"/>
                  </a:moveTo>
                  <a:lnTo>
                    <a:pt x="488950" y="385443"/>
                  </a:lnTo>
                  <a:lnTo>
                    <a:pt x="977900" y="646803"/>
                  </a:lnTo>
                  <a:lnTo>
                    <a:pt x="977900" y="0"/>
                  </a:lnTo>
                  <a:lnTo>
                    <a:pt x="0" y="0"/>
                  </a:lnTo>
                  <a:lnTo>
                    <a:pt x="0" y="6468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29D081F0-6291-CF1D-0CE1-A0832EC218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4134753" y="2946656"/>
            <a:ext cx="504121" cy="88265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3AAE86AC-953C-DCE9-DB58-E843D37ADAE8}"/>
              </a:ext>
            </a:extLst>
          </p:cNvPr>
          <p:cNvSpPr txBox="1"/>
          <p:nvPr/>
        </p:nvSpPr>
        <p:spPr>
          <a:xfrm>
            <a:off x="4043610" y="381328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DNS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591D80-974B-5B5E-69F2-DA9719A89342}"/>
              </a:ext>
            </a:extLst>
          </p:cNvPr>
          <p:cNvCxnSpPr>
            <a:stCxn id="42" idx="3"/>
          </p:cNvCxnSpPr>
          <p:nvPr/>
        </p:nvCxnSpPr>
        <p:spPr>
          <a:xfrm flipV="1">
            <a:off x="4638874" y="3387984"/>
            <a:ext cx="250318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52200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Protocoles de Transport</a:t>
            </a:r>
          </a:p>
        </p:txBody>
      </p:sp>
      <p:pic>
        <p:nvPicPr>
          <p:cNvPr id="5" name="Graphic 4" descr="Monitor with solid fill">
            <a:extLst>
              <a:ext uri="{FF2B5EF4-FFF2-40B4-BE49-F238E27FC236}">
                <a16:creationId xmlns:a16="http://schemas.microsoft.com/office/drawing/2014/main" id="{B9D57D81-272D-6BA4-9512-9347584D7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15" t="14557" r="8414" b="14388"/>
          <a:stretch/>
        </p:blipFill>
        <p:spPr>
          <a:xfrm>
            <a:off x="552848" y="2741926"/>
            <a:ext cx="1896404" cy="149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6904B-D816-5DF2-EEA7-30322098E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397701" y="2741926"/>
            <a:ext cx="775504" cy="1498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C14444-69EE-A9D9-6C1D-D4715622B856}"/>
              </a:ext>
            </a:extLst>
          </p:cNvPr>
          <p:cNvSpPr txBox="1"/>
          <p:nvPr/>
        </p:nvSpPr>
        <p:spPr>
          <a:xfrm flipH="1">
            <a:off x="1067979" y="4386991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40FFDA-3E49-11CF-25A6-E5F404A8FA46}"/>
              </a:ext>
            </a:extLst>
          </p:cNvPr>
          <p:cNvSpPr txBox="1"/>
          <p:nvPr/>
        </p:nvSpPr>
        <p:spPr>
          <a:xfrm flipH="1">
            <a:off x="10193302" y="4386991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EF924D-CA90-5C27-BEF2-F53AD5AD8D61}"/>
              </a:ext>
            </a:extLst>
          </p:cNvPr>
          <p:cNvSpPr/>
          <p:nvPr/>
        </p:nvSpPr>
        <p:spPr>
          <a:xfrm>
            <a:off x="3479800" y="2741234"/>
            <a:ext cx="5232400" cy="1499616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C8D71-7B96-3A97-E09C-A4CF1AF3ED6F}"/>
              </a:ext>
            </a:extLst>
          </p:cNvPr>
          <p:cNvSpPr txBox="1"/>
          <p:nvPr/>
        </p:nvSpPr>
        <p:spPr>
          <a:xfrm>
            <a:off x="5356054" y="222576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424CB6-E40B-5E84-F8E9-35124B9C0832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2449252" y="3491042"/>
            <a:ext cx="1030548" cy="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4173DC-C0E5-604D-AA1C-7D757108619C}"/>
              </a:ext>
            </a:extLst>
          </p:cNvPr>
          <p:cNvCxnSpPr>
            <a:stCxn id="18" idx="3"/>
            <a:endCxn id="6" idx="1"/>
          </p:cNvCxnSpPr>
          <p:nvPr/>
        </p:nvCxnSpPr>
        <p:spPr>
          <a:xfrm>
            <a:off x="8712200" y="3491042"/>
            <a:ext cx="1685501" cy="34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6EBE075-D61D-D0A7-F96A-5C1916E5C527}"/>
              </a:ext>
            </a:extLst>
          </p:cNvPr>
          <p:cNvSpPr txBox="1"/>
          <p:nvPr/>
        </p:nvSpPr>
        <p:spPr>
          <a:xfrm>
            <a:off x="3952692" y="3797261"/>
            <a:ext cx="979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Packets 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D87A1A4-A875-361F-B1E9-D981CA0D60AA}"/>
              </a:ext>
            </a:extLst>
          </p:cNvPr>
          <p:cNvGrpSpPr/>
          <p:nvPr/>
        </p:nvGrpSpPr>
        <p:grpSpPr>
          <a:xfrm>
            <a:off x="3951815" y="2920216"/>
            <a:ext cx="981446" cy="909789"/>
            <a:chOff x="6141456" y="2910613"/>
            <a:chExt cx="981446" cy="909789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C2D3B96-125A-9E73-59BB-D93D47FBEA18}"/>
                </a:ext>
              </a:extLst>
            </p:cNvPr>
            <p:cNvGrpSpPr/>
            <p:nvPr/>
          </p:nvGrpSpPr>
          <p:grpSpPr>
            <a:xfrm>
              <a:off x="6145002" y="2910613"/>
              <a:ext cx="977900" cy="261360"/>
              <a:chOff x="7388702" y="2971318"/>
              <a:chExt cx="977900" cy="261360"/>
            </a:xfrm>
          </p:grpSpPr>
          <p:sp>
            <p:nvSpPr>
              <p:cNvPr id="60" name="Isosceles Triangle 59">
                <a:extLst>
                  <a:ext uri="{FF2B5EF4-FFF2-40B4-BE49-F238E27FC236}">
                    <a16:creationId xmlns:a16="http://schemas.microsoft.com/office/drawing/2014/main" id="{EE0C6D1C-5C95-5B8A-A2EB-E663BB3A1163}"/>
                  </a:ext>
                </a:extLst>
              </p:cNvPr>
              <p:cNvSpPr/>
              <p:nvPr/>
            </p:nvSpPr>
            <p:spPr>
              <a:xfrm>
                <a:off x="7388702" y="2971318"/>
                <a:ext cx="977900" cy="261360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Isosceles Triangle 60">
                <a:extLst>
                  <a:ext uri="{FF2B5EF4-FFF2-40B4-BE49-F238E27FC236}">
                    <a16:creationId xmlns:a16="http://schemas.microsoft.com/office/drawing/2014/main" id="{1A35C740-D9DF-6DDD-20D6-573FD8362CF7}"/>
                  </a:ext>
                </a:extLst>
              </p:cNvPr>
              <p:cNvSpPr/>
              <p:nvPr/>
            </p:nvSpPr>
            <p:spPr>
              <a:xfrm>
                <a:off x="7434287" y="2997758"/>
                <a:ext cx="886731" cy="2349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29D614-6EB9-DE4A-0A16-9313488C2FC6}"/>
                </a:ext>
              </a:extLst>
            </p:cNvPr>
            <p:cNvSpPr/>
            <p:nvPr/>
          </p:nvSpPr>
          <p:spPr>
            <a:xfrm>
              <a:off x="6195840" y="2994713"/>
              <a:ext cx="878914" cy="64680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….</a:t>
              </a:r>
            </a:p>
            <a:p>
              <a:pPr algn="ctr"/>
              <a:r>
                <a:rPr lang="en-US" sz="1200" dirty="0"/>
                <a:t>….</a:t>
              </a:r>
            </a:p>
            <a:p>
              <a:pPr algn="ctr"/>
              <a:endParaRPr lang="en-US" sz="1200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D3BAF1A-C1F7-26FC-6567-2A50F09C393A}"/>
                </a:ext>
              </a:extLst>
            </p:cNvPr>
            <p:cNvSpPr/>
            <p:nvPr/>
          </p:nvSpPr>
          <p:spPr>
            <a:xfrm flipV="1">
              <a:off x="6141456" y="3173599"/>
              <a:ext cx="977900" cy="646803"/>
            </a:xfrm>
            <a:custGeom>
              <a:avLst/>
              <a:gdLst>
                <a:gd name="connsiteX0" fmla="*/ 0 w 977900"/>
                <a:gd name="connsiteY0" fmla="*/ 646803 h 646803"/>
                <a:gd name="connsiteX1" fmla="*/ 488950 w 977900"/>
                <a:gd name="connsiteY1" fmla="*/ 385443 h 646803"/>
                <a:gd name="connsiteX2" fmla="*/ 977900 w 977900"/>
                <a:gd name="connsiteY2" fmla="*/ 646803 h 646803"/>
                <a:gd name="connsiteX3" fmla="*/ 977900 w 977900"/>
                <a:gd name="connsiteY3" fmla="*/ 0 h 646803"/>
                <a:gd name="connsiteX4" fmla="*/ 0 w 977900"/>
                <a:gd name="connsiteY4" fmla="*/ 0 h 646803"/>
                <a:gd name="connsiteX5" fmla="*/ 0 w 977900"/>
                <a:gd name="connsiteY5" fmla="*/ 646803 h 64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7900" h="646803">
                  <a:moveTo>
                    <a:pt x="0" y="646803"/>
                  </a:moveTo>
                  <a:lnTo>
                    <a:pt x="488950" y="385443"/>
                  </a:lnTo>
                  <a:lnTo>
                    <a:pt x="977900" y="646803"/>
                  </a:lnTo>
                  <a:lnTo>
                    <a:pt x="977900" y="0"/>
                  </a:lnTo>
                  <a:lnTo>
                    <a:pt x="0" y="0"/>
                  </a:lnTo>
                  <a:lnTo>
                    <a:pt x="0" y="6468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3D2D462B-294C-E055-5177-A7CF6791A41B}"/>
              </a:ext>
            </a:extLst>
          </p:cNvPr>
          <p:cNvSpPr/>
          <p:nvPr/>
        </p:nvSpPr>
        <p:spPr>
          <a:xfrm>
            <a:off x="6211504" y="2883414"/>
            <a:ext cx="1398130" cy="124637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Header</a:t>
            </a:r>
          </a:p>
          <a:p>
            <a:pPr algn="ctr"/>
            <a:r>
              <a:rPr lang="en-US" sz="1200" dirty="0"/>
              <a:t>---------------------------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Payload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cxnSp>
        <p:nvCxnSpPr>
          <p:cNvPr id="65" name="Connector: Curved 64">
            <a:extLst>
              <a:ext uri="{FF2B5EF4-FFF2-40B4-BE49-F238E27FC236}">
                <a16:creationId xmlns:a16="http://schemas.microsoft.com/office/drawing/2014/main" id="{D0E509DD-0334-D44C-D2E7-EA04091C396E}"/>
              </a:ext>
            </a:extLst>
          </p:cNvPr>
          <p:cNvCxnSpPr>
            <a:cxnSpLocks/>
          </p:cNvCxnSpPr>
          <p:nvPr/>
        </p:nvCxnSpPr>
        <p:spPr>
          <a:xfrm>
            <a:off x="4928757" y="3060739"/>
            <a:ext cx="1243588" cy="468603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C88C18E8-F70B-7D71-9541-6B5D38FFCE6E}"/>
              </a:ext>
            </a:extLst>
          </p:cNvPr>
          <p:cNvSpPr txBox="1"/>
          <p:nvPr/>
        </p:nvSpPr>
        <p:spPr>
          <a:xfrm>
            <a:off x="746689" y="2920216"/>
            <a:ext cx="1508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APP PROTOCOLE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F9C440CF-F706-C8C3-48B4-AE0D9C6F2FC5}"/>
              </a:ext>
            </a:extLst>
          </p:cNvPr>
          <p:cNvSpPr/>
          <p:nvPr/>
        </p:nvSpPr>
        <p:spPr>
          <a:xfrm>
            <a:off x="599814" y="5256930"/>
            <a:ext cx="1987431" cy="770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TRANSPORT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10B297-3F1F-2F37-E553-023F2D63F933}"/>
              </a:ext>
            </a:extLst>
          </p:cNvPr>
          <p:cNvSpPr txBox="1"/>
          <p:nvPr/>
        </p:nvSpPr>
        <p:spPr>
          <a:xfrm>
            <a:off x="4885113" y="4798176"/>
            <a:ext cx="649056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Protocole fiable et ordonné, comme un appel téléphonique. Idéal pour les fichiers et les pages web.</a:t>
            </a:r>
            <a:endParaRPr 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485A2F4-43B4-6C67-48EB-7D3C6C2AC386}"/>
              </a:ext>
            </a:extLst>
          </p:cNvPr>
          <p:cNvSpPr txBox="1"/>
          <p:nvPr/>
        </p:nvSpPr>
        <p:spPr>
          <a:xfrm>
            <a:off x="4885113" y="5839373"/>
            <a:ext cx="649056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b="0" dirty="0">
                <a:solidFill>
                  <a:srgbClr val="F9FAFB"/>
                </a:solidFill>
                <a:effectLst/>
                <a:latin typeface="quote-cjk-patch"/>
              </a:rPr>
              <a:t>Protocole rapide et sans garantie, comme une lettre jetée dans une boîte. Idéal pour le streaming en direct ou les jeux en ligne.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113DF02-FDC5-ACF7-807D-5B16905C0AAD}"/>
              </a:ext>
            </a:extLst>
          </p:cNvPr>
          <p:cNvGrpSpPr/>
          <p:nvPr/>
        </p:nvGrpSpPr>
        <p:grpSpPr>
          <a:xfrm>
            <a:off x="2587245" y="5641941"/>
            <a:ext cx="2071382" cy="735479"/>
            <a:chOff x="2587245" y="5641941"/>
            <a:chExt cx="2071382" cy="735479"/>
          </a:xfrm>
        </p:grpSpPr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8CC992E4-5FFB-115F-CE92-2CE61A69877B}"/>
                </a:ext>
              </a:extLst>
            </p:cNvPr>
            <p:cNvSpPr/>
            <p:nvPr/>
          </p:nvSpPr>
          <p:spPr>
            <a:xfrm>
              <a:off x="3359464" y="5947657"/>
              <a:ext cx="1299163" cy="42976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rgbClr val="F9FAFB"/>
                  </a:solidFill>
                  <a:effectLst/>
                  <a:latin typeface="quote-cjk-patch"/>
                </a:rPr>
                <a:t>UDP</a:t>
              </a:r>
              <a:endParaRPr lang="en-US" sz="1800" b="1" dirty="0"/>
            </a:p>
          </p:txBody>
        </p:sp>
        <p:cxnSp>
          <p:nvCxnSpPr>
            <p:cNvPr id="96" name="Connector: Elbow 95">
              <a:extLst>
                <a:ext uri="{FF2B5EF4-FFF2-40B4-BE49-F238E27FC236}">
                  <a16:creationId xmlns:a16="http://schemas.microsoft.com/office/drawing/2014/main" id="{FB3A1A35-BE97-5FAE-8C1C-F9F505117CDA}"/>
                </a:ext>
              </a:extLst>
            </p:cNvPr>
            <p:cNvCxnSpPr>
              <a:cxnSpLocks/>
              <a:stCxn id="91" idx="3"/>
              <a:endCxn id="93" idx="1"/>
            </p:cNvCxnSpPr>
            <p:nvPr/>
          </p:nvCxnSpPr>
          <p:spPr>
            <a:xfrm>
              <a:off x="2587245" y="5641941"/>
              <a:ext cx="772219" cy="52059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18DC9B7-8C73-BB99-02D1-E8771E0DB8BF}"/>
              </a:ext>
            </a:extLst>
          </p:cNvPr>
          <p:cNvGrpSpPr/>
          <p:nvPr/>
        </p:nvGrpSpPr>
        <p:grpSpPr>
          <a:xfrm>
            <a:off x="2587245" y="4906460"/>
            <a:ext cx="2071382" cy="735481"/>
            <a:chOff x="2587245" y="4906460"/>
            <a:chExt cx="2071382" cy="735481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B888A15F-47DD-631E-4432-F835C2D751B9}"/>
                </a:ext>
              </a:extLst>
            </p:cNvPr>
            <p:cNvSpPr/>
            <p:nvPr/>
          </p:nvSpPr>
          <p:spPr>
            <a:xfrm>
              <a:off x="3359464" y="4906460"/>
              <a:ext cx="1299163" cy="42976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b="1" dirty="0">
                  <a:solidFill>
                    <a:srgbClr val="F9FAFB"/>
                  </a:solidFill>
                  <a:effectLst/>
                  <a:latin typeface="quote-cjk-patch"/>
                </a:rPr>
                <a:t>TCP</a:t>
              </a:r>
              <a:endParaRPr lang="en-US" sz="1800" b="1" dirty="0"/>
            </a:p>
          </p:txBody>
        </p: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85685FB9-35E5-9984-758B-216FD3F48B73}"/>
                </a:ext>
              </a:extLst>
            </p:cNvPr>
            <p:cNvCxnSpPr>
              <a:cxnSpLocks/>
              <a:stCxn id="91" idx="3"/>
              <a:endCxn id="92" idx="1"/>
            </p:cNvCxnSpPr>
            <p:nvPr/>
          </p:nvCxnSpPr>
          <p:spPr>
            <a:xfrm flipV="1">
              <a:off x="2587245" y="5121342"/>
              <a:ext cx="772219" cy="52059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B67BFE5-1569-369D-84B0-98D86A44AE3F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6601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4" grpId="0" animBg="1"/>
      <p:bldP spid="9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554D848-FCB7-7496-CDD4-61BD0BFB06D9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05335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Paradigmes d’APIs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96904B-D816-5DF2-EEA7-30322098E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317283" y="2748969"/>
            <a:ext cx="1319437" cy="2237471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E20D962-2286-57DA-312C-93DEE6C1A34A}"/>
              </a:ext>
            </a:extLst>
          </p:cNvPr>
          <p:cNvGrpSpPr/>
          <p:nvPr/>
        </p:nvGrpSpPr>
        <p:grpSpPr>
          <a:xfrm>
            <a:off x="977003" y="1778690"/>
            <a:ext cx="2965451" cy="970279"/>
            <a:chOff x="977003" y="1778690"/>
            <a:chExt cx="2965451" cy="970279"/>
          </a:xfrm>
        </p:grpSpPr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C72CC75A-040D-F7F7-1393-B7EA66CE1EE3}"/>
                </a:ext>
              </a:extLst>
            </p:cNvPr>
            <p:cNvCxnSpPr>
              <a:stCxn id="6" idx="0"/>
              <a:endCxn id="12" idx="1"/>
            </p:cNvCxnSpPr>
            <p:nvPr/>
          </p:nvCxnSpPr>
          <p:spPr>
            <a:xfrm rot="5400000" flipH="1" flipV="1">
              <a:off x="1425949" y="1604064"/>
              <a:ext cx="695959" cy="1593852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10DC459-F9C2-4BFD-C499-114AE00439F8}"/>
                </a:ext>
              </a:extLst>
            </p:cNvPr>
            <p:cNvSpPr/>
            <p:nvPr/>
          </p:nvSpPr>
          <p:spPr>
            <a:xfrm>
              <a:off x="2570854" y="1778690"/>
              <a:ext cx="1371600" cy="5486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REST API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E43127C-1413-17DA-902E-B1ECC5778B5F}"/>
              </a:ext>
            </a:extLst>
          </p:cNvPr>
          <p:cNvSpPr txBox="1"/>
          <p:nvPr/>
        </p:nvSpPr>
        <p:spPr>
          <a:xfrm>
            <a:off x="4476084" y="1868344"/>
            <a:ext cx="65030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Standard, simple, adapté aux API générales</a:t>
            </a:r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AB770B-081A-A6EB-C73B-B2E430742487}"/>
              </a:ext>
            </a:extLst>
          </p:cNvPr>
          <p:cNvGrpSpPr/>
          <p:nvPr/>
        </p:nvGrpSpPr>
        <p:grpSpPr>
          <a:xfrm>
            <a:off x="1636720" y="3593384"/>
            <a:ext cx="2305734" cy="548640"/>
            <a:chOff x="1636720" y="3593384"/>
            <a:chExt cx="2305734" cy="548640"/>
          </a:xfrm>
        </p:grpSpPr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90219C02-CDF7-F097-AAC9-E0059F1B81E9}"/>
                </a:ext>
              </a:extLst>
            </p:cNvPr>
            <p:cNvCxnSpPr>
              <a:cxnSpLocks/>
              <a:stCxn id="6" idx="3"/>
              <a:endCxn id="13" idx="1"/>
            </p:cNvCxnSpPr>
            <p:nvPr/>
          </p:nvCxnSpPr>
          <p:spPr>
            <a:xfrm flipV="1">
              <a:off x="1636720" y="3867704"/>
              <a:ext cx="934134" cy="1"/>
            </a:xfrm>
            <a:prstGeom prst="bentConnector3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17B8442-A8CB-D2DD-E6BC-65E7625780C4}"/>
                </a:ext>
              </a:extLst>
            </p:cNvPr>
            <p:cNvSpPr/>
            <p:nvPr/>
          </p:nvSpPr>
          <p:spPr>
            <a:xfrm>
              <a:off x="2570854" y="3593384"/>
              <a:ext cx="1371600" cy="5486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/>
                <a:t>GraphQL</a:t>
              </a:r>
              <a:r>
                <a:rPr lang="en-US" sz="1400" b="1" dirty="0"/>
                <a:t> API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6E2CF44-DE5A-1478-B959-B60DC60906E4}"/>
              </a:ext>
            </a:extLst>
          </p:cNvPr>
          <p:cNvSpPr txBox="1"/>
          <p:nvPr/>
        </p:nvSpPr>
        <p:spPr>
          <a:xfrm>
            <a:off x="4476084" y="3544539"/>
            <a:ext cx="650306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Flexible, évite la récupération de données redondantes ou manquantes, complexe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6FDFB5B-7500-DDB1-528F-47F44D34028B}"/>
              </a:ext>
            </a:extLst>
          </p:cNvPr>
          <p:cNvGrpSpPr/>
          <p:nvPr/>
        </p:nvGrpSpPr>
        <p:grpSpPr>
          <a:xfrm>
            <a:off x="977003" y="4986439"/>
            <a:ext cx="2965451" cy="970280"/>
            <a:chOff x="977003" y="4986439"/>
            <a:chExt cx="2965451" cy="970280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B3103D57-0E78-80A0-3F24-974C06FC9994}"/>
                </a:ext>
              </a:extLst>
            </p:cNvPr>
            <p:cNvCxnSpPr>
              <a:stCxn id="6" idx="2"/>
              <a:endCxn id="14" idx="1"/>
            </p:cNvCxnSpPr>
            <p:nvPr/>
          </p:nvCxnSpPr>
          <p:spPr>
            <a:xfrm rot="16200000" flipH="1">
              <a:off x="1425949" y="4537493"/>
              <a:ext cx="695959" cy="1593852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B45491C-5E89-98AD-4E78-628E89D8CBE6}"/>
                </a:ext>
              </a:extLst>
            </p:cNvPr>
            <p:cNvSpPr/>
            <p:nvPr/>
          </p:nvSpPr>
          <p:spPr>
            <a:xfrm>
              <a:off x="2570854" y="5408079"/>
              <a:ext cx="1371600" cy="5486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/>
                <a:t>gRPC</a:t>
              </a:r>
              <a:r>
                <a:rPr lang="en-US" sz="1400" b="1" dirty="0"/>
                <a:t> API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4D1985B5-D769-28EE-3CD9-E72E0C8C26F0}"/>
              </a:ext>
            </a:extLst>
          </p:cNvPr>
          <p:cNvSpPr txBox="1"/>
          <p:nvPr/>
        </p:nvSpPr>
        <p:spPr>
          <a:xfrm>
            <a:off x="4476084" y="5497733"/>
            <a:ext cx="650306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Haute performance, binaire, idéal pour les </a:t>
            </a:r>
            <a:r>
              <a:rPr lang="fr-FR" dirty="0" err="1"/>
              <a:t>microservices</a:t>
            </a:r>
            <a:r>
              <a:rPr lang="fr-FR" dirty="0"/>
              <a:t> internes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8E00AC3-9F23-2E5A-022D-035810B2AFA5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22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15DCAD0-9D53-991B-0036-E60A7F51009B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515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Cache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10366102" y="2741926"/>
            <a:ext cx="704858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274512" y="2742273"/>
            <a:ext cx="775504" cy="149892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10255745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1070113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4FA2BC-DB9B-B316-4AF5-DC47DA277ECC}"/>
              </a:ext>
            </a:extLst>
          </p:cNvPr>
          <p:cNvSpPr/>
          <p:nvPr/>
        </p:nvSpPr>
        <p:spPr>
          <a:xfrm>
            <a:off x="3479800" y="2467446"/>
            <a:ext cx="5232400" cy="204719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F3798-08E3-3E77-26E6-B2858CDF48E3}"/>
              </a:ext>
            </a:extLst>
          </p:cNvPr>
          <p:cNvSpPr txBox="1"/>
          <p:nvPr/>
        </p:nvSpPr>
        <p:spPr>
          <a:xfrm>
            <a:off x="5121534" y="4512754"/>
            <a:ext cx="1948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CACHE LAYER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EE1FAC-98CD-6417-8B95-E9F0E6AABD09}"/>
              </a:ext>
            </a:extLst>
          </p:cNvPr>
          <p:cNvSpPr/>
          <p:nvPr/>
        </p:nvSpPr>
        <p:spPr>
          <a:xfrm>
            <a:off x="3802907" y="2977154"/>
            <a:ext cx="3522920" cy="1027776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E4BAB9-7833-4FF7-E476-CCF6DFF5FA74}"/>
              </a:ext>
            </a:extLst>
          </p:cNvPr>
          <p:cNvSpPr txBox="1"/>
          <p:nvPr/>
        </p:nvSpPr>
        <p:spPr>
          <a:xfrm>
            <a:off x="5551651" y="2530091"/>
            <a:ext cx="1088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CACHE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ADC7A7-087E-9327-E1C0-14CDE8AD82CA}"/>
              </a:ext>
            </a:extLst>
          </p:cNvPr>
          <p:cNvSpPr txBox="1"/>
          <p:nvPr/>
        </p:nvSpPr>
        <p:spPr>
          <a:xfrm>
            <a:off x="7415195" y="3114029"/>
            <a:ext cx="117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Cache Hit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3AE2C94-B206-514E-1812-D7E67A5F7DD0}"/>
              </a:ext>
            </a:extLst>
          </p:cNvPr>
          <p:cNvCxnSpPr>
            <a:stCxn id="16" idx="3"/>
            <a:endCxn id="3" idx="1"/>
          </p:cNvCxnSpPr>
          <p:nvPr/>
        </p:nvCxnSpPr>
        <p:spPr>
          <a:xfrm flipV="1">
            <a:off x="2050016" y="3491042"/>
            <a:ext cx="1429784" cy="6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B2BAAA8-C59F-23FC-B7B0-A746B30B2C89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7325827" y="3491042"/>
            <a:ext cx="3040275" cy="6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724E7071-E653-D33F-A5BF-9ABD147C38CC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DB3A28-4288-89B1-CC11-6361B732C82A}"/>
              </a:ext>
            </a:extLst>
          </p:cNvPr>
          <p:cNvSpPr txBox="1"/>
          <p:nvPr/>
        </p:nvSpPr>
        <p:spPr>
          <a:xfrm>
            <a:off x="7341457" y="3503742"/>
            <a:ext cx="1326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Cache Miss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5E5C8-419F-5D24-C340-97B976FDBF65}"/>
              </a:ext>
            </a:extLst>
          </p:cNvPr>
          <p:cNvSpPr txBox="1"/>
          <p:nvPr/>
        </p:nvSpPr>
        <p:spPr>
          <a:xfrm>
            <a:off x="1586019" y="1105556"/>
            <a:ext cx="90199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Le cache </a:t>
            </a:r>
            <a:r>
              <a:rPr lang="fr-FR" dirty="0"/>
              <a:t>est une couche de mémoire rapide qui stocke les données fréquemment demandées.</a:t>
            </a:r>
          </a:p>
        </p:txBody>
      </p:sp>
    </p:spTree>
    <p:extLst>
      <p:ext uri="{BB962C8B-B14F-4D97-AF65-F5344CB8AC3E}">
        <p14:creationId xmlns:p14="http://schemas.microsoft.com/office/powerpoint/2010/main" val="2432174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FAD1ADC-7088-06CB-31EB-9AAEBD2B047A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09031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CDN(Content Delivery Network)</a:t>
            </a:r>
          </a:p>
        </p:txBody>
      </p:sp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919854" y="147681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090713" y="2742273"/>
            <a:ext cx="775504" cy="149892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046021" y="312205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9887279" y="4260165"/>
            <a:ext cx="118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Origine</a:t>
            </a:r>
          </a:p>
          <a:p>
            <a:pPr algn="ctr"/>
            <a:r>
              <a:rPr lang="en-US" b="1" dirty="0"/>
              <a:t>Server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F0FF3F-CC43-BB2B-3409-C813AF6FC9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473337" y="1504113"/>
            <a:ext cx="775504" cy="14989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C0DB51-FC12-0E29-BBDD-DF19D46F2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473337" y="4335580"/>
            <a:ext cx="775504" cy="149892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51EC7E-B8DD-7235-FAF2-CDB7FE3D474B}"/>
              </a:ext>
            </a:extLst>
          </p:cNvPr>
          <p:cNvCxnSpPr>
            <a:stCxn id="15" idx="3"/>
            <a:endCxn id="2" idx="1"/>
          </p:cNvCxnSpPr>
          <p:nvPr/>
        </p:nvCxnSpPr>
        <p:spPr>
          <a:xfrm>
            <a:off x="2038333" y="2226624"/>
            <a:ext cx="3435004" cy="26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1A692D2-B3CC-F242-F626-BDF5CC94331B}"/>
              </a:ext>
            </a:extLst>
          </p:cNvPr>
          <p:cNvCxnSpPr>
            <a:stCxn id="2" idx="3"/>
            <a:endCxn id="16" idx="1"/>
          </p:cNvCxnSpPr>
          <p:nvPr/>
        </p:nvCxnSpPr>
        <p:spPr>
          <a:xfrm>
            <a:off x="6248841" y="2253575"/>
            <a:ext cx="3841872" cy="12381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377215-38C4-8E2B-5983-D07AE0C0D766}"/>
              </a:ext>
            </a:extLst>
          </p:cNvPr>
          <p:cNvCxnSpPr>
            <a:cxnSpLocks/>
            <a:stCxn id="20" idx="3"/>
            <a:endCxn id="3" idx="1"/>
          </p:cNvCxnSpPr>
          <p:nvPr/>
        </p:nvCxnSpPr>
        <p:spPr>
          <a:xfrm>
            <a:off x="2038333" y="5058784"/>
            <a:ext cx="3435004" cy="262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486FECB-145F-296B-455E-5F86A7961073}"/>
              </a:ext>
            </a:extLst>
          </p:cNvPr>
          <p:cNvCxnSpPr>
            <a:stCxn id="3" idx="3"/>
            <a:endCxn id="16" idx="1"/>
          </p:cNvCxnSpPr>
          <p:nvPr/>
        </p:nvCxnSpPr>
        <p:spPr>
          <a:xfrm flipV="1">
            <a:off x="6248841" y="3491735"/>
            <a:ext cx="3841872" cy="15933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6A6D63A-89A9-9DC2-6B94-000941A9A93D}"/>
              </a:ext>
            </a:extLst>
          </p:cNvPr>
          <p:cNvSpPr txBox="1"/>
          <p:nvPr/>
        </p:nvSpPr>
        <p:spPr>
          <a:xfrm flipH="1">
            <a:off x="5269903" y="3003801"/>
            <a:ext cx="118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Edge</a:t>
            </a:r>
          </a:p>
          <a:p>
            <a:pPr algn="ctr"/>
            <a:r>
              <a:rPr lang="en-US" b="1" dirty="0"/>
              <a:t>Server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4641A5-828D-BBBA-FA29-877F321DB66C}"/>
              </a:ext>
            </a:extLst>
          </p:cNvPr>
          <p:cNvSpPr txBox="1"/>
          <p:nvPr/>
        </p:nvSpPr>
        <p:spPr>
          <a:xfrm flipH="1">
            <a:off x="5269903" y="5851499"/>
            <a:ext cx="118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Edge</a:t>
            </a:r>
          </a:p>
          <a:p>
            <a:pPr algn="ctr"/>
            <a:r>
              <a:rPr lang="en-US" b="1" dirty="0"/>
              <a:t>Server  </a:t>
            </a:r>
          </a:p>
        </p:txBody>
      </p:sp>
      <p:pic>
        <p:nvPicPr>
          <p:cNvPr id="20" name="Graphic 19" descr="Monitor with solid fill">
            <a:extLst>
              <a:ext uri="{FF2B5EF4-FFF2-40B4-BE49-F238E27FC236}">
                <a16:creationId xmlns:a16="http://schemas.microsoft.com/office/drawing/2014/main" id="{CD2E61F3-3B4E-BBB6-0F4F-4458E8EB5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919854" y="4308976"/>
            <a:ext cx="1118479" cy="14996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C549643-028F-2E26-8F96-07474B97B85F}"/>
              </a:ext>
            </a:extLst>
          </p:cNvPr>
          <p:cNvSpPr txBox="1"/>
          <p:nvPr/>
        </p:nvSpPr>
        <p:spPr>
          <a:xfrm flipH="1">
            <a:off x="1046021" y="595421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8941F965-DB41-B0B0-3144-2F88FCEEEDB0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9423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BE370D8-D810-C94D-AC51-52B24DB7FBB6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3858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Proxy</a:t>
            </a:r>
          </a:p>
        </p:txBody>
      </p:sp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919854" y="1320893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090713" y="1321240"/>
            <a:ext cx="775504" cy="149892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988748" y="2939402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9887279" y="2939402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FED6A-C88A-AF0F-0512-7562E01EC1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716" y="1320893"/>
            <a:ext cx="1499616" cy="1499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9442F5-9FC6-89E3-3E11-39912B167A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715" y="1320893"/>
            <a:ext cx="1499616" cy="1499616"/>
          </a:xfrm>
          <a:prstGeom prst="rect">
            <a:avLst/>
          </a:prstGeom>
        </p:spPr>
      </p:pic>
      <p:pic>
        <p:nvPicPr>
          <p:cNvPr id="7" name="Graphic 6" descr="Monitor with solid fill">
            <a:extLst>
              <a:ext uri="{FF2B5EF4-FFF2-40B4-BE49-F238E27FC236}">
                <a16:creationId xmlns:a16="http://schemas.microsoft.com/office/drawing/2014/main" id="{B56E12B0-0F65-9000-96C0-2FD10A97C8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919854" y="4137286"/>
            <a:ext cx="1118479" cy="1499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AD71CE-5411-8594-83CE-80D7A50D1F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090713" y="4137633"/>
            <a:ext cx="775504" cy="1498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62670-6410-4812-88BD-D57AC20B8C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715" y="4137286"/>
            <a:ext cx="1499616" cy="1499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B2DCFF-97E5-A78B-D6D5-DDD1EA8DE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716" y="4137286"/>
            <a:ext cx="1499616" cy="14996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7A3221-5E14-BE31-29F7-25B989998889}"/>
              </a:ext>
            </a:extLst>
          </p:cNvPr>
          <p:cNvSpPr txBox="1"/>
          <p:nvPr/>
        </p:nvSpPr>
        <p:spPr>
          <a:xfrm flipH="1">
            <a:off x="9887279" y="5692668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A21DD2-4A1F-D4B2-C6F7-98E018BACEFA}"/>
              </a:ext>
            </a:extLst>
          </p:cNvPr>
          <p:cNvSpPr txBox="1"/>
          <p:nvPr/>
        </p:nvSpPr>
        <p:spPr>
          <a:xfrm flipH="1">
            <a:off x="7065337" y="2939402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447FFF-E339-33EB-7E32-CA511D409A86}"/>
              </a:ext>
            </a:extLst>
          </p:cNvPr>
          <p:cNvSpPr txBox="1"/>
          <p:nvPr/>
        </p:nvSpPr>
        <p:spPr>
          <a:xfrm flipH="1">
            <a:off x="3616960" y="2939402"/>
            <a:ext cx="171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FORWARD</a:t>
            </a:r>
          </a:p>
          <a:p>
            <a:pPr algn="ctr"/>
            <a:r>
              <a:rPr lang="en-US" b="1" dirty="0"/>
              <a:t>Proxy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F18FC7-52B5-0DB9-6551-9CE16D087215}"/>
              </a:ext>
            </a:extLst>
          </p:cNvPr>
          <p:cNvSpPr txBox="1"/>
          <p:nvPr/>
        </p:nvSpPr>
        <p:spPr>
          <a:xfrm flipH="1">
            <a:off x="6906715" y="5692668"/>
            <a:ext cx="1499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REVERSE</a:t>
            </a:r>
          </a:p>
          <a:p>
            <a:pPr algn="ctr"/>
            <a:r>
              <a:rPr lang="en-US" b="1" dirty="0"/>
              <a:t>Proxy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31492-9833-6B47-10B0-330CF31D9DA8}"/>
              </a:ext>
            </a:extLst>
          </p:cNvPr>
          <p:cNvSpPr txBox="1"/>
          <p:nvPr/>
        </p:nvSpPr>
        <p:spPr>
          <a:xfrm flipH="1">
            <a:off x="3881338" y="5692668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765E12-9041-24B3-AE0D-2EEB3C69EE2A}"/>
              </a:ext>
            </a:extLst>
          </p:cNvPr>
          <p:cNvSpPr txBox="1"/>
          <p:nvPr/>
        </p:nvSpPr>
        <p:spPr>
          <a:xfrm flipH="1">
            <a:off x="900774" y="5692668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F1E610-AC85-9526-C9F4-09F0BCD7083B}"/>
              </a:ext>
            </a:extLst>
          </p:cNvPr>
          <p:cNvCxnSpPr>
            <a:stCxn id="15" idx="3"/>
            <a:endCxn id="3" idx="1"/>
          </p:cNvCxnSpPr>
          <p:nvPr/>
        </p:nvCxnSpPr>
        <p:spPr>
          <a:xfrm>
            <a:off x="2038333" y="2070701"/>
            <a:ext cx="16843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E1619C-311D-8CF2-448E-8C3FA127F4B0}"/>
              </a:ext>
            </a:extLst>
          </p:cNvPr>
          <p:cNvCxnSpPr>
            <a:stCxn id="3" idx="3"/>
            <a:endCxn id="6" idx="1"/>
          </p:cNvCxnSpPr>
          <p:nvPr/>
        </p:nvCxnSpPr>
        <p:spPr>
          <a:xfrm>
            <a:off x="5222332" y="2070701"/>
            <a:ext cx="16843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E6B9E4-1EF1-8216-A625-8312B5472E86}"/>
              </a:ext>
            </a:extLst>
          </p:cNvPr>
          <p:cNvCxnSpPr>
            <a:stCxn id="6" idx="3"/>
            <a:endCxn id="16" idx="1"/>
          </p:cNvCxnSpPr>
          <p:nvPr/>
        </p:nvCxnSpPr>
        <p:spPr>
          <a:xfrm>
            <a:off x="8406331" y="2070701"/>
            <a:ext cx="168438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7BA2DC-DBB2-370E-63D9-BA1781F48F5F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038333" y="4887094"/>
            <a:ext cx="16843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0470FE4-4083-6394-4FB6-61DFD1C76AE3}"/>
              </a:ext>
            </a:extLst>
          </p:cNvPr>
          <p:cNvCxnSpPr>
            <a:stCxn id="10" idx="3"/>
          </p:cNvCxnSpPr>
          <p:nvPr/>
        </p:nvCxnSpPr>
        <p:spPr>
          <a:xfrm>
            <a:off x="5222332" y="4887094"/>
            <a:ext cx="18430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C1026A9-89F4-537E-FACD-03BE0FB79A73}"/>
              </a:ext>
            </a:extLst>
          </p:cNvPr>
          <p:cNvCxnSpPr>
            <a:stCxn id="9" idx="3"/>
            <a:endCxn id="8" idx="1"/>
          </p:cNvCxnSpPr>
          <p:nvPr/>
        </p:nvCxnSpPr>
        <p:spPr>
          <a:xfrm>
            <a:off x="8406331" y="4887094"/>
            <a:ext cx="1684382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67C0649-A6B0-8809-CCBA-F3D5B26518F8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79689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E7647F-1272-0AD4-A8C3-E0F1D96D51D9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9354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D5E6088-0794-C232-A6EC-BF01C093E723}"/>
              </a:ext>
            </a:extLst>
          </p:cNvPr>
          <p:cNvCxnSpPr>
            <a:stCxn id="10" idx="2"/>
            <a:endCxn id="8" idx="1"/>
          </p:cNvCxnSpPr>
          <p:nvPr/>
        </p:nvCxnSpPr>
        <p:spPr>
          <a:xfrm rot="16200000" flipH="1">
            <a:off x="8310783" y="3853904"/>
            <a:ext cx="1166954" cy="243872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Load Balancer</a:t>
            </a:r>
          </a:p>
        </p:txBody>
      </p:sp>
      <p:pic>
        <p:nvPicPr>
          <p:cNvPr id="2" name="Graphic 1" descr="Monitor with solid fill">
            <a:extLst>
              <a:ext uri="{FF2B5EF4-FFF2-40B4-BE49-F238E27FC236}">
                <a16:creationId xmlns:a16="http://schemas.microsoft.com/office/drawing/2014/main" id="{5CA78885-E15A-832A-6F1C-B1D2C0963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515" t="14557" r="8414" b="14388"/>
          <a:stretch/>
        </p:blipFill>
        <p:spPr>
          <a:xfrm>
            <a:off x="919854" y="2990172"/>
            <a:ext cx="1118479" cy="14996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DEFD52-8A2F-A641-D032-73EBC112A8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113621" y="2990519"/>
            <a:ext cx="775504" cy="1498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7571E-26C8-8DEE-947B-A16CFAB719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561" y="2990172"/>
            <a:ext cx="1499616" cy="1499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FFCF04-4349-B6EB-77C2-C1570FABAB11}"/>
              </a:ext>
            </a:extLst>
          </p:cNvPr>
          <p:cNvSpPr txBox="1"/>
          <p:nvPr/>
        </p:nvSpPr>
        <p:spPr>
          <a:xfrm flipH="1">
            <a:off x="3881338" y="4517009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Internet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2B528-1A9F-1027-C0C8-C8A67FF12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113621" y="1074104"/>
            <a:ext cx="775504" cy="1498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084CD0-2AE4-092D-8B00-06A981DA68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10113621" y="4907280"/>
            <a:ext cx="775504" cy="14989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6EDAA2-18B6-42DC-CD17-16DFC422FEA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658" t="7435" r="8036" b="7199"/>
          <a:stretch/>
        </p:blipFill>
        <p:spPr>
          <a:xfrm>
            <a:off x="6934405" y="2990172"/>
            <a:ext cx="1480987" cy="14996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B0E723-DB02-984F-1D3D-E1584A1618DD}"/>
              </a:ext>
            </a:extLst>
          </p:cNvPr>
          <p:cNvSpPr txBox="1"/>
          <p:nvPr/>
        </p:nvSpPr>
        <p:spPr>
          <a:xfrm flipH="1">
            <a:off x="851429" y="4537948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FBAD13-D1E2-96DC-4471-78953042C15D}"/>
              </a:ext>
            </a:extLst>
          </p:cNvPr>
          <p:cNvSpPr txBox="1"/>
          <p:nvPr/>
        </p:nvSpPr>
        <p:spPr>
          <a:xfrm flipH="1">
            <a:off x="7083712" y="4563175"/>
            <a:ext cx="1182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Load Balancer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EE16E4A-AEEC-7970-8408-F025FA85F2DF}"/>
              </a:ext>
            </a:extLst>
          </p:cNvPr>
          <p:cNvCxnSpPr>
            <a:stCxn id="10" idx="0"/>
            <a:endCxn id="7" idx="1"/>
          </p:cNvCxnSpPr>
          <p:nvPr/>
        </p:nvCxnSpPr>
        <p:spPr>
          <a:xfrm rot="5400000" flipH="1" flipV="1">
            <a:off x="8310957" y="1187508"/>
            <a:ext cx="1166606" cy="243872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723E762-983A-D431-E815-4E04DA811305}"/>
              </a:ext>
            </a:extLst>
          </p:cNvPr>
          <p:cNvCxnSpPr>
            <a:stCxn id="10" idx="3"/>
            <a:endCxn id="3" idx="1"/>
          </p:cNvCxnSpPr>
          <p:nvPr/>
        </p:nvCxnSpPr>
        <p:spPr>
          <a:xfrm>
            <a:off x="8415392" y="3739980"/>
            <a:ext cx="1698229" cy="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62C735-0C33-DB61-E85D-18B2A99EE184}"/>
              </a:ext>
            </a:extLst>
          </p:cNvPr>
          <p:cNvCxnSpPr>
            <a:stCxn id="5" idx="3"/>
            <a:endCxn id="10" idx="1"/>
          </p:cNvCxnSpPr>
          <p:nvPr/>
        </p:nvCxnSpPr>
        <p:spPr>
          <a:xfrm>
            <a:off x="5236177" y="3739980"/>
            <a:ext cx="16982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0EEFB87-E3FB-2D3B-4DFE-F194370AF8C6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038333" y="3739980"/>
            <a:ext cx="16982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93050158-4A05-F3FC-D7DF-88CAE0127093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26116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Architecture Globale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495" t="9663" r="20812" b="10676"/>
          <a:stretch/>
        </p:blipFill>
        <p:spPr>
          <a:xfrm>
            <a:off x="9931077" y="2741926"/>
            <a:ext cx="704858" cy="1499616"/>
          </a:xfrm>
          <a:prstGeom prst="rect">
            <a:avLst/>
          </a:prstGeom>
        </p:spPr>
      </p:pic>
      <p:pic>
        <p:nvPicPr>
          <p:cNvPr id="15" name="Graphic 14" descr="Monitor with solid fill">
            <a:extLst>
              <a:ext uri="{FF2B5EF4-FFF2-40B4-BE49-F238E27FC236}">
                <a16:creationId xmlns:a16="http://schemas.microsoft.com/office/drawing/2014/main" id="{BF397066-1A14-4F2E-650A-32BA61BBF5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515" t="14557" r="8414" b="14388"/>
          <a:stretch/>
        </p:blipFill>
        <p:spPr>
          <a:xfrm>
            <a:off x="1505137" y="2741926"/>
            <a:ext cx="1118479" cy="149961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2357962-CF76-88BD-5463-649A0ADC7D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47" t="6287" r="19898" b="6287"/>
          <a:stretch/>
        </p:blipFill>
        <p:spPr>
          <a:xfrm>
            <a:off x="5709213" y="2742273"/>
            <a:ext cx="775504" cy="149892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905F8-C0B2-4CA7-1E96-9A5487B105EC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623616" y="3491734"/>
            <a:ext cx="3085597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2ED626-D78F-124A-1D52-6A0ABD440963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 flipV="1">
            <a:off x="6484717" y="3491734"/>
            <a:ext cx="3446360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7BBC27-F818-CA31-9FBB-197B0392EEC6}"/>
              </a:ext>
            </a:extLst>
          </p:cNvPr>
          <p:cNvSpPr txBox="1"/>
          <p:nvPr/>
        </p:nvSpPr>
        <p:spPr>
          <a:xfrm flipH="1">
            <a:off x="1631304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User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89FC2C-94F5-A430-96E5-D48C5345D324}"/>
              </a:ext>
            </a:extLst>
          </p:cNvPr>
          <p:cNvSpPr txBox="1"/>
          <p:nvPr/>
        </p:nvSpPr>
        <p:spPr>
          <a:xfrm flipH="1">
            <a:off x="9820720" y="4387165"/>
            <a:ext cx="866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DD599-21B7-B41F-5F70-E0D2EFF219AF}"/>
              </a:ext>
            </a:extLst>
          </p:cNvPr>
          <p:cNvSpPr txBox="1"/>
          <p:nvPr/>
        </p:nvSpPr>
        <p:spPr>
          <a:xfrm flipH="1">
            <a:off x="5504814" y="4387165"/>
            <a:ext cx="118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Server 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46B1DAD-FBF0-B7FF-37CD-46422E02BAD6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5486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Base de données</a:t>
            </a:r>
          </a:p>
        </p:txBody>
      </p:sp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1A2CE37C-C0D2-9913-C504-57552818D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95" t="9663" r="20812" b="10676"/>
          <a:stretch/>
        </p:blipFill>
        <p:spPr>
          <a:xfrm>
            <a:off x="919854" y="2990172"/>
            <a:ext cx="704858" cy="149961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E5B8346-07A5-AE0D-B6B9-4B833542C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353544"/>
              </p:ext>
            </p:extLst>
          </p:nvPr>
        </p:nvGraphicFramePr>
        <p:xfrm>
          <a:off x="5591567" y="1964968"/>
          <a:ext cx="3716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210">
                  <a:extLst>
                    <a:ext uri="{9D8B030D-6E8A-4147-A177-3AD203B41FA5}">
                      <a16:colId xmlns:a16="http://schemas.microsoft.com/office/drawing/2014/main" val="1478919134"/>
                    </a:ext>
                  </a:extLst>
                </a:gridCol>
                <a:gridCol w="929210">
                  <a:extLst>
                    <a:ext uri="{9D8B030D-6E8A-4147-A177-3AD203B41FA5}">
                      <a16:colId xmlns:a16="http://schemas.microsoft.com/office/drawing/2014/main" val="2408844771"/>
                    </a:ext>
                  </a:extLst>
                </a:gridCol>
                <a:gridCol w="929210">
                  <a:extLst>
                    <a:ext uri="{9D8B030D-6E8A-4147-A177-3AD203B41FA5}">
                      <a16:colId xmlns:a16="http://schemas.microsoft.com/office/drawing/2014/main" val="1877562806"/>
                    </a:ext>
                  </a:extLst>
                </a:gridCol>
                <a:gridCol w="929210">
                  <a:extLst>
                    <a:ext uri="{9D8B030D-6E8A-4147-A177-3AD203B41FA5}">
                      <a16:colId xmlns:a16="http://schemas.microsoft.com/office/drawing/2014/main" val="3492735806"/>
                    </a:ext>
                  </a:extLst>
                </a:gridCol>
              </a:tblGrid>
              <a:tr h="1456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1721036"/>
                  </a:ext>
                </a:extLst>
              </a:tr>
              <a:tr h="1456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93378"/>
                  </a:ext>
                </a:extLst>
              </a:tr>
              <a:tr h="1456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295573"/>
                  </a:ext>
                </a:extLst>
              </a:tr>
              <a:tr h="1456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649302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06033DDA-A22E-7512-98AB-0E23EEDD3A75}"/>
              </a:ext>
            </a:extLst>
          </p:cNvPr>
          <p:cNvGrpSpPr/>
          <p:nvPr/>
        </p:nvGrpSpPr>
        <p:grpSpPr>
          <a:xfrm>
            <a:off x="5591567" y="4033175"/>
            <a:ext cx="3716838" cy="2092271"/>
            <a:chOff x="4888596" y="4073471"/>
            <a:chExt cx="3716838" cy="2092271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5BDF39E4-476A-ED1F-CD02-E8A80BCE8EEC}"/>
                </a:ext>
              </a:extLst>
            </p:cNvPr>
            <p:cNvSpPr/>
            <p:nvPr/>
          </p:nvSpPr>
          <p:spPr>
            <a:xfrm>
              <a:off x="4888596" y="4073471"/>
              <a:ext cx="457200" cy="45720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04A03803-24A1-F940-F689-CBDF504E0501}"/>
                </a:ext>
              </a:extLst>
            </p:cNvPr>
            <p:cNvSpPr/>
            <p:nvPr/>
          </p:nvSpPr>
          <p:spPr>
            <a:xfrm>
              <a:off x="7485845" y="5708542"/>
              <a:ext cx="457200" cy="45720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E66B5422-125B-BFEC-0F5D-F2F33C00A47B}"/>
                </a:ext>
              </a:extLst>
            </p:cNvPr>
            <p:cNvSpPr/>
            <p:nvPr/>
          </p:nvSpPr>
          <p:spPr>
            <a:xfrm>
              <a:off x="5188914" y="5251342"/>
              <a:ext cx="457200" cy="45720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9777646C-C88B-254D-E975-F40F407CA235}"/>
                </a:ext>
              </a:extLst>
            </p:cNvPr>
            <p:cNvSpPr/>
            <p:nvPr/>
          </p:nvSpPr>
          <p:spPr>
            <a:xfrm>
              <a:off x="6554274" y="4804991"/>
              <a:ext cx="457200" cy="45720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47B0DF94-60FB-F2C1-FC8A-BF788BFC85A0}"/>
                </a:ext>
              </a:extLst>
            </p:cNvPr>
            <p:cNvSpPr/>
            <p:nvPr/>
          </p:nvSpPr>
          <p:spPr>
            <a:xfrm>
              <a:off x="8148234" y="4378271"/>
              <a:ext cx="457200" cy="457200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E6901F8-AB6F-6CD5-494A-EF1C2E56C5F9}"/>
                </a:ext>
              </a:extLst>
            </p:cNvPr>
            <p:cNvCxnSpPr>
              <a:stCxn id="8" idx="4"/>
              <a:endCxn id="10" idx="0"/>
            </p:cNvCxnSpPr>
            <p:nvPr/>
          </p:nvCxnSpPr>
          <p:spPr>
            <a:xfrm>
              <a:off x="5117196" y="4530671"/>
              <a:ext cx="300318" cy="720671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2D07B5E-36A6-816B-D54E-11BF8F8033FB}"/>
                </a:ext>
              </a:extLst>
            </p:cNvPr>
            <p:cNvCxnSpPr>
              <a:stCxn id="8" idx="6"/>
              <a:endCxn id="11" idx="1"/>
            </p:cNvCxnSpPr>
            <p:nvPr/>
          </p:nvCxnSpPr>
          <p:spPr>
            <a:xfrm>
              <a:off x="5345796" y="4302071"/>
              <a:ext cx="1275433" cy="56987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65BB507-A829-E831-615A-73A8EABED1B8}"/>
                </a:ext>
              </a:extLst>
            </p:cNvPr>
            <p:cNvCxnSpPr>
              <a:stCxn id="11" idx="7"/>
              <a:endCxn id="12" idx="2"/>
            </p:cNvCxnSpPr>
            <p:nvPr/>
          </p:nvCxnSpPr>
          <p:spPr>
            <a:xfrm flipV="1">
              <a:off x="6944519" y="4606871"/>
              <a:ext cx="1203715" cy="26507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7D2469-541B-43C2-3142-0135149D96B6}"/>
                </a:ext>
              </a:extLst>
            </p:cNvPr>
            <p:cNvCxnSpPr>
              <a:stCxn id="11" idx="5"/>
              <a:endCxn id="9" idx="0"/>
            </p:cNvCxnSpPr>
            <p:nvPr/>
          </p:nvCxnSpPr>
          <p:spPr>
            <a:xfrm>
              <a:off x="6944519" y="5195236"/>
              <a:ext cx="769926" cy="513306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6D43004-EE07-5B9E-9FFD-1DA0FAF890CA}"/>
                </a:ext>
              </a:extLst>
            </p:cNvPr>
            <p:cNvCxnSpPr>
              <a:stCxn id="10" idx="5"/>
              <a:endCxn id="9" idx="2"/>
            </p:cNvCxnSpPr>
            <p:nvPr/>
          </p:nvCxnSpPr>
          <p:spPr>
            <a:xfrm>
              <a:off x="5579159" y="5641587"/>
              <a:ext cx="1906686" cy="295555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6E7C812-3106-B353-E58C-1178335BAFEC}"/>
              </a:ext>
            </a:extLst>
          </p:cNvPr>
          <p:cNvSpPr/>
          <p:nvPr/>
        </p:nvSpPr>
        <p:spPr>
          <a:xfrm>
            <a:off x="4277806" y="247630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57C2F527-7E1D-50EA-5EA1-7F42F5C971CF}"/>
              </a:ext>
            </a:extLst>
          </p:cNvPr>
          <p:cNvSpPr/>
          <p:nvPr/>
        </p:nvSpPr>
        <p:spPr>
          <a:xfrm>
            <a:off x="4280311" y="455852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72971C3-5EE7-6D2F-CC0A-0E2819F5D181}"/>
              </a:ext>
            </a:extLst>
          </p:cNvPr>
          <p:cNvGrpSpPr/>
          <p:nvPr/>
        </p:nvGrpSpPr>
        <p:grpSpPr>
          <a:xfrm>
            <a:off x="1272282" y="2441532"/>
            <a:ext cx="2670172" cy="548641"/>
            <a:chOff x="1272282" y="2441532"/>
            <a:chExt cx="2670172" cy="54864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DECD8F0-3F0C-0989-2E49-1DF2465710E2}"/>
                </a:ext>
              </a:extLst>
            </p:cNvPr>
            <p:cNvSpPr/>
            <p:nvPr/>
          </p:nvSpPr>
          <p:spPr>
            <a:xfrm>
              <a:off x="2570854" y="2441532"/>
              <a:ext cx="1371600" cy="5486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SQL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477C7E2D-34CF-089B-B339-820CBC6AA870}"/>
                </a:ext>
              </a:extLst>
            </p:cNvPr>
            <p:cNvCxnSpPr>
              <a:stCxn id="14" idx="0"/>
              <a:endCxn id="3" idx="1"/>
            </p:cNvCxnSpPr>
            <p:nvPr/>
          </p:nvCxnSpPr>
          <p:spPr>
            <a:xfrm rot="5400000" flipH="1" flipV="1">
              <a:off x="1784408" y="2203727"/>
              <a:ext cx="274320" cy="1298571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3C0B633-F7BA-F07B-2B2B-FCFC8BB1CC4C}"/>
              </a:ext>
            </a:extLst>
          </p:cNvPr>
          <p:cNvGrpSpPr/>
          <p:nvPr/>
        </p:nvGrpSpPr>
        <p:grpSpPr>
          <a:xfrm>
            <a:off x="1272282" y="4489788"/>
            <a:ext cx="2670172" cy="585377"/>
            <a:chOff x="1272282" y="4489788"/>
            <a:chExt cx="2670172" cy="58537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A638938-945E-1113-CD58-76CBE794DECA}"/>
                </a:ext>
              </a:extLst>
            </p:cNvPr>
            <p:cNvSpPr/>
            <p:nvPr/>
          </p:nvSpPr>
          <p:spPr>
            <a:xfrm>
              <a:off x="2570854" y="4526525"/>
              <a:ext cx="1371600" cy="5486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NoSQL</a:t>
              </a:r>
            </a:p>
          </p:txBody>
        </p: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3A6622CC-A647-7F0F-D9CE-9F6A2AC4E0AF}"/>
                </a:ext>
              </a:extLst>
            </p:cNvPr>
            <p:cNvCxnSpPr>
              <a:stCxn id="14" idx="2"/>
            </p:cNvCxnSpPr>
            <p:nvPr/>
          </p:nvCxnSpPr>
          <p:spPr>
            <a:xfrm rot="16200000" flipH="1">
              <a:off x="1741107" y="4020963"/>
              <a:ext cx="360922" cy="1298571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F10AB0FD-C646-1C4D-1218-89D52B94B240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3936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65E8C1-6B3A-70DB-DEE4-C21035A7825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704088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Stratégies de Distribution</a:t>
            </a:r>
          </a:p>
        </p:txBody>
      </p:sp>
      <p:pic>
        <p:nvPicPr>
          <p:cNvPr id="2" name="Graphic 1" descr="Database with solid fill">
            <a:extLst>
              <a:ext uri="{FF2B5EF4-FFF2-40B4-BE49-F238E27FC236}">
                <a16:creationId xmlns:a16="http://schemas.microsoft.com/office/drawing/2014/main" id="{F0948E1F-06D3-C7CE-7180-AE14C695E6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95" t="9663" r="20812" b="10676"/>
          <a:stretch/>
        </p:blipFill>
        <p:spPr>
          <a:xfrm>
            <a:off x="8764443" y="1853895"/>
            <a:ext cx="704858" cy="1499616"/>
          </a:xfrm>
          <a:prstGeom prst="rect">
            <a:avLst/>
          </a:prstGeom>
        </p:spPr>
      </p:pic>
      <p:pic>
        <p:nvPicPr>
          <p:cNvPr id="3" name="Graphic 2" descr="Database with solid fill">
            <a:extLst>
              <a:ext uri="{FF2B5EF4-FFF2-40B4-BE49-F238E27FC236}">
                <a16:creationId xmlns:a16="http://schemas.microsoft.com/office/drawing/2014/main" id="{14BE0C31-748C-6EDB-D32E-0D226AB734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95" t="9663" r="20812" b="10676"/>
          <a:stretch/>
        </p:blipFill>
        <p:spPr>
          <a:xfrm>
            <a:off x="2722699" y="1853895"/>
            <a:ext cx="704858" cy="14996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252254-2015-7C92-36CE-47A89921A22B}"/>
              </a:ext>
            </a:extLst>
          </p:cNvPr>
          <p:cNvSpPr txBox="1"/>
          <p:nvPr/>
        </p:nvSpPr>
        <p:spPr>
          <a:xfrm flipH="1">
            <a:off x="2123689" y="1337548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REPLICATION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06E18A-4D89-38E1-3D07-CFB1DBEA4C0D}"/>
              </a:ext>
            </a:extLst>
          </p:cNvPr>
          <p:cNvSpPr txBox="1"/>
          <p:nvPr/>
        </p:nvSpPr>
        <p:spPr>
          <a:xfrm flipH="1">
            <a:off x="8165435" y="1337548"/>
            <a:ext cx="1902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SHARDING</a:t>
            </a: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DD557BD0-C589-5175-654C-3502633B2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95" t="9663" r="20812" b="10676"/>
          <a:stretch/>
        </p:blipFill>
        <p:spPr>
          <a:xfrm>
            <a:off x="4708854" y="4020836"/>
            <a:ext cx="704858" cy="1499616"/>
          </a:xfrm>
          <a:prstGeom prst="rect">
            <a:avLst/>
          </a:prstGeom>
        </p:spPr>
      </p:pic>
      <p:pic>
        <p:nvPicPr>
          <p:cNvPr id="12" name="Graphic 11" descr="Database with solid fill">
            <a:extLst>
              <a:ext uri="{FF2B5EF4-FFF2-40B4-BE49-F238E27FC236}">
                <a16:creationId xmlns:a16="http://schemas.microsoft.com/office/drawing/2014/main" id="{A82D5304-6BD9-FD3B-FE32-132B71D9E4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95" t="9663" r="20812" b="10676"/>
          <a:stretch/>
        </p:blipFill>
        <p:spPr>
          <a:xfrm>
            <a:off x="2722699" y="4020836"/>
            <a:ext cx="704858" cy="1499616"/>
          </a:xfrm>
          <a:prstGeom prst="rect">
            <a:avLst/>
          </a:prstGeom>
        </p:spPr>
      </p:pic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E157039B-88D9-8FB7-257C-68AB79901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495" t="9663" r="20812" b="10676"/>
          <a:stretch/>
        </p:blipFill>
        <p:spPr>
          <a:xfrm>
            <a:off x="736543" y="4020836"/>
            <a:ext cx="704858" cy="149961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2591533-727D-9EC2-7BB5-4A1DF6E5B62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>
            <a:off x="3075128" y="3353511"/>
            <a:ext cx="0" cy="6673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655F4C0-FB81-2730-90BE-3DDE9134E93B}"/>
              </a:ext>
            </a:extLst>
          </p:cNvPr>
          <p:cNvCxnSpPr>
            <a:stCxn id="3" idx="1"/>
            <a:endCxn id="13" idx="0"/>
          </p:cNvCxnSpPr>
          <p:nvPr/>
        </p:nvCxnSpPr>
        <p:spPr>
          <a:xfrm rot="10800000" flipV="1">
            <a:off x="1088973" y="2603702"/>
            <a:ext cx="1633727" cy="141713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37AD78F-2C8F-C634-BF05-FAF6C3D1068F}"/>
              </a:ext>
            </a:extLst>
          </p:cNvPr>
          <p:cNvCxnSpPr>
            <a:stCxn id="3" idx="3"/>
            <a:endCxn id="11" idx="0"/>
          </p:cNvCxnSpPr>
          <p:nvPr/>
        </p:nvCxnSpPr>
        <p:spPr>
          <a:xfrm>
            <a:off x="3427557" y="2603703"/>
            <a:ext cx="1633726" cy="141713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AD28F59-BB8C-746D-EE64-67F465B12FCA}"/>
              </a:ext>
            </a:extLst>
          </p:cNvPr>
          <p:cNvGrpSpPr/>
          <p:nvPr/>
        </p:nvGrpSpPr>
        <p:grpSpPr>
          <a:xfrm>
            <a:off x="6778289" y="4945090"/>
            <a:ext cx="711314" cy="575362"/>
            <a:chOff x="7010400" y="4347411"/>
            <a:chExt cx="914400" cy="703054"/>
          </a:xfrm>
        </p:grpSpPr>
        <p:sp>
          <p:nvSpPr>
            <p:cNvPr id="37" name="Cylinder 36">
              <a:extLst>
                <a:ext uri="{FF2B5EF4-FFF2-40B4-BE49-F238E27FC236}">
                  <a16:creationId xmlns:a16="http://schemas.microsoft.com/office/drawing/2014/main" id="{1164CEC2-5AC3-7F3C-D798-9B8898D57D98}"/>
                </a:ext>
              </a:extLst>
            </p:cNvPr>
            <p:cNvSpPr/>
            <p:nvPr/>
          </p:nvSpPr>
          <p:spPr>
            <a:xfrm>
              <a:off x="7010400" y="4347411"/>
              <a:ext cx="914400" cy="703054"/>
            </a:xfrm>
            <a:prstGeom prst="can">
              <a:avLst>
                <a:gd name="adj" fmla="val 50000"/>
              </a:avLst>
            </a:prstGeom>
            <a:solidFill>
              <a:schemeClr val="tx1"/>
            </a:solidFill>
            <a:ln w="762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BB9D5521-17C9-804D-CC10-97E6ACDFB9B7}"/>
                </a:ext>
              </a:extLst>
            </p:cNvPr>
            <p:cNvSpPr/>
            <p:nvPr/>
          </p:nvSpPr>
          <p:spPr>
            <a:xfrm>
              <a:off x="7710655" y="4829754"/>
              <a:ext cx="45720" cy="91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7005A8E-1EC2-28F6-6B06-03C214A69B08}"/>
              </a:ext>
            </a:extLst>
          </p:cNvPr>
          <p:cNvGrpSpPr/>
          <p:nvPr/>
        </p:nvGrpSpPr>
        <p:grpSpPr>
          <a:xfrm>
            <a:off x="8764445" y="4945090"/>
            <a:ext cx="711314" cy="575362"/>
            <a:chOff x="7010400" y="4347411"/>
            <a:chExt cx="914400" cy="703054"/>
          </a:xfrm>
        </p:grpSpPr>
        <p:sp>
          <p:nvSpPr>
            <p:cNvPr id="41" name="Cylinder 40">
              <a:extLst>
                <a:ext uri="{FF2B5EF4-FFF2-40B4-BE49-F238E27FC236}">
                  <a16:creationId xmlns:a16="http://schemas.microsoft.com/office/drawing/2014/main" id="{1FF88EDD-5790-3E6F-AA3C-2B6BF1442A4A}"/>
                </a:ext>
              </a:extLst>
            </p:cNvPr>
            <p:cNvSpPr/>
            <p:nvPr/>
          </p:nvSpPr>
          <p:spPr>
            <a:xfrm>
              <a:off x="7010400" y="4347411"/>
              <a:ext cx="914400" cy="703054"/>
            </a:xfrm>
            <a:prstGeom prst="can">
              <a:avLst>
                <a:gd name="adj" fmla="val 50000"/>
              </a:avLst>
            </a:prstGeom>
            <a:solidFill>
              <a:schemeClr val="tx1"/>
            </a:solidFill>
            <a:ln w="762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FD14920D-982A-F004-F1D8-3DAF9D6E08FE}"/>
                </a:ext>
              </a:extLst>
            </p:cNvPr>
            <p:cNvSpPr/>
            <p:nvPr/>
          </p:nvSpPr>
          <p:spPr>
            <a:xfrm>
              <a:off x="7710655" y="4829754"/>
              <a:ext cx="45720" cy="91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E88B500-B7E3-29CE-2767-11737EE99556}"/>
              </a:ext>
            </a:extLst>
          </p:cNvPr>
          <p:cNvGrpSpPr/>
          <p:nvPr/>
        </p:nvGrpSpPr>
        <p:grpSpPr>
          <a:xfrm>
            <a:off x="10753829" y="4945090"/>
            <a:ext cx="711314" cy="575362"/>
            <a:chOff x="7010400" y="4347411"/>
            <a:chExt cx="914400" cy="703054"/>
          </a:xfrm>
        </p:grpSpPr>
        <p:sp>
          <p:nvSpPr>
            <p:cNvPr id="44" name="Cylinder 43">
              <a:extLst>
                <a:ext uri="{FF2B5EF4-FFF2-40B4-BE49-F238E27FC236}">
                  <a16:creationId xmlns:a16="http://schemas.microsoft.com/office/drawing/2014/main" id="{5E00F815-33EE-CA48-B9B3-2DB426D7DF5B}"/>
                </a:ext>
              </a:extLst>
            </p:cNvPr>
            <p:cNvSpPr/>
            <p:nvPr/>
          </p:nvSpPr>
          <p:spPr>
            <a:xfrm>
              <a:off x="7010400" y="4347411"/>
              <a:ext cx="914400" cy="703054"/>
            </a:xfrm>
            <a:prstGeom prst="can">
              <a:avLst>
                <a:gd name="adj" fmla="val 50000"/>
              </a:avLst>
            </a:prstGeom>
            <a:solidFill>
              <a:schemeClr val="tx1"/>
            </a:solidFill>
            <a:ln w="762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lowchart: Connector 44">
              <a:extLst>
                <a:ext uri="{FF2B5EF4-FFF2-40B4-BE49-F238E27FC236}">
                  <a16:creationId xmlns:a16="http://schemas.microsoft.com/office/drawing/2014/main" id="{D6B6CA85-DAC2-DEF2-08BA-07C3B21B65A6}"/>
                </a:ext>
              </a:extLst>
            </p:cNvPr>
            <p:cNvSpPr/>
            <p:nvPr/>
          </p:nvSpPr>
          <p:spPr>
            <a:xfrm>
              <a:off x="7710655" y="4829754"/>
              <a:ext cx="45720" cy="91440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D17A6F46-20EE-BDEC-56F1-AAA0F73ADB3A}"/>
              </a:ext>
            </a:extLst>
          </p:cNvPr>
          <p:cNvCxnSpPr>
            <a:stCxn id="2" idx="1"/>
            <a:endCxn id="37" idx="1"/>
          </p:cNvCxnSpPr>
          <p:nvPr/>
        </p:nvCxnSpPr>
        <p:spPr>
          <a:xfrm rot="10800000" flipV="1">
            <a:off x="7133947" y="2603702"/>
            <a:ext cx="1630497" cy="234138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1E96E6D-2E9E-F962-7C2D-8E343BCF5FF9}"/>
              </a:ext>
            </a:extLst>
          </p:cNvPr>
          <p:cNvCxnSpPr>
            <a:stCxn id="2" idx="2"/>
            <a:endCxn id="41" idx="1"/>
          </p:cNvCxnSpPr>
          <p:nvPr/>
        </p:nvCxnSpPr>
        <p:spPr>
          <a:xfrm rot="16200000" flipH="1">
            <a:off x="8322698" y="4147685"/>
            <a:ext cx="1591579" cy="323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96AB8DDA-D97E-3E7B-B70A-E46DFC0B549D}"/>
              </a:ext>
            </a:extLst>
          </p:cNvPr>
          <p:cNvCxnSpPr>
            <a:stCxn id="2" idx="3"/>
            <a:endCxn id="44" idx="1"/>
          </p:cNvCxnSpPr>
          <p:nvPr/>
        </p:nvCxnSpPr>
        <p:spPr>
          <a:xfrm>
            <a:off x="9469301" y="2603703"/>
            <a:ext cx="1640185" cy="234138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41D391B-A425-B9D9-4BE6-DB58CD766B75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91D9DFEB-5461-4597-3DC3-0212DA0F93C4}"/>
              </a:ext>
            </a:extLst>
          </p:cNvPr>
          <p:cNvSpPr/>
          <p:nvPr/>
        </p:nvSpPr>
        <p:spPr>
          <a:xfrm>
            <a:off x="-3938997" y="-2499613"/>
            <a:ext cx="648191" cy="1907148"/>
          </a:xfrm>
          <a:custGeom>
            <a:avLst/>
            <a:gdLst>
              <a:gd name="connsiteX0" fmla="*/ 247939 w 495877"/>
              <a:gd name="connsiteY0" fmla="*/ 0 h 1419158"/>
              <a:gd name="connsiteX1" fmla="*/ 300670 w 495877"/>
              <a:gd name="connsiteY1" fmla="*/ 70517 h 1419158"/>
              <a:gd name="connsiteX2" fmla="*/ 495877 w 495877"/>
              <a:gd name="connsiteY2" fmla="*/ 709579 h 1419158"/>
              <a:gd name="connsiteX3" fmla="*/ 300670 w 495877"/>
              <a:gd name="connsiteY3" fmla="*/ 1348641 h 1419158"/>
              <a:gd name="connsiteX4" fmla="*/ 247939 w 495877"/>
              <a:gd name="connsiteY4" fmla="*/ 1419158 h 1419158"/>
              <a:gd name="connsiteX5" fmla="*/ 195207 w 495877"/>
              <a:gd name="connsiteY5" fmla="*/ 1348641 h 1419158"/>
              <a:gd name="connsiteX6" fmla="*/ 0 w 495877"/>
              <a:gd name="connsiteY6" fmla="*/ 709579 h 1419158"/>
              <a:gd name="connsiteX7" fmla="*/ 195207 w 495877"/>
              <a:gd name="connsiteY7" fmla="*/ 70517 h 1419158"/>
              <a:gd name="connsiteX8" fmla="*/ 247939 w 495877"/>
              <a:gd name="connsiteY8" fmla="*/ 0 h 141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877" h="1419158">
                <a:moveTo>
                  <a:pt x="247939" y="0"/>
                </a:moveTo>
                <a:lnTo>
                  <a:pt x="300670" y="70517"/>
                </a:lnTo>
                <a:cubicBezTo>
                  <a:pt x="423914" y="252941"/>
                  <a:pt x="495877" y="472856"/>
                  <a:pt x="495877" y="709579"/>
                </a:cubicBezTo>
                <a:cubicBezTo>
                  <a:pt x="495877" y="946302"/>
                  <a:pt x="423914" y="1166217"/>
                  <a:pt x="300670" y="1348641"/>
                </a:cubicBezTo>
                <a:lnTo>
                  <a:pt x="247939" y="1419158"/>
                </a:lnTo>
                <a:lnTo>
                  <a:pt x="195207" y="1348641"/>
                </a:lnTo>
                <a:cubicBezTo>
                  <a:pt x="71964" y="1166217"/>
                  <a:pt x="0" y="946302"/>
                  <a:pt x="0" y="709579"/>
                </a:cubicBezTo>
                <a:cubicBezTo>
                  <a:pt x="0" y="472856"/>
                  <a:pt x="71964" y="252941"/>
                  <a:pt x="195207" y="70517"/>
                </a:cubicBezTo>
                <a:lnTo>
                  <a:pt x="247939" y="0"/>
                </a:ln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CP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F46ECD3-B465-229E-81E9-6ED45E134B60}"/>
              </a:ext>
            </a:extLst>
          </p:cNvPr>
          <p:cNvSpPr/>
          <p:nvPr/>
        </p:nvSpPr>
        <p:spPr>
          <a:xfrm>
            <a:off x="15085277" y="-2499612"/>
            <a:ext cx="648189" cy="1907147"/>
          </a:xfrm>
          <a:custGeom>
            <a:avLst/>
            <a:gdLst>
              <a:gd name="connsiteX0" fmla="*/ 247938 w 495876"/>
              <a:gd name="connsiteY0" fmla="*/ 0 h 1419157"/>
              <a:gd name="connsiteX1" fmla="*/ 300669 w 495876"/>
              <a:gd name="connsiteY1" fmla="*/ 70516 h 1419157"/>
              <a:gd name="connsiteX2" fmla="*/ 495876 w 495876"/>
              <a:gd name="connsiteY2" fmla="*/ 709578 h 1419157"/>
              <a:gd name="connsiteX3" fmla="*/ 300669 w 495876"/>
              <a:gd name="connsiteY3" fmla="*/ 1348640 h 1419157"/>
              <a:gd name="connsiteX4" fmla="*/ 247938 w 495876"/>
              <a:gd name="connsiteY4" fmla="*/ 1419157 h 1419157"/>
              <a:gd name="connsiteX5" fmla="*/ 195207 w 495876"/>
              <a:gd name="connsiteY5" fmla="*/ 1348640 h 1419157"/>
              <a:gd name="connsiteX6" fmla="*/ 0 w 495876"/>
              <a:gd name="connsiteY6" fmla="*/ 709578 h 1419157"/>
              <a:gd name="connsiteX7" fmla="*/ 195207 w 495876"/>
              <a:gd name="connsiteY7" fmla="*/ 70516 h 1419157"/>
              <a:gd name="connsiteX8" fmla="*/ 247938 w 495876"/>
              <a:gd name="connsiteY8" fmla="*/ 0 h 141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876" h="1419157">
                <a:moveTo>
                  <a:pt x="247938" y="0"/>
                </a:moveTo>
                <a:lnTo>
                  <a:pt x="300669" y="70516"/>
                </a:lnTo>
                <a:cubicBezTo>
                  <a:pt x="423913" y="252940"/>
                  <a:pt x="495876" y="472855"/>
                  <a:pt x="495876" y="709578"/>
                </a:cubicBezTo>
                <a:cubicBezTo>
                  <a:pt x="495876" y="946301"/>
                  <a:pt x="423913" y="1166216"/>
                  <a:pt x="300669" y="1348640"/>
                </a:cubicBezTo>
                <a:lnTo>
                  <a:pt x="247938" y="1419157"/>
                </a:lnTo>
                <a:lnTo>
                  <a:pt x="195207" y="1348640"/>
                </a:lnTo>
                <a:cubicBezTo>
                  <a:pt x="71964" y="1166216"/>
                  <a:pt x="0" y="946301"/>
                  <a:pt x="0" y="709578"/>
                </a:cubicBezTo>
                <a:cubicBezTo>
                  <a:pt x="0" y="472855"/>
                  <a:pt x="71964" y="252940"/>
                  <a:pt x="195207" y="70516"/>
                </a:cubicBezTo>
                <a:lnTo>
                  <a:pt x="247938" y="0"/>
                </a:ln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dirty="0"/>
              <a:t>AP</a:t>
            </a:r>
            <a:endParaRPr lang="en-US" sz="2400" dirty="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7F1FBD1-F4B5-E615-48D4-E9C351DAB3CD}"/>
              </a:ext>
            </a:extLst>
          </p:cNvPr>
          <p:cNvSpPr/>
          <p:nvPr/>
        </p:nvSpPr>
        <p:spPr>
          <a:xfrm>
            <a:off x="-4946938" y="5782113"/>
            <a:ext cx="2664073" cy="3072062"/>
          </a:xfrm>
          <a:custGeom>
            <a:avLst/>
            <a:gdLst>
              <a:gd name="connsiteX0" fmla="*/ 1143000 w 2038062"/>
              <a:gd name="connsiteY0" fmla="*/ 0 h 2286000"/>
              <a:gd name="connsiteX1" fmla="*/ 2024994 w 2038062"/>
              <a:gd name="connsiteY1" fmla="*/ 415946 h 2286000"/>
              <a:gd name="connsiteX2" fmla="*/ 2038062 w 2038062"/>
              <a:gd name="connsiteY2" fmla="*/ 433421 h 2286000"/>
              <a:gd name="connsiteX3" fmla="*/ 1985330 w 2038062"/>
              <a:gd name="connsiteY3" fmla="*/ 503938 h 2286000"/>
              <a:gd name="connsiteX4" fmla="*/ 1790123 w 2038062"/>
              <a:gd name="connsiteY4" fmla="*/ 1143000 h 2286000"/>
              <a:gd name="connsiteX5" fmla="*/ 1985330 w 2038062"/>
              <a:gd name="connsiteY5" fmla="*/ 1782062 h 2286000"/>
              <a:gd name="connsiteX6" fmla="*/ 2038062 w 2038062"/>
              <a:gd name="connsiteY6" fmla="*/ 1852579 h 2286000"/>
              <a:gd name="connsiteX7" fmla="*/ 2024994 w 2038062"/>
              <a:gd name="connsiteY7" fmla="*/ 1870054 h 2286000"/>
              <a:gd name="connsiteX8" fmla="*/ 1143000 w 2038062"/>
              <a:gd name="connsiteY8" fmla="*/ 2286000 h 2286000"/>
              <a:gd name="connsiteX9" fmla="*/ 0 w 2038062"/>
              <a:gd name="connsiteY9" fmla="*/ 1143000 h 2286000"/>
              <a:gd name="connsiteX10" fmla="*/ 1143000 w 2038062"/>
              <a:gd name="connsiteY10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38062" h="2286000">
                <a:moveTo>
                  <a:pt x="1143000" y="0"/>
                </a:moveTo>
                <a:cubicBezTo>
                  <a:pt x="1498085" y="0"/>
                  <a:pt x="1815351" y="161918"/>
                  <a:pt x="2024994" y="415946"/>
                </a:cubicBezTo>
                <a:lnTo>
                  <a:pt x="2038062" y="433421"/>
                </a:lnTo>
                <a:lnTo>
                  <a:pt x="1985330" y="503938"/>
                </a:lnTo>
                <a:cubicBezTo>
                  <a:pt x="1862087" y="686362"/>
                  <a:pt x="1790123" y="906277"/>
                  <a:pt x="1790123" y="1143000"/>
                </a:cubicBezTo>
                <a:cubicBezTo>
                  <a:pt x="1790123" y="1379723"/>
                  <a:pt x="1862087" y="1599638"/>
                  <a:pt x="1985330" y="1782062"/>
                </a:cubicBezTo>
                <a:lnTo>
                  <a:pt x="2038062" y="1852579"/>
                </a:lnTo>
                <a:lnTo>
                  <a:pt x="2024994" y="1870054"/>
                </a:lnTo>
                <a:cubicBezTo>
                  <a:pt x="1815351" y="2124083"/>
                  <a:pt x="1498085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Consistency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24CC7645-1CA3-63FA-0156-5C6DCF86601F}"/>
              </a:ext>
            </a:extLst>
          </p:cNvPr>
          <p:cNvSpPr/>
          <p:nvPr/>
        </p:nvSpPr>
        <p:spPr>
          <a:xfrm>
            <a:off x="4620922" y="-3082070"/>
            <a:ext cx="2339977" cy="3072062"/>
          </a:xfrm>
          <a:custGeom>
            <a:avLst/>
            <a:gdLst>
              <a:gd name="connsiteX0" fmla="*/ 895061 w 1790123"/>
              <a:gd name="connsiteY0" fmla="*/ 0 h 2286000"/>
              <a:gd name="connsiteX1" fmla="*/ 1777055 w 1790123"/>
              <a:gd name="connsiteY1" fmla="*/ 415946 h 2286000"/>
              <a:gd name="connsiteX2" fmla="*/ 1790123 w 1790123"/>
              <a:gd name="connsiteY2" fmla="*/ 433422 h 2286000"/>
              <a:gd name="connsiteX3" fmla="*/ 1737392 w 1790123"/>
              <a:gd name="connsiteY3" fmla="*/ 503938 h 2286000"/>
              <a:gd name="connsiteX4" fmla="*/ 1542185 w 1790123"/>
              <a:gd name="connsiteY4" fmla="*/ 1143000 h 2286000"/>
              <a:gd name="connsiteX5" fmla="*/ 1737392 w 1790123"/>
              <a:gd name="connsiteY5" fmla="*/ 1782062 h 2286000"/>
              <a:gd name="connsiteX6" fmla="*/ 1790123 w 1790123"/>
              <a:gd name="connsiteY6" fmla="*/ 1852579 h 2286000"/>
              <a:gd name="connsiteX7" fmla="*/ 1777055 w 1790123"/>
              <a:gd name="connsiteY7" fmla="*/ 1870054 h 2286000"/>
              <a:gd name="connsiteX8" fmla="*/ 895061 w 1790123"/>
              <a:gd name="connsiteY8" fmla="*/ 2286000 h 2286000"/>
              <a:gd name="connsiteX9" fmla="*/ 13067 w 1790123"/>
              <a:gd name="connsiteY9" fmla="*/ 1870054 h 2286000"/>
              <a:gd name="connsiteX10" fmla="*/ 0 w 1790123"/>
              <a:gd name="connsiteY10" fmla="*/ 1852579 h 2286000"/>
              <a:gd name="connsiteX11" fmla="*/ 52731 w 1790123"/>
              <a:gd name="connsiteY11" fmla="*/ 1782062 h 2286000"/>
              <a:gd name="connsiteX12" fmla="*/ 247938 w 1790123"/>
              <a:gd name="connsiteY12" fmla="*/ 1143000 h 2286000"/>
              <a:gd name="connsiteX13" fmla="*/ 52731 w 1790123"/>
              <a:gd name="connsiteY13" fmla="*/ 503938 h 2286000"/>
              <a:gd name="connsiteX14" fmla="*/ 0 w 1790123"/>
              <a:gd name="connsiteY14" fmla="*/ 433421 h 2286000"/>
              <a:gd name="connsiteX15" fmla="*/ 13067 w 1790123"/>
              <a:gd name="connsiteY15" fmla="*/ 415946 h 2286000"/>
              <a:gd name="connsiteX16" fmla="*/ 895061 w 1790123"/>
              <a:gd name="connsiteY16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90123" h="2286000">
                <a:moveTo>
                  <a:pt x="895061" y="0"/>
                </a:moveTo>
                <a:cubicBezTo>
                  <a:pt x="1250146" y="0"/>
                  <a:pt x="1567412" y="161918"/>
                  <a:pt x="1777055" y="415946"/>
                </a:cubicBezTo>
                <a:lnTo>
                  <a:pt x="1790123" y="433422"/>
                </a:lnTo>
                <a:lnTo>
                  <a:pt x="1737392" y="503938"/>
                </a:lnTo>
                <a:cubicBezTo>
                  <a:pt x="1614149" y="686362"/>
                  <a:pt x="1542185" y="906277"/>
                  <a:pt x="1542185" y="1143000"/>
                </a:cubicBezTo>
                <a:cubicBezTo>
                  <a:pt x="1542185" y="1379723"/>
                  <a:pt x="1614149" y="1599638"/>
                  <a:pt x="1737392" y="1782062"/>
                </a:cubicBezTo>
                <a:lnTo>
                  <a:pt x="1790123" y="1852579"/>
                </a:lnTo>
                <a:lnTo>
                  <a:pt x="1777055" y="1870054"/>
                </a:lnTo>
                <a:cubicBezTo>
                  <a:pt x="1567412" y="2124083"/>
                  <a:pt x="1250146" y="2286000"/>
                  <a:pt x="895061" y="2286000"/>
                </a:cubicBezTo>
                <a:cubicBezTo>
                  <a:pt x="539977" y="2286000"/>
                  <a:pt x="222710" y="2124083"/>
                  <a:pt x="13067" y="1870054"/>
                </a:cubicBezTo>
                <a:lnTo>
                  <a:pt x="0" y="1852579"/>
                </a:lnTo>
                <a:lnTo>
                  <a:pt x="52731" y="1782062"/>
                </a:lnTo>
                <a:cubicBezTo>
                  <a:pt x="175975" y="1599638"/>
                  <a:pt x="247938" y="1379723"/>
                  <a:pt x="247938" y="1143000"/>
                </a:cubicBezTo>
                <a:cubicBezTo>
                  <a:pt x="247938" y="906277"/>
                  <a:pt x="175975" y="686362"/>
                  <a:pt x="52731" y="503938"/>
                </a:cubicBezTo>
                <a:lnTo>
                  <a:pt x="0" y="433421"/>
                </a:lnTo>
                <a:lnTo>
                  <a:pt x="13067" y="415946"/>
                </a:lnTo>
                <a:cubicBezTo>
                  <a:pt x="222710" y="161918"/>
                  <a:pt x="539977" y="0"/>
                  <a:pt x="89506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Partition Tolerance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42134BA-B1F2-760F-D932-AC4FA54161B2}"/>
              </a:ext>
            </a:extLst>
          </p:cNvPr>
          <p:cNvSpPr/>
          <p:nvPr/>
        </p:nvSpPr>
        <p:spPr>
          <a:xfrm>
            <a:off x="14077335" y="5782113"/>
            <a:ext cx="2664073" cy="3072062"/>
          </a:xfrm>
          <a:custGeom>
            <a:avLst/>
            <a:gdLst>
              <a:gd name="connsiteX0" fmla="*/ 895062 w 2038062"/>
              <a:gd name="connsiteY0" fmla="*/ 0 h 2286000"/>
              <a:gd name="connsiteX1" fmla="*/ 2038062 w 2038062"/>
              <a:gd name="connsiteY1" fmla="*/ 1143000 h 2286000"/>
              <a:gd name="connsiteX2" fmla="*/ 895062 w 2038062"/>
              <a:gd name="connsiteY2" fmla="*/ 2286000 h 2286000"/>
              <a:gd name="connsiteX3" fmla="*/ 13068 w 2038062"/>
              <a:gd name="connsiteY3" fmla="*/ 1870054 h 2286000"/>
              <a:gd name="connsiteX4" fmla="*/ 0 w 2038062"/>
              <a:gd name="connsiteY4" fmla="*/ 1852579 h 2286000"/>
              <a:gd name="connsiteX5" fmla="*/ 52731 w 2038062"/>
              <a:gd name="connsiteY5" fmla="*/ 1782062 h 2286000"/>
              <a:gd name="connsiteX6" fmla="*/ 247938 w 2038062"/>
              <a:gd name="connsiteY6" fmla="*/ 1143000 h 2286000"/>
              <a:gd name="connsiteX7" fmla="*/ 52731 w 2038062"/>
              <a:gd name="connsiteY7" fmla="*/ 503938 h 2286000"/>
              <a:gd name="connsiteX8" fmla="*/ 0 w 2038062"/>
              <a:gd name="connsiteY8" fmla="*/ 433422 h 2286000"/>
              <a:gd name="connsiteX9" fmla="*/ 13068 w 2038062"/>
              <a:gd name="connsiteY9" fmla="*/ 415946 h 2286000"/>
              <a:gd name="connsiteX10" fmla="*/ 895062 w 2038062"/>
              <a:gd name="connsiteY10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38062" h="2286000">
                <a:moveTo>
                  <a:pt x="895062" y="0"/>
                </a:moveTo>
                <a:cubicBezTo>
                  <a:pt x="1526323" y="0"/>
                  <a:pt x="2038062" y="511739"/>
                  <a:pt x="2038062" y="1143000"/>
                </a:cubicBezTo>
                <a:cubicBezTo>
                  <a:pt x="2038062" y="1774261"/>
                  <a:pt x="1526323" y="2286000"/>
                  <a:pt x="895062" y="2286000"/>
                </a:cubicBezTo>
                <a:cubicBezTo>
                  <a:pt x="539978" y="2286000"/>
                  <a:pt x="222711" y="2124083"/>
                  <a:pt x="13068" y="1870054"/>
                </a:cubicBezTo>
                <a:lnTo>
                  <a:pt x="0" y="1852579"/>
                </a:lnTo>
                <a:lnTo>
                  <a:pt x="52731" y="1782062"/>
                </a:lnTo>
                <a:cubicBezTo>
                  <a:pt x="175975" y="1599638"/>
                  <a:pt x="247938" y="1379723"/>
                  <a:pt x="247938" y="1143000"/>
                </a:cubicBezTo>
                <a:cubicBezTo>
                  <a:pt x="247938" y="906277"/>
                  <a:pt x="175975" y="686362"/>
                  <a:pt x="52731" y="503938"/>
                </a:cubicBezTo>
                <a:lnTo>
                  <a:pt x="0" y="433422"/>
                </a:lnTo>
                <a:lnTo>
                  <a:pt x="13068" y="415946"/>
                </a:lnTo>
                <a:cubicBezTo>
                  <a:pt x="222711" y="161918"/>
                  <a:pt x="539978" y="0"/>
                  <a:pt x="895062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Availability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6462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Théorème CAP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564F63-5706-BE79-44BD-BB137782D838}"/>
              </a:ext>
            </a:extLst>
          </p:cNvPr>
          <p:cNvSpPr/>
          <p:nvPr/>
        </p:nvSpPr>
        <p:spPr>
          <a:xfrm>
            <a:off x="4601917" y="2772205"/>
            <a:ext cx="648191" cy="1907148"/>
          </a:xfrm>
          <a:custGeom>
            <a:avLst/>
            <a:gdLst>
              <a:gd name="connsiteX0" fmla="*/ 247939 w 495877"/>
              <a:gd name="connsiteY0" fmla="*/ 0 h 1419158"/>
              <a:gd name="connsiteX1" fmla="*/ 300670 w 495877"/>
              <a:gd name="connsiteY1" fmla="*/ 70517 h 1419158"/>
              <a:gd name="connsiteX2" fmla="*/ 495877 w 495877"/>
              <a:gd name="connsiteY2" fmla="*/ 709579 h 1419158"/>
              <a:gd name="connsiteX3" fmla="*/ 300670 w 495877"/>
              <a:gd name="connsiteY3" fmla="*/ 1348641 h 1419158"/>
              <a:gd name="connsiteX4" fmla="*/ 247939 w 495877"/>
              <a:gd name="connsiteY4" fmla="*/ 1419158 h 1419158"/>
              <a:gd name="connsiteX5" fmla="*/ 195207 w 495877"/>
              <a:gd name="connsiteY5" fmla="*/ 1348641 h 1419158"/>
              <a:gd name="connsiteX6" fmla="*/ 0 w 495877"/>
              <a:gd name="connsiteY6" fmla="*/ 709579 h 1419158"/>
              <a:gd name="connsiteX7" fmla="*/ 195207 w 495877"/>
              <a:gd name="connsiteY7" fmla="*/ 70517 h 1419158"/>
              <a:gd name="connsiteX8" fmla="*/ 247939 w 495877"/>
              <a:gd name="connsiteY8" fmla="*/ 0 h 141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877" h="1419158">
                <a:moveTo>
                  <a:pt x="247939" y="0"/>
                </a:moveTo>
                <a:lnTo>
                  <a:pt x="300670" y="70517"/>
                </a:lnTo>
                <a:cubicBezTo>
                  <a:pt x="423914" y="252941"/>
                  <a:pt x="495877" y="472856"/>
                  <a:pt x="495877" y="709579"/>
                </a:cubicBezTo>
                <a:cubicBezTo>
                  <a:pt x="495877" y="946302"/>
                  <a:pt x="423914" y="1166217"/>
                  <a:pt x="300670" y="1348641"/>
                </a:cubicBezTo>
                <a:lnTo>
                  <a:pt x="247939" y="1419158"/>
                </a:lnTo>
                <a:lnTo>
                  <a:pt x="195207" y="1348641"/>
                </a:lnTo>
                <a:cubicBezTo>
                  <a:pt x="71964" y="1166217"/>
                  <a:pt x="0" y="946302"/>
                  <a:pt x="0" y="709579"/>
                </a:cubicBezTo>
                <a:cubicBezTo>
                  <a:pt x="0" y="472856"/>
                  <a:pt x="71964" y="252941"/>
                  <a:pt x="195207" y="70517"/>
                </a:cubicBezTo>
                <a:lnTo>
                  <a:pt x="247939" y="0"/>
                </a:ln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CP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E59C486-10CE-1FB0-D6CA-15C98609F963}"/>
              </a:ext>
            </a:extLst>
          </p:cNvPr>
          <p:cNvSpPr/>
          <p:nvPr/>
        </p:nvSpPr>
        <p:spPr>
          <a:xfrm>
            <a:off x="6941894" y="2772207"/>
            <a:ext cx="648189" cy="1907147"/>
          </a:xfrm>
          <a:custGeom>
            <a:avLst/>
            <a:gdLst>
              <a:gd name="connsiteX0" fmla="*/ 247938 w 495876"/>
              <a:gd name="connsiteY0" fmla="*/ 0 h 1419157"/>
              <a:gd name="connsiteX1" fmla="*/ 300669 w 495876"/>
              <a:gd name="connsiteY1" fmla="*/ 70516 h 1419157"/>
              <a:gd name="connsiteX2" fmla="*/ 495876 w 495876"/>
              <a:gd name="connsiteY2" fmla="*/ 709578 h 1419157"/>
              <a:gd name="connsiteX3" fmla="*/ 300669 w 495876"/>
              <a:gd name="connsiteY3" fmla="*/ 1348640 h 1419157"/>
              <a:gd name="connsiteX4" fmla="*/ 247938 w 495876"/>
              <a:gd name="connsiteY4" fmla="*/ 1419157 h 1419157"/>
              <a:gd name="connsiteX5" fmla="*/ 195207 w 495876"/>
              <a:gd name="connsiteY5" fmla="*/ 1348640 h 1419157"/>
              <a:gd name="connsiteX6" fmla="*/ 0 w 495876"/>
              <a:gd name="connsiteY6" fmla="*/ 709578 h 1419157"/>
              <a:gd name="connsiteX7" fmla="*/ 195207 w 495876"/>
              <a:gd name="connsiteY7" fmla="*/ 70516 h 1419157"/>
              <a:gd name="connsiteX8" fmla="*/ 247938 w 495876"/>
              <a:gd name="connsiteY8" fmla="*/ 0 h 1419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876" h="1419157">
                <a:moveTo>
                  <a:pt x="247938" y="0"/>
                </a:moveTo>
                <a:lnTo>
                  <a:pt x="300669" y="70516"/>
                </a:lnTo>
                <a:cubicBezTo>
                  <a:pt x="423913" y="252940"/>
                  <a:pt x="495876" y="472855"/>
                  <a:pt x="495876" y="709578"/>
                </a:cubicBezTo>
                <a:cubicBezTo>
                  <a:pt x="495876" y="946301"/>
                  <a:pt x="423913" y="1166216"/>
                  <a:pt x="300669" y="1348640"/>
                </a:cubicBezTo>
                <a:lnTo>
                  <a:pt x="247938" y="1419157"/>
                </a:lnTo>
                <a:lnTo>
                  <a:pt x="195207" y="1348640"/>
                </a:lnTo>
                <a:cubicBezTo>
                  <a:pt x="71964" y="1166216"/>
                  <a:pt x="0" y="946301"/>
                  <a:pt x="0" y="709578"/>
                </a:cubicBezTo>
                <a:cubicBezTo>
                  <a:pt x="0" y="472855"/>
                  <a:pt x="71964" y="252940"/>
                  <a:pt x="195207" y="70516"/>
                </a:cubicBezTo>
                <a:lnTo>
                  <a:pt x="247938" y="0"/>
                </a:ln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000" dirty="0"/>
              <a:t>AP</a:t>
            </a:r>
            <a:endParaRPr lang="en-US" sz="24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74CA2AD-1BE9-1141-FF92-ABB3DC3651F6}"/>
              </a:ext>
            </a:extLst>
          </p:cNvPr>
          <p:cNvSpPr/>
          <p:nvPr/>
        </p:nvSpPr>
        <p:spPr>
          <a:xfrm>
            <a:off x="2261938" y="2189748"/>
            <a:ext cx="2664073" cy="3072062"/>
          </a:xfrm>
          <a:custGeom>
            <a:avLst/>
            <a:gdLst>
              <a:gd name="connsiteX0" fmla="*/ 1143000 w 2038062"/>
              <a:gd name="connsiteY0" fmla="*/ 0 h 2286000"/>
              <a:gd name="connsiteX1" fmla="*/ 2024994 w 2038062"/>
              <a:gd name="connsiteY1" fmla="*/ 415946 h 2286000"/>
              <a:gd name="connsiteX2" fmla="*/ 2038062 w 2038062"/>
              <a:gd name="connsiteY2" fmla="*/ 433421 h 2286000"/>
              <a:gd name="connsiteX3" fmla="*/ 1985330 w 2038062"/>
              <a:gd name="connsiteY3" fmla="*/ 503938 h 2286000"/>
              <a:gd name="connsiteX4" fmla="*/ 1790123 w 2038062"/>
              <a:gd name="connsiteY4" fmla="*/ 1143000 h 2286000"/>
              <a:gd name="connsiteX5" fmla="*/ 1985330 w 2038062"/>
              <a:gd name="connsiteY5" fmla="*/ 1782062 h 2286000"/>
              <a:gd name="connsiteX6" fmla="*/ 2038062 w 2038062"/>
              <a:gd name="connsiteY6" fmla="*/ 1852579 h 2286000"/>
              <a:gd name="connsiteX7" fmla="*/ 2024994 w 2038062"/>
              <a:gd name="connsiteY7" fmla="*/ 1870054 h 2286000"/>
              <a:gd name="connsiteX8" fmla="*/ 1143000 w 2038062"/>
              <a:gd name="connsiteY8" fmla="*/ 2286000 h 2286000"/>
              <a:gd name="connsiteX9" fmla="*/ 0 w 2038062"/>
              <a:gd name="connsiteY9" fmla="*/ 1143000 h 2286000"/>
              <a:gd name="connsiteX10" fmla="*/ 1143000 w 2038062"/>
              <a:gd name="connsiteY10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38062" h="2286000">
                <a:moveTo>
                  <a:pt x="1143000" y="0"/>
                </a:moveTo>
                <a:cubicBezTo>
                  <a:pt x="1498085" y="0"/>
                  <a:pt x="1815351" y="161918"/>
                  <a:pt x="2024994" y="415946"/>
                </a:cubicBezTo>
                <a:lnTo>
                  <a:pt x="2038062" y="433421"/>
                </a:lnTo>
                <a:lnTo>
                  <a:pt x="1985330" y="503938"/>
                </a:lnTo>
                <a:cubicBezTo>
                  <a:pt x="1862087" y="686362"/>
                  <a:pt x="1790123" y="906277"/>
                  <a:pt x="1790123" y="1143000"/>
                </a:cubicBezTo>
                <a:cubicBezTo>
                  <a:pt x="1790123" y="1379723"/>
                  <a:pt x="1862087" y="1599638"/>
                  <a:pt x="1985330" y="1782062"/>
                </a:cubicBezTo>
                <a:lnTo>
                  <a:pt x="2038062" y="1852579"/>
                </a:lnTo>
                <a:lnTo>
                  <a:pt x="2024994" y="1870054"/>
                </a:lnTo>
                <a:cubicBezTo>
                  <a:pt x="1815351" y="2124083"/>
                  <a:pt x="1498085" y="2286000"/>
                  <a:pt x="1143000" y="2286000"/>
                </a:cubicBezTo>
                <a:cubicBezTo>
                  <a:pt x="511739" y="2286000"/>
                  <a:pt x="0" y="1774261"/>
                  <a:pt x="0" y="1143000"/>
                </a:cubicBezTo>
                <a:cubicBezTo>
                  <a:pt x="0" y="511739"/>
                  <a:pt x="511739" y="0"/>
                  <a:pt x="1143000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Consistency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A8524B7-6378-61F8-B407-C5111659CF9B}"/>
              </a:ext>
            </a:extLst>
          </p:cNvPr>
          <p:cNvSpPr/>
          <p:nvPr/>
        </p:nvSpPr>
        <p:spPr>
          <a:xfrm>
            <a:off x="4926013" y="2189748"/>
            <a:ext cx="2339977" cy="3072062"/>
          </a:xfrm>
          <a:custGeom>
            <a:avLst/>
            <a:gdLst>
              <a:gd name="connsiteX0" fmla="*/ 895061 w 1790123"/>
              <a:gd name="connsiteY0" fmla="*/ 0 h 2286000"/>
              <a:gd name="connsiteX1" fmla="*/ 1777055 w 1790123"/>
              <a:gd name="connsiteY1" fmla="*/ 415946 h 2286000"/>
              <a:gd name="connsiteX2" fmla="*/ 1790123 w 1790123"/>
              <a:gd name="connsiteY2" fmla="*/ 433422 h 2286000"/>
              <a:gd name="connsiteX3" fmla="*/ 1737392 w 1790123"/>
              <a:gd name="connsiteY3" fmla="*/ 503938 h 2286000"/>
              <a:gd name="connsiteX4" fmla="*/ 1542185 w 1790123"/>
              <a:gd name="connsiteY4" fmla="*/ 1143000 h 2286000"/>
              <a:gd name="connsiteX5" fmla="*/ 1737392 w 1790123"/>
              <a:gd name="connsiteY5" fmla="*/ 1782062 h 2286000"/>
              <a:gd name="connsiteX6" fmla="*/ 1790123 w 1790123"/>
              <a:gd name="connsiteY6" fmla="*/ 1852579 h 2286000"/>
              <a:gd name="connsiteX7" fmla="*/ 1777055 w 1790123"/>
              <a:gd name="connsiteY7" fmla="*/ 1870054 h 2286000"/>
              <a:gd name="connsiteX8" fmla="*/ 895061 w 1790123"/>
              <a:gd name="connsiteY8" fmla="*/ 2286000 h 2286000"/>
              <a:gd name="connsiteX9" fmla="*/ 13067 w 1790123"/>
              <a:gd name="connsiteY9" fmla="*/ 1870054 h 2286000"/>
              <a:gd name="connsiteX10" fmla="*/ 0 w 1790123"/>
              <a:gd name="connsiteY10" fmla="*/ 1852579 h 2286000"/>
              <a:gd name="connsiteX11" fmla="*/ 52731 w 1790123"/>
              <a:gd name="connsiteY11" fmla="*/ 1782062 h 2286000"/>
              <a:gd name="connsiteX12" fmla="*/ 247938 w 1790123"/>
              <a:gd name="connsiteY12" fmla="*/ 1143000 h 2286000"/>
              <a:gd name="connsiteX13" fmla="*/ 52731 w 1790123"/>
              <a:gd name="connsiteY13" fmla="*/ 503938 h 2286000"/>
              <a:gd name="connsiteX14" fmla="*/ 0 w 1790123"/>
              <a:gd name="connsiteY14" fmla="*/ 433421 h 2286000"/>
              <a:gd name="connsiteX15" fmla="*/ 13067 w 1790123"/>
              <a:gd name="connsiteY15" fmla="*/ 415946 h 2286000"/>
              <a:gd name="connsiteX16" fmla="*/ 895061 w 1790123"/>
              <a:gd name="connsiteY16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90123" h="2286000">
                <a:moveTo>
                  <a:pt x="895061" y="0"/>
                </a:moveTo>
                <a:cubicBezTo>
                  <a:pt x="1250146" y="0"/>
                  <a:pt x="1567412" y="161918"/>
                  <a:pt x="1777055" y="415946"/>
                </a:cubicBezTo>
                <a:lnTo>
                  <a:pt x="1790123" y="433422"/>
                </a:lnTo>
                <a:lnTo>
                  <a:pt x="1737392" y="503938"/>
                </a:lnTo>
                <a:cubicBezTo>
                  <a:pt x="1614149" y="686362"/>
                  <a:pt x="1542185" y="906277"/>
                  <a:pt x="1542185" y="1143000"/>
                </a:cubicBezTo>
                <a:cubicBezTo>
                  <a:pt x="1542185" y="1379723"/>
                  <a:pt x="1614149" y="1599638"/>
                  <a:pt x="1737392" y="1782062"/>
                </a:cubicBezTo>
                <a:lnTo>
                  <a:pt x="1790123" y="1852579"/>
                </a:lnTo>
                <a:lnTo>
                  <a:pt x="1777055" y="1870054"/>
                </a:lnTo>
                <a:cubicBezTo>
                  <a:pt x="1567412" y="2124083"/>
                  <a:pt x="1250146" y="2286000"/>
                  <a:pt x="895061" y="2286000"/>
                </a:cubicBezTo>
                <a:cubicBezTo>
                  <a:pt x="539977" y="2286000"/>
                  <a:pt x="222710" y="2124083"/>
                  <a:pt x="13067" y="1870054"/>
                </a:cubicBezTo>
                <a:lnTo>
                  <a:pt x="0" y="1852579"/>
                </a:lnTo>
                <a:lnTo>
                  <a:pt x="52731" y="1782062"/>
                </a:lnTo>
                <a:cubicBezTo>
                  <a:pt x="175975" y="1599638"/>
                  <a:pt x="247938" y="1379723"/>
                  <a:pt x="247938" y="1143000"/>
                </a:cubicBezTo>
                <a:cubicBezTo>
                  <a:pt x="247938" y="906277"/>
                  <a:pt x="175975" y="686362"/>
                  <a:pt x="52731" y="503938"/>
                </a:cubicBezTo>
                <a:lnTo>
                  <a:pt x="0" y="433421"/>
                </a:lnTo>
                <a:lnTo>
                  <a:pt x="13067" y="415946"/>
                </a:lnTo>
                <a:cubicBezTo>
                  <a:pt x="222710" y="161918"/>
                  <a:pt x="539977" y="0"/>
                  <a:pt x="89506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Partition Tolerance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B54BBEA-582D-7D3B-0BA0-EBDCF3FEA5DB}"/>
              </a:ext>
            </a:extLst>
          </p:cNvPr>
          <p:cNvSpPr/>
          <p:nvPr/>
        </p:nvSpPr>
        <p:spPr>
          <a:xfrm>
            <a:off x="7265989" y="2189748"/>
            <a:ext cx="2664073" cy="3072062"/>
          </a:xfrm>
          <a:custGeom>
            <a:avLst/>
            <a:gdLst>
              <a:gd name="connsiteX0" fmla="*/ 895062 w 2038062"/>
              <a:gd name="connsiteY0" fmla="*/ 0 h 2286000"/>
              <a:gd name="connsiteX1" fmla="*/ 2038062 w 2038062"/>
              <a:gd name="connsiteY1" fmla="*/ 1143000 h 2286000"/>
              <a:gd name="connsiteX2" fmla="*/ 895062 w 2038062"/>
              <a:gd name="connsiteY2" fmla="*/ 2286000 h 2286000"/>
              <a:gd name="connsiteX3" fmla="*/ 13068 w 2038062"/>
              <a:gd name="connsiteY3" fmla="*/ 1870054 h 2286000"/>
              <a:gd name="connsiteX4" fmla="*/ 0 w 2038062"/>
              <a:gd name="connsiteY4" fmla="*/ 1852579 h 2286000"/>
              <a:gd name="connsiteX5" fmla="*/ 52731 w 2038062"/>
              <a:gd name="connsiteY5" fmla="*/ 1782062 h 2286000"/>
              <a:gd name="connsiteX6" fmla="*/ 247938 w 2038062"/>
              <a:gd name="connsiteY6" fmla="*/ 1143000 h 2286000"/>
              <a:gd name="connsiteX7" fmla="*/ 52731 w 2038062"/>
              <a:gd name="connsiteY7" fmla="*/ 503938 h 2286000"/>
              <a:gd name="connsiteX8" fmla="*/ 0 w 2038062"/>
              <a:gd name="connsiteY8" fmla="*/ 433422 h 2286000"/>
              <a:gd name="connsiteX9" fmla="*/ 13068 w 2038062"/>
              <a:gd name="connsiteY9" fmla="*/ 415946 h 2286000"/>
              <a:gd name="connsiteX10" fmla="*/ 895062 w 2038062"/>
              <a:gd name="connsiteY10" fmla="*/ 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38062" h="2286000">
                <a:moveTo>
                  <a:pt x="895062" y="0"/>
                </a:moveTo>
                <a:cubicBezTo>
                  <a:pt x="1526323" y="0"/>
                  <a:pt x="2038062" y="511739"/>
                  <a:pt x="2038062" y="1143000"/>
                </a:cubicBezTo>
                <a:cubicBezTo>
                  <a:pt x="2038062" y="1774261"/>
                  <a:pt x="1526323" y="2286000"/>
                  <a:pt x="895062" y="2286000"/>
                </a:cubicBezTo>
                <a:cubicBezTo>
                  <a:pt x="539978" y="2286000"/>
                  <a:pt x="222711" y="2124083"/>
                  <a:pt x="13068" y="1870054"/>
                </a:cubicBezTo>
                <a:lnTo>
                  <a:pt x="0" y="1852579"/>
                </a:lnTo>
                <a:lnTo>
                  <a:pt x="52731" y="1782062"/>
                </a:lnTo>
                <a:cubicBezTo>
                  <a:pt x="175975" y="1599638"/>
                  <a:pt x="247938" y="1379723"/>
                  <a:pt x="247938" y="1143000"/>
                </a:cubicBezTo>
                <a:cubicBezTo>
                  <a:pt x="247938" y="906277"/>
                  <a:pt x="175975" y="686362"/>
                  <a:pt x="52731" y="503938"/>
                </a:cubicBezTo>
                <a:lnTo>
                  <a:pt x="0" y="433422"/>
                </a:lnTo>
                <a:lnTo>
                  <a:pt x="13068" y="415946"/>
                </a:lnTo>
                <a:cubicBezTo>
                  <a:pt x="222711" y="161918"/>
                  <a:pt x="539978" y="0"/>
                  <a:pt x="895062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2400" dirty="0"/>
              <a:t>Availability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E8CCAB-52BB-FD18-31D4-E08B0C547558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02247C-CC92-4BEC-D9A1-6F863B58E615}"/>
              </a:ext>
            </a:extLst>
          </p:cNvPr>
          <p:cNvGrpSpPr/>
          <p:nvPr/>
        </p:nvGrpSpPr>
        <p:grpSpPr>
          <a:xfrm>
            <a:off x="-5449334" y="-3057307"/>
            <a:ext cx="5123890" cy="2674808"/>
            <a:chOff x="2496111" y="2309453"/>
            <a:chExt cx="7623249" cy="4455142"/>
          </a:xfrm>
          <a:solidFill>
            <a:schemeClr val="tx1">
              <a:lumMod val="95000"/>
              <a:alpha val="20000"/>
            </a:schemeClr>
          </a:solidFill>
        </p:grpSpPr>
        <p:sp>
          <p:nvSpPr>
            <p:cNvPr id="31" name="Flowchart: Connector 30">
              <a:extLst>
                <a:ext uri="{FF2B5EF4-FFF2-40B4-BE49-F238E27FC236}">
                  <a16:creationId xmlns:a16="http://schemas.microsoft.com/office/drawing/2014/main" id="{5941E467-4FCC-B544-CDDD-BB1C75CAFFC5}"/>
                </a:ext>
              </a:extLst>
            </p:cNvPr>
            <p:cNvSpPr/>
            <p:nvPr/>
          </p:nvSpPr>
          <p:spPr>
            <a:xfrm>
              <a:off x="5334000" y="3314700"/>
              <a:ext cx="1828800" cy="182880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lowchart: Connector 31">
              <a:extLst>
                <a:ext uri="{FF2B5EF4-FFF2-40B4-BE49-F238E27FC236}">
                  <a16:creationId xmlns:a16="http://schemas.microsoft.com/office/drawing/2014/main" id="{F5D5C208-B9E2-8F8B-907F-8119B4F41EFC}"/>
                </a:ext>
              </a:extLst>
            </p:cNvPr>
            <p:cNvSpPr/>
            <p:nvPr/>
          </p:nvSpPr>
          <p:spPr>
            <a:xfrm>
              <a:off x="9022080" y="2392762"/>
              <a:ext cx="1097280" cy="109728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3" name="Flowchart: Connector 32">
              <a:extLst>
                <a:ext uri="{FF2B5EF4-FFF2-40B4-BE49-F238E27FC236}">
                  <a16:creationId xmlns:a16="http://schemas.microsoft.com/office/drawing/2014/main" id="{6DA33FCC-5142-04A3-5885-95086534FF8F}"/>
                </a:ext>
              </a:extLst>
            </p:cNvPr>
            <p:cNvSpPr/>
            <p:nvPr/>
          </p:nvSpPr>
          <p:spPr>
            <a:xfrm>
              <a:off x="7924800" y="5118675"/>
              <a:ext cx="1645920" cy="164592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4" name="Flowchart: Connector 33">
              <a:extLst>
                <a:ext uri="{FF2B5EF4-FFF2-40B4-BE49-F238E27FC236}">
                  <a16:creationId xmlns:a16="http://schemas.microsoft.com/office/drawing/2014/main" id="{B1494AAC-AC5C-139C-63D0-CE2CF9C204F1}"/>
                </a:ext>
              </a:extLst>
            </p:cNvPr>
            <p:cNvSpPr/>
            <p:nvPr/>
          </p:nvSpPr>
          <p:spPr>
            <a:xfrm>
              <a:off x="2496111" y="5118675"/>
              <a:ext cx="1371600" cy="137160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77EE0745-7DEC-7B84-7ED4-BD1012F0C775}"/>
                </a:ext>
              </a:extLst>
            </p:cNvPr>
            <p:cNvSpPr/>
            <p:nvPr/>
          </p:nvSpPr>
          <p:spPr>
            <a:xfrm>
              <a:off x="3657600" y="2309453"/>
              <a:ext cx="914400" cy="91440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354AF86-20EF-AC01-3E76-AB79A1C17E0E}"/>
                </a:ext>
              </a:extLst>
            </p:cNvPr>
            <p:cNvCxnSpPr>
              <a:cxnSpLocks/>
              <a:stCxn id="35" idx="5"/>
              <a:endCxn id="31" idx="1"/>
            </p:cNvCxnSpPr>
            <p:nvPr/>
          </p:nvCxnSpPr>
          <p:spPr>
            <a:xfrm>
              <a:off x="4438089" y="3089942"/>
              <a:ext cx="1163733" cy="49258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495D6A-AE38-6026-D590-AB722DCDD37B}"/>
                </a:ext>
              </a:extLst>
            </p:cNvPr>
            <p:cNvCxnSpPr>
              <a:stCxn id="34" idx="7"/>
              <a:endCxn id="31" idx="3"/>
            </p:cNvCxnSpPr>
            <p:nvPr/>
          </p:nvCxnSpPr>
          <p:spPr>
            <a:xfrm flipV="1">
              <a:off x="3666845" y="4875678"/>
              <a:ext cx="1934977" cy="44386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F7DBC14-6A0C-8940-8B27-DA808AB0B673}"/>
                </a:ext>
              </a:extLst>
            </p:cNvPr>
            <p:cNvCxnSpPr>
              <a:cxnSpLocks/>
              <a:stCxn id="31" idx="5"/>
              <a:endCxn id="33" idx="1"/>
            </p:cNvCxnSpPr>
            <p:nvPr/>
          </p:nvCxnSpPr>
          <p:spPr>
            <a:xfrm>
              <a:off x="6894978" y="4875678"/>
              <a:ext cx="1270861" cy="484036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2C74334-F103-51C6-D6A1-EA75E14BB949}"/>
                </a:ext>
              </a:extLst>
            </p:cNvPr>
            <p:cNvCxnSpPr>
              <a:cxnSpLocks/>
              <a:stCxn id="31" idx="7"/>
              <a:endCxn id="32" idx="2"/>
            </p:cNvCxnSpPr>
            <p:nvPr/>
          </p:nvCxnSpPr>
          <p:spPr>
            <a:xfrm flipV="1">
              <a:off x="6894978" y="2941402"/>
              <a:ext cx="2127102" cy="64112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Flowchart: Connector 39">
            <a:extLst>
              <a:ext uri="{FF2B5EF4-FFF2-40B4-BE49-F238E27FC236}">
                <a16:creationId xmlns:a16="http://schemas.microsoft.com/office/drawing/2014/main" id="{740B1446-6B26-2711-D246-D1EF3FC337A9}"/>
              </a:ext>
            </a:extLst>
          </p:cNvPr>
          <p:cNvSpPr/>
          <p:nvPr/>
        </p:nvSpPr>
        <p:spPr>
          <a:xfrm>
            <a:off x="6620114" y="-3503112"/>
            <a:ext cx="1828800" cy="18288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</a:t>
            </a:r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E8F562E3-6A17-C549-6D9D-08D7483C82F4}"/>
              </a:ext>
            </a:extLst>
          </p:cNvPr>
          <p:cNvSpPr/>
          <p:nvPr/>
        </p:nvSpPr>
        <p:spPr>
          <a:xfrm>
            <a:off x="6985874" y="8332861"/>
            <a:ext cx="1097280" cy="10972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META DATA</a:t>
            </a:r>
          </a:p>
        </p:txBody>
      </p:sp>
      <p:sp>
        <p:nvSpPr>
          <p:cNvPr id="42" name="Flowchart: Connector 41">
            <a:extLst>
              <a:ext uri="{FF2B5EF4-FFF2-40B4-BE49-F238E27FC236}">
                <a16:creationId xmlns:a16="http://schemas.microsoft.com/office/drawing/2014/main" id="{0DFE61DA-F7B1-089F-9AC7-97D220FEDCA7}"/>
              </a:ext>
            </a:extLst>
          </p:cNvPr>
          <p:cNvSpPr/>
          <p:nvPr/>
        </p:nvSpPr>
        <p:spPr>
          <a:xfrm>
            <a:off x="16336276" y="-1659149"/>
            <a:ext cx="1645920" cy="16459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ATTRIBUTES</a:t>
            </a:r>
          </a:p>
        </p:txBody>
      </p:sp>
      <p:sp>
        <p:nvSpPr>
          <p:cNvPr id="43" name="Flowchart: Connector 42">
            <a:extLst>
              <a:ext uri="{FF2B5EF4-FFF2-40B4-BE49-F238E27FC236}">
                <a16:creationId xmlns:a16="http://schemas.microsoft.com/office/drawing/2014/main" id="{95529D48-CF53-4985-8B75-6DF0E1A5A9AB}"/>
              </a:ext>
            </a:extLst>
          </p:cNvPr>
          <p:cNvSpPr/>
          <p:nvPr/>
        </p:nvSpPr>
        <p:spPr>
          <a:xfrm>
            <a:off x="-5071915" y="5891351"/>
            <a:ext cx="1371600" cy="137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</a:t>
            </a:r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7D7BB01F-4AD1-ED3E-93EB-4473E278CA60}"/>
              </a:ext>
            </a:extLst>
          </p:cNvPr>
          <p:cNvSpPr/>
          <p:nvPr/>
        </p:nvSpPr>
        <p:spPr>
          <a:xfrm>
            <a:off x="-6108737" y="1061943"/>
            <a:ext cx="914400" cy="9144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01EA0-B4AD-38CF-0616-4B072F5F866B}"/>
              </a:ext>
            </a:extLst>
          </p:cNvPr>
          <p:cNvSpPr txBox="1"/>
          <p:nvPr/>
        </p:nvSpPr>
        <p:spPr>
          <a:xfrm>
            <a:off x="1586019" y="1105556"/>
            <a:ext cx="901996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Un concept fondamental en bases de données distribuées </a:t>
            </a:r>
            <a:endParaRPr lang="fr-FR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7054744-1D60-D042-6E02-9C144CE22CE3}"/>
              </a:ext>
            </a:extLst>
          </p:cNvPr>
          <p:cNvSpPr/>
          <p:nvPr/>
        </p:nvSpPr>
        <p:spPr>
          <a:xfrm>
            <a:off x="238051" y="2568392"/>
            <a:ext cx="1867840" cy="1799795"/>
          </a:xfrm>
          <a:prstGeom prst="wedgeRoundRectCallout">
            <a:avLst>
              <a:gd name="adj1" fmla="val 71143"/>
              <a:gd name="adj2" fmla="val -21004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Tous les nœuds voient les mêmes données au même moment</a:t>
            </a:r>
            <a:endParaRPr lang="en-US" dirty="0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4785FFCE-C5FF-8A4D-5F71-AC84DDAB3CCB}"/>
              </a:ext>
            </a:extLst>
          </p:cNvPr>
          <p:cNvSpPr/>
          <p:nvPr/>
        </p:nvSpPr>
        <p:spPr>
          <a:xfrm flipH="1">
            <a:off x="10086109" y="2568392"/>
            <a:ext cx="1867840" cy="1799795"/>
          </a:xfrm>
          <a:prstGeom prst="wedgeRoundRectCallout">
            <a:avLst>
              <a:gd name="adj1" fmla="val 71143"/>
              <a:gd name="adj2" fmla="val -21004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système continue de fonctionner même si des nœuds sont coupés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42866CC-D618-F42D-F731-D517818E6883}"/>
              </a:ext>
            </a:extLst>
          </p:cNvPr>
          <p:cNvSpPr/>
          <p:nvPr/>
        </p:nvSpPr>
        <p:spPr>
          <a:xfrm flipH="1">
            <a:off x="4620209" y="5452013"/>
            <a:ext cx="2951583" cy="1059619"/>
          </a:xfrm>
          <a:prstGeom prst="wedgeRoundRectCallout">
            <a:avLst>
              <a:gd name="adj1" fmla="val 4383"/>
              <a:gd name="adj2" fmla="val -90591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Le système répond toujours, même en cas de panne partielle </a:t>
            </a:r>
          </a:p>
        </p:txBody>
      </p:sp>
    </p:spTree>
    <p:extLst>
      <p:ext uri="{BB962C8B-B14F-4D97-AF65-F5344CB8AC3E}">
        <p14:creationId xmlns:p14="http://schemas.microsoft.com/office/powerpoint/2010/main" val="2757251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B56EBC46-CD9B-A374-EC1A-F85F9EDFAE37}"/>
              </a:ext>
            </a:extLst>
          </p:cNvPr>
          <p:cNvGrpSpPr/>
          <p:nvPr/>
        </p:nvGrpSpPr>
        <p:grpSpPr>
          <a:xfrm>
            <a:off x="4056173" y="3157857"/>
            <a:ext cx="5123890" cy="2674808"/>
            <a:chOff x="2496111" y="2309453"/>
            <a:chExt cx="7623249" cy="4455142"/>
          </a:xfrm>
          <a:solidFill>
            <a:schemeClr val="tx1">
              <a:lumMod val="95000"/>
              <a:alpha val="20000"/>
            </a:schemeClr>
          </a:solidFill>
        </p:grpSpPr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C5E70C98-54AF-8600-CB4B-04884A0D2041}"/>
                </a:ext>
              </a:extLst>
            </p:cNvPr>
            <p:cNvSpPr/>
            <p:nvPr/>
          </p:nvSpPr>
          <p:spPr>
            <a:xfrm>
              <a:off x="5334000" y="3314700"/>
              <a:ext cx="1828800" cy="182880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lowchart: Connector 40">
              <a:extLst>
                <a:ext uri="{FF2B5EF4-FFF2-40B4-BE49-F238E27FC236}">
                  <a16:creationId xmlns:a16="http://schemas.microsoft.com/office/drawing/2014/main" id="{CCCB610B-5585-E7E6-69FD-39053FD1D0FE}"/>
                </a:ext>
              </a:extLst>
            </p:cNvPr>
            <p:cNvSpPr/>
            <p:nvPr/>
          </p:nvSpPr>
          <p:spPr>
            <a:xfrm>
              <a:off x="9022080" y="2392762"/>
              <a:ext cx="1097280" cy="109728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6D1C5C99-CAB6-8DE4-5C64-614C9C791967}"/>
                </a:ext>
              </a:extLst>
            </p:cNvPr>
            <p:cNvSpPr/>
            <p:nvPr/>
          </p:nvSpPr>
          <p:spPr>
            <a:xfrm>
              <a:off x="7924800" y="5118675"/>
              <a:ext cx="1645920" cy="164592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3" name="Flowchart: Connector 42">
              <a:extLst>
                <a:ext uri="{FF2B5EF4-FFF2-40B4-BE49-F238E27FC236}">
                  <a16:creationId xmlns:a16="http://schemas.microsoft.com/office/drawing/2014/main" id="{472B8580-397B-376A-476B-63FC875BC493}"/>
                </a:ext>
              </a:extLst>
            </p:cNvPr>
            <p:cNvSpPr/>
            <p:nvPr/>
          </p:nvSpPr>
          <p:spPr>
            <a:xfrm>
              <a:off x="2496111" y="5118675"/>
              <a:ext cx="1371600" cy="137160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9C66A118-4DCF-C963-E674-D2C16D91FFFA}"/>
                </a:ext>
              </a:extLst>
            </p:cNvPr>
            <p:cNvSpPr/>
            <p:nvPr/>
          </p:nvSpPr>
          <p:spPr>
            <a:xfrm>
              <a:off x="3657600" y="2309453"/>
              <a:ext cx="914400" cy="914400"/>
            </a:xfrm>
            <a:prstGeom prst="flowChartConnector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C3D28A8-EB27-6504-F5B0-A60F1B101FBA}"/>
                </a:ext>
              </a:extLst>
            </p:cNvPr>
            <p:cNvCxnSpPr>
              <a:cxnSpLocks/>
              <a:stCxn id="44" idx="5"/>
              <a:endCxn id="40" idx="1"/>
            </p:cNvCxnSpPr>
            <p:nvPr/>
          </p:nvCxnSpPr>
          <p:spPr>
            <a:xfrm>
              <a:off x="4438089" y="3089942"/>
              <a:ext cx="1163733" cy="49258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C11E7C1-7E2A-2C4E-183E-2FBFE0E6EC21}"/>
                </a:ext>
              </a:extLst>
            </p:cNvPr>
            <p:cNvCxnSpPr>
              <a:stCxn id="43" idx="7"/>
              <a:endCxn id="40" idx="3"/>
            </p:cNvCxnSpPr>
            <p:nvPr/>
          </p:nvCxnSpPr>
          <p:spPr>
            <a:xfrm flipV="1">
              <a:off x="3666845" y="4875678"/>
              <a:ext cx="1934977" cy="443863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940DBA2-6C47-6B64-BD4D-D5A5A67E64E8}"/>
                </a:ext>
              </a:extLst>
            </p:cNvPr>
            <p:cNvCxnSpPr>
              <a:cxnSpLocks/>
              <a:stCxn id="40" idx="5"/>
              <a:endCxn id="42" idx="1"/>
            </p:cNvCxnSpPr>
            <p:nvPr/>
          </p:nvCxnSpPr>
          <p:spPr>
            <a:xfrm>
              <a:off x="6894978" y="4875678"/>
              <a:ext cx="1270861" cy="484036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8BA5688-301A-5B84-BFB4-10569E073E09}"/>
                </a:ext>
              </a:extLst>
            </p:cNvPr>
            <p:cNvCxnSpPr>
              <a:cxnSpLocks/>
              <a:stCxn id="40" idx="7"/>
              <a:endCxn id="41" idx="2"/>
            </p:cNvCxnSpPr>
            <p:nvPr/>
          </p:nvCxnSpPr>
          <p:spPr>
            <a:xfrm flipV="1">
              <a:off x="6894978" y="2941402"/>
              <a:ext cx="2127102" cy="641120"/>
            </a:xfrm>
            <a:prstGeom prst="line">
              <a:avLst/>
            </a:prstGeom>
            <a:grpFill/>
            <a:ln>
              <a:solidFill>
                <a:schemeClr val="tx1">
                  <a:lumMod val="75000"/>
                  <a:alpha val="19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Object Storage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406F4491-944C-97B0-93CC-25E4BA9BE379}"/>
              </a:ext>
            </a:extLst>
          </p:cNvPr>
          <p:cNvSpPr/>
          <p:nvPr/>
        </p:nvSpPr>
        <p:spPr>
          <a:xfrm>
            <a:off x="5181600" y="3242521"/>
            <a:ext cx="1828800" cy="18288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OBJECT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7AB4B961-BFDD-6051-6763-43CD70382355}"/>
              </a:ext>
            </a:extLst>
          </p:cNvPr>
          <p:cNvSpPr/>
          <p:nvPr/>
        </p:nvSpPr>
        <p:spPr>
          <a:xfrm>
            <a:off x="8869680" y="2320583"/>
            <a:ext cx="1097280" cy="109728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META DATA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C8317C66-BE94-6C32-8DD2-F811E8478B81}"/>
              </a:ext>
            </a:extLst>
          </p:cNvPr>
          <p:cNvSpPr/>
          <p:nvPr/>
        </p:nvSpPr>
        <p:spPr>
          <a:xfrm>
            <a:off x="7772400" y="5046496"/>
            <a:ext cx="1645920" cy="16459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ATTRIBUTES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98ADD17C-5BFA-EA69-EC0A-4C174FF35F1F}"/>
              </a:ext>
            </a:extLst>
          </p:cNvPr>
          <p:cNvSpPr/>
          <p:nvPr/>
        </p:nvSpPr>
        <p:spPr>
          <a:xfrm>
            <a:off x="2343711" y="5046496"/>
            <a:ext cx="1371600" cy="13716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A8E12C5-4B47-6ECD-1415-55A5B8F96358}"/>
              </a:ext>
            </a:extLst>
          </p:cNvPr>
          <p:cNvSpPr/>
          <p:nvPr/>
        </p:nvSpPr>
        <p:spPr>
          <a:xfrm>
            <a:off x="3505200" y="2237274"/>
            <a:ext cx="914400" cy="9144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029677-3AED-41DD-0909-75E6AB98FB48}"/>
              </a:ext>
            </a:extLst>
          </p:cNvPr>
          <p:cNvCxnSpPr>
            <a:cxnSpLocks/>
            <a:stCxn id="9" idx="5"/>
            <a:endCxn id="5" idx="1"/>
          </p:cNvCxnSpPr>
          <p:nvPr/>
        </p:nvCxnSpPr>
        <p:spPr>
          <a:xfrm>
            <a:off x="4285689" y="3017763"/>
            <a:ext cx="1163733" cy="492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FC8820-F780-C7B7-74E4-CF2E49A2B8E0}"/>
              </a:ext>
            </a:extLst>
          </p:cNvPr>
          <p:cNvCxnSpPr>
            <a:stCxn id="8" idx="7"/>
            <a:endCxn id="5" idx="3"/>
          </p:cNvCxnSpPr>
          <p:nvPr/>
        </p:nvCxnSpPr>
        <p:spPr>
          <a:xfrm flipV="1">
            <a:off x="3514445" y="4803499"/>
            <a:ext cx="1934977" cy="443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16151B-508A-BF31-A2E9-36B132E9A993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6742578" y="4803499"/>
            <a:ext cx="1270861" cy="4840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2EB24E-A0EC-EA6C-5345-3C293C3A533B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6742578" y="2869223"/>
            <a:ext cx="2127102" cy="641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4877293-85BA-AF8D-AF56-A7B415BDDB90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sp>
        <p:nvSpPr>
          <p:cNvPr id="66" name="Cylinder 65">
            <a:extLst>
              <a:ext uri="{FF2B5EF4-FFF2-40B4-BE49-F238E27FC236}">
                <a16:creationId xmlns:a16="http://schemas.microsoft.com/office/drawing/2014/main" id="{4C3FBEF1-3D78-9EFC-4553-226435AAA03C}"/>
              </a:ext>
            </a:extLst>
          </p:cNvPr>
          <p:cNvSpPr/>
          <p:nvPr/>
        </p:nvSpPr>
        <p:spPr>
          <a:xfrm rot="5400000">
            <a:off x="9521227" y="-4087562"/>
            <a:ext cx="1536970" cy="455254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B381A069-B428-412C-FE9E-B60BDE7BD0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32281" y="-2771086"/>
            <a:ext cx="959798" cy="959796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C79A5083-ECA8-2506-8057-FEFCA806F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19293" y="-2771086"/>
            <a:ext cx="959798" cy="95979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115F9DCE-902E-70EC-EFA2-7D418A777A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32" y="-2771086"/>
            <a:ext cx="959798" cy="959796"/>
          </a:xfrm>
          <a:prstGeom prst="rect">
            <a:avLst/>
          </a:prstGeom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9ADBBC2F-8627-8CBD-04B8-9D6E9BEB597A}"/>
              </a:ext>
            </a:extLst>
          </p:cNvPr>
          <p:cNvSpPr/>
          <p:nvPr/>
        </p:nvSpPr>
        <p:spPr>
          <a:xfrm>
            <a:off x="-3419293" y="-4184878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 1</a:t>
            </a:r>
            <a:endParaRPr lang="en-US" dirty="0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259445C8-68BE-7C30-10E3-D1CE383ED7D4}"/>
              </a:ext>
            </a:extLst>
          </p:cNvPr>
          <p:cNvSpPr/>
          <p:nvPr/>
        </p:nvSpPr>
        <p:spPr>
          <a:xfrm>
            <a:off x="-5694660" y="2470464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 2</a:t>
            </a:r>
            <a:endParaRPr lang="en-US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5B2316E6-2BE7-B30C-C906-215031EEEE78}"/>
              </a:ext>
            </a:extLst>
          </p:cNvPr>
          <p:cNvSpPr/>
          <p:nvPr/>
        </p:nvSpPr>
        <p:spPr>
          <a:xfrm>
            <a:off x="-5928577" y="5625609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 3</a:t>
            </a:r>
            <a:endParaRPr lang="en-US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2A124546-1557-8119-5ADD-DF90009BD61C}"/>
              </a:ext>
            </a:extLst>
          </p:cNvPr>
          <p:cNvSpPr/>
          <p:nvPr/>
        </p:nvSpPr>
        <p:spPr>
          <a:xfrm>
            <a:off x="16166765" y="-4184878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1</a:t>
            </a:r>
            <a:endParaRPr lang="en-US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1DB7AC6-E307-68E5-222B-21EE9DB611B9}"/>
              </a:ext>
            </a:extLst>
          </p:cNvPr>
          <p:cNvSpPr/>
          <p:nvPr/>
        </p:nvSpPr>
        <p:spPr>
          <a:xfrm>
            <a:off x="7785842" y="7970625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2</a:t>
            </a:r>
            <a:endParaRPr lang="en-US" dirty="0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E3C6C62-9780-4649-364F-755C18054A80}"/>
              </a:ext>
            </a:extLst>
          </p:cNvPr>
          <p:cNvSpPr/>
          <p:nvPr/>
        </p:nvSpPr>
        <p:spPr>
          <a:xfrm>
            <a:off x="16655863" y="3452145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3</a:t>
            </a:r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C63ACD-6599-3790-9CC8-AD947586C913}"/>
              </a:ext>
            </a:extLst>
          </p:cNvPr>
          <p:cNvSpPr txBox="1"/>
          <p:nvPr/>
        </p:nvSpPr>
        <p:spPr>
          <a:xfrm flipH="1">
            <a:off x="-3456332" y="-4785224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PRODUCER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781370-BFBC-E4E1-5254-4130E540336C}"/>
              </a:ext>
            </a:extLst>
          </p:cNvPr>
          <p:cNvSpPr txBox="1"/>
          <p:nvPr/>
        </p:nvSpPr>
        <p:spPr>
          <a:xfrm flipH="1">
            <a:off x="5497168" y="-4785224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CONSUMER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1A7AFB-EE61-59D3-D845-3F0CF42C5EBA}"/>
              </a:ext>
            </a:extLst>
          </p:cNvPr>
          <p:cNvSpPr txBox="1"/>
          <p:nvPr/>
        </p:nvSpPr>
        <p:spPr>
          <a:xfrm flipH="1">
            <a:off x="974274" y="-1193998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990267-E931-B81E-436A-C951CA5D0878}"/>
              </a:ext>
            </a:extLst>
          </p:cNvPr>
          <p:cNvSpPr txBox="1"/>
          <p:nvPr/>
        </p:nvSpPr>
        <p:spPr>
          <a:xfrm>
            <a:off x="1586019" y="1105556"/>
            <a:ext cx="90199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Pour les fichiers volumineux (images, vidéos, PDF), on utilise du stockage d’objets (BLOB : </a:t>
            </a:r>
            <a:r>
              <a:rPr lang="fr-FR" b="1" dirty="0" err="1"/>
              <a:t>Binary</a:t>
            </a:r>
            <a:r>
              <a:rPr lang="fr-FR" b="1" dirty="0"/>
              <a:t> Large Object). </a:t>
            </a:r>
          </a:p>
        </p:txBody>
      </p:sp>
    </p:spTree>
    <p:extLst>
      <p:ext uri="{BB962C8B-B14F-4D97-AF65-F5344CB8AC3E}">
        <p14:creationId xmlns:p14="http://schemas.microsoft.com/office/powerpoint/2010/main" val="1041320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E90D16-34E7-9AAA-A84F-A1D328639213}"/>
              </a:ext>
            </a:extLst>
          </p:cNvPr>
          <p:cNvSpPr/>
          <p:nvPr/>
        </p:nvSpPr>
        <p:spPr>
          <a:xfrm>
            <a:off x="0" y="0"/>
            <a:ext cx="12192000" cy="8940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noProof="1">
                <a:solidFill>
                  <a:schemeClr val="bg1"/>
                </a:solidFill>
              </a:rPr>
              <a:t>Message Queues</a:t>
            </a:r>
          </a:p>
        </p:txBody>
      </p:sp>
      <p:sp>
        <p:nvSpPr>
          <p:cNvPr id="2" name="Cylinder 1">
            <a:extLst>
              <a:ext uri="{FF2B5EF4-FFF2-40B4-BE49-F238E27FC236}">
                <a16:creationId xmlns:a16="http://schemas.microsoft.com/office/drawing/2014/main" id="{E4ECBF57-6987-8D73-38AD-F3EF242B6C8A}"/>
              </a:ext>
            </a:extLst>
          </p:cNvPr>
          <p:cNvSpPr/>
          <p:nvPr/>
        </p:nvSpPr>
        <p:spPr>
          <a:xfrm rot="5400000">
            <a:off x="5327514" y="1508243"/>
            <a:ext cx="1536970" cy="455254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148872-4225-0228-7808-32B9605D0696}"/>
              </a:ext>
            </a:extLst>
          </p:cNvPr>
          <p:cNvSpPr/>
          <p:nvPr/>
        </p:nvSpPr>
        <p:spPr>
          <a:xfrm>
            <a:off x="599814" y="1783106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 1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75F32E6-7DA4-8F26-EA76-1EB591A9F89D}"/>
              </a:ext>
            </a:extLst>
          </p:cNvPr>
          <p:cNvSpPr/>
          <p:nvPr/>
        </p:nvSpPr>
        <p:spPr>
          <a:xfrm>
            <a:off x="599814" y="3327316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 2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4A20DD2-DACA-3C3A-E316-BE144879DB71}"/>
              </a:ext>
            </a:extLst>
          </p:cNvPr>
          <p:cNvSpPr/>
          <p:nvPr/>
        </p:nvSpPr>
        <p:spPr>
          <a:xfrm>
            <a:off x="599814" y="4871526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 3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C6D31F-F4F7-75B1-4F79-9C6819DE218D}"/>
              </a:ext>
            </a:extLst>
          </p:cNvPr>
          <p:cNvSpPr/>
          <p:nvPr/>
        </p:nvSpPr>
        <p:spPr>
          <a:xfrm>
            <a:off x="9553314" y="1783106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1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EE3C12-96EC-E68D-F35B-4F901151E55B}"/>
              </a:ext>
            </a:extLst>
          </p:cNvPr>
          <p:cNvSpPr/>
          <p:nvPr/>
        </p:nvSpPr>
        <p:spPr>
          <a:xfrm>
            <a:off x="9553314" y="3327316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2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BDE1BE4-3BF5-BFFD-D1E4-39EBA3A5B6F3}"/>
              </a:ext>
            </a:extLst>
          </p:cNvPr>
          <p:cNvSpPr/>
          <p:nvPr/>
        </p:nvSpPr>
        <p:spPr>
          <a:xfrm>
            <a:off x="9553314" y="4871526"/>
            <a:ext cx="18288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 3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FAFF7E-6293-8CB8-2764-53911FABC112}"/>
              </a:ext>
            </a:extLst>
          </p:cNvPr>
          <p:cNvSpPr txBox="1"/>
          <p:nvPr/>
        </p:nvSpPr>
        <p:spPr>
          <a:xfrm flipH="1">
            <a:off x="562775" y="1182760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PRODUCER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F5D279-B862-F082-75EC-0B0D2AC2F119}"/>
              </a:ext>
            </a:extLst>
          </p:cNvPr>
          <p:cNvSpPr txBox="1"/>
          <p:nvPr/>
        </p:nvSpPr>
        <p:spPr>
          <a:xfrm flipH="1">
            <a:off x="9516275" y="1182760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CONSUMER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20487DB-9F1F-7630-CFEB-0388E78A8C54}"/>
              </a:ext>
            </a:extLst>
          </p:cNvPr>
          <p:cNvCxnSpPr>
            <a:cxnSpLocks/>
            <a:stCxn id="9" idx="3"/>
            <a:endCxn id="2" idx="3"/>
          </p:cNvCxnSpPr>
          <p:nvPr/>
        </p:nvCxnSpPr>
        <p:spPr>
          <a:xfrm>
            <a:off x="2428614" y="2240306"/>
            <a:ext cx="1391113" cy="15442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0692641-BFAF-071F-79B2-D88C5736120C}"/>
              </a:ext>
            </a:extLst>
          </p:cNvPr>
          <p:cNvCxnSpPr>
            <a:cxnSpLocks/>
            <a:stCxn id="10" idx="3"/>
            <a:endCxn id="2" idx="3"/>
          </p:cNvCxnSpPr>
          <p:nvPr/>
        </p:nvCxnSpPr>
        <p:spPr>
          <a:xfrm flipV="1">
            <a:off x="2428614" y="3784515"/>
            <a:ext cx="1279786" cy="1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94E8052-AF52-5FBD-F7FA-F0BFFDA3B231}"/>
              </a:ext>
            </a:extLst>
          </p:cNvPr>
          <p:cNvCxnSpPr>
            <a:cxnSpLocks/>
            <a:stCxn id="11" idx="3"/>
            <a:endCxn id="2" idx="3"/>
          </p:cNvCxnSpPr>
          <p:nvPr/>
        </p:nvCxnSpPr>
        <p:spPr>
          <a:xfrm flipV="1">
            <a:off x="2428614" y="3784516"/>
            <a:ext cx="1391113" cy="15442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D8A8988-B926-B9DB-A970-6E4CC96C4253}"/>
              </a:ext>
            </a:extLst>
          </p:cNvPr>
          <p:cNvCxnSpPr>
            <a:cxnSpLocks/>
            <a:stCxn id="2" idx="1"/>
            <a:endCxn id="12" idx="1"/>
          </p:cNvCxnSpPr>
          <p:nvPr/>
        </p:nvCxnSpPr>
        <p:spPr>
          <a:xfrm flipV="1">
            <a:off x="8372272" y="2240306"/>
            <a:ext cx="1181042" cy="15442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1C17FCE0-5D4D-3524-4D84-56C04AA56CA8}"/>
              </a:ext>
            </a:extLst>
          </p:cNvPr>
          <p:cNvCxnSpPr>
            <a:cxnSpLocks/>
            <a:stCxn id="2" idx="1"/>
            <a:endCxn id="18" idx="1"/>
          </p:cNvCxnSpPr>
          <p:nvPr/>
        </p:nvCxnSpPr>
        <p:spPr>
          <a:xfrm>
            <a:off x="8372272" y="3784516"/>
            <a:ext cx="1181042" cy="154421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EF1BE1E5-9025-3CA0-66BE-36C04645EB6F}"/>
              </a:ext>
            </a:extLst>
          </p:cNvPr>
          <p:cNvCxnSpPr>
            <a:cxnSpLocks/>
            <a:stCxn id="2" idx="1"/>
            <a:endCxn id="13" idx="1"/>
          </p:cNvCxnSpPr>
          <p:nvPr/>
        </p:nvCxnSpPr>
        <p:spPr>
          <a:xfrm>
            <a:off x="8372272" y="3784516"/>
            <a:ext cx="1181042" cy="12700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4014EE9-1D7C-63B5-FCAE-0C15C206157A}"/>
              </a:ext>
            </a:extLst>
          </p:cNvPr>
          <p:cNvSpPr txBox="1"/>
          <p:nvPr/>
        </p:nvSpPr>
        <p:spPr>
          <a:xfrm flipH="1">
            <a:off x="4993381" y="4773986"/>
            <a:ext cx="1902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TOPIC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B5197BB-92F1-006D-BFCA-FE2EC67B1EAA}"/>
              </a:ext>
            </a:extLst>
          </p:cNvPr>
          <p:cNvSpPr/>
          <p:nvPr/>
        </p:nvSpPr>
        <p:spPr>
          <a:xfrm>
            <a:off x="238051" y="127000"/>
            <a:ext cx="640080" cy="64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05</a:t>
            </a:r>
          </a:p>
        </p:txBody>
      </p:sp>
      <p:pic>
        <p:nvPicPr>
          <p:cNvPr id="50" name="Graphic 49" descr="Database with solid fill">
            <a:extLst>
              <a:ext uri="{FF2B5EF4-FFF2-40B4-BE49-F238E27FC236}">
                <a16:creationId xmlns:a16="http://schemas.microsoft.com/office/drawing/2014/main" id="{D2AAEB2E-5FA2-CE25-B5D2-E55E9C8FB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163220" y="6602118"/>
            <a:ext cx="817555" cy="965199"/>
          </a:xfrm>
          <a:prstGeom prst="rect">
            <a:avLst/>
          </a:prstGeom>
        </p:spPr>
      </p:pic>
      <p:pic>
        <p:nvPicPr>
          <p:cNvPr id="51" name="Graphic 50" descr="Monitor with solid fill">
            <a:extLst>
              <a:ext uri="{FF2B5EF4-FFF2-40B4-BE49-F238E27FC236}">
                <a16:creationId xmlns:a16="http://schemas.microsoft.com/office/drawing/2014/main" id="{5E6A2651-555D-ED63-C5BD-CAF4F60E2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163220" y="-1144884"/>
            <a:ext cx="817555" cy="965199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2006BA2D-D6D9-E33F-5CBB-DDCF9DF815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3420" y="-838199"/>
            <a:ext cx="965199" cy="965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03FB6B-E2D0-8797-A0FD-E87B5E954E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15" y="1737710"/>
            <a:ext cx="959798" cy="959796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28A3CAA-BB6A-36DB-B704-B20F0A3E95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28" y="3304617"/>
            <a:ext cx="959798" cy="95979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77133BDF-49DE-AD01-7EFF-3C0E0F214B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28" y="4777848"/>
            <a:ext cx="959798" cy="959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A20BCB-7EE5-5502-3EE8-FB21E5F81D2A}"/>
              </a:ext>
            </a:extLst>
          </p:cNvPr>
          <p:cNvSpPr txBox="1"/>
          <p:nvPr/>
        </p:nvSpPr>
        <p:spPr>
          <a:xfrm>
            <a:off x="3488897" y="1105556"/>
            <a:ext cx="5214208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Pour gérer l’asynchronisme et découpler les composants, on utilise des files d’attente de messages. </a:t>
            </a:r>
          </a:p>
        </p:txBody>
      </p:sp>
    </p:spTree>
    <p:extLst>
      <p:ext uri="{BB962C8B-B14F-4D97-AF65-F5344CB8AC3E}">
        <p14:creationId xmlns:p14="http://schemas.microsoft.com/office/powerpoint/2010/main" val="238427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39 0.00069 L 0.12995 0.00255 L 0.13203 0.22662 L 0.47474 0.22662 " pathEditMode="relative" ptsTypes="AA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0231 L 0.37396 -0.00231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3.33333E-6 L 0.13229 0.0074 L 0.13229 -0.21852 L 0.27708 -0.21667 " pathEditMode="relative" rAng="0" ptsTypes="AAAA">
                                      <p:cBhvr>
                                        <p:cTn id="2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10" y="-10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 descr="Handshake with solid fill">
            <a:extLst>
              <a:ext uri="{FF2B5EF4-FFF2-40B4-BE49-F238E27FC236}">
                <a16:creationId xmlns:a16="http://schemas.microsoft.com/office/drawing/2014/main" id="{07D0BED9-E869-A9F9-D60E-B634E68A8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5319" y="1616638"/>
            <a:ext cx="5241362" cy="5241362"/>
          </a:xfrm>
          <a:prstGeom prst="rect">
            <a:avLst/>
          </a:prstGeom>
        </p:spPr>
      </p:pic>
      <p:sp>
        <p:nvSpPr>
          <p:cNvPr id="41" name="Title 40">
            <a:extLst>
              <a:ext uri="{FF2B5EF4-FFF2-40B4-BE49-F238E27FC236}">
                <a16:creationId xmlns:a16="http://schemas.microsoft.com/office/drawing/2014/main" id="{61728FC9-BD0E-6956-CC4F-EF2B3602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819400"/>
          </a:xfrm>
        </p:spPr>
        <p:txBody>
          <a:bodyPr>
            <a:normAutofit/>
          </a:bodyPr>
          <a:lstStyle/>
          <a:p>
            <a:r>
              <a:rPr lang="en-US" sz="13800" b="1" dirty="0">
                <a:solidFill>
                  <a:schemeClr val="tx1"/>
                </a:solidFill>
              </a:rPr>
              <a:t>Merci !</a:t>
            </a:r>
          </a:p>
        </p:txBody>
      </p:sp>
    </p:spTree>
    <p:extLst>
      <p:ext uri="{BB962C8B-B14F-4D97-AF65-F5344CB8AC3E}">
        <p14:creationId xmlns:p14="http://schemas.microsoft.com/office/powerpoint/2010/main" val="1738942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9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6|5|5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8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7|7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7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4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3263</TotalTime>
  <Words>1583</Words>
  <Application>Microsoft Office PowerPoint</Application>
  <PresentationFormat>Widescreen</PresentationFormat>
  <Paragraphs>322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Calisto MT</vt:lpstr>
      <vt:lpstr>quote-cjk-patch</vt:lpstr>
      <vt:lpstr>system-ui</vt:lpstr>
      <vt:lpstr>Wingdings 2</vt:lpstr>
      <vt:lpstr>Slate</vt:lpstr>
      <vt:lpstr>Aperçu Pratique De La Conception De Systèmes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BELKADI HAMZA</dc:creator>
  <cp:lastModifiedBy>BELKADI HAMZA</cp:lastModifiedBy>
  <cp:revision>9</cp:revision>
  <dcterms:created xsi:type="dcterms:W3CDTF">2025-12-15T16:39:02Z</dcterms:created>
  <dcterms:modified xsi:type="dcterms:W3CDTF">2025-12-25T16:10:55Z</dcterms:modified>
</cp:coreProperties>
</file>