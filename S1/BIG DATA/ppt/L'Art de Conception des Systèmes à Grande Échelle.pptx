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tags/tag2.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tags/tag4.xml" ContentType="application/vnd.openxmlformats-officedocument.presentationml.tags+xml"/>
  <Override PartName="/ppt/notesSlides/notesSlide9.xml" ContentType="application/vnd.openxmlformats-officedocument.presentationml.notesSlide+xml"/>
  <Override PartName="/ppt/tags/tag5.xml" ContentType="application/vnd.openxmlformats-officedocument.presentationml.tags+xml"/>
  <Override PartName="/ppt/notesSlides/notesSlide10.xml" ContentType="application/vnd.openxmlformats-officedocument.presentationml.notesSlide+xml"/>
  <Override PartName="/ppt/tags/tag6.xml" ContentType="application/vnd.openxmlformats-officedocument.presentationml.tags+xml"/>
  <Override PartName="/ppt/notesSlides/notesSlide11.xml" ContentType="application/vnd.openxmlformats-officedocument.presentationml.notesSlide+xml"/>
  <Override PartName="/ppt/tags/tag7.xml" ContentType="application/vnd.openxmlformats-officedocument.presentationml.tags+xml"/>
  <Override PartName="/ppt/notesSlides/notesSlide12.xml" ContentType="application/vnd.openxmlformats-officedocument.presentationml.notesSlide+xml"/>
  <Override PartName="/ppt/tags/tag8.xml" ContentType="application/vnd.openxmlformats-officedocument.presentationml.tags+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Lst>
  <p:notesMasterIdLst>
    <p:notesMasterId r:id="rId18"/>
  </p:notesMasterIdLst>
  <p:handoutMasterIdLst>
    <p:handoutMasterId r:id="rId19"/>
  </p:handoutMasterIdLst>
  <p:sldIdLst>
    <p:sldId id="352" r:id="rId4"/>
    <p:sldId id="358" r:id="rId5"/>
    <p:sldId id="353" r:id="rId6"/>
    <p:sldId id="359" r:id="rId7"/>
    <p:sldId id="360" r:id="rId8"/>
    <p:sldId id="361" r:id="rId9"/>
    <p:sldId id="363" r:id="rId10"/>
    <p:sldId id="364" r:id="rId11"/>
    <p:sldId id="367" r:id="rId12"/>
    <p:sldId id="366" r:id="rId13"/>
    <p:sldId id="368" r:id="rId14"/>
    <p:sldId id="369" r:id="rId15"/>
    <p:sldId id="371" r:id="rId16"/>
    <p:sldId id="34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ECEC"/>
    <a:srgbClr val="006693"/>
    <a:srgbClr val="353938"/>
    <a:srgbClr val="FBBD00"/>
    <a:srgbClr val="D20014"/>
    <a:srgbClr val="39AE41"/>
    <a:srgbClr val="1877F2"/>
    <a:srgbClr val="47A3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7749" autoAdjust="0"/>
  </p:normalViewPr>
  <p:slideViewPr>
    <p:cSldViewPr snapToGrid="0" showGuides="1">
      <p:cViewPr varScale="1">
        <p:scale>
          <a:sx n="63" d="100"/>
          <a:sy n="63" d="100"/>
        </p:scale>
        <p:origin x="804" y="56"/>
      </p:cViewPr>
      <p:guideLst>
        <p:guide orient="horz" pos="2184"/>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handoutMaster" Target="handoutMasters/handout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E71141-44F9-24B3-D285-CA6C9CF4CC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92C9398-F5BA-96C8-6D54-AF1F929130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CBB7F87-21ED-43BA-A09F-B779BF700C58}" type="datetimeFigureOut">
              <a:rPr lang="en-US" smtClean="0"/>
              <a:t>1/8/2026</a:t>
            </a:fld>
            <a:endParaRPr lang="en-US"/>
          </a:p>
        </p:txBody>
      </p:sp>
      <p:sp>
        <p:nvSpPr>
          <p:cNvPr id="4" name="Footer Placeholder 3">
            <a:extLst>
              <a:ext uri="{FF2B5EF4-FFF2-40B4-BE49-F238E27FC236}">
                <a16:creationId xmlns:a16="http://schemas.microsoft.com/office/drawing/2014/main" id="{3D5E5074-9A8E-0252-9451-95DA67B7824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EACEA8-BD8E-4799-F65E-CE70F9E188D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D5B43E3-9F43-4F52-8B4F-D34B3DC376D6}" type="slidenum">
              <a:rPr lang="en-US" smtClean="0"/>
              <a:t>‹#›</a:t>
            </a:fld>
            <a:endParaRPr lang="en-US"/>
          </a:p>
        </p:txBody>
      </p:sp>
    </p:spTree>
    <p:extLst>
      <p:ext uri="{BB962C8B-B14F-4D97-AF65-F5344CB8AC3E}">
        <p14:creationId xmlns:p14="http://schemas.microsoft.com/office/powerpoint/2010/main" val="2947551384"/>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06897" units="1/cm"/>
          <inkml:channelProperty channel="T" name="resolution" value="1" units="1/dev"/>
        </inkml:channelProperties>
      </inkml:inkSource>
      <inkml:timestamp xml:id="ts0" timeString="2026-01-07T16:34:17.493"/>
    </inkml:context>
    <inkml:brush xml:id="br0">
      <inkml:brushProperty name="width" value="0.05292" units="cm"/>
      <inkml:brushProperty name="height" value="0.05292" units="cm"/>
      <inkml:brushProperty name="color" value="#FF0000"/>
    </inkml:brush>
  </inkml:definitions>
  <inkml:trace contextRef="#ctx0" brushRef="#br0">19533 12988 0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AAF045-FEF6-43EA-9CDC-C84FC3F85E9C}" type="datetimeFigureOut">
              <a:rPr lang="en-US" smtClean="0"/>
              <a:t>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2F1279-6CE4-4169-83D3-4483097B6907}" type="slidenum">
              <a:rPr lang="en-US" smtClean="0"/>
              <a:t>‹#›</a:t>
            </a:fld>
            <a:endParaRPr lang="en-US"/>
          </a:p>
        </p:txBody>
      </p:sp>
    </p:spTree>
    <p:extLst>
      <p:ext uri="{BB962C8B-B14F-4D97-AF65-F5344CB8AC3E}">
        <p14:creationId xmlns:p14="http://schemas.microsoft.com/office/powerpoint/2010/main" val="1405589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Bonjour à tous. Je suis Belkadi Hamza, et je suis ravi de vous présenter aujourd'hui mon travail sur la conception de systèmes à grande échelle. Ce sujet est de plus en plus crucial dans le monde numérique actuel, et nous allons explorer à la fois les fondements théoriques et les défis pratiques.</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1</a:t>
            </a:fld>
            <a:endParaRPr lang="en-US"/>
          </a:p>
        </p:txBody>
      </p:sp>
    </p:spTree>
    <p:extLst>
      <p:ext uri="{BB962C8B-B14F-4D97-AF65-F5344CB8AC3E}">
        <p14:creationId xmlns:p14="http://schemas.microsoft.com/office/powerpoint/2010/main" val="814026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La question centrale qui motive ce travail est : comment concevoir des systèmes capables de gérer des échelles massives, comme celles que nous voyons avec des entreprises comme Netflix, Facebook, WhatsApp et Google ? Ces chiffres sont incroyables, et ils posent des défis d'ingénierie considérables. Nous devons garantir que ces systèmes restent rapides, fiables et capables de s'adapter à une croissance continue.</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2</a:t>
            </a:fld>
            <a:endParaRPr lang="en-US"/>
          </a:p>
        </p:txBody>
      </p:sp>
    </p:spTree>
    <p:extLst>
      <p:ext uri="{BB962C8B-B14F-4D97-AF65-F5344CB8AC3E}">
        <p14:creationId xmlns:p14="http://schemas.microsoft.com/office/powerpoint/2010/main" val="3862380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Pour comprendre ces défis, nous allons examiner des architectures réelles et appliquer des principes fondamentaux de conception. Nous verrons des études de cas, et nous explorerons une méthodologie structurée pour aborder ces problèmes.</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3</a:t>
            </a:fld>
            <a:endParaRPr lang="en-US"/>
          </a:p>
        </p:txBody>
      </p:sp>
    </p:spTree>
    <p:extLst>
      <p:ext uri="{BB962C8B-B14F-4D97-AF65-F5344CB8AC3E}">
        <p14:creationId xmlns:p14="http://schemas.microsoft.com/office/powerpoint/2010/main" val="11059786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Illustrons cela avec un exemple concret : le lancement de HealthCare.gov en 2013. Le site a subi un effondrement dès le lancement, avec des temps de réponse excessifs et une disponibilité très faible. Les causes étaient multiples : une mauvaise estimation de la charge, une architecture non évolutive et l'absence de tests de charge adéquats. Le coût de cet échec s'élève à 2 milliards de dollars, sans compter le préjudice à la réputation.</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4</a:t>
            </a:fld>
            <a:endParaRPr lang="en-US"/>
          </a:p>
        </p:txBody>
      </p:sp>
    </p:spTree>
    <p:extLst>
      <p:ext uri="{BB962C8B-B14F-4D97-AF65-F5344CB8AC3E}">
        <p14:creationId xmlns:p14="http://schemas.microsoft.com/office/powerpoint/2010/main" val="2940537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Le processus de conception est itératif et implique plusieurs étapes clés. Il commence par la clarification des exigences, suivi de calculs pour estimer les besoins en ressources. Ensuite, on approfondit la conception, on valide les hypothèses, et on fait des compromis pour tenir compte des contraintes.</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5</a:t>
            </a:fld>
            <a:endParaRPr lang="en-US"/>
          </a:p>
        </p:txBody>
      </p:sp>
    </p:spTree>
    <p:extLst>
      <p:ext uri="{BB962C8B-B14F-4D97-AF65-F5344CB8AC3E}">
        <p14:creationId xmlns:p14="http://schemas.microsoft.com/office/powerpoint/2010/main" val="3693738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Considérons maintenant un exemple plus concret : un raccourcisseur d'URL comme </a:t>
            </a:r>
            <a:r>
              <a:rPr lang="fr-FR" b="0" i="0" dirty="0" err="1">
                <a:solidFill>
                  <a:srgbClr val="E3E3E8"/>
                </a:solidFill>
                <a:effectLst/>
                <a:latin typeface="system-ui"/>
              </a:rPr>
              <a:t>TinyURL</a:t>
            </a:r>
            <a:r>
              <a:rPr lang="fr-FR" b="0" i="0" dirty="0">
                <a:solidFill>
                  <a:srgbClr val="E3E3E8"/>
                </a:solidFill>
                <a:effectLst/>
                <a:latin typeface="system-ui"/>
              </a:rPr>
              <a:t>. Le défi est de gérer un grand nombre de créations et de requêtes tout en maintenant une URL courte et unique. Nous avons des contraintes de données spécifiques, notamment un volume d'écritures important et un ratio de lecture/écriture élevé.</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6</a:t>
            </a:fld>
            <a:endParaRPr lang="en-US"/>
          </a:p>
        </p:txBody>
      </p:sp>
    </p:spTree>
    <p:extLst>
      <p:ext uri="{BB962C8B-B14F-4D97-AF65-F5344CB8AC3E}">
        <p14:creationId xmlns:p14="http://schemas.microsoft.com/office/powerpoint/2010/main" val="3104259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Une approche systématique est essentielle. Nous devons nous poser les bonnes questions dès le début : Quelles sont les fonctionnalités exactes ? Quel niveau de disponibilité est requis ? Comment gérer les collisions d'URL ? Quelle est la latence maximale acceptable ? Les réponses à ces questions guideront les décisions de conception.</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7</a:t>
            </a:fld>
            <a:endParaRPr lang="en-US"/>
          </a:p>
        </p:txBody>
      </p:sp>
    </p:spTree>
    <p:extLst>
      <p:ext uri="{BB962C8B-B14F-4D97-AF65-F5344CB8AC3E}">
        <p14:creationId xmlns:p14="http://schemas.microsoft.com/office/powerpoint/2010/main" val="32793094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Pour illustrer l'ampleur du problème, examinons quelques calculs d'ordre de grandeur. Nous pouvons estimer le stockage nécessaire et le nombre de requêtes par seconde en fonction des contraintes données. Ces calculs nous aident à comprendre les défis d'évolutivité.</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8</a:t>
            </a:fld>
            <a:endParaRPr lang="en-US"/>
          </a:p>
        </p:txBody>
      </p:sp>
    </p:spTree>
    <p:extLst>
      <p:ext uri="{BB962C8B-B14F-4D97-AF65-F5344CB8AC3E}">
        <p14:creationId xmlns:p14="http://schemas.microsoft.com/office/powerpoint/2010/main" val="20166453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Cette slide est une variante pour les écritures. On utilise une base SQL pour la génération de clés uniques et une base NoSQL pour le stockage.</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9</a:t>
            </a:fld>
            <a:endParaRPr lang="en-US"/>
          </a:p>
        </p:txBody>
      </p:sp>
    </p:spTree>
    <p:extLst>
      <p:ext uri="{BB962C8B-B14F-4D97-AF65-F5344CB8AC3E}">
        <p14:creationId xmlns:p14="http://schemas.microsoft.com/office/powerpoint/2010/main" val="40616360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Voici une architecture proposée pour ce système. Elle utilise un équilibreur de charge pour répartir la charge, des serveurs pour traiter les requêtes et une base de données NoSQL pour le stockage. Un cache est utilisé pour améliorer les performances.</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10</a:t>
            </a:fld>
            <a:endParaRPr lang="en-US"/>
          </a:p>
        </p:txBody>
      </p:sp>
    </p:spTree>
    <p:extLst>
      <p:ext uri="{BB962C8B-B14F-4D97-AF65-F5344CB8AC3E}">
        <p14:creationId xmlns:p14="http://schemas.microsoft.com/office/powerpoint/2010/main" val="31211165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Plusieurs algorithmes peuvent être utilisés pour générer des URL courtes. Nous pouvons utiliser le hachage, un compteur séquentiel ou une génération aléatoire. Chaque approche a ses avantages et ses inconvénients. La solution choisie doit être optimisée pour la distribution et la minimisation des collisions.</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11</a:t>
            </a:fld>
            <a:endParaRPr lang="en-US"/>
          </a:p>
        </p:txBody>
      </p:sp>
    </p:spTree>
    <p:extLst>
      <p:ext uri="{BB962C8B-B14F-4D97-AF65-F5344CB8AC3E}">
        <p14:creationId xmlns:p14="http://schemas.microsoft.com/office/powerpoint/2010/main" val="5610544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Pour gérer la charge, nous pouvons utiliser le </a:t>
            </a:r>
            <a:r>
              <a:rPr lang="fr-FR" b="0" i="0" dirty="0" err="1">
                <a:solidFill>
                  <a:srgbClr val="E3E3E8"/>
                </a:solidFill>
                <a:effectLst/>
                <a:latin typeface="system-ui"/>
              </a:rPr>
              <a:t>scaling</a:t>
            </a:r>
            <a:r>
              <a:rPr lang="fr-FR" b="0" i="0" dirty="0">
                <a:solidFill>
                  <a:srgbClr val="E3E3E8"/>
                </a:solidFill>
                <a:effectLst/>
                <a:latin typeface="system-ui"/>
              </a:rPr>
              <a:t> horizontal. Cela implique de diviser les données entre plusieurs machines, de sorte que chaque machine ne gère qu'une partie des URL.</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12</a:t>
            </a:fld>
            <a:endParaRPr lang="en-US"/>
          </a:p>
        </p:txBody>
      </p:sp>
    </p:spTree>
    <p:extLst>
      <p:ext uri="{BB962C8B-B14F-4D97-AF65-F5344CB8AC3E}">
        <p14:creationId xmlns:p14="http://schemas.microsoft.com/office/powerpoint/2010/main" val="25622556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fr-FR" b="0" i="0" dirty="0">
                <a:solidFill>
                  <a:srgbClr val="E3E3E8"/>
                </a:solidFill>
                <a:effectLst/>
                <a:latin typeface="system-ui"/>
              </a:rPr>
              <a:t>Pour assurer la qualité du système, nous devons mesurer les performances. Les métriques techniques incluent la latence, le débit et la disponibilité. Les métriques métier incluent le taux de succès du cache, le nombre d'URL créées quotidiennement et le taux de croissance des utilisateurs.</a:t>
            </a:r>
          </a:p>
        </p:txBody>
      </p:sp>
      <p:sp>
        <p:nvSpPr>
          <p:cNvPr id="4" name="Slide Number Placeholder 3"/>
          <p:cNvSpPr>
            <a:spLocks noGrp="1"/>
          </p:cNvSpPr>
          <p:nvPr>
            <p:ph type="sldNum" sz="quarter" idx="5"/>
          </p:nvPr>
        </p:nvSpPr>
        <p:spPr/>
        <p:txBody>
          <a:bodyPr/>
          <a:lstStyle/>
          <a:p>
            <a:fld id="{652F1279-6CE4-4169-83D3-4483097B6907}" type="slidenum">
              <a:rPr lang="en-US" smtClean="0"/>
              <a:t>13</a:t>
            </a:fld>
            <a:endParaRPr lang="en-US"/>
          </a:p>
        </p:txBody>
      </p:sp>
    </p:spTree>
    <p:extLst>
      <p:ext uri="{BB962C8B-B14F-4D97-AF65-F5344CB8AC3E}">
        <p14:creationId xmlns:p14="http://schemas.microsoft.com/office/powerpoint/2010/main" val="321836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b="0" i="0" dirty="0">
                <a:solidFill>
                  <a:srgbClr val="E3E3E8"/>
                </a:solidFill>
                <a:effectLst/>
                <a:latin typeface="system-ui"/>
              </a:rPr>
              <a:t>C'est tout pour ma présentation. Je vous remercie de votre attention.</a:t>
            </a:r>
            <a:endParaRPr lang="en-US" dirty="0"/>
          </a:p>
        </p:txBody>
      </p:sp>
      <p:sp>
        <p:nvSpPr>
          <p:cNvPr id="4" name="Slide Number Placeholder 3"/>
          <p:cNvSpPr>
            <a:spLocks noGrp="1"/>
          </p:cNvSpPr>
          <p:nvPr>
            <p:ph type="sldNum" sz="quarter" idx="5"/>
          </p:nvPr>
        </p:nvSpPr>
        <p:spPr/>
        <p:txBody>
          <a:bodyPr/>
          <a:lstStyle/>
          <a:p>
            <a:fld id="{652F1279-6CE4-4169-83D3-4483097B6907}" type="slidenum">
              <a:rPr lang="en-US" smtClean="0"/>
              <a:t>14</a:t>
            </a:fld>
            <a:endParaRPr lang="en-US"/>
          </a:p>
        </p:txBody>
      </p:sp>
    </p:spTree>
    <p:extLst>
      <p:ext uri="{BB962C8B-B14F-4D97-AF65-F5344CB8AC3E}">
        <p14:creationId xmlns:p14="http://schemas.microsoft.com/office/powerpoint/2010/main" val="31886681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CD365AF-3B09-5CEF-6E99-D4093DEB7273}"/>
              </a:ext>
            </a:extLst>
          </p:cNvPr>
          <p:cNvSpPr/>
          <p:nvPr userDrawn="1"/>
        </p:nvSpPr>
        <p:spPr>
          <a:xfrm>
            <a:off x="0" y="1168400"/>
            <a:ext cx="12192000" cy="5686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7" name="그림 개체 틀 6">
            <a:extLst>
              <a:ext uri="{FF2B5EF4-FFF2-40B4-BE49-F238E27FC236}">
                <a16:creationId xmlns:a16="http://schemas.microsoft.com/office/drawing/2014/main" id="{3A2E1274-C3E3-4B23-81C6-2ADDC2D22531}"/>
              </a:ext>
            </a:extLst>
          </p:cNvPr>
          <p:cNvSpPr>
            <a:spLocks noGrp="1"/>
          </p:cNvSpPr>
          <p:nvPr>
            <p:ph type="pic" sz="quarter" idx="14" hasCustomPrompt="1"/>
          </p:nvPr>
        </p:nvSpPr>
        <p:spPr>
          <a:xfrm>
            <a:off x="5140214" y="354163"/>
            <a:ext cx="1920975" cy="2212003"/>
          </a:xfrm>
          <a:custGeom>
            <a:avLst/>
            <a:gdLst>
              <a:gd name="connsiteX0" fmla="*/ 1525548 w 3062106"/>
              <a:gd name="connsiteY0" fmla="*/ 0 h 3526016"/>
              <a:gd name="connsiteX1" fmla="*/ 3060615 w 3062106"/>
              <a:gd name="connsiteY1" fmla="*/ 886272 h 3526016"/>
              <a:gd name="connsiteX2" fmla="*/ 3062106 w 3062106"/>
              <a:gd name="connsiteY2" fmla="*/ 2646962 h 3526016"/>
              <a:gd name="connsiteX3" fmla="*/ 1536558 w 3062106"/>
              <a:gd name="connsiteY3" fmla="*/ 3526016 h 3526016"/>
              <a:gd name="connsiteX4" fmla="*/ 1491 w 3062106"/>
              <a:gd name="connsiteY4" fmla="*/ 2639745 h 3526016"/>
              <a:gd name="connsiteX5" fmla="*/ 0 w 3062106"/>
              <a:gd name="connsiteY5" fmla="*/ 879054 h 352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2106" h="3526016">
                <a:moveTo>
                  <a:pt x="1525548" y="0"/>
                </a:moveTo>
                <a:lnTo>
                  <a:pt x="3060615" y="886272"/>
                </a:lnTo>
                <a:lnTo>
                  <a:pt x="3062106" y="2646962"/>
                </a:lnTo>
                <a:lnTo>
                  <a:pt x="1536558" y="3526016"/>
                </a:lnTo>
                <a:lnTo>
                  <a:pt x="1491" y="2639745"/>
                </a:lnTo>
                <a:lnTo>
                  <a:pt x="0" y="879054"/>
                </a:lnTo>
                <a:close/>
              </a:path>
            </a:pathLst>
          </a:custGeom>
          <a:solidFill>
            <a:schemeClr val="bg1">
              <a:lumMod val="95000"/>
            </a:schemeClr>
          </a:solidFill>
        </p:spPr>
        <p:txBody>
          <a:bodyPr wrap="square" anchor="ctr">
            <a:noAutofit/>
          </a:bodyPr>
          <a:lstStyle>
            <a:lvl1pPr marL="0" indent="0" algn="ctr">
              <a:buNone/>
              <a:defRPr sz="1200"/>
            </a:lvl1pPr>
          </a:lstStyle>
          <a:p>
            <a:r>
              <a:rPr lang="en-US" altLang="ko-KR" dirty="0"/>
              <a:t>Place Your Picture Here</a:t>
            </a:r>
            <a:endParaRPr lang="ko-KR" altLang="en-US" dirty="0"/>
          </a:p>
        </p:txBody>
      </p:sp>
      <p:sp>
        <p:nvSpPr>
          <p:cNvPr id="8" name="그림 개체 틀 7">
            <a:extLst>
              <a:ext uri="{FF2B5EF4-FFF2-40B4-BE49-F238E27FC236}">
                <a16:creationId xmlns:a16="http://schemas.microsoft.com/office/drawing/2014/main" id="{EEE5FCCE-5336-4B12-AF5E-45A3A142EA4A}"/>
              </a:ext>
            </a:extLst>
          </p:cNvPr>
          <p:cNvSpPr>
            <a:spLocks noGrp="1"/>
          </p:cNvSpPr>
          <p:nvPr>
            <p:ph type="pic" sz="quarter" idx="15" hasCustomPrompt="1"/>
          </p:nvPr>
        </p:nvSpPr>
        <p:spPr>
          <a:xfrm>
            <a:off x="6198388" y="2357502"/>
            <a:ext cx="1920975" cy="2212003"/>
          </a:xfrm>
          <a:custGeom>
            <a:avLst/>
            <a:gdLst>
              <a:gd name="connsiteX0" fmla="*/ 1525548 w 3062106"/>
              <a:gd name="connsiteY0" fmla="*/ 0 h 3526016"/>
              <a:gd name="connsiteX1" fmla="*/ 3060615 w 3062106"/>
              <a:gd name="connsiteY1" fmla="*/ 886272 h 3526016"/>
              <a:gd name="connsiteX2" fmla="*/ 3062106 w 3062106"/>
              <a:gd name="connsiteY2" fmla="*/ 2646962 h 3526016"/>
              <a:gd name="connsiteX3" fmla="*/ 1536558 w 3062106"/>
              <a:gd name="connsiteY3" fmla="*/ 3526016 h 3526016"/>
              <a:gd name="connsiteX4" fmla="*/ 1491 w 3062106"/>
              <a:gd name="connsiteY4" fmla="*/ 2639745 h 3526016"/>
              <a:gd name="connsiteX5" fmla="*/ 0 w 3062106"/>
              <a:gd name="connsiteY5" fmla="*/ 879054 h 352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2106" h="3526016">
                <a:moveTo>
                  <a:pt x="1525548" y="0"/>
                </a:moveTo>
                <a:lnTo>
                  <a:pt x="3060615" y="886272"/>
                </a:lnTo>
                <a:lnTo>
                  <a:pt x="3062106" y="2646962"/>
                </a:lnTo>
                <a:lnTo>
                  <a:pt x="1536558" y="3526016"/>
                </a:lnTo>
                <a:lnTo>
                  <a:pt x="1491" y="2639745"/>
                </a:lnTo>
                <a:lnTo>
                  <a:pt x="0" y="879054"/>
                </a:lnTo>
                <a:close/>
              </a:path>
            </a:pathLst>
          </a:custGeom>
          <a:solidFill>
            <a:schemeClr val="bg1">
              <a:lumMod val="95000"/>
            </a:schemeClr>
          </a:solidFill>
        </p:spPr>
        <p:txBody>
          <a:bodyPr wrap="square" anchor="ctr">
            <a:noAutofit/>
          </a:bodyPr>
          <a:lstStyle>
            <a:lvl1pPr marL="0" indent="0" algn="ctr">
              <a:buNone/>
              <a:defRPr sz="1200"/>
            </a:lvl1pPr>
          </a:lstStyle>
          <a:p>
            <a:r>
              <a:rPr lang="en-US" altLang="ko-KR" dirty="0"/>
              <a:t>Place Your Picture Here</a:t>
            </a:r>
            <a:endParaRPr lang="ko-KR" altLang="en-US" dirty="0"/>
          </a:p>
        </p:txBody>
      </p:sp>
      <p:sp>
        <p:nvSpPr>
          <p:cNvPr id="9" name="그림 개체 틀 8">
            <a:extLst>
              <a:ext uri="{FF2B5EF4-FFF2-40B4-BE49-F238E27FC236}">
                <a16:creationId xmlns:a16="http://schemas.microsoft.com/office/drawing/2014/main" id="{A778ECB7-1E7B-46FD-B9CE-9B5E8E2909CF}"/>
              </a:ext>
            </a:extLst>
          </p:cNvPr>
          <p:cNvSpPr>
            <a:spLocks noGrp="1"/>
          </p:cNvSpPr>
          <p:nvPr>
            <p:ph type="pic" sz="quarter" idx="16" hasCustomPrompt="1"/>
          </p:nvPr>
        </p:nvSpPr>
        <p:spPr>
          <a:xfrm>
            <a:off x="5140214" y="4360841"/>
            <a:ext cx="1920975" cy="2212003"/>
          </a:xfrm>
          <a:custGeom>
            <a:avLst/>
            <a:gdLst>
              <a:gd name="connsiteX0" fmla="*/ 1525548 w 3062106"/>
              <a:gd name="connsiteY0" fmla="*/ 0 h 3526016"/>
              <a:gd name="connsiteX1" fmla="*/ 3060615 w 3062106"/>
              <a:gd name="connsiteY1" fmla="*/ 886272 h 3526016"/>
              <a:gd name="connsiteX2" fmla="*/ 3062106 w 3062106"/>
              <a:gd name="connsiteY2" fmla="*/ 2646962 h 3526016"/>
              <a:gd name="connsiteX3" fmla="*/ 1536558 w 3062106"/>
              <a:gd name="connsiteY3" fmla="*/ 3526016 h 3526016"/>
              <a:gd name="connsiteX4" fmla="*/ 1491 w 3062106"/>
              <a:gd name="connsiteY4" fmla="*/ 2639745 h 3526016"/>
              <a:gd name="connsiteX5" fmla="*/ 0 w 3062106"/>
              <a:gd name="connsiteY5" fmla="*/ 879054 h 3526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62106" h="3526016">
                <a:moveTo>
                  <a:pt x="1525548" y="0"/>
                </a:moveTo>
                <a:lnTo>
                  <a:pt x="3060615" y="886272"/>
                </a:lnTo>
                <a:lnTo>
                  <a:pt x="3062106" y="2646962"/>
                </a:lnTo>
                <a:lnTo>
                  <a:pt x="1536558" y="3526016"/>
                </a:lnTo>
                <a:lnTo>
                  <a:pt x="1491" y="2639745"/>
                </a:lnTo>
                <a:lnTo>
                  <a:pt x="0" y="879054"/>
                </a:lnTo>
                <a:close/>
              </a:path>
            </a:pathLst>
          </a:custGeom>
          <a:solidFill>
            <a:schemeClr val="bg1">
              <a:lumMod val="95000"/>
            </a:schemeClr>
          </a:solidFill>
        </p:spPr>
        <p:txBody>
          <a:bodyPr wrap="square" anchor="ctr">
            <a:noAutofit/>
          </a:bodyPr>
          <a:lstStyle>
            <a:lvl1pPr marL="0" indent="0" algn="ctr">
              <a:buNone/>
              <a:defRPr sz="1200"/>
            </a:lvl1pPr>
          </a:lstStyle>
          <a:p>
            <a:r>
              <a:rPr lang="en-US" altLang="ko-KR" dirty="0"/>
              <a:t>Place 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2" name="Picture Placeholder 248">
            <a:extLst>
              <a:ext uri="{FF2B5EF4-FFF2-40B4-BE49-F238E27FC236}">
                <a16:creationId xmlns:a16="http://schemas.microsoft.com/office/drawing/2014/main" id="{97261BDD-8C56-4CFD-A5A6-4A57DD1C6C87}"/>
              </a:ext>
            </a:extLst>
          </p:cNvPr>
          <p:cNvSpPr>
            <a:spLocks noGrp="1"/>
          </p:cNvSpPr>
          <p:nvPr>
            <p:ph type="pic" idx="11" hasCustomPrompt="1"/>
          </p:nvPr>
        </p:nvSpPr>
        <p:spPr>
          <a:xfrm>
            <a:off x="0" y="0"/>
            <a:ext cx="12191999" cy="6858000"/>
          </a:xfrm>
          <a:custGeom>
            <a:avLst/>
            <a:gdLst>
              <a:gd name="connsiteX0" fmla="*/ 10699779 w 12191999"/>
              <a:gd name="connsiteY0" fmla="*/ 6099402 h 6858000"/>
              <a:gd name="connsiteX1" fmla="*/ 10700365 w 12191999"/>
              <a:gd name="connsiteY1" fmla="*/ 6104567 h 6858000"/>
              <a:gd name="connsiteX2" fmla="*/ 10702406 w 12191999"/>
              <a:gd name="connsiteY2" fmla="*/ 6099903 h 6858000"/>
              <a:gd name="connsiteX3" fmla="*/ 9177921 w 12191999"/>
              <a:gd name="connsiteY3" fmla="*/ 6098901 h 6858000"/>
              <a:gd name="connsiteX4" fmla="*/ 9178505 w 12191999"/>
              <a:gd name="connsiteY4" fmla="*/ 6100344 h 6858000"/>
              <a:gd name="connsiteX5" fmla="*/ 9178605 w 12191999"/>
              <a:gd name="connsiteY5" fmla="*/ 6102927 h 6858000"/>
              <a:gd name="connsiteX6" fmla="*/ 9183635 w 12191999"/>
              <a:gd name="connsiteY6" fmla="*/ 6102927 h 6858000"/>
              <a:gd name="connsiteX7" fmla="*/ 9185303 w 12191999"/>
              <a:gd name="connsiteY7" fmla="*/ 6100308 h 6858000"/>
              <a:gd name="connsiteX8" fmla="*/ 5342410 w 12191999"/>
              <a:gd name="connsiteY8" fmla="*/ 5330181 h 6858000"/>
              <a:gd name="connsiteX9" fmla="*/ 5338269 w 12191999"/>
              <a:gd name="connsiteY9" fmla="*/ 5332661 h 6858000"/>
              <a:gd name="connsiteX10" fmla="*/ 5322064 w 12191999"/>
              <a:gd name="connsiteY10" fmla="*/ 5334006 h 6858000"/>
              <a:gd name="connsiteX11" fmla="*/ 5335111 w 12191999"/>
              <a:gd name="connsiteY11" fmla="*/ 5336578 h 6858000"/>
              <a:gd name="connsiteX12" fmla="*/ 5337848 w 12191999"/>
              <a:gd name="connsiteY12" fmla="*/ 5340523 h 6858000"/>
              <a:gd name="connsiteX13" fmla="*/ 5338130 w 12191999"/>
              <a:gd name="connsiteY13" fmla="*/ 5335883 h 6858000"/>
              <a:gd name="connsiteX14" fmla="*/ 11820900 w 12191999"/>
              <a:gd name="connsiteY14" fmla="*/ 4311166 h 6858000"/>
              <a:gd name="connsiteX15" fmla="*/ 11955244 w 12191999"/>
              <a:gd name="connsiteY15" fmla="*/ 4373182 h 6858000"/>
              <a:gd name="connsiteX16" fmla="*/ 11941805 w 12191999"/>
              <a:gd name="connsiteY16" fmla="*/ 4490463 h 6858000"/>
              <a:gd name="connsiteX17" fmla="*/ 11911265 w 12191999"/>
              <a:gd name="connsiteY17" fmla="*/ 4531997 h 6858000"/>
              <a:gd name="connsiteX18" fmla="*/ 11974790 w 12191999"/>
              <a:gd name="connsiteY18" fmla="*/ 4572310 h 6858000"/>
              <a:gd name="connsiteX19" fmla="*/ 12175141 w 12191999"/>
              <a:gd name="connsiteY19" fmla="*/ 4571090 h 6858000"/>
              <a:gd name="connsiteX20" fmla="*/ 12191999 w 12191999"/>
              <a:gd name="connsiteY20" fmla="*/ 4574294 h 6858000"/>
              <a:gd name="connsiteX21" fmla="*/ 12191999 w 12191999"/>
              <a:gd name="connsiteY21" fmla="*/ 5337457 h 6858000"/>
              <a:gd name="connsiteX22" fmla="*/ 12177584 w 12191999"/>
              <a:gd name="connsiteY22" fmla="*/ 5340730 h 6858000"/>
              <a:gd name="connsiteX23" fmla="*/ 11982120 w 12191999"/>
              <a:gd name="connsiteY23" fmla="*/ 5339507 h 6858000"/>
              <a:gd name="connsiteX24" fmla="*/ 11928367 w 12191999"/>
              <a:gd name="connsiteY24" fmla="*/ 5354166 h 6858000"/>
              <a:gd name="connsiteX25" fmla="*/ 11927145 w 12191999"/>
              <a:gd name="connsiteY25" fmla="*/ 5409142 h 6858000"/>
              <a:gd name="connsiteX26" fmla="*/ 11971125 w 12191999"/>
              <a:gd name="connsiteY26" fmla="*/ 5504430 h 6858000"/>
              <a:gd name="connsiteX27" fmla="*/ 11873393 w 12191999"/>
              <a:gd name="connsiteY27" fmla="*/ 5592389 h 6858000"/>
              <a:gd name="connsiteX28" fmla="*/ 11703584 w 12191999"/>
              <a:gd name="connsiteY28" fmla="*/ 5530084 h 6858000"/>
              <a:gd name="connsiteX29" fmla="*/ 11723129 w 12191999"/>
              <a:gd name="connsiteY29" fmla="*/ 5417694 h 6858000"/>
              <a:gd name="connsiteX30" fmla="*/ 11751228 w 12191999"/>
              <a:gd name="connsiteY30" fmla="*/ 5374936 h 6858000"/>
              <a:gd name="connsiteX31" fmla="*/ 11690146 w 12191999"/>
              <a:gd name="connsiteY31" fmla="*/ 5338287 h 6858000"/>
              <a:gd name="connsiteX32" fmla="*/ 11489795 w 12191999"/>
              <a:gd name="connsiteY32" fmla="*/ 5339507 h 6858000"/>
              <a:gd name="connsiteX33" fmla="*/ 11447036 w 12191999"/>
              <a:gd name="connsiteY33" fmla="*/ 5295528 h 6858000"/>
              <a:gd name="connsiteX34" fmla="*/ 11449481 w 12191999"/>
              <a:gd name="connsiteY34" fmla="*/ 5202683 h 6858000"/>
              <a:gd name="connsiteX35" fmla="*/ 11449481 w 12191999"/>
              <a:gd name="connsiteY35" fmla="*/ 5092735 h 6858000"/>
              <a:gd name="connsiteX36" fmla="*/ 11492238 w 12191999"/>
              <a:gd name="connsiteY36" fmla="*/ 5018215 h 6858000"/>
              <a:gd name="connsiteX37" fmla="*/ 11545990 w 12191999"/>
              <a:gd name="connsiteY37" fmla="*/ 5025544 h 6858000"/>
              <a:gd name="connsiteX38" fmla="*/ 11668156 w 12191999"/>
              <a:gd name="connsiteY38" fmla="*/ 5051198 h 6858000"/>
              <a:gd name="connsiteX39" fmla="*/ 11682816 w 12191999"/>
              <a:gd name="connsiteY39" fmla="*/ 4877723 h 6858000"/>
              <a:gd name="connsiteX40" fmla="*/ 11555765 w 12191999"/>
              <a:gd name="connsiteY40" fmla="*/ 4874058 h 6858000"/>
              <a:gd name="connsiteX41" fmla="*/ 11508120 w 12191999"/>
              <a:gd name="connsiteY41" fmla="*/ 4902158 h 6858000"/>
              <a:gd name="connsiteX42" fmla="*/ 11450701 w 12191999"/>
              <a:gd name="connsiteY42" fmla="*/ 4839852 h 6858000"/>
              <a:gd name="connsiteX43" fmla="*/ 11448258 w 12191999"/>
              <a:gd name="connsiteY43" fmla="*/ 4591857 h 6858000"/>
              <a:gd name="connsiteX44" fmla="*/ 11477578 w 12191999"/>
              <a:gd name="connsiteY44" fmla="*/ 4573534 h 6858000"/>
              <a:gd name="connsiteX45" fmla="*/ 11677929 w 12191999"/>
              <a:gd name="connsiteY45" fmla="*/ 4573534 h 6858000"/>
              <a:gd name="connsiteX46" fmla="*/ 11728016 w 12191999"/>
              <a:gd name="connsiteY46" fmla="*/ 4562539 h 6858000"/>
              <a:gd name="connsiteX47" fmla="*/ 11735346 w 12191999"/>
              <a:gd name="connsiteY47" fmla="*/ 4500233 h 6858000"/>
              <a:gd name="connsiteX48" fmla="*/ 11768331 w 12191999"/>
              <a:gd name="connsiteY48" fmla="*/ 4323095 h 6858000"/>
              <a:gd name="connsiteX49" fmla="*/ 11820900 w 12191999"/>
              <a:gd name="connsiteY49" fmla="*/ 4311166 h 6858000"/>
              <a:gd name="connsiteX50" fmla="*/ 5742911 w 12191999"/>
              <a:gd name="connsiteY50" fmla="*/ 3557222 h 6858000"/>
              <a:gd name="connsiteX51" fmla="*/ 5851336 w 12191999"/>
              <a:gd name="connsiteY51" fmla="*/ 3613963 h 6858000"/>
              <a:gd name="connsiteX52" fmla="*/ 5840341 w 12191999"/>
              <a:gd name="connsiteY52" fmla="*/ 3736128 h 6858000"/>
              <a:gd name="connsiteX53" fmla="*/ 5811021 w 12191999"/>
              <a:gd name="connsiteY53" fmla="*/ 3780107 h 6858000"/>
              <a:gd name="connsiteX54" fmla="*/ 5873327 w 12191999"/>
              <a:gd name="connsiteY54" fmla="*/ 3815534 h 6858000"/>
              <a:gd name="connsiteX55" fmla="*/ 6082230 w 12191999"/>
              <a:gd name="connsiteY55" fmla="*/ 3814314 h 6858000"/>
              <a:gd name="connsiteX56" fmla="*/ 6115900 w 12191999"/>
              <a:gd name="connsiteY56" fmla="*/ 3831149 h 6858000"/>
              <a:gd name="connsiteX57" fmla="*/ 6116334 w 12191999"/>
              <a:gd name="connsiteY57" fmla="*/ 3835442 h 6858000"/>
              <a:gd name="connsiteX58" fmla="*/ 6135367 w 12191999"/>
              <a:gd name="connsiteY58" fmla="*/ 3820781 h 6858000"/>
              <a:gd name="connsiteX59" fmla="*/ 6165468 w 12191999"/>
              <a:gd name="connsiteY59" fmla="*/ 3821240 h 6858000"/>
              <a:gd name="connsiteX60" fmla="*/ 6250984 w 12191999"/>
              <a:gd name="connsiteY60" fmla="*/ 3822462 h 6858000"/>
              <a:gd name="connsiteX61" fmla="*/ 6356045 w 12191999"/>
              <a:gd name="connsiteY61" fmla="*/ 3822462 h 6858000"/>
              <a:gd name="connsiteX62" fmla="*/ 6434230 w 12191999"/>
              <a:gd name="connsiteY62" fmla="*/ 3873772 h 6858000"/>
              <a:gd name="connsiteX63" fmla="*/ 6401245 w 12191999"/>
              <a:gd name="connsiteY63" fmla="*/ 3938519 h 6858000"/>
              <a:gd name="connsiteX64" fmla="*/ 6395138 w 12191999"/>
              <a:gd name="connsiteY64" fmla="*/ 4039916 h 6858000"/>
              <a:gd name="connsiteX65" fmla="*/ 6574721 w 12191999"/>
              <a:gd name="connsiteY65" fmla="*/ 4054576 h 6858000"/>
              <a:gd name="connsiteX66" fmla="*/ 6575941 w 12191999"/>
              <a:gd name="connsiteY66" fmla="*/ 3931189 h 6858000"/>
              <a:gd name="connsiteX67" fmla="*/ 6547844 w 12191999"/>
              <a:gd name="connsiteY67" fmla="*/ 3883545 h 6858000"/>
              <a:gd name="connsiteX68" fmla="*/ 6610148 w 12191999"/>
              <a:gd name="connsiteY68" fmla="*/ 3826127 h 6858000"/>
              <a:gd name="connsiteX69" fmla="*/ 6856921 w 12191999"/>
              <a:gd name="connsiteY69" fmla="*/ 3823685 h 6858000"/>
              <a:gd name="connsiteX70" fmla="*/ 6875246 w 12191999"/>
              <a:gd name="connsiteY70" fmla="*/ 3853004 h 6858000"/>
              <a:gd name="connsiteX71" fmla="*/ 6875246 w 12191999"/>
              <a:gd name="connsiteY71" fmla="*/ 4053355 h 6858000"/>
              <a:gd name="connsiteX72" fmla="*/ 6892348 w 12191999"/>
              <a:gd name="connsiteY72" fmla="*/ 4110773 h 6858000"/>
              <a:gd name="connsiteX73" fmla="*/ 6948545 w 12191999"/>
              <a:gd name="connsiteY73" fmla="*/ 4110773 h 6858000"/>
              <a:gd name="connsiteX74" fmla="*/ 7117131 w 12191999"/>
              <a:gd name="connsiteY74" fmla="*/ 4126653 h 6858000"/>
              <a:gd name="connsiteX75" fmla="*/ 7080482 w 12191999"/>
              <a:gd name="connsiteY75" fmla="*/ 4328224 h 6858000"/>
              <a:gd name="connsiteX76" fmla="*/ 6959540 w 12191999"/>
              <a:gd name="connsiteY76" fmla="*/ 4317229 h 6858000"/>
              <a:gd name="connsiteX77" fmla="*/ 6914338 w 12191999"/>
              <a:gd name="connsiteY77" fmla="*/ 4287910 h 6858000"/>
              <a:gd name="connsiteX78" fmla="*/ 6877689 w 12191999"/>
              <a:gd name="connsiteY78" fmla="*/ 4350213 h 6858000"/>
              <a:gd name="connsiteX79" fmla="*/ 6878911 w 12191999"/>
              <a:gd name="connsiteY79" fmla="*/ 4550565 h 6858000"/>
              <a:gd name="connsiteX80" fmla="*/ 6838596 w 12191999"/>
              <a:gd name="connsiteY80" fmla="*/ 4592100 h 6858000"/>
              <a:gd name="connsiteX81" fmla="*/ 6648020 w 12191999"/>
              <a:gd name="connsiteY81" fmla="*/ 4590880 h 6858000"/>
              <a:gd name="connsiteX82" fmla="*/ 6594266 w 12191999"/>
              <a:gd name="connsiteY82" fmla="*/ 4604318 h 6858000"/>
              <a:gd name="connsiteX83" fmla="*/ 6591823 w 12191999"/>
              <a:gd name="connsiteY83" fmla="*/ 4662956 h 6858000"/>
              <a:gd name="connsiteX84" fmla="*/ 6589381 w 12191999"/>
              <a:gd name="connsiteY84" fmla="*/ 4819328 h 6858000"/>
              <a:gd name="connsiteX85" fmla="*/ 6375592 w 12191999"/>
              <a:gd name="connsiteY85" fmla="*/ 4796116 h 6858000"/>
              <a:gd name="connsiteX86" fmla="*/ 6385365 w 12191999"/>
              <a:gd name="connsiteY86" fmla="*/ 4670287 h 6858000"/>
              <a:gd name="connsiteX87" fmla="*/ 6415905 w 12191999"/>
              <a:gd name="connsiteY87" fmla="*/ 4628749 h 6858000"/>
              <a:gd name="connsiteX88" fmla="*/ 6351158 w 12191999"/>
              <a:gd name="connsiteY88" fmla="*/ 4589658 h 6858000"/>
              <a:gd name="connsiteX89" fmla="*/ 6150809 w 12191999"/>
              <a:gd name="connsiteY89" fmla="*/ 4590880 h 6858000"/>
              <a:gd name="connsiteX90" fmla="*/ 6117367 w 12191999"/>
              <a:gd name="connsiteY90" fmla="*/ 4582327 h 6858000"/>
              <a:gd name="connsiteX91" fmla="*/ 6114197 w 12191999"/>
              <a:gd name="connsiteY91" fmla="*/ 4575109 h 6858000"/>
              <a:gd name="connsiteX92" fmla="*/ 6109104 w 12191999"/>
              <a:gd name="connsiteY92" fmla="*/ 4582272 h 6858000"/>
              <a:gd name="connsiteX93" fmla="*/ 6087114 w 12191999"/>
              <a:gd name="connsiteY93" fmla="*/ 4586396 h 6858000"/>
              <a:gd name="connsiteX94" fmla="*/ 5863552 w 12191999"/>
              <a:gd name="connsiteY94" fmla="*/ 4586396 h 6858000"/>
              <a:gd name="connsiteX95" fmla="*/ 5802472 w 12191999"/>
              <a:gd name="connsiteY95" fmla="*/ 4555854 h 6858000"/>
              <a:gd name="connsiteX96" fmla="*/ 5807356 w 12191999"/>
              <a:gd name="connsiteY96" fmla="*/ 4480114 h 6858000"/>
              <a:gd name="connsiteX97" fmla="*/ 5847670 w 12191999"/>
              <a:gd name="connsiteY97" fmla="*/ 4403148 h 6858000"/>
              <a:gd name="connsiteX98" fmla="*/ 5752384 w 12191999"/>
              <a:gd name="connsiteY98" fmla="*/ 4329849 h 6858000"/>
              <a:gd name="connsiteX99" fmla="*/ 5628995 w 12191999"/>
              <a:gd name="connsiteY99" fmla="*/ 4372606 h 6858000"/>
              <a:gd name="connsiteX100" fmla="*/ 5638769 w 12191999"/>
              <a:gd name="connsiteY100" fmla="*/ 4470339 h 6858000"/>
              <a:gd name="connsiteX101" fmla="*/ 5674197 w 12191999"/>
              <a:gd name="connsiteY101" fmla="*/ 4527758 h 6858000"/>
              <a:gd name="connsiteX102" fmla="*/ 5591125 w 12191999"/>
              <a:gd name="connsiteY102" fmla="*/ 4586396 h 6858000"/>
              <a:gd name="connsiteX103" fmla="*/ 5377337 w 12191999"/>
              <a:gd name="connsiteY103" fmla="*/ 4586396 h 6858000"/>
              <a:gd name="connsiteX104" fmla="*/ 5346796 w 12191999"/>
              <a:gd name="connsiteY104" fmla="*/ 4553411 h 6858000"/>
              <a:gd name="connsiteX105" fmla="*/ 5348016 w 12191999"/>
              <a:gd name="connsiteY105" fmla="*/ 4353059 h 6858000"/>
              <a:gd name="connsiteX106" fmla="*/ 5327249 w 12191999"/>
              <a:gd name="connsiteY106" fmla="*/ 4291978 h 6858000"/>
              <a:gd name="connsiteX107" fmla="*/ 5278383 w 12191999"/>
              <a:gd name="connsiteY107" fmla="*/ 4293199 h 6858000"/>
              <a:gd name="connsiteX108" fmla="*/ 5174543 w 12191999"/>
              <a:gd name="connsiteY108" fmla="*/ 4337181 h 6858000"/>
              <a:gd name="connsiteX109" fmla="*/ 5089026 w 12191999"/>
              <a:gd name="connsiteY109" fmla="*/ 4221122 h 6858000"/>
              <a:gd name="connsiteX110" fmla="*/ 5144002 w 12191999"/>
              <a:gd name="connsiteY110" fmla="*/ 4078190 h 6858000"/>
              <a:gd name="connsiteX111" fmla="*/ 5264946 w 12191999"/>
              <a:gd name="connsiteY111" fmla="*/ 4087965 h 6858000"/>
              <a:gd name="connsiteX112" fmla="*/ 5311367 w 12191999"/>
              <a:gd name="connsiteY112" fmla="*/ 4117283 h 6858000"/>
              <a:gd name="connsiteX113" fmla="*/ 5346796 w 12191999"/>
              <a:gd name="connsiteY113" fmla="*/ 4054980 h 6858000"/>
              <a:gd name="connsiteX114" fmla="*/ 5345574 w 12191999"/>
              <a:gd name="connsiteY114" fmla="*/ 3849742 h 6858000"/>
              <a:gd name="connsiteX115" fmla="*/ 5381003 w 12191999"/>
              <a:gd name="connsiteY115" fmla="*/ 3811870 h 6858000"/>
              <a:gd name="connsiteX116" fmla="*/ 5486063 w 12191999"/>
              <a:gd name="connsiteY116" fmla="*/ 3815534 h 6858000"/>
              <a:gd name="connsiteX117" fmla="*/ 5596012 w 12191999"/>
              <a:gd name="connsiteY117" fmla="*/ 3815534 h 6858000"/>
              <a:gd name="connsiteX118" fmla="*/ 5650984 w 12191999"/>
              <a:gd name="connsiteY118" fmla="*/ 3777664 h 6858000"/>
              <a:gd name="connsiteX119" fmla="*/ 5625329 w 12191999"/>
              <a:gd name="connsiteY119" fmla="*/ 3738570 h 6858000"/>
              <a:gd name="connsiteX120" fmla="*/ 5649765 w 12191999"/>
              <a:gd name="connsiteY120" fmla="*/ 3576091 h 6858000"/>
              <a:gd name="connsiteX121" fmla="*/ 5700845 w 12191999"/>
              <a:gd name="connsiteY121" fmla="*/ 3557958 h 6858000"/>
              <a:gd name="connsiteX122" fmla="*/ 5742911 w 12191999"/>
              <a:gd name="connsiteY122" fmla="*/ 3557222 h 6858000"/>
              <a:gd name="connsiteX123" fmla="*/ 5726517 w 12191999"/>
              <a:gd name="connsiteY123" fmla="*/ 2017504 h 6858000"/>
              <a:gd name="connsiteX124" fmla="*/ 5834786 w 12191999"/>
              <a:gd name="connsiteY124" fmla="*/ 2083015 h 6858000"/>
              <a:gd name="connsiteX125" fmla="*/ 5820126 w 12191999"/>
              <a:gd name="connsiteY125" fmla="*/ 2192965 h 6858000"/>
              <a:gd name="connsiteX126" fmla="*/ 5787140 w 12191999"/>
              <a:gd name="connsiteY126" fmla="*/ 2236943 h 6858000"/>
              <a:gd name="connsiteX127" fmla="*/ 5855555 w 12191999"/>
              <a:gd name="connsiteY127" fmla="*/ 2277258 h 6858000"/>
              <a:gd name="connsiteX128" fmla="*/ 6041243 w 12191999"/>
              <a:gd name="connsiteY128" fmla="*/ 2276037 h 6858000"/>
              <a:gd name="connsiteX129" fmla="*/ 6093775 w 12191999"/>
              <a:gd name="connsiteY129" fmla="*/ 2326124 h 6858000"/>
              <a:gd name="connsiteX130" fmla="*/ 6092553 w 12191999"/>
              <a:gd name="connsiteY130" fmla="*/ 2516703 h 6858000"/>
              <a:gd name="connsiteX131" fmla="*/ 6121873 w 12191999"/>
              <a:gd name="connsiteY131" fmla="*/ 2577785 h 6858000"/>
              <a:gd name="connsiteX132" fmla="*/ 6154856 w 12191999"/>
              <a:gd name="connsiteY132" fmla="*/ 2574120 h 6858000"/>
              <a:gd name="connsiteX133" fmla="*/ 6351542 w 12191999"/>
              <a:gd name="connsiteY133" fmla="*/ 2611990 h 6858000"/>
              <a:gd name="connsiteX134" fmla="*/ 6352764 w 12191999"/>
              <a:gd name="connsiteY134" fmla="*/ 2708501 h 6858000"/>
              <a:gd name="connsiteX135" fmla="*/ 6300232 w 12191999"/>
              <a:gd name="connsiteY135" fmla="*/ 2779356 h 6858000"/>
              <a:gd name="connsiteX136" fmla="*/ 6170739 w 12191999"/>
              <a:gd name="connsiteY136" fmla="*/ 2769584 h 6858000"/>
              <a:gd name="connsiteX137" fmla="*/ 6129202 w 12191999"/>
              <a:gd name="connsiteY137" fmla="*/ 2742708 h 6858000"/>
              <a:gd name="connsiteX138" fmla="*/ 6093775 w 12191999"/>
              <a:gd name="connsiteY138" fmla="*/ 2800124 h 6858000"/>
              <a:gd name="connsiteX139" fmla="*/ 6094997 w 12191999"/>
              <a:gd name="connsiteY139" fmla="*/ 3009027 h 6858000"/>
              <a:gd name="connsiteX140" fmla="*/ 6054683 w 12191999"/>
              <a:gd name="connsiteY140" fmla="*/ 3046899 h 6858000"/>
              <a:gd name="connsiteX141" fmla="*/ 5859220 w 12191999"/>
              <a:gd name="connsiteY141" fmla="*/ 3045676 h 6858000"/>
              <a:gd name="connsiteX142" fmla="*/ 5805467 w 12191999"/>
              <a:gd name="connsiteY142" fmla="*/ 3060336 h 6858000"/>
              <a:gd name="connsiteX143" fmla="*/ 5804246 w 12191999"/>
              <a:gd name="connsiteY143" fmla="*/ 3116533 h 6858000"/>
              <a:gd name="connsiteX144" fmla="*/ 5849445 w 12191999"/>
              <a:gd name="connsiteY144" fmla="*/ 3206935 h 6858000"/>
              <a:gd name="connsiteX145" fmla="*/ 5751713 w 12191999"/>
              <a:gd name="connsiteY145" fmla="*/ 3299780 h 6858000"/>
              <a:gd name="connsiteX146" fmla="*/ 5581905 w 12191999"/>
              <a:gd name="connsiteY146" fmla="*/ 3237475 h 6858000"/>
              <a:gd name="connsiteX147" fmla="*/ 5601451 w 12191999"/>
              <a:gd name="connsiteY147" fmla="*/ 3125084 h 6858000"/>
              <a:gd name="connsiteX148" fmla="*/ 5629551 w 12191999"/>
              <a:gd name="connsiteY148" fmla="*/ 3083549 h 6858000"/>
              <a:gd name="connsiteX149" fmla="*/ 5573353 w 12191999"/>
              <a:gd name="connsiteY149" fmla="*/ 3045676 h 6858000"/>
              <a:gd name="connsiteX150" fmla="*/ 5430421 w 12191999"/>
              <a:gd name="connsiteY150" fmla="*/ 3045676 h 6858000"/>
              <a:gd name="connsiteX151" fmla="*/ 5324139 w 12191999"/>
              <a:gd name="connsiteY151" fmla="*/ 2938172 h 6858000"/>
              <a:gd name="connsiteX152" fmla="*/ 5324139 w 12191999"/>
              <a:gd name="connsiteY152" fmla="*/ 2805010 h 6858000"/>
              <a:gd name="connsiteX153" fmla="*/ 5355900 w 12191999"/>
              <a:gd name="connsiteY153" fmla="*/ 2734156 h 6858000"/>
              <a:gd name="connsiteX154" fmla="*/ 5427977 w 12191999"/>
              <a:gd name="connsiteY154" fmla="*/ 2737821 h 6858000"/>
              <a:gd name="connsiteX155" fmla="*/ 5508607 w 12191999"/>
              <a:gd name="connsiteY155" fmla="*/ 2780578 h 6858000"/>
              <a:gd name="connsiteX156" fmla="*/ 5581905 w 12191999"/>
              <a:gd name="connsiteY156" fmla="*/ 2674294 h 6858000"/>
              <a:gd name="connsiteX157" fmla="*/ 5537926 w 12191999"/>
              <a:gd name="connsiteY157" fmla="*/ 2560681 h 6858000"/>
              <a:gd name="connsiteX158" fmla="*/ 5440195 w 12191999"/>
              <a:gd name="connsiteY158" fmla="*/ 2570454 h 6858000"/>
              <a:gd name="connsiteX159" fmla="*/ 5382779 w 12191999"/>
              <a:gd name="connsiteY159" fmla="*/ 2605882 h 6858000"/>
              <a:gd name="connsiteX160" fmla="*/ 5324139 w 12191999"/>
              <a:gd name="connsiteY160" fmla="*/ 2527695 h 6858000"/>
              <a:gd name="connsiteX161" fmla="*/ 5322917 w 12191999"/>
              <a:gd name="connsiteY161" fmla="*/ 2304134 h 6858000"/>
              <a:gd name="connsiteX162" fmla="*/ 5351016 w 12191999"/>
              <a:gd name="connsiteY162" fmla="*/ 2278479 h 6858000"/>
              <a:gd name="connsiteX163" fmla="*/ 5556254 w 12191999"/>
              <a:gd name="connsiteY163" fmla="*/ 2278479 h 6858000"/>
              <a:gd name="connsiteX164" fmla="*/ 5610003 w 12191999"/>
              <a:gd name="connsiteY164" fmla="*/ 2263820 h 6858000"/>
              <a:gd name="connsiteX165" fmla="*/ 5611225 w 12191999"/>
              <a:gd name="connsiteY165" fmla="*/ 2203958 h 6858000"/>
              <a:gd name="connsiteX166" fmla="*/ 5606337 w 12191999"/>
              <a:gd name="connsiteY166" fmla="*/ 2053696 h 6858000"/>
              <a:gd name="connsiteX167" fmla="*/ 5726517 w 12191999"/>
              <a:gd name="connsiteY167" fmla="*/ 2017504 h 6858000"/>
              <a:gd name="connsiteX168" fmla="*/ 0 w 12191999"/>
              <a:gd name="connsiteY168" fmla="*/ 0 h 6858000"/>
              <a:gd name="connsiteX169" fmla="*/ 5329115 w 12191999"/>
              <a:gd name="connsiteY169" fmla="*/ 0 h 6858000"/>
              <a:gd name="connsiteX170" fmla="*/ 5332434 w 12191999"/>
              <a:gd name="connsiteY170" fmla="*/ 5729 h 6858000"/>
              <a:gd name="connsiteX171" fmla="*/ 5334132 w 12191999"/>
              <a:gd name="connsiteY171" fmla="*/ 27166 h 6858000"/>
              <a:gd name="connsiteX172" fmla="*/ 5332910 w 12191999"/>
              <a:gd name="connsiteY172" fmla="*/ 227517 h 6858000"/>
              <a:gd name="connsiteX173" fmla="*/ 5346347 w 12191999"/>
              <a:gd name="connsiteY173" fmla="*/ 276382 h 6858000"/>
              <a:gd name="connsiteX174" fmla="*/ 5402544 w 12191999"/>
              <a:gd name="connsiteY174" fmla="*/ 277604 h 6858000"/>
              <a:gd name="connsiteX175" fmla="*/ 5582127 w 12191999"/>
              <a:gd name="connsiteY175" fmla="*/ 317919 h 6858000"/>
              <a:gd name="connsiteX176" fmla="*/ 5523486 w 12191999"/>
              <a:gd name="connsiteY176" fmla="*/ 501165 h 6858000"/>
              <a:gd name="connsiteX177" fmla="*/ 5411097 w 12191999"/>
              <a:gd name="connsiteY177" fmla="*/ 481620 h 6858000"/>
              <a:gd name="connsiteX178" fmla="*/ 5369558 w 12191999"/>
              <a:gd name="connsiteY178" fmla="*/ 453522 h 6858000"/>
              <a:gd name="connsiteX179" fmla="*/ 5332910 w 12191999"/>
              <a:gd name="connsiteY179" fmla="*/ 514605 h 6858000"/>
              <a:gd name="connsiteX180" fmla="*/ 5334132 w 12191999"/>
              <a:gd name="connsiteY180" fmla="*/ 719841 h 6858000"/>
              <a:gd name="connsiteX181" fmla="*/ 5295041 w 12191999"/>
              <a:gd name="connsiteY181" fmla="*/ 760156 h 6858000"/>
              <a:gd name="connsiteX182" fmla="*/ 5094692 w 12191999"/>
              <a:gd name="connsiteY182" fmla="*/ 758935 h 6858000"/>
              <a:gd name="connsiteX183" fmla="*/ 5045820 w 12191999"/>
              <a:gd name="connsiteY183" fmla="*/ 772373 h 6858000"/>
              <a:gd name="connsiteX184" fmla="*/ 5043379 w 12191999"/>
              <a:gd name="connsiteY184" fmla="*/ 831012 h 6858000"/>
              <a:gd name="connsiteX185" fmla="*/ 5031161 w 12191999"/>
              <a:gd name="connsiteY185" fmla="*/ 997156 h 6858000"/>
              <a:gd name="connsiteX186" fmla="*/ 4818594 w 12191999"/>
              <a:gd name="connsiteY186" fmla="*/ 949511 h 6858000"/>
              <a:gd name="connsiteX187" fmla="*/ 4840582 w 12191999"/>
              <a:gd name="connsiteY187" fmla="*/ 837120 h 6858000"/>
              <a:gd name="connsiteX188" fmla="*/ 4866234 w 12191999"/>
              <a:gd name="connsiteY188" fmla="*/ 793140 h 6858000"/>
              <a:gd name="connsiteX189" fmla="*/ 4808822 w 12191999"/>
              <a:gd name="connsiteY189" fmla="*/ 758935 h 6858000"/>
              <a:gd name="connsiteX190" fmla="*/ 4595032 w 12191999"/>
              <a:gd name="connsiteY190" fmla="*/ 760156 h 6858000"/>
              <a:gd name="connsiteX191" fmla="*/ 4573923 w 12191999"/>
              <a:gd name="connsiteY191" fmla="*/ 757192 h 6858000"/>
              <a:gd name="connsiteX192" fmla="*/ 4572290 w 12191999"/>
              <a:gd name="connsiteY192" fmla="*/ 755075 h 6858000"/>
              <a:gd name="connsiteX193" fmla="*/ 4542110 w 12191999"/>
              <a:gd name="connsiteY193" fmla="*/ 755075 h 6858000"/>
              <a:gd name="connsiteX194" fmla="*/ 4532620 w 12191999"/>
              <a:gd name="connsiteY194" fmla="*/ 757803 h 6858000"/>
              <a:gd name="connsiteX195" fmla="*/ 4318830 w 12191999"/>
              <a:gd name="connsiteY195" fmla="*/ 757803 h 6858000"/>
              <a:gd name="connsiteX196" fmla="*/ 4252861 w 12191999"/>
              <a:gd name="connsiteY196" fmla="*/ 727261 h 6858000"/>
              <a:gd name="connsiteX197" fmla="*/ 4257749 w 12191999"/>
              <a:gd name="connsiteY197" fmla="*/ 652741 h 6858000"/>
              <a:gd name="connsiteX198" fmla="*/ 4298063 w 12191999"/>
              <a:gd name="connsiteY198" fmla="*/ 570889 h 6858000"/>
              <a:gd name="connsiteX199" fmla="*/ 4205214 w 12191999"/>
              <a:gd name="connsiteY199" fmla="*/ 501255 h 6858000"/>
              <a:gd name="connsiteX200" fmla="*/ 4087942 w 12191999"/>
              <a:gd name="connsiteY200" fmla="*/ 535462 h 6858000"/>
              <a:gd name="connsiteX201" fmla="*/ 4094050 w 12191999"/>
              <a:gd name="connsiteY201" fmla="*/ 644189 h 6858000"/>
              <a:gd name="connsiteX202" fmla="*/ 4127035 w 12191999"/>
              <a:gd name="connsiteY202" fmla="*/ 700384 h 6858000"/>
              <a:gd name="connsiteX203" fmla="*/ 4057400 w 12191999"/>
              <a:gd name="connsiteY203" fmla="*/ 757803 h 6858000"/>
              <a:gd name="connsiteX204" fmla="*/ 3819179 w 12191999"/>
              <a:gd name="connsiteY204" fmla="*/ 759023 h 6858000"/>
              <a:gd name="connsiteX205" fmla="*/ 3813849 w 12191999"/>
              <a:gd name="connsiteY205" fmla="*/ 756900 h 6858000"/>
              <a:gd name="connsiteX206" fmla="*/ 3810549 w 12191999"/>
              <a:gd name="connsiteY206" fmla="*/ 758781 h 6858000"/>
              <a:gd name="connsiteX207" fmla="*/ 3815750 w 12191999"/>
              <a:gd name="connsiteY207" fmla="*/ 768157 h 6858000"/>
              <a:gd name="connsiteX208" fmla="*/ 3817238 w 12191999"/>
              <a:gd name="connsiteY208" fmla="*/ 788353 h 6858000"/>
              <a:gd name="connsiteX209" fmla="*/ 3816018 w 12191999"/>
              <a:gd name="connsiteY209" fmla="*/ 983816 h 6858000"/>
              <a:gd name="connsiteX210" fmla="*/ 3789144 w 12191999"/>
              <a:gd name="connsiteY210" fmla="*/ 1057116 h 6858000"/>
              <a:gd name="connsiteX211" fmla="*/ 3708516 w 12191999"/>
              <a:gd name="connsiteY211" fmla="*/ 1053451 h 6858000"/>
              <a:gd name="connsiteX212" fmla="*/ 3635219 w 12191999"/>
              <a:gd name="connsiteY212" fmla="*/ 1014358 h 6858000"/>
              <a:gd name="connsiteX213" fmla="*/ 3560696 w 12191999"/>
              <a:gd name="connsiteY213" fmla="*/ 1098651 h 6858000"/>
              <a:gd name="connsiteX214" fmla="*/ 3603457 w 12191999"/>
              <a:gd name="connsiteY214" fmla="*/ 1235477 h 6858000"/>
              <a:gd name="connsiteX215" fmla="*/ 3697521 w 12191999"/>
              <a:gd name="connsiteY215" fmla="*/ 1226924 h 6858000"/>
              <a:gd name="connsiteX216" fmla="*/ 3759825 w 12191999"/>
              <a:gd name="connsiteY216" fmla="*/ 1190276 h 6858000"/>
              <a:gd name="connsiteX217" fmla="*/ 3816018 w 12191999"/>
              <a:gd name="connsiteY217" fmla="*/ 1270905 h 6858000"/>
              <a:gd name="connsiteX218" fmla="*/ 3817238 w 12191999"/>
              <a:gd name="connsiteY218" fmla="*/ 1489580 h 6858000"/>
              <a:gd name="connsiteX219" fmla="*/ 3811589 w 12191999"/>
              <a:gd name="connsiteY219" fmla="*/ 1511264 h 6858000"/>
              <a:gd name="connsiteX220" fmla="*/ 3801031 w 12191999"/>
              <a:gd name="connsiteY220" fmla="*/ 1513846 h 6858000"/>
              <a:gd name="connsiteX221" fmla="*/ 3806488 w 12191999"/>
              <a:gd name="connsiteY221" fmla="*/ 1516917 h 6858000"/>
              <a:gd name="connsiteX222" fmla="*/ 3807926 w 12191999"/>
              <a:gd name="connsiteY222" fmla="*/ 1520360 h 6858000"/>
              <a:gd name="connsiteX223" fmla="*/ 3814241 w 12191999"/>
              <a:gd name="connsiteY223" fmla="*/ 1520360 h 6858000"/>
              <a:gd name="connsiteX224" fmla="*/ 3829058 w 12191999"/>
              <a:gd name="connsiteY224" fmla="*/ 1502514 h 6858000"/>
              <a:gd name="connsiteX225" fmla="*/ 3863824 w 12191999"/>
              <a:gd name="connsiteY225" fmla="*/ 1499658 h 6858000"/>
              <a:gd name="connsiteX226" fmla="*/ 4049516 w 12191999"/>
              <a:gd name="connsiteY226" fmla="*/ 1500879 h 6858000"/>
              <a:gd name="connsiteX227" fmla="*/ 4117929 w 12191999"/>
              <a:gd name="connsiteY227" fmla="*/ 1460565 h 6858000"/>
              <a:gd name="connsiteX228" fmla="*/ 4084945 w 12191999"/>
              <a:gd name="connsiteY228" fmla="*/ 1416587 h 6858000"/>
              <a:gd name="connsiteX229" fmla="*/ 4070285 w 12191999"/>
              <a:gd name="connsiteY229" fmla="*/ 1306638 h 6858000"/>
              <a:gd name="connsiteX230" fmla="*/ 4178554 w 12191999"/>
              <a:gd name="connsiteY230" fmla="*/ 1241127 h 6858000"/>
              <a:gd name="connsiteX231" fmla="*/ 4298729 w 12191999"/>
              <a:gd name="connsiteY231" fmla="*/ 1277318 h 6858000"/>
              <a:gd name="connsiteX232" fmla="*/ 4293841 w 12191999"/>
              <a:gd name="connsiteY232" fmla="*/ 1427580 h 6858000"/>
              <a:gd name="connsiteX233" fmla="*/ 4295062 w 12191999"/>
              <a:gd name="connsiteY233" fmla="*/ 1487441 h 6858000"/>
              <a:gd name="connsiteX234" fmla="*/ 4348815 w 12191999"/>
              <a:gd name="connsiteY234" fmla="*/ 1502101 h 6858000"/>
              <a:gd name="connsiteX235" fmla="*/ 4554055 w 12191999"/>
              <a:gd name="connsiteY235" fmla="*/ 1502101 h 6858000"/>
              <a:gd name="connsiteX236" fmla="*/ 4580339 w 12191999"/>
              <a:gd name="connsiteY236" fmla="*/ 1513955 h 6858000"/>
              <a:gd name="connsiteX237" fmla="*/ 4580382 w 12191999"/>
              <a:gd name="connsiteY237" fmla="*/ 1514287 h 6858000"/>
              <a:gd name="connsiteX238" fmla="*/ 4581432 w 12191999"/>
              <a:gd name="connsiteY238" fmla="*/ 1513558 h 6858000"/>
              <a:gd name="connsiteX239" fmla="*/ 4598057 w 12191999"/>
              <a:gd name="connsiteY239" fmla="*/ 1511994 h 6858000"/>
              <a:gd name="connsiteX240" fmla="*/ 4811845 w 12191999"/>
              <a:gd name="connsiteY240" fmla="*/ 1513216 h 6858000"/>
              <a:gd name="connsiteX241" fmla="*/ 4894918 w 12191999"/>
              <a:gd name="connsiteY241" fmla="*/ 1571855 h 6858000"/>
              <a:gd name="connsiteX242" fmla="*/ 4859491 w 12191999"/>
              <a:gd name="connsiteY242" fmla="*/ 1630493 h 6858000"/>
              <a:gd name="connsiteX243" fmla="*/ 4853383 w 12191999"/>
              <a:gd name="connsiteY243" fmla="*/ 1731891 h 6858000"/>
              <a:gd name="connsiteX244" fmla="*/ 4969438 w 12191999"/>
              <a:gd name="connsiteY244" fmla="*/ 1770984 h 6858000"/>
              <a:gd name="connsiteX245" fmla="*/ 5069614 w 12191999"/>
              <a:gd name="connsiteY245" fmla="*/ 1696462 h 6858000"/>
              <a:gd name="connsiteX246" fmla="*/ 5025634 w 12191999"/>
              <a:gd name="connsiteY246" fmla="*/ 1617055 h 6858000"/>
              <a:gd name="connsiteX247" fmla="*/ 5020749 w 12191999"/>
              <a:gd name="connsiteY247" fmla="*/ 1548643 h 6858000"/>
              <a:gd name="connsiteX248" fmla="*/ 5094050 w 12191999"/>
              <a:gd name="connsiteY248" fmla="*/ 1513216 h 6858000"/>
              <a:gd name="connsiteX249" fmla="*/ 5302949 w 12191999"/>
              <a:gd name="connsiteY249" fmla="*/ 1513216 h 6858000"/>
              <a:gd name="connsiteX250" fmla="*/ 5335935 w 12191999"/>
              <a:gd name="connsiteY250" fmla="*/ 1548643 h 6858000"/>
              <a:gd name="connsiteX251" fmla="*/ 5335935 w 12191999"/>
              <a:gd name="connsiteY251" fmla="*/ 1648817 h 6858000"/>
              <a:gd name="connsiteX252" fmla="*/ 5335935 w 12191999"/>
              <a:gd name="connsiteY252" fmla="*/ 1706237 h 6858000"/>
              <a:gd name="connsiteX253" fmla="*/ 5335935 w 12191999"/>
              <a:gd name="connsiteY253" fmla="*/ 1768539 h 6858000"/>
              <a:gd name="connsiteX254" fmla="*/ 5279741 w 12191999"/>
              <a:gd name="connsiteY254" fmla="*/ 1844283 h 6858000"/>
              <a:gd name="connsiteX255" fmla="*/ 5219879 w 12191999"/>
              <a:gd name="connsiteY255" fmla="*/ 1808854 h 6858000"/>
              <a:gd name="connsiteX256" fmla="*/ 5122147 w 12191999"/>
              <a:gd name="connsiteY256" fmla="*/ 1799081 h 6858000"/>
              <a:gd name="connsiteX257" fmla="*/ 5080610 w 12191999"/>
              <a:gd name="connsiteY257" fmla="*/ 1935906 h 6858000"/>
              <a:gd name="connsiteX258" fmla="*/ 5156351 w 12191999"/>
              <a:gd name="connsiteY258" fmla="*/ 2018979 h 6858000"/>
              <a:gd name="connsiteX259" fmla="*/ 5229651 w 12191999"/>
              <a:gd name="connsiteY259" fmla="*/ 1978665 h 6858000"/>
              <a:gd name="connsiteX260" fmla="*/ 5311502 w 12191999"/>
              <a:gd name="connsiteY260" fmla="*/ 1977443 h 6858000"/>
              <a:gd name="connsiteX261" fmla="*/ 5335935 w 12191999"/>
              <a:gd name="connsiteY261" fmla="*/ 2047077 h 6858000"/>
              <a:gd name="connsiteX262" fmla="*/ 5335935 w 12191999"/>
              <a:gd name="connsiteY262" fmla="*/ 2247429 h 6858000"/>
              <a:gd name="connsiteX263" fmla="*/ 5300506 w 12191999"/>
              <a:gd name="connsiteY263" fmla="*/ 2284079 h 6858000"/>
              <a:gd name="connsiteX264" fmla="*/ 5091606 w 12191999"/>
              <a:gd name="connsiteY264" fmla="*/ 2282856 h 6858000"/>
              <a:gd name="connsiteX265" fmla="*/ 5030522 w 12191999"/>
              <a:gd name="connsiteY265" fmla="*/ 2320726 h 6858000"/>
              <a:gd name="connsiteX266" fmla="*/ 5058619 w 12191999"/>
              <a:gd name="connsiteY266" fmla="*/ 2362263 h 6858000"/>
              <a:gd name="connsiteX267" fmla="*/ 5070837 w 12191999"/>
              <a:gd name="connsiteY267" fmla="*/ 2486872 h 6858000"/>
              <a:gd name="connsiteX268" fmla="*/ 4926682 w 12191999"/>
              <a:gd name="connsiteY268" fmla="*/ 2539402 h 6858000"/>
              <a:gd name="connsiteX269" fmla="*/ 4813067 w 12191999"/>
              <a:gd name="connsiteY269" fmla="*/ 2452666 h 6858000"/>
              <a:gd name="connsiteX270" fmla="*/ 4855825 w 12191999"/>
              <a:gd name="connsiteY270" fmla="*/ 2352491 h 6858000"/>
              <a:gd name="connsiteX271" fmla="*/ 4853383 w 12191999"/>
              <a:gd name="connsiteY271" fmla="*/ 2296294 h 6858000"/>
              <a:gd name="connsiteX272" fmla="*/ 4799629 w 12191999"/>
              <a:gd name="connsiteY272" fmla="*/ 2281634 h 6858000"/>
              <a:gd name="connsiteX273" fmla="*/ 4633486 w 12191999"/>
              <a:gd name="connsiteY273" fmla="*/ 2281634 h 6858000"/>
              <a:gd name="connsiteX274" fmla="*/ 4568545 w 12191999"/>
              <a:gd name="connsiteY274" fmla="*/ 2254834 h 6858000"/>
              <a:gd name="connsiteX275" fmla="*/ 4568533 w 12191999"/>
              <a:gd name="connsiteY275" fmla="*/ 2254378 h 6858000"/>
              <a:gd name="connsiteX276" fmla="*/ 4567644 w 12191999"/>
              <a:gd name="connsiteY276" fmla="*/ 2255861 h 6858000"/>
              <a:gd name="connsiteX277" fmla="*/ 4544720 w 12191999"/>
              <a:gd name="connsiteY277" fmla="*/ 2264404 h 6858000"/>
              <a:gd name="connsiteX278" fmla="*/ 4554906 w 12191999"/>
              <a:gd name="connsiteY278" fmla="*/ 2264379 h 6858000"/>
              <a:gd name="connsiteX279" fmla="*/ 4573231 w 12191999"/>
              <a:gd name="connsiteY279" fmla="*/ 2293699 h 6858000"/>
              <a:gd name="connsiteX280" fmla="*/ 4573231 w 12191999"/>
              <a:gd name="connsiteY280" fmla="*/ 2494050 h 6858000"/>
              <a:gd name="connsiteX281" fmla="*/ 4590334 w 12191999"/>
              <a:gd name="connsiteY281" fmla="*/ 2551467 h 6858000"/>
              <a:gd name="connsiteX282" fmla="*/ 4646530 w 12191999"/>
              <a:gd name="connsiteY282" fmla="*/ 2551467 h 6858000"/>
              <a:gd name="connsiteX283" fmla="*/ 4815115 w 12191999"/>
              <a:gd name="connsiteY283" fmla="*/ 2567347 h 6858000"/>
              <a:gd name="connsiteX284" fmla="*/ 4778466 w 12191999"/>
              <a:gd name="connsiteY284" fmla="*/ 2768920 h 6858000"/>
              <a:gd name="connsiteX285" fmla="*/ 4657524 w 12191999"/>
              <a:gd name="connsiteY285" fmla="*/ 2757926 h 6858000"/>
              <a:gd name="connsiteX286" fmla="*/ 4612323 w 12191999"/>
              <a:gd name="connsiteY286" fmla="*/ 2728606 h 6858000"/>
              <a:gd name="connsiteX287" fmla="*/ 4575675 w 12191999"/>
              <a:gd name="connsiteY287" fmla="*/ 2790910 h 6858000"/>
              <a:gd name="connsiteX288" fmla="*/ 4576894 w 12191999"/>
              <a:gd name="connsiteY288" fmla="*/ 2991261 h 6858000"/>
              <a:gd name="connsiteX289" fmla="*/ 4570481 w 12191999"/>
              <a:gd name="connsiteY289" fmla="*/ 3024856 h 6858000"/>
              <a:gd name="connsiteX290" fmla="*/ 4561944 w 12191999"/>
              <a:gd name="connsiteY290" fmla="*/ 3029609 h 6858000"/>
              <a:gd name="connsiteX291" fmla="*/ 4568608 w 12191999"/>
              <a:gd name="connsiteY291" fmla="*/ 3030206 h 6858000"/>
              <a:gd name="connsiteX292" fmla="*/ 4578857 w 12191999"/>
              <a:gd name="connsiteY292" fmla="*/ 3036715 h 6858000"/>
              <a:gd name="connsiteX293" fmla="*/ 4581540 w 12191999"/>
              <a:gd name="connsiteY293" fmla="*/ 3051267 h 6858000"/>
              <a:gd name="connsiteX294" fmla="*/ 4595169 w 12191999"/>
              <a:gd name="connsiteY294" fmla="*/ 3045892 h 6858000"/>
              <a:gd name="connsiteX295" fmla="*/ 4620385 w 12191999"/>
              <a:gd name="connsiteY295" fmla="*/ 3045454 h 6858000"/>
              <a:gd name="connsiteX296" fmla="*/ 4806076 w 12191999"/>
              <a:gd name="connsiteY296" fmla="*/ 3046674 h 6858000"/>
              <a:gd name="connsiteX297" fmla="*/ 4874487 w 12191999"/>
              <a:gd name="connsiteY297" fmla="*/ 3006359 h 6858000"/>
              <a:gd name="connsiteX298" fmla="*/ 4841504 w 12191999"/>
              <a:gd name="connsiteY298" fmla="*/ 2962382 h 6858000"/>
              <a:gd name="connsiteX299" fmla="*/ 4826843 w 12191999"/>
              <a:gd name="connsiteY299" fmla="*/ 2852433 h 6858000"/>
              <a:gd name="connsiteX300" fmla="*/ 5055294 w 12191999"/>
              <a:gd name="connsiteY300" fmla="*/ 2823113 h 6858000"/>
              <a:gd name="connsiteX301" fmla="*/ 5050406 w 12191999"/>
              <a:gd name="connsiteY301" fmla="*/ 2973375 h 6858000"/>
              <a:gd name="connsiteX302" fmla="*/ 5051628 w 12191999"/>
              <a:gd name="connsiteY302" fmla="*/ 3033236 h 6858000"/>
              <a:gd name="connsiteX303" fmla="*/ 5105382 w 12191999"/>
              <a:gd name="connsiteY303" fmla="*/ 3047896 h 6858000"/>
              <a:gd name="connsiteX304" fmla="*/ 5310620 w 12191999"/>
              <a:gd name="connsiteY304" fmla="*/ 3047896 h 6858000"/>
              <a:gd name="connsiteX305" fmla="*/ 5338715 w 12191999"/>
              <a:gd name="connsiteY305" fmla="*/ 3073551 h 6858000"/>
              <a:gd name="connsiteX306" fmla="*/ 5337493 w 12191999"/>
              <a:gd name="connsiteY306" fmla="*/ 3297112 h 6858000"/>
              <a:gd name="connsiteX307" fmla="*/ 5278853 w 12191999"/>
              <a:gd name="connsiteY307" fmla="*/ 3375299 h 6858000"/>
              <a:gd name="connsiteX308" fmla="*/ 5221435 w 12191999"/>
              <a:gd name="connsiteY308" fmla="*/ 3339871 h 6858000"/>
              <a:gd name="connsiteX309" fmla="*/ 5123706 w 12191999"/>
              <a:gd name="connsiteY309" fmla="*/ 3330097 h 6858000"/>
              <a:gd name="connsiteX310" fmla="*/ 5079725 w 12191999"/>
              <a:gd name="connsiteY310" fmla="*/ 3443711 h 6858000"/>
              <a:gd name="connsiteX311" fmla="*/ 5153026 w 12191999"/>
              <a:gd name="connsiteY311" fmla="*/ 3549995 h 6858000"/>
              <a:gd name="connsiteX312" fmla="*/ 5233655 w 12191999"/>
              <a:gd name="connsiteY312" fmla="*/ 3507238 h 6858000"/>
              <a:gd name="connsiteX313" fmla="*/ 5305732 w 12191999"/>
              <a:gd name="connsiteY313" fmla="*/ 3503573 h 6858000"/>
              <a:gd name="connsiteX314" fmla="*/ 5337493 w 12191999"/>
              <a:gd name="connsiteY314" fmla="*/ 3574428 h 6858000"/>
              <a:gd name="connsiteX315" fmla="*/ 5337493 w 12191999"/>
              <a:gd name="connsiteY315" fmla="*/ 3707588 h 6858000"/>
              <a:gd name="connsiteX316" fmla="*/ 5231209 w 12191999"/>
              <a:gd name="connsiteY316" fmla="*/ 3815093 h 6858000"/>
              <a:gd name="connsiteX317" fmla="*/ 5088277 w 12191999"/>
              <a:gd name="connsiteY317" fmla="*/ 3815093 h 6858000"/>
              <a:gd name="connsiteX318" fmla="*/ 5032081 w 12191999"/>
              <a:gd name="connsiteY318" fmla="*/ 3852965 h 6858000"/>
              <a:gd name="connsiteX319" fmla="*/ 5060180 w 12191999"/>
              <a:gd name="connsiteY319" fmla="*/ 3894500 h 6858000"/>
              <a:gd name="connsiteX320" fmla="*/ 5079725 w 12191999"/>
              <a:gd name="connsiteY320" fmla="*/ 4006891 h 6858000"/>
              <a:gd name="connsiteX321" fmla="*/ 4909915 w 12191999"/>
              <a:gd name="connsiteY321" fmla="*/ 4069196 h 6858000"/>
              <a:gd name="connsiteX322" fmla="*/ 4812184 w 12191999"/>
              <a:gd name="connsiteY322" fmla="*/ 3976351 h 6858000"/>
              <a:gd name="connsiteX323" fmla="*/ 4857383 w 12191999"/>
              <a:gd name="connsiteY323" fmla="*/ 3885949 h 6858000"/>
              <a:gd name="connsiteX324" fmla="*/ 4856163 w 12191999"/>
              <a:gd name="connsiteY324" fmla="*/ 3829753 h 6858000"/>
              <a:gd name="connsiteX325" fmla="*/ 4802409 w 12191999"/>
              <a:gd name="connsiteY325" fmla="*/ 3815093 h 6858000"/>
              <a:gd name="connsiteX326" fmla="*/ 4606946 w 12191999"/>
              <a:gd name="connsiteY326" fmla="*/ 3816315 h 6858000"/>
              <a:gd name="connsiteX327" fmla="*/ 4581843 w 12191999"/>
              <a:gd name="connsiteY327" fmla="*/ 3811533 h 6858000"/>
              <a:gd name="connsiteX328" fmla="*/ 4581798 w 12191999"/>
              <a:gd name="connsiteY328" fmla="*/ 3821095 h 6858000"/>
              <a:gd name="connsiteX329" fmla="*/ 4581798 w 12191999"/>
              <a:gd name="connsiteY329" fmla="*/ 4049544 h 6858000"/>
              <a:gd name="connsiteX330" fmla="*/ 4528044 w 12191999"/>
              <a:gd name="connsiteY330" fmla="*/ 4121621 h 6858000"/>
              <a:gd name="connsiteX331" fmla="*/ 4468182 w 12191999"/>
              <a:gd name="connsiteY331" fmla="*/ 4089859 h 6858000"/>
              <a:gd name="connsiteX332" fmla="*/ 4364344 w 12191999"/>
              <a:gd name="connsiteY332" fmla="*/ 4081306 h 6858000"/>
              <a:gd name="connsiteX333" fmla="*/ 4360678 w 12191999"/>
              <a:gd name="connsiteY333" fmla="*/ 4271879 h 6858000"/>
              <a:gd name="connsiteX334" fmla="*/ 4469406 w 12191999"/>
              <a:gd name="connsiteY334" fmla="*/ 4266992 h 6858000"/>
              <a:gd name="connsiteX335" fmla="*/ 4529266 w 12191999"/>
              <a:gd name="connsiteY335" fmla="*/ 4235230 h 6858000"/>
              <a:gd name="connsiteX336" fmla="*/ 4583017 w 12191999"/>
              <a:gd name="connsiteY336" fmla="*/ 4312195 h 6858000"/>
              <a:gd name="connsiteX337" fmla="*/ 4585462 w 12191999"/>
              <a:gd name="connsiteY337" fmla="*/ 4420922 h 6858000"/>
              <a:gd name="connsiteX338" fmla="*/ 4585462 w 12191999"/>
              <a:gd name="connsiteY338" fmla="*/ 4535755 h 6858000"/>
              <a:gd name="connsiteX339" fmla="*/ 4580270 w 12191999"/>
              <a:gd name="connsiteY339" fmla="*/ 4556981 h 6858000"/>
              <a:gd name="connsiteX340" fmla="*/ 4558623 w 12191999"/>
              <a:gd name="connsiteY340" fmla="*/ 4562623 h 6858000"/>
              <a:gd name="connsiteX341" fmla="*/ 4558623 w 12191999"/>
              <a:gd name="connsiteY341" fmla="*/ 4566440 h 6858000"/>
              <a:gd name="connsiteX342" fmla="*/ 4573343 w 12191999"/>
              <a:gd name="connsiteY342" fmla="*/ 4568280 h 6858000"/>
              <a:gd name="connsiteX343" fmla="*/ 4583997 w 12191999"/>
              <a:gd name="connsiteY343" fmla="*/ 4582238 h 6858000"/>
              <a:gd name="connsiteX344" fmla="*/ 4584236 w 12191999"/>
              <a:gd name="connsiteY344" fmla="*/ 4584622 h 6858000"/>
              <a:gd name="connsiteX345" fmla="*/ 4590467 w 12191999"/>
              <a:gd name="connsiteY345" fmla="*/ 4573843 h 6858000"/>
              <a:gd name="connsiteX346" fmla="*/ 4626810 w 12191999"/>
              <a:gd name="connsiteY346" fmla="*/ 4567125 h 6858000"/>
              <a:gd name="connsiteX347" fmla="*/ 4827160 w 12191999"/>
              <a:gd name="connsiteY347" fmla="*/ 4567125 h 6858000"/>
              <a:gd name="connsiteX348" fmla="*/ 4890685 w 12191999"/>
              <a:gd name="connsiteY348" fmla="*/ 4591556 h 6858000"/>
              <a:gd name="connsiteX349" fmla="*/ 4887021 w 12191999"/>
              <a:gd name="connsiteY349" fmla="*/ 4672186 h 6858000"/>
              <a:gd name="connsiteX350" fmla="*/ 4847929 w 12191999"/>
              <a:gd name="connsiteY350" fmla="*/ 4741820 h 6858000"/>
              <a:gd name="connsiteX351" fmla="*/ 4920006 w 12191999"/>
              <a:gd name="connsiteY351" fmla="*/ 4817562 h 6858000"/>
              <a:gd name="connsiteX352" fmla="*/ 5064161 w 12191999"/>
              <a:gd name="connsiteY352" fmla="*/ 4784578 h 6858000"/>
              <a:gd name="connsiteX353" fmla="*/ 5056831 w 12191999"/>
              <a:gd name="connsiteY353" fmla="*/ 4679516 h 6858000"/>
              <a:gd name="connsiteX354" fmla="*/ 5022625 w 12191999"/>
              <a:gd name="connsiteY354" fmla="*/ 4624541 h 6858000"/>
              <a:gd name="connsiteX355" fmla="*/ 5092258 w 12191999"/>
              <a:gd name="connsiteY355" fmla="*/ 4568344 h 6858000"/>
              <a:gd name="connsiteX356" fmla="*/ 5330479 w 12191999"/>
              <a:gd name="connsiteY356" fmla="*/ 4567125 h 6858000"/>
              <a:gd name="connsiteX357" fmla="*/ 5353691 w 12191999"/>
              <a:gd name="connsiteY357" fmla="*/ 4597667 h 6858000"/>
              <a:gd name="connsiteX358" fmla="*/ 5353691 w 12191999"/>
              <a:gd name="connsiteY358" fmla="*/ 4802902 h 6858000"/>
              <a:gd name="connsiteX359" fmla="*/ 5372016 w 12191999"/>
              <a:gd name="connsiteY359" fmla="*/ 4859100 h 6858000"/>
              <a:gd name="connsiteX360" fmla="*/ 5422104 w 12191999"/>
              <a:gd name="connsiteY360" fmla="*/ 4856655 h 6858000"/>
              <a:gd name="connsiteX361" fmla="*/ 5512505 w 12191999"/>
              <a:gd name="connsiteY361" fmla="*/ 4809011 h 6858000"/>
              <a:gd name="connsiteX362" fmla="*/ 5607793 w 12191999"/>
              <a:gd name="connsiteY362" fmla="*/ 4905522 h 6858000"/>
              <a:gd name="connsiteX363" fmla="*/ 5562593 w 12191999"/>
              <a:gd name="connsiteY363" fmla="*/ 5065559 h 6858000"/>
              <a:gd name="connsiteX364" fmla="*/ 5430656 w 12191999"/>
              <a:gd name="connsiteY364" fmla="*/ 5057007 h 6858000"/>
              <a:gd name="connsiteX365" fmla="*/ 5392783 w 12191999"/>
              <a:gd name="connsiteY365" fmla="*/ 5030132 h 6858000"/>
              <a:gd name="connsiteX366" fmla="*/ 5354913 w 12191999"/>
              <a:gd name="connsiteY366" fmla="*/ 5085106 h 6858000"/>
              <a:gd name="connsiteX367" fmla="*/ 5356135 w 12191999"/>
              <a:gd name="connsiteY367" fmla="*/ 5294008 h 6858000"/>
              <a:gd name="connsiteX368" fmla="*/ 5350738 w 12191999"/>
              <a:gd name="connsiteY368" fmla="*/ 5321930 h 6858000"/>
              <a:gd name="connsiteX369" fmla="*/ 5371287 w 12191999"/>
              <a:gd name="connsiteY369" fmla="*/ 5318874 h 6858000"/>
              <a:gd name="connsiteX370" fmla="*/ 5585072 w 12191999"/>
              <a:gd name="connsiteY370" fmla="*/ 5318874 h 6858000"/>
              <a:gd name="connsiteX371" fmla="*/ 5651043 w 12191999"/>
              <a:gd name="connsiteY371" fmla="*/ 5349416 h 6858000"/>
              <a:gd name="connsiteX372" fmla="*/ 5646155 w 12191999"/>
              <a:gd name="connsiteY372" fmla="*/ 5421493 h 6858000"/>
              <a:gd name="connsiteX373" fmla="*/ 5603399 w 12191999"/>
              <a:gd name="connsiteY373" fmla="*/ 5498458 h 6858000"/>
              <a:gd name="connsiteX374" fmla="*/ 5692578 w 12191999"/>
              <a:gd name="connsiteY374" fmla="*/ 5574200 h 6858000"/>
              <a:gd name="connsiteX375" fmla="*/ 5812299 w 12191999"/>
              <a:gd name="connsiteY375" fmla="*/ 5544881 h 6858000"/>
              <a:gd name="connsiteX376" fmla="*/ 5808637 w 12191999"/>
              <a:gd name="connsiteY376" fmla="*/ 5430047 h 6858000"/>
              <a:gd name="connsiteX377" fmla="*/ 5778092 w 12191999"/>
              <a:gd name="connsiteY377" fmla="*/ 5378737 h 6858000"/>
              <a:gd name="connsiteX378" fmla="*/ 5837954 w 12191999"/>
              <a:gd name="connsiteY378" fmla="*/ 5323761 h 6858000"/>
              <a:gd name="connsiteX379" fmla="*/ 6089611 w 12191999"/>
              <a:gd name="connsiteY379" fmla="*/ 5320096 h 6858000"/>
              <a:gd name="connsiteX380" fmla="*/ 6106714 w 12191999"/>
              <a:gd name="connsiteY380" fmla="*/ 5345752 h 6858000"/>
              <a:gd name="connsiteX381" fmla="*/ 6106714 w 12191999"/>
              <a:gd name="connsiteY381" fmla="*/ 5574200 h 6858000"/>
              <a:gd name="connsiteX382" fmla="*/ 6052963 w 12191999"/>
              <a:gd name="connsiteY382" fmla="*/ 5646278 h 6858000"/>
              <a:gd name="connsiteX383" fmla="*/ 5993101 w 12191999"/>
              <a:gd name="connsiteY383" fmla="*/ 5614516 h 6858000"/>
              <a:gd name="connsiteX384" fmla="*/ 5889264 w 12191999"/>
              <a:gd name="connsiteY384" fmla="*/ 5605962 h 6858000"/>
              <a:gd name="connsiteX385" fmla="*/ 5885598 w 12191999"/>
              <a:gd name="connsiteY385" fmla="*/ 5796541 h 6858000"/>
              <a:gd name="connsiteX386" fmla="*/ 5994323 w 12191999"/>
              <a:gd name="connsiteY386" fmla="*/ 5791654 h 6858000"/>
              <a:gd name="connsiteX387" fmla="*/ 6054184 w 12191999"/>
              <a:gd name="connsiteY387" fmla="*/ 5759891 h 6858000"/>
              <a:gd name="connsiteX388" fmla="*/ 6107935 w 12191999"/>
              <a:gd name="connsiteY388" fmla="*/ 5836855 h 6858000"/>
              <a:gd name="connsiteX389" fmla="*/ 6110381 w 12191999"/>
              <a:gd name="connsiteY389" fmla="*/ 5945582 h 6858000"/>
              <a:gd name="connsiteX390" fmla="*/ 6110381 w 12191999"/>
              <a:gd name="connsiteY390" fmla="*/ 6060417 h 6858000"/>
              <a:gd name="connsiteX391" fmla="*/ 6106055 w 12191999"/>
              <a:gd name="connsiteY391" fmla="*/ 6078094 h 6858000"/>
              <a:gd name="connsiteX392" fmla="*/ 6108059 w 12191999"/>
              <a:gd name="connsiteY392" fmla="*/ 6078201 h 6858000"/>
              <a:gd name="connsiteX393" fmla="*/ 6121268 w 12191999"/>
              <a:gd name="connsiteY393" fmla="*/ 6085837 h 6858000"/>
              <a:gd name="connsiteX394" fmla="*/ 6125405 w 12191999"/>
              <a:gd name="connsiteY394" fmla="*/ 6096044 h 6858000"/>
              <a:gd name="connsiteX395" fmla="*/ 6126156 w 12191999"/>
              <a:gd name="connsiteY395" fmla="*/ 6094323 h 6858000"/>
              <a:gd name="connsiteX396" fmla="*/ 6161736 w 12191999"/>
              <a:gd name="connsiteY396" fmla="*/ 6086077 h 6858000"/>
              <a:gd name="connsiteX397" fmla="*/ 6366973 w 12191999"/>
              <a:gd name="connsiteY397" fmla="*/ 6086077 h 6858000"/>
              <a:gd name="connsiteX398" fmla="*/ 6439050 w 12191999"/>
              <a:gd name="connsiteY398" fmla="*/ 6125170 h 6858000"/>
              <a:gd name="connsiteX399" fmla="*/ 6431720 w 12191999"/>
              <a:gd name="connsiteY399" fmla="*/ 6186252 h 6858000"/>
              <a:gd name="connsiteX400" fmla="*/ 6388963 w 12191999"/>
              <a:gd name="connsiteY400" fmla="*/ 6279097 h 6858000"/>
              <a:gd name="connsiteX401" fmla="*/ 6524567 w 12191999"/>
              <a:gd name="connsiteY401" fmla="*/ 6343846 h 6858000"/>
              <a:gd name="connsiteX402" fmla="*/ 6624741 w 12191999"/>
              <a:gd name="connsiteY402" fmla="*/ 6260772 h 6858000"/>
              <a:gd name="connsiteX403" fmla="*/ 6589314 w 12191999"/>
              <a:gd name="connsiteY403" fmla="*/ 6197247 h 6858000"/>
              <a:gd name="connsiteX404" fmla="*/ 6559994 w 12191999"/>
              <a:gd name="connsiteY404" fmla="*/ 6139830 h 6858000"/>
              <a:gd name="connsiteX405" fmla="*/ 6622298 w 12191999"/>
              <a:gd name="connsiteY405" fmla="*/ 6087298 h 6858000"/>
              <a:gd name="connsiteX406" fmla="*/ 6870294 w 12191999"/>
              <a:gd name="connsiteY406" fmla="*/ 6086077 h 6858000"/>
              <a:gd name="connsiteX407" fmla="*/ 6878000 w 12191999"/>
              <a:gd name="connsiteY407" fmla="*/ 6089431 h 6858000"/>
              <a:gd name="connsiteX408" fmla="*/ 6879007 w 12191999"/>
              <a:gd name="connsiteY408" fmla="*/ 6086924 h 6858000"/>
              <a:gd name="connsiteX409" fmla="*/ 6877557 w 12191999"/>
              <a:gd name="connsiteY409" fmla="*/ 6084401 h 6858000"/>
              <a:gd name="connsiteX410" fmla="*/ 6876069 w 12191999"/>
              <a:gd name="connsiteY410" fmla="*/ 6064396 h 6858000"/>
              <a:gd name="connsiteX411" fmla="*/ 6877291 w 12191999"/>
              <a:gd name="connsiteY411" fmla="*/ 5860381 h 6858000"/>
              <a:gd name="connsiteX412" fmla="*/ 6835754 w 12191999"/>
              <a:gd name="connsiteY412" fmla="*/ 5796854 h 6858000"/>
              <a:gd name="connsiteX413" fmla="*/ 6794219 w 12191999"/>
              <a:gd name="connsiteY413" fmla="*/ 5827396 h 6858000"/>
              <a:gd name="connsiteX414" fmla="*/ 6672053 w 12191999"/>
              <a:gd name="connsiteY414" fmla="*/ 5838391 h 6858000"/>
              <a:gd name="connsiteX415" fmla="*/ 6618301 w 12191999"/>
              <a:gd name="connsiteY415" fmla="*/ 5690570 h 6858000"/>
              <a:gd name="connsiteX416" fmla="*/ 6707480 w 12191999"/>
              <a:gd name="connsiteY416" fmla="*/ 5578181 h 6858000"/>
              <a:gd name="connsiteX417" fmla="*/ 6806435 w 12191999"/>
              <a:gd name="connsiteY417" fmla="*/ 5623380 h 6858000"/>
              <a:gd name="connsiteX418" fmla="*/ 6856522 w 12191999"/>
              <a:gd name="connsiteY418" fmla="*/ 5623380 h 6858000"/>
              <a:gd name="connsiteX419" fmla="*/ 6876069 w 12191999"/>
              <a:gd name="connsiteY419" fmla="*/ 5567184 h 6858000"/>
              <a:gd name="connsiteX420" fmla="*/ 6874847 w 12191999"/>
              <a:gd name="connsiteY420" fmla="*/ 5371720 h 6858000"/>
              <a:gd name="connsiteX421" fmla="*/ 6912719 w 12191999"/>
              <a:gd name="connsiteY421" fmla="*/ 5332627 h 6858000"/>
              <a:gd name="connsiteX422" fmla="*/ 7113069 w 12191999"/>
              <a:gd name="connsiteY422" fmla="*/ 5333849 h 6858000"/>
              <a:gd name="connsiteX423" fmla="*/ 7179039 w 12191999"/>
              <a:gd name="connsiteY423" fmla="*/ 5295978 h 6858000"/>
              <a:gd name="connsiteX424" fmla="*/ 7147275 w 12191999"/>
              <a:gd name="connsiteY424" fmla="*/ 5250776 h 6858000"/>
              <a:gd name="connsiteX425" fmla="*/ 7136280 w 12191999"/>
              <a:gd name="connsiteY425" fmla="*/ 5133498 h 6858000"/>
              <a:gd name="connsiteX426" fmla="*/ 7292651 w 12191999"/>
              <a:gd name="connsiteY426" fmla="*/ 5078525 h 6858000"/>
              <a:gd name="connsiteX427" fmla="*/ 7400157 w 12191999"/>
              <a:gd name="connsiteY427" fmla="*/ 5167705 h 6858000"/>
              <a:gd name="connsiteX428" fmla="*/ 7354955 w 12191999"/>
              <a:gd name="connsiteY428" fmla="*/ 5264216 h 6858000"/>
              <a:gd name="connsiteX429" fmla="*/ 7357398 w 12191999"/>
              <a:gd name="connsiteY429" fmla="*/ 5319191 h 6858000"/>
              <a:gd name="connsiteX430" fmla="*/ 7409930 w 12191999"/>
              <a:gd name="connsiteY430" fmla="*/ 5335071 h 6858000"/>
              <a:gd name="connsiteX431" fmla="*/ 7615166 w 12191999"/>
              <a:gd name="connsiteY431" fmla="*/ 5333849 h 6858000"/>
              <a:gd name="connsiteX432" fmla="*/ 7644486 w 12191999"/>
              <a:gd name="connsiteY432" fmla="*/ 5363168 h 6858000"/>
              <a:gd name="connsiteX433" fmla="*/ 7644486 w 12191999"/>
              <a:gd name="connsiteY433" fmla="*/ 5581843 h 6858000"/>
              <a:gd name="connsiteX434" fmla="*/ 7588291 w 12191999"/>
              <a:gd name="connsiteY434" fmla="*/ 5661252 h 6858000"/>
              <a:gd name="connsiteX435" fmla="*/ 7529651 w 12191999"/>
              <a:gd name="connsiteY435" fmla="*/ 5627045 h 6858000"/>
              <a:gd name="connsiteX436" fmla="*/ 7428255 w 12191999"/>
              <a:gd name="connsiteY436" fmla="*/ 5619716 h 6858000"/>
              <a:gd name="connsiteX437" fmla="*/ 7390383 w 12191999"/>
              <a:gd name="connsiteY437" fmla="*/ 5754097 h 6858000"/>
              <a:gd name="connsiteX438" fmla="*/ 7466127 w 12191999"/>
              <a:gd name="connsiteY438" fmla="*/ 5837169 h 6858000"/>
              <a:gd name="connsiteX439" fmla="*/ 7538204 w 12191999"/>
              <a:gd name="connsiteY439" fmla="*/ 5795633 h 6858000"/>
              <a:gd name="connsiteX440" fmla="*/ 7617611 w 12191999"/>
              <a:gd name="connsiteY440" fmla="*/ 5791968 h 6858000"/>
              <a:gd name="connsiteX441" fmla="*/ 7644486 w 12191999"/>
              <a:gd name="connsiteY441" fmla="*/ 5855493 h 6858000"/>
              <a:gd name="connsiteX442" fmla="*/ 7644486 w 12191999"/>
              <a:gd name="connsiteY442" fmla="*/ 5960555 h 6858000"/>
              <a:gd name="connsiteX443" fmla="*/ 7645708 w 12191999"/>
              <a:gd name="connsiteY443" fmla="*/ 6072947 h 6858000"/>
              <a:gd name="connsiteX444" fmla="*/ 7643676 w 12191999"/>
              <a:gd name="connsiteY444" fmla="*/ 6091527 h 6858000"/>
              <a:gd name="connsiteX445" fmla="*/ 7645318 w 12191999"/>
              <a:gd name="connsiteY445" fmla="*/ 6082343 h 6858000"/>
              <a:gd name="connsiteX446" fmla="*/ 7677538 w 12191999"/>
              <a:gd name="connsiteY446" fmla="*/ 6073639 h 6858000"/>
              <a:gd name="connsiteX447" fmla="*/ 7886441 w 12191999"/>
              <a:gd name="connsiteY447" fmla="*/ 6074861 h 6858000"/>
              <a:gd name="connsiteX448" fmla="*/ 7956073 w 12191999"/>
              <a:gd name="connsiteY448" fmla="*/ 6107844 h 6858000"/>
              <a:gd name="connsiteX449" fmla="*/ 7949965 w 12191999"/>
              <a:gd name="connsiteY449" fmla="*/ 6176258 h 6858000"/>
              <a:gd name="connsiteX450" fmla="*/ 7905986 w 12191999"/>
              <a:gd name="connsiteY450" fmla="*/ 6256885 h 6858000"/>
              <a:gd name="connsiteX451" fmla="*/ 8002497 w 12191999"/>
              <a:gd name="connsiteY451" fmla="*/ 6331407 h 6858000"/>
              <a:gd name="connsiteX452" fmla="*/ 8110001 w 12191999"/>
              <a:gd name="connsiteY452" fmla="*/ 6304530 h 6858000"/>
              <a:gd name="connsiteX453" fmla="*/ 8110001 w 12191999"/>
              <a:gd name="connsiteY453" fmla="*/ 6183586 h 6858000"/>
              <a:gd name="connsiteX454" fmla="*/ 8079461 w 12191999"/>
              <a:gd name="connsiteY454" fmla="*/ 6135943 h 6858000"/>
              <a:gd name="connsiteX455" fmla="*/ 8141764 w 12191999"/>
              <a:gd name="connsiteY455" fmla="*/ 6077304 h 6858000"/>
              <a:gd name="connsiteX456" fmla="*/ 8393425 w 12191999"/>
              <a:gd name="connsiteY456" fmla="*/ 6074861 h 6858000"/>
              <a:gd name="connsiteX457" fmla="*/ 8406729 w 12191999"/>
              <a:gd name="connsiteY457" fmla="*/ 6078106 h 6858000"/>
              <a:gd name="connsiteX458" fmla="*/ 8410249 w 12191999"/>
              <a:gd name="connsiteY458" fmla="*/ 6084768 h 6858000"/>
              <a:gd name="connsiteX459" fmla="*/ 8414744 w 12191999"/>
              <a:gd name="connsiteY459" fmla="*/ 6080797 h 6858000"/>
              <a:gd name="connsiteX460" fmla="*/ 8436581 w 12191999"/>
              <a:gd name="connsiteY460" fmla="*/ 6079422 h 6858000"/>
              <a:gd name="connsiteX461" fmla="*/ 8641819 w 12191999"/>
              <a:gd name="connsiteY461" fmla="*/ 6079422 h 6858000"/>
              <a:gd name="connsiteX462" fmla="*/ 8690684 w 12191999"/>
              <a:gd name="connsiteY462" fmla="*/ 6065984 h 6858000"/>
              <a:gd name="connsiteX463" fmla="*/ 8693127 w 12191999"/>
              <a:gd name="connsiteY463" fmla="*/ 6003680 h 6858000"/>
              <a:gd name="connsiteX464" fmla="*/ 8688242 w 12191999"/>
              <a:gd name="connsiteY464" fmla="*/ 5855861 h 6858000"/>
              <a:gd name="connsiteX465" fmla="*/ 8909360 w 12191999"/>
              <a:gd name="connsiteY465" fmla="*/ 5870521 h 6858000"/>
              <a:gd name="connsiteX466" fmla="*/ 8900808 w 12191999"/>
              <a:gd name="connsiteY466" fmla="*/ 5998795 h 6858000"/>
              <a:gd name="connsiteX467" fmla="*/ 8873933 w 12191999"/>
              <a:gd name="connsiteY467" fmla="*/ 6041552 h 6858000"/>
              <a:gd name="connsiteX468" fmla="*/ 8931350 w 12191999"/>
              <a:gd name="connsiteY468" fmla="*/ 6078202 h 6858000"/>
              <a:gd name="connsiteX469" fmla="*/ 9136587 w 12191999"/>
              <a:gd name="connsiteY469" fmla="*/ 6076979 h 6858000"/>
              <a:gd name="connsiteX470" fmla="*/ 9159416 w 12191999"/>
              <a:gd name="connsiteY470" fmla="*/ 6078201 h 6858000"/>
              <a:gd name="connsiteX471" fmla="*/ 9160395 w 12191999"/>
              <a:gd name="connsiteY471" fmla="*/ 6078767 h 6858000"/>
              <a:gd name="connsiteX472" fmla="*/ 9159383 w 12191999"/>
              <a:gd name="connsiteY472" fmla="*/ 6065178 h 6858000"/>
              <a:gd name="connsiteX473" fmla="*/ 9160606 w 12191999"/>
              <a:gd name="connsiteY473" fmla="*/ 5856275 h 6858000"/>
              <a:gd name="connsiteX474" fmla="*/ 9125178 w 12191999"/>
              <a:gd name="connsiteY474" fmla="*/ 5798859 h 6858000"/>
              <a:gd name="connsiteX475" fmla="*/ 9083641 w 12191999"/>
              <a:gd name="connsiteY475" fmla="*/ 5825735 h 6858000"/>
              <a:gd name="connsiteX476" fmla="*/ 8954147 w 12191999"/>
              <a:gd name="connsiteY476" fmla="*/ 5835507 h 6858000"/>
              <a:gd name="connsiteX477" fmla="*/ 8901615 w 12191999"/>
              <a:gd name="connsiteY477" fmla="*/ 5764652 h 6858000"/>
              <a:gd name="connsiteX478" fmla="*/ 8902838 w 12191999"/>
              <a:gd name="connsiteY478" fmla="*/ 5668142 h 6858000"/>
              <a:gd name="connsiteX479" fmla="*/ 9099523 w 12191999"/>
              <a:gd name="connsiteY479" fmla="*/ 5630271 h 6858000"/>
              <a:gd name="connsiteX480" fmla="*/ 9132508 w 12191999"/>
              <a:gd name="connsiteY480" fmla="*/ 5633936 h 6858000"/>
              <a:gd name="connsiteX481" fmla="*/ 9161828 w 12191999"/>
              <a:gd name="connsiteY481" fmla="*/ 5572855 h 6858000"/>
              <a:gd name="connsiteX482" fmla="*/ 9160606 w 12191999"/>
              <a:gd name="connsiteY482" fmla="*/ 5382276 h 6858000"/>
              <a:gd name="connsiteX483" fmla="*/ 9213137 w 12191999"/>
              <a:gd name="connsiteY483" fmla="*/ 5332188 h 6858000"/>
              <a:gd name="connsiteX484" fmla="*/ 9398827 w 12191999"/>
              <a:gd name="connsiteY484" fmla="*/ 5333410 h 6858000"/>
              <a:gd name="connsiteX485" fmla="*/ 9467240 w 12191999"/>
              <a:gd name="connsiteY485" fmla="*/ 5293094 h 6858000"/>
              <a:gd name="connsiteX486" fmla="*/ 9434256 w 12191999"/>
              <a:gd name="connsiteY486" fmla="*/ 5249118 h 6858000"/>
              <a:gd name="connsiteX487" fmla="*/ 9419596 w 12191999"/>
              <a:gd name="connsiteY487" fmla="*/ 5139169 h 6858000"/>
              <a:gd name="connsiteX488" fmla="*/ 9648044 w 12191999"/>
              <a:gd name="connsiteY488" fmla="*/ 5109848 h 6858000"/>
              <a:gd name="connsiteX489" fmla="*/ 9643157 w 12191999"/>
              <a:gd name="connsiteY489" fmla="*/ 5260110 h 6858000"/>
              <a:gd name="connsiteX490" fmla="*/ 9644379 w 12191999"/>
              <a:gd name="connsiteY490" fmla="*/ 5319971 h 6858000"/>
              <a:gd name="connsiteX491" fmla="*/ 9698131 w 12191999"/>
              <a:gd name="connsiteY491" fmla="*/ 5334631 h 6858000"/>
              <a:gd name="connsiteX492" fmla="*/ 9903370 w 12191999"/>
              <a:gd name="connsiteY492" fmla="*/ 5334631 h 6858000"/>
              <a:gd name="connsiteX493" fmla="*/ 9929654 w 12191999"/>
              <a:gd name="connsiteY493" fmla="*/ 5346485 h 6858000"/>
              <a:gd name="connsiteX494" fmla="*/ 9930724 w 12191999"/>
              <a:gd name="connsiteY494" fmla="*/ 5354628 h 6858000"/>
              <a:gd name="connsiteX495" fmla="*/ 9932264 w 12191999"/>
              <a:gd name="connsiteY495" fmla="*/ 5354628 h 6858000"/>
              <a:gd name="connsiteX496" fmla="*/ 9932800 w 12191999"/>
              <a:gd name="connsiteY496" fmla="*/ 5349644 h 6858000"/>
              <a:gd name="connsiteX497" fmla="*/ 9947918 w 12191999"/>
              <a:gd name="connsiteY497" fmla="*/ 5337597 h 6858000"/>
              <a:gd name="connsiteX498" fmla="*/ 9951318 w 12191999"/>
              <a:gd name="connsiteY498" fmla="*/ 5337347 h 6858000"/>
              <a:gd name="connsiteX499" fmla="*/ 9952291 w 12191999"/>
              <a:gd name="connsiteY499" fmla="*/ 5335521 h 6858000"/>
              <a:gd name="connsiteX500" fmla="*/ 9934946 w 12191999"/>
              <a:gd name="connsiteY500" fmla="*/ 5330599 h 6858000"/>
              <a:gd name="connsiteX501" fmla="*/ 9930821 w 12191999"/>
              <a:gd name="connsiteY501" fmla="*/ 5309831 h 6858000"/>
              <a:gd name="connsiteX502" fmla="*/ 9930821 w 12191999"/>
              <a:gd name="connsiteY502" fmla="*/ 5086269 h 6858000"/>
              <a:gd name="connsiteX503" fmla="*/ 9976023 w 12191999"/>
              <a:gd name="connsiteY503" fmla="*/ 5012969 h 6858000"/>
              <a:gd name="connsiteX504" fmla="*/ 10026111 w 12191999"/>
              <a:gd name="connsiteY504" fmla="*/ 5020300 h 6858000"/>
              <a:gd name="connsiteX505" fmla="*/ 10151942 w 12191999"/>
              <a:gd name="connsiteY505" fmla="*/ 5045954 h 6858000"/>
              <a:gd name="connsiteX506" fmla="*/ 10160492 w 12191999"/>
              <a:gd name="connsiteY506" fmla="*/ 4868816 h 6858000"/>
              <a:gd name="connsiteX507" fmla="*/ 10039550 w 12191999"/>
              <a:gd name="connsiteY507" fmla="*/ 4867593 h 6858000"/>
              <a:gd name="connsiteX508" fmla="*/ 9987018 w 12191999"/>
              <a:gd name="connsiteY508" fmla="*/ 4895690 h 6858000"/>
              <a:gd name="connsiteX509" fmla="*/ 9932044 w 12191999"/>
              <a:gd name="connsiteY509" fmla="*/ 4830943 h 6858000"/>
              <a:gd name="connsiteX510" fmla="*/ 9929601 w 12191999"/>
              <a:gd name="connsiteY510" fmla="*/ 4587835 h 6858000"/>
              <a:gd name="connsiteX511" fmla="*/ 9957699 w 12191999"/>
              <a:gd name="connsiteY511" fmla="*/ 4568288 h 6858000"/>
              <a:gd name="connsiteX512" fmla="*/ 10158050 w 12191999"/>
              <a:gd name="connsiteY512" fmla="*/ 4568288 h 6858000"/>
              <a:gd name="connsiteX513" fmla="*/ 10204472 w 12191999"/>
              <a:gd name="connsiteY513" fmla="*/ 4560959 h 6858000"/>
              <a:gd name="connsiteX514" fmla="*/ 10213024 w 12191999"/>
              <a:gd name="connsiteY514" fmla="*/ 4493768 h 6858000"/>
              <a:gd name="connsiteX515" fmla="*/ 10209359 w 12191999"/>
              <a:gd name="connsiteY515" fmla="*/ 4345948 h 6858000"/>
              <a:gd name="connsiteX516" fmla="*/ 10325263 w 12191999"/>
              <a:gd name="connsiteY516" fmla="*/ 4307925 h 6858000"/>
              <a:gd name="connsiteX517" fmla="*/ 10432920 w 12191999"/>
              <a:gd name="connsiteY517" fmla="*/ 4364272 h 6858000"/>
              <a:gd name="connsiteX518" fmla="*/ 10423148 w 12191999"/>
              <a:gd name="connsiteY518" fmla="*/ 4486437 h 6858000"/>
              <a:gd name="connsiteX519" fmla="*/ 10393828 w 12191999"/>
              <a:gd name="connsiteY519" fmla="*/ 4531639 h 6858000"/>
              <a:gd name="connsiteX520" fmla="*/ 10459798 w 12191999"/>
              <a:gd name="connsiteY520" fmla="*/ 4569509 h 6858000"/>
              <a:gd name="connsiteX521" fmla="*/ 10660149 w 12191999"/>
              <a:gd name="connsiteY521" fmla="*/ 4568288 h 6858000"/>
              <a:gd name="connsiteX522" fmla="*/ 10700463 w 12191999"/>
              <a:gd name="connsiteY522" fmla="*/ 4607381 h 6858000"/>
              <a:gd name="connsiteX523" fmla="*/ 10699241 w 12191999"/>
              <a:gd name="connsiteY523" fmla="*/ 4802845 h 6858000"/>
              <a:gd name="connsiteX524" fmla="*/ 10672366 w 12191999"/>
              <a:gd name="connsiteY524" fmla="*/ 4876145 h 6858000"/>
              <a:gd name="connsiteX525" fmla="*/ 10591736 w 12191999"/>
              <a:gd name="connsiteY525" fmla="*/ 4872480 h 6858000"/>
              <a:gd name="connsiteX526" fmla="*/ 10518437 w 12191999"/>
              <a:gd name="connsiteY526" fmla="*/ 4833387 h 6858000"/>
              <a:gd name="connsiteX527" fmla="*/ 10443915 w 12191999"/>
              <a:gd name="connsiteY527" fmla="*/ 4917681 h 6858000"/>
              <a:gd name="connsiteX528" fmla="*/ 10486675 w 12191999"/>
              <a:gd name="connsiteY528" fmla="*/ 5054507 h 6858000"/>
              <a:gd name="connsiteX529" fmla="*/ 10580742 w 12191999"/>
              <a:gd name="connsiteY529" fmla="*/ 5045954 h 6858000"/>
              <a:gd name="connsiteX530" fmla="*/ 10643046 w 12191999"/>
              <a:gd name="connsiteY530" fmla="*/ 5009304 h 6858000"/>
              <a:gd name="connsiteX531" fmla="*/ 10699241 w 12191999"/>
              <a:gd name="connsiteY531" fmla="*/ 5089935 h 6858000"/>
              <a:gd name="connsiteX532" fmla="*/ 10700463 w 12191999"/>
              <a:gd name="connsiteY532" fmla="*/ 5308610 h 6858000"/>
              <a:gd name="connsiteX533" fmla="*/ 10695953 w 12191999"/>
              <a:gd name="connsiteY533" fmla="*/ 5325919 h 6858000"/>
              <a:gd name="connsiteX534" fmla="*/ 10695953 w 12191999"/>
              <a:gd name="connsiteY534" fmla="*/ 5342506 h 6858000"/>
              <a:gd name="connsiteX535" fmla="*/ 10697005 w 12191999"/>
              <a:gd name="connsiteY535" fmla="*/ 5340688 h 6858000"/>
              <a:gd name="connsiteX536" fmla="*/ 10739305 w 12191999"/>
              <a:gd name="connsiteY536" fmla="*/ 5333510 h 6858000"/>
              <a:gd name="connsiteX537" fmla="*/ 10924995 w 12191999"/>
              <a:gd name="connsiteY537" fmla="*/ 5334732 h 6858000"/>
              <a:gd name="connsiteX538" fmla="*/ 10993408 w 12191999"/>
              <a:gd name="connsiteY538" fmla="*/ 5294417 h 6858000"/>
              <a:gd name="connsiteX539" fmla="*/ 10960424 w 12191999"/>
              <a:gd name="connsiteY539" fmla="*/ 5250439 h 6858000"/>
              <a:gd name="connsiteX540" fmla="*/ 10945764 w 12191999"/>
              <a:gd name="connsiteY540" fmla="*/ 5140490 h 6858000"/>
              <a:gd name="connsiteX541" fmla="*/ 11174212 w 12191999"/>
              <a:gd name="connsiteY541" fmla="*/ 5111172 h 6858000"/>
              <a:gd name="connsiteX542" fmla="*/ 11169325 w 12191999"/>
              <a:gd name="connsiteY542" fmla="*/ 5261432 h 6858000"/>
              <a:gd name="connsiteX543" fmla="*/ 11170547 w 12191999"/>
              <a:gd name="connsiteY543" fmla="*/ 5321293 h 6858000"/>
              <a:gd name="connsiteX544" fmla="*/ 11224299 w 12191999"/>
              <a:gd name="connsiteY544" fmla="*/ 5335954 h 6858000"/>
              <a:gd name="connsiteX545" fmla="*/ 11429538 w 12191999"/>
              <a:gd name="connsiteY545" fmla="*/ 5335954 h 6858000"/>
              <a:gd name="connsiteX546" fmla="*/ 11457635 w 12191999"/>
              <a:gd name="connsiteY546" fmla="*/ 5361608 h 6858000"/>
              <a:gd name="connsiteX547" fmla="*/ 11456413 w 12191999"/>
              <a:gd name="connsiteY547" fmla="*/ 5585169 h 6858000"/>
              <a:gd name="connsiteX548" fmla="*/ 11397773 w 12191999"/>
              <a:gd name="connsiteY548" fmla="*/ 5663355 h 6858000"/>
              <a:gd name="connsiteX549" fmla="*/ 11340356 w 12191999"/>
              <a:gd name="connsiteY549" fmla="*/ 5627928 h 6858000"/>
              <a:gd name="connsiteX550" fmla="*/ 11242624 w 12191999"/>
              <a:gd name="connsiteY550" fmla="*/ 5618154 h 6858000"/>
              <a:gd name="connsiteX551" fmla="*/ 11198645 w 12191999"/>
              <a:gd name="connsiteY551" fmla="*/ 5731767 h 6858000"/>
              <a:gd name="connsiteX552" fmla="*/ 11271944 w 12191999"/>
              <a:gd name="connsiteY552" fmla="*/ 5838051 h 6858000"/>
              <a:gd name="connsiteX553" fmla="*/ 11352573 w 12191999"/>
              <a:gd name="connsiteY553" fmla="*/ 5795294 h 6858000"/>
              <a:gd name="connsiteX554" fmla="*/ 11424650 w 12191999"/>
              <a:gd name="connsiteY554" fmla="*/ 5791629 h 6858000"/>
              <a:gd name="connsiteX555" fmla="*/ 11456413 w 12191999"/>
              <a:gd name="connsiteY555" fmla="*/ 5862484 h 6858000"/>
              <a:gd name="connsiteX556" fmla="*/ 11456413 w 12191999"/>
              <a:gd name="connsiteY556" fmla="*/ 5995645 h 6858000"/>
              <a:gd name="connsiteX557" fmla="*/ 11450808 w 12191999"/>
              <a:gd name="connsiteY557" fmla="*/ 6076903 h 6858000"/>
              <a:gd name="connsiteX558" fmla="*/ 11443434 w 12191999"/>
              <a:gd name="connsiteY558" fmla="*/ 6089200 h 6858000"/>
              <a:gd name="connsiteX559" fmla="*/ 11447629 w 12191999"/>
              <a:gd name="connsiteY559" fmla="*/ 6089179 h 6858000"/>
              <a:gd name="connsiteX560" fmla="*/ 11460380 w 12191999"/>
              <a:gd name="connsiteY560" fmla="*/ 6094729 h 6858000"/>
              <a:gd name="connsiteX561" fmla="*/ 11461414 w 12191999"/>
              <a:gd name="connsiteY561" fmla="*/ 6089396 h 6858000"/>
              <a:gd name="connsiteX562" fmla="*/ 11491039 w 12191999"/>
              <a:gd name="connsiteY562" fmla="*/ 6081456 h 6858000"/>
              <a:gd name="connsiteX563" fmla="*/ 11686503 w 12191999"/>
              <a:gd name="connsiteY563" fmla="*/ 6082676 h 6858000"/>
              <a:gd name="connsiteX564" fmla="*/ 11732927 w 12191999"/>
              <a:gd name="connsiteY564" fmla="*/ 6074124 h 6858000"/>
              <a:gd name="connsiteX565" fmla="*/ 11741477 w 12191999"/>
              <a:gd name="connsiteY565" fmla="*/ 6008156 h 6858000"/>
              <a:gd name="connsiteX566" fmla="*/ 11698720 w 12191999"/>
              <a:gd name="connsiteY566" fmla="*/ 5923862 h 6858000"/>
              <a:gd name="connsiteX567" fmla="*/ 11785457 w 12191999"/>
              <a:gd name="connsiteY567" fmla="*/ 5829795 h 6858000"/>
              <a:gd name="connsiteX568" fmla="*/ 11834763 w 12191999"/>
              <a:gd name="connsiteY568" fmla="*/ 5820594 h 6858000"/>
              <a:gd name="connsiteX569" fmla="*/ 11961375 w 12191999"/>
              <a:gd name="connsiteY569" fmla="*/ 5878660 h 6858000"/>
              <a:gd name="connsiteX570" fmla="*/ 11949158 w 12191999"/>
              <a:gd name="connsiteY570" fmla="*/ 6003269 h 6858000"/>
              <a:gd name="connsiteX571" fmla="*/ 11922283 w 12191999"/>
              <a:gd name="connsiteY571" fmla="*/ 6046026 h 6858000"/>
              <a:gd name="connsiteX572" fmla="*/ 11983365 w 12191999"/>
              <a:gd name="connsiteY572" fmla="*/ 6082676 h 6858000"/>
              <a:gd name="connsiteX573" fmla="*/ 12183716 w 12191999"/>
              <a:gd name="connsiteY573" fmla="*/ 6081456 h 6858000"/>
              <a:gd name="connsiteX574" fmla="*/ 12191999 w 12191999"/>
              <a:gd name="connsiteY574" fmla="*/ 6083007 h 6858000"/>
              <a:gd name="connsiteX575" fmla="*/ 12191999 w 12191999"/>
              <a:gd name="connsiteY575" fmla="*/ 6858000 h 6858000"/>
              <a:gd name="connsiteX576" fmla="*/ 0 w 12191999"/>
              <a:gd name="connsiteY57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Lst>
            <a:rect l="l" t="t" r="r" b="b"/>
            <a:pathLst>
              <a:path w="12191999" h="6858000">
                <a:moveTo>
                  <a:pt x="10699779" y="6099402"/>
                </a:moveTo>
                <a:lnTo>
                  <a:pt x="10700365" y="6104567"/>
                </a:lnTo>
                <a:lnTo>
                  <a:pt x="10702406" y="6099903"/>
                </a:lnTo>
                <a:close/>
                <a:moveTo>
                  <a:pt x="9177921" y="6098901"/>
                </a:moveTo>
                <a:lnTo>
                  <a:pt x="9178505" y="6100344"/>
                </a:lnTo>
                <a:lnTo>
                  <a:pt x="9178605" y="6102927"/>
                </a:lnTo>
                <a:lnTo>
                  <a:pt x="9183635" y="6102927"/>
                </a:lnTo>
                <a:lnTo>
                  <a:pt x="9185303" y="6100308"/>
                </a:lnTo>
                <a:close/>
                <a:moveTo>
                  <a:pt x="5342410" y="5330181"/>
                </a:moveTo>
                <a:lnTo>
                  <a:pt x="5338269" y="5332661"/>
                </a:lnTo>
                <a:lnTo>
                  <a:pt x="5322064" y="5334006"/>
                </a:lnTo>
                <a:lnTo>
                  <a:pt x="5335111" y="5336578"/>
                </a:lnTo>
                <a:lnTo>
                  <a:pt x="5337848" y="5340523"/>
                </a:lnTo>
                <a:lnTo>
                  <a:pt x="5338130" y="5335883"/>
                </a:lnTo>
                <a:close/>
                <a:moveTo>
                  <a:pt x="11820900" y="4311166"/>
                </a:moveTo>
                <a:cubicBezTo>
                  <a:pt x="11873927" y="4308131"/>
                  <a:pt x="11925923" y="4331037"/>
                  <a:pt x="11955244" y="4373182"/>
                </a:cubicBezTo>
                <a:cubicBezTo>
                  <a:pt x="11985785" y="4418384"/>
                  <a:pt x="11980898" y="4451368"/>
                  <a:pt x="11941805" y="4490463"/>
                </a:cubicBezTo>
                <a:cubicBezTo>
                  <a:pt x="11929590" y="4502678"/>
                  <a:pt x="11901490" y="4507563"/>
                  <a:pt x="11911265" y="4531997"/>
                </a:cubicBezTo>
                <a:cubicBezTo>
                  <a:pt x="11922260" y="4557650"/>
                  <a:pt x="11944250" y="4573534"/>
                  <a:pt x="11974790" y="4572310"/>
                </a:cubicBezTo>
                <a:cubicBezTo>
                  <a:pt x="12041982" y="4571090"/>
                  <a:pt x="12107951" y="4573534"/>
                  <a:pt x="12175141" y="4571090"/>
                </a:cubicBezTo>
                <a:lnTo>
                  <a:pt x="12191999" y="4574294"/>
                </a:lnTo>
                <a:lnTo>
                  <a:pt x="12191999" y="5337457"/>
                </a:lnTo>
                <a:lnTo>
                  <a:pt x="12177584" y="5340730"/>
                </a:lnTo>
                <a:cubicBezTo>
                  <a:pt x="12112836" y="5338287"/>
                  <a:pt x="12048089" y="5339507"/>
                  <a:pt x="11982120" y="5339507"/>
                </a:cubicBezTo>
                <a:cubicBezTo>
                  <a:pt x="11962574" y="5339507"/>
                  <a:pt x="11944250" y="5340730"/>
                  <a:pt x="11928367" y="5354166"/>
                </a:cubicBezTo>
                <a:cubicBezTo>
                  <a:pt x="11908820" y="5372491"/>
                  <a:pt x="11896605" y="5388373"/>
                  <a:pt x="11927145" y="5409142"/>
                </a:cubicBezTo>
                <a:cubicBezTo>
                  <a:pt x="11960130" y="5432354"/>
                  <a:pt x="11987007" y="5462893"/>
                  <a:pt x="11971125" y="5504430"/>
                </a:cubicBezTo>
                <a:cubicBezTo>
                  <a:pt x="11955244" y="5548410"/>
                  <a:pt x="11924702" y="5582614"/>
                  <a:pt x="11873393" y="5592389"/>
                </a:cubicBezTo>
                <a:cubicBezTo>
                  <a:pt x="11795208" y="5608269"/>
                  <a:pt x="11739011" y="5587502"/>
                  <a:pt x="11703584" y="5530084"/>
                </a:cubicBezTo>
                <a:cubicBezTo>
                  <a:pt x="11676707" y="5486105"/>
                  <a:pt x="11682816" y="5456786"/>
                  <a:pt x="11723129" y="5417694"/>
                </a:cubicBezTo>
                <a:cubicBezTo>
                  <a:pt x="11735346" y="5406699"/>
                  <a:pt x="11763444" y="5401812"/>
                  <a:pt x="11751228" y="5374936"/>
                </a:cubicBezTo>
                <a:cubicBezTo>
                  <a:pt x="11739011" y="5350502"/>
                  <a:pt x="11718244" y="5338287"/>
                  <a:pt x="11690146" y="5338287"/>
                </a:cubicBezTo>
                <a:cubicBezTo>
                  <a:pt x="11622955" y="5338287"/>
                  <a:pt x="11556985" y="5335842"/>
                  <a:pt x="11489795" y="5339507"/>
                </a:cubicBezTo>
                <a:cubicBezTo>
                  <a:pt x="11453145" y="5341952"/>
                  <a:pt x="11443371" y="5329735"/>
                  <a:pt x="11447036" y="5295528"/>
                </a:cubicBezTo>
                <a:cubicBezTo>
                  <a:pt x="11451923" y="5266207"/>
                  <a:pt x="11449481" y="5234446"/>
                  <a:pt x="11449481" y="5202683"/>
                </a:cubicBezTo>
                <a:cubicBezTo>
                  <a:pt x="11449481" y="5166034"/>
                  <a:pt x="11450701" y="5129384"/>
                  <a:pt x="11449481" y="5092735"/>
                </a:cubicBezTo>
                <a:cubicBezTo>
                  <a:pt x="11448258" y="5058528"/>
                  <a:pt x="11466583" y="5036539"/>
                  <a:pt x="11492238" y="5018215"/>
                </a:cubicBezTo>
                <a:cubicBezTo>
                  <a:pt x="11511785" y="5004774"/>
                  <a:pt x="11528888" y="5007220"/>
                  <a:pt x="11545990" y="5025544"/>
                </a:cubicBezTo>
                <a:cubicBezTo>
                  <a:pt x="11608295" y="5089069"/>
                  <a:pt x="11622955" y="5091513"/>
                  <a:pt x="11668156" y="5051198"/>
                </a:cubicBezTo>
                <a:cubicBezTo>
                  <a:pt x="11713357" y="5010884"/>
                  <a:pt x="11720686" y="4925368"/>
                  <a:pt x="11682816" y="4877723"/>
                </a:cubicBezTo>
                <a:cubicBezTo>
                  <a:pt x="11638837" y="4822748"/>
                  <a:pt x="11602187" y="4821529"/>
                  <a:pt x="11555765" y="4874058"/>
                </a:cubicBezTo>
                <a:cubicBezTo>
                  <a:pt x="11543547" y="4887496"/>
                  <a:pt x="11536218" y="4913152"/>
                  <a:pt x="11508120" y="4902158"/>
                </a:cubicBezTo>
                <a:cubicBezTo>
                  <a:pt x="11477578" y="4891162"/>
                  <a:pt x="11451923" y="4871616"/>
                  <a:pt x="11450701" y="4839852"/>
                </a:cubicBezTo>
                <a:cubicBezTo>
                  <a:pt x="11447036" y="4758002"/>
                  <a:pt x="11449481" y="4674930"/>
                  <a:pt x="11448258" y="4591857"/>
                </a:cubicBezTo>
                <a:cubicBezTo>
                  <a:pt x="11448258" y="4567425"/>
                  <a:pt x="11465361" y="4573534"/>
                  <a:pt x="11477578" y="4573534"/>
                </a:cubicBezTo>
                <a:cubicBezTo>
                  <a:pt x="11544768" y="4573534"/>
                  <a:pt x="11610737" y="4573534"/>
                  <a:pt x="11677929" y="4573534"/>
                </a:cubicBezTo>
                <a:cubicBezTo>
                  <a:pt x="11695032" y="4573534"/>
                  <a:pt x="11713357" y="4574756"/>
                  <a:pt x="11728016" y="4562539"/>
                </a:cubicBezTo>
                <a:cubicBezTo>
                  <a:pt x="11751228" y="4544213"/>
                  <a:pt x="11769553" y="4529553"/>
                  <a:pt x="11735346" y="4500233"/>
                </a:cubicBezTo>
                <a:cubicBezTo>
                  <a:pt x="11666934" y="4441595"/>
                  <a:pt x="11682816" y="4358522"/>
                  <a:pt x="11768331" y="4323095"/>
                </a:cubicBezTo>
                <a:cubicBezTo>
                  <a:pt x="11785434" y="4316070"/>
                  <a:pt x="11803224" y="4312177"/>
                  <a:pt x="11820900" y="4311166"/>
                </a:cubicBezTo>
                <a:close/>
                <a:moveTo>
                  <a:pt x="5742911" y="3557222"/>
                </a:moveTo>
                <a:cubicBezTo>
                  <a:pt x="5785237" y="3561738"/>
                  <a:pt x="5826597" y="3581666"/>
                  <a:pt x="5851336" y="3613963"/>
                </a:cubicBezTo>
                <a:cubicBezTo>
                  <a:pt x="5884320" y="3659163"/>
                  <a:pt x="5880655" y="3697035"/>
                  <a:pt x="5840341" y="3736128"/>
                </a:cubicBezTo>
                <a:cubicBezTo>
                  <a:pt x="5828123" y="3748345"/>
                  <a:pt x="5795140" y="3750787"/>
                  <a:pt x="5811021" y="3780107"/>
                </a:cubicBezTo>
                <a:cubicBezTo>
                  <a:pt x="5823239" y="3804540"/>
                  <a:pt x="5844004" y="3815534"/>
                  <a:pt x="5873327" y="3815534"/>
                </a:cubicBezTo>
                <a:cubicBezTo>
                  <a:pt x="5942958" y="3814314"/>
                  <a:pt x="6012594" y="3816757"/>
                  <a:pt x="6082230" y="3814314"/>
                </a:cubicBezTo>
                <a:cubicBezTo>
                  <a:pt x="6102386" y="3813398"/>
                  <a:pt x="6112234" y="3817291"/>
                  <a:pt x="6115900" y="3831149"/>
                </a:cubicBezTo>
                <a:lnTo>
                  <a:pt x="6116334" y="3835442"/>
                </a:lnTo>
                <a:lnTo>
                  <a:pt x="6135367" y="3820781"/>
                </a:lnTo>
                <a:cubicBezTo>
                  <a:pt x="6143326" y="3819255"/>
                  <a:pt x="6153251" y="3819407"/>
                  <a:pt x="6165468" y="3821240"/>
                </a:cubicBezTo>
                <a:cubicBezTo>
                  <a:pt x="6193565" y="3826127"/>
                  <a:pt x="6221664" y="3822462"/>
                  <a:pt x="6250984" y="3822462"/>
                </a:cubicBezTo>
                <a:cubicBezTo>
                  <a:pt x="6286411" y="3822462"/>
                  <a:pt x="6320618" y="3823685"/>
                  <a:pt x="6356045" y="3822462"/>
                </a:cubicBezTo>
                <a:cubicBezTo>
                  <a:pt x="6393917" y="3821240"/>
                  <a:pt x="6419570" y="3842009"/>
                  <a:pt x="6434230" y="3873772"/>
                </a:cubicBezTo>
                <a:cubicBezTo>
                  <a:pt x="6451333" y="3907977"/>
                  <a:pt x="6419570" y="3920194"/>
                  <a:pt x="6401245" y="3938519"/>
                </a:cubicBezTo>
                <a:cubicBezTo>
                  <a:pt x="6362153" y="3975168"/>
                  <a:pt x="6359710" y="3998381"/>
                  <a:pt x="6395138" y="4039916"/>
                </a:cubicBezTo>
                <a:cubicBezTo>
                  <a:pt x="6437895" y="4090005"/>
                  <a:pt x="6527076" y="4097333"/>
                  <a:pt x="6574721" y="4054576"/>
                </a:cubicBezTo>
                <a:cubicBezTo>
                  <a:pt x="6628473" y="4008153"/>
                  <a:pt x="6628473" y="3977611"/>
                  <a:pt x="6575941" y="3931189"/>
                </a:cubicBezTo>
                <a:cubicBezTo>
                  <a:pt x="6562504" y="3918974"/>
                  <a:pt x="6538071" y="3910422"/>
                  <a:pt x="6547844" y="3883545"/>
                </a:cubicBezTo>
                <a:cubicBezTo>
                  <a:pt x="6558839" y="3853004"/>
                  <a:pt x="6578386" y="3827349"/>
                  <a:pt x="6610148" y="3826127"/>
                </a:cubicBezTo>
                <a:cubicBezTo>
                  <a:pt x="6691998" y="3822462"/>
                  <a:pt x="6775070" y="3824905"/>
                  <a:pt x="6856921" y="3823685"/>
                </a:cubicBezTo>
                <a:cubicBezTo>
                  <a:pt x="6881354" y="3823685"/>
                  <a:pt x="6875246" y="3840787"/>
                  <a:pt x="6875246" y="3853004"/>
                </a:cubicBezTo>
                <a:cubicBezTo>
                  <a:pt x="6875246" y="3920194"/>
                  <a:pt x="6875246" y="3986164"/>
                  <a:pt x="6875246" y="4053355"/>
                </a:cubicBezTo>
                <a:cubicBezTo>
                  <a:pt x="6875246" y="4074123"/>
                  <a:pt x="6877689" y="4093668"/>
                  <a:pt x="6892348" y="4110773"/>
                </a:cubicBezTo>
                <a:cubicBezTo>
                  <a:pt x="6911895" y="4132762"/>
                  <a:pt x="6926555" y="4137648"/>
                  <a:pt x="6948545" y="4110773"/>
                </a:cubicBezTo>
                <a:cubicBezTo>
                  <a:pt x="7005962" y="4043581"/>
                  <a:pt x="7068267" y="4049690"/>
                  <a:pt x="7117131" y="4126653"/>
                </a:cubicBezTo>
                <a:cubicBezTo>
                  <a:pt x="7155003" y="4186514"/>
                  <a:pt x="7136679" y="4286688"/>
                  <a:pt x="7080482" y="4328224"/>
                </a:cubicBezTo>
                <a:cubicBezTo>
                  <a:pt x="7034060" y="4362430"/>
                  <a:pt x="6999854" y="4357545"/>
                  <a:pt x="6959540" y="4317229"/>
                </a:cubicBezTo>
                <a:cubicBezTo>
                  <a:pt x="6947323" y="4305014"/>
                  <a:pt x="6942436" y="4273250"/>
                  <a:pt x="6914338" y="4287910"/>
                </a:cubicBezTo>
                <a:cubicBezTo>
                  <a:pt x="6891126" y="4300127"/>
                  <a:pt x="6877689" y="4320896"/>
                  <a:pt x="6877689" y="4350213"/>
                </a:cubicBezTo>
                <a:cubicBezTo>
                  <a:pt x="6878911" y="4417403"/>
                  <a:pt x="6876468" y="4483374"/>
                  <a:pt x="6878911" y="4550565"/>
                </a:cubicBezTo>
                <a:cubicBezTo>
                  <a:pt x="6880133" y="4582327"/>
                  <a:pt x="6874024" y="4594544"/>
                  <a:pt x="6838596" y="4592100"/>
                </a:cubicBezTo>
                <a:cubicBezTo>
                  <a:pt x="6775070" y="4588436"/>
                  <a:pt x="6711545" y="4590880"/>
                  <a:pt x="6648020" y="4590880"/>
                </a:cubicBezTo>
                <a:cubicBezTo>
                  <a:pt x="6628473" y="4590880"/>
                  <a:pt x="6610148" y="4592100"/>
                  <a:pt x="6594266" y="4604318"/>
                </a:cubicBezTo>
                <a:cubicBezTo>
                  <a:pt x="6571056" y="4623864"/>
                  <a:pt x="6562504" y="4638522"/>
                  <a:pt x="6591823" y="4662956"/>
                </a:cubicBezTo>
                <a:cubicBezTo>
                  <a:pt x="6655348" y="4715488"/>
                  <a:pt x="6652905" y="4766796"/>
                  <a:pt x="6589381" y="4819328"/>
                </a:cubicBezTo>
                <a:cubicBezTo>
                  <a:pt x="6530741" y="4866973"/>
                  <a:pt x="6422015" y="4855979"/>
                  <a:pt x="6375592" y="4796116"/>
                </a:cubicBezTo>
                <a:cubicBezTo>
                  <a:pt x="6338943" y="4749693"/>
                  <a:pt x="6342608" y="4711821"/>
                  <a:pt x="6385365" y="4670287"/>
                </a:cubicBezTo>
                <a:cubicBezTo>
                  <a:pt x="6397580" y="4658070"/>
                  <a:pt x="6425680" y="4653182"/>
                  <a:pt x="6415905" y="4628749"/>
                </a:cubicBezTo>
                <a:cubicBezTo>
                  <a:pt x="6404910" y="4603096"/>
                  <a:pt x="6381700" y="4588436"/>
                  <a:pt x="6351158" y="4589658"/>
                </a:cubicBezTo>
                <a:cubicBezTo>
                  <a:pt x="6283968" y="4590880"/>
                  <a:pt x="6217999" y="4587214"/>
                  <a:pt x="6150809" y="4590880"/>
                </a:cubicBezTo>
                <a:cubicBezTo>
                  <a:pt x="6133707" y="4591491"/>
                  <a:pt x="6123322" y="4589047"/>
                  <a:pt x="6117367" y="4582327"/>
                </a:cubicBezTo>
                <a:lnTo>
                  <a:pt x="6114197" y="4575109"/>
                </a:lnTo>
                <a:lnTo>
                  <a:pt x="6109104" y="4582272"/>
                </a:lnTo>
                <a:cubicBezTo>
                  <a:pt x="6104218" y="4585785"/>
                  <a:pt x="6096888" y="4586396"/>
                  <a:pt x="6087114" y="4586396"/>
                </a:cubicBezTo>
                <a:cubicBezTo>
                  <a:pt x="6012594" y="4585175"/>
                  <a:pt x="5938072" y="4586396"/>
                  <a:pt x="5863552" y="4586396"/>
                </a:cubicBezTo>
                <a:cubicBezTo>
                  <a:pt x="5837898" y="4586396"/>
                  <a:pt x="5818351" y="4572957"/>
                  <a:pt x="5802472" y="4555854"/>
                </a:cubicBezTo>
                <a:cubicBezTo>
                  <a:pt x="5778036" y="4528977"/>
                  <a:pt x="5774373" y="4504545"/>
                  <a:pt x="5807356" y="4480114"/>
                </a:cubicBezTo>
                <a:cubicBezTo>
                  <a:pt x="5833011" y="4461788"/>
                  <a:pt x="5863552" y="4441018"/>
                  <a:pt x="5847670" y="4403148"/>
                </a:cubicBezTo>
                <a:cubicBezTo>
                  <a:pt x="5830567" y="4361611"/>
                  <a:pt x="5801250" y="4332291"/>
                  <a:pt x="5752384" y="4329849"/>
                </a:cubicBezTo>
                <a:cubicBezTo>
                  <a:pt x="5704740" y="4327406"/>
                  <a:pt x="5660758" y="4329849"/>
                  <a:pt x="5628995" y="4372606"/>
                </a:cubicBezTo>
                <a:cubicBezTo>
                  <a:pt x="5599676" y="4412923"/>
                  <a:pt x="5600896" y="4436133"/>
                  <a:pt x="5638769" y="4470339"/>
                </a:cubicBezTo>
                <a:cubicBezTo>
                  <a:pt x="5655874" y="4486221"/>
                  <a:pt x="5688856" y="4493550"/>
                  <a:pt x="5674197" y="4527758"/>
                </a:cubicBezTo>
                <a:cubicBezTo>
                  <a:pt x="5659538" y="4564408"/>
                  <a:pt x="5632660" y="4586396"/>
                  <a:pt x="5591125" y="4586396"/>
                </a:cubicBezTo>
                <a:cubicBezTo>
                  <a:pt x="5520269" y="4586396"/>
                  <a:pt x="5448192" y="4585175"/>
                  <a:pt x="5377337" y="4586396"/>
                </a:cubicBezTo>
                <a:cubicBezTo>
                  <a:pt x="5350458" y="4587617"/>
                  <a:pt x="5346796" y="4576623"/>
                  <a:pt x="5346796" y="4553411"/>
                </a:cubicBezTo>
                <a:cubicBezTo>
                  <a:pt x="5348016" y="4486221"/>
                  <a:pt x="5346796" y="4420251"/>
                  <a:pt x="5348016" y="4353059"/>
                </a:cubicBezTo>
                <a:cubicBezTo>
                  <a:pt x="5348016" y="4329849"/>
                  <a:pt x="5344352" y="4309081"/>
                  <a:pt x="5327249" y="4291978"/>
                </a:cubicBezTo>
                <a:cubicBezTo>
                  <a:pt x="5310145" y="4274875"/>
                  <a:pt x="5295486" y="4267544"/>
                  <a:pt x="5278383" y="4293199"/>
                </a:cubicBezTo>
                <a:cubicBezTo>
                  <a:pt x="5253948" y="4328628"/>
                  <a:pt x="5222185" y="4357946"/>
                  <a:pt x="5174543" y="4337181"/>
                </a:cubicBezTo>
                <a:cubicBezTo>
                  <a:pt x="5125677" y="4315189"/>
                  <a:pt x="5092692" y="4279761"/>
                  <a:pt x="5089026" y="4221122"/>
                </a:cubicBezTo>
                <a:cubicBezTo>
                  <a:pt x="5085363" y="4164927"/>
                  <a:pt x="5093914" y="4113618"/>
                  <a:pt x="5144002" y="4078190"/>
                </a:cubicBezTo>
                <a:cubicBezTo>
                  <a:pt x="5191646" y="4043983"/>
                  <a:pt x="5224631" y="4046428"/>
                  <a:pt x="5264946" y="4087965"/>
                </a:cubicBezTo>
                <a:cubicBezTo>
                  <a:pt x="5277159" y="4101402"/>
                  <a:pt x="5283271" y="4130722"/>
                  <a:pt x="5311367" y="4117283"/>
                </a:cubicBezTo>
                <a:cubicBezTo>
                  <a:pt x="5335801" y="4105067"/>
                  <a:pt x="5346796" y="4083077"/>
                  <a:pt x="5346796" y="4054980"/>
                </a:cubicBezTo>
                <a:cubicBezTo>
                  <a:pt x="5346796" y="3986566"/>
                  <a:pt x="5348016" y="3918154"/>
                  <a:pt x="5345574" y="3849742"/>
                </a:cubicBezTo>
                <a:cubicBezTo>
                  <a:pt x="5344352" y="3821644"/>
                  <a:pt x="5349236" y="3809427"/>
                  <a:pt x="5381003" y="3811870"/>
                </a:cubicBezTo>
                <a:cubicBezTo>
                  <a:pt x="5416429" y="3817979"/>
                  <a:pt x="5451858" y="3815534"/>
                  <a:pt x="5486063" y="3815534"/>
                </a:cubicBezTo>
                <a:cubicBezTo>
                  <a:pt x="5522713" y="3815534"/>
                  <a:pt x="5559361" y="3814314"/>
                  <a:pt x="5596012" y="3815534"/>
                </a:cubicBezTo>
                <a:cubicBezTo>
                  <a:pt x="5624110" y="3816757"/>
                  <a:pt x="5641213" y="3799654"/>
                  <a:pt x="5650984" y="3777664"/>
                </a:cubicBezTo>
                <a:cubicBezTo>
                  <a:pt x="5660758" y="3755674"/>
                  <a:pt x="5636325" y="3748345"/>
                  <a:pt x="5625329" y="3738570"/>
                </a:cubicBezTo>
                <a:cubicBezTo>
                  <a:pt x="5567914" y="3684820"/>
                  <a:pt x="5576466" y="3622514"/>
                  <a:pt x="5649765" y="3576091"/>
                </a:cubicBezTo>
                <a:cubicBezTo>
                  <a:pt x="5665035" y="3566624"/>
                  <a:pt x="5682520" y="3560668"/>
                  <a:pt x="5700845" y="3557958"/>
                </a:cubicBezTo>
                <a:cubicBezTo>
                  <a:pt x="5714588" y="3555925"/>
                  <a:pt x="5728804" y="3555718"/>
                  <a:pt x="5742911" y="3557222"/>
                </a:cubicBezTo>
                <a:close/>
                <a:moveTo>
                  <a:pt x="5726517" y="2017504"/>
                </a:moveTo>
                <a:cubicBezTo>
                  <a:pt x="5769733" y="2023154"/>
                  <a:pt x="5810962" y="2045754"/>
                  <a:pt x="5834786" y="2083015"/>
                </a:cubicBezTo>
                <a:cubicBezTo>
                  <a:pt x="5861661" y="2124551"/>
                  <a:pt x="5855555" y="2157535"/>
                  <a:pt x="5820126" y="2192965"/>
                </a:cubicBezTo>
                <a:cubicBezTo>
                  <a:pt x="5806689" y="2206402"/>
                  <a:pt x="5777368" y="2210067"/>
                  <a:pt x="5787140" y="2236943"/>
                </a:cubicBezTo>
                <a:cubicBezTo>
                  <a:pt x="5798136" y="2266262"/>
                  <a:pt x="5823790" y="2277258"/>
                  <a:pt x="5855555" y="2277258"/>
                </a:cubicBezTo>
                <a:cubicBezTo>
                  <a:pt x="5917857" y="2276037"/>
                  <a:pt x="5978941" y="2279702"/>
                  <a:pt x="6041243" y="2276037"/>
                </a:cubicBezTo>
                <a:cubicBezTo>
                  <a:pt x="6080338" y="2273592"/>
                  <a:pt x="6097440" y="2280923"/>
                  <a:pt x="6093775" y="2326124"/>
                </a:cubicBezTo>
                <a:cubicBezTo>
                  <a:pt x="6088888" y="2389649"/>
                  <a:pt x="6093775" y="2453175"/>
                  <a:pt x="6092553" y="2516703"/>
                </a:cubicBezTo>
                <a:cubicBezTo>
                  <a:pt x="6092553" y="2543577"/>
                  <a:pt x="6101105" y="2561902"/>
                  <a:pt x="6121873" y="2577785"/>
                </a:cubicBezTo>
                <a:cubicBezTo>
                  <a:pt x="6134090" y="2586335"/>
                  <a:pt x="6142641" y="2585115"/>
                  <a:pt x="6154856" y="2574120"/>
                </a:cubicBezTo>
                <a:cubicBezTo>
                  <a:pt x="6241593" y="2494711"/>
                  <a:pt x="6290460" y="2503263"/>
                  <a:pt x="6351542" y="2611990"/>
                </a:cubicBezTo>
                <a:cubicBezTo>
                  <a:pt x="6352764" y="2644975"/>
                  <a:pt x="6352764" y="2676738"/>
                  <a:pt x="6352764" y="2708501"/>
                </a:cubicBezTo>
                <a:cubicBezTo>
                  <a:pt x="6338104" y="2734156"/>
                  <a:pt x="6325887" y="2761033"/>
                  <a:pt x="6300232" y="2779356"/>
                </a:cubicBezTo>
                <a:cubicBezTo>
                  <a:pt x="6251367" y="2817228"/>
                  <a:pt x="6212273" y="2813563"/>
                  <a:pt x="6170739" y="2769584"/>
                </a:cubicBezTo>
                <a:cubicBezTo>
                  <a:pt x="6159745" y="2757366"/>
                  <a:pt x="6154856" y="2729269"/>
                  <a:pt x="6129202" y="2742708"/>
                </a:cubicBezTo>
                <a:cubicBezTo>
                  <a:pt x="6107212" y="2753701"/>
                  <a:pt x="6093775" y="2772026"/>
                  <a:pt x="6093775" y="2800124"/>
                </a:cubicBezTo>
                <a:cubicBezTo>
                  <a:pt x="6094997" y="2869758"/>
                  <a:pt x="6092553" y="2939392"/>
                  <a:pt x="6094997" y="3009027"/>
                </a:cubicBezTo>
                <a:cubicBezTo>
                  <a:pt x="6096218" y="3042011"/>
                  <a:pt x="6085222" y="3048121"/>
                  <a:pt x="6054683" y="3046899"/>
                </a:cubicBezTo>
                <a:cubicBezTo>
                  <a:pt x="5989937" y="3044455"/>
                  <a:pt x="5923966" y="3045676"/>
                  <a:pt x="5859220" y="3045676"/>
                </a:cubicBezTo>
                <a:cubicBezTo>
                  <a:pt x="5839672" y="3045676"/>
                  <a:pt x="5821349" y="3046899"/>
                  <a:pt x="5805467" y="3060336"/>
                </a:cubicBezTo>
                <a:cubicBezTo>
                  <a:pt x="5785921" y="3078662"/>
                  <a:pt x="5774925" y="3095764"/>
                  <a:pt x="5804246" y="3116533"/>
                </a:cubicBezTo>
                <a:cubicBezTo>
                  <a:pt x="5834786" y="3138522"/>
                  <a:pt x="5861661" y="3165399"/>
                  <a:pt x="5849445" y="3206935"/>
                </a:cubicBezTo>
                <a:cubicBezTo>
                  <a:pt x="5834786" y="3254578"/>
                  <a:pt x="5803023" y="3288785"/>
                  <a:pt x="5751713" y="3299780"/>
                </a:cubicBezTo>
                <a:cubicBezTo>
                  <a:pt x="5674750" y="3315662"/>
                  <a:pt x="5616113" y="3293673"/>
                  <a:pt x="5581905" y="3237475"/>
                </a:cubicBezTo>
                <a:cubicBezTo>
                  <a:pt x="5555029" y="3193496"/>
                  <a:pt x="5561135" y="3162956"/>
                  <a:pt x="5601451" y="3125084"/>
                </a:cubicBezTo>
                <a:cubicBezTo>
                  <a:pt x="5613669" y="3114088"/>
                  <a:pt x="5640546" y="3109203"/>
                  <a:pt x="5629551" y="3083549"/>
                </a:cubicBezTo>
                <a:cubicBezTo>
                  <a:pt x="5619775" y="3059114"/>
                  <a:pt x="5599008" y="3046899"/>
                  <a:pt x="5573353" y="3045676"/>
                </a:cubicBezTo>
                <a:cubicBezTo>
                  <a:pt x="5525708" y="3044455"/>
                  <a:pt x="5478065" y="3045676"/>
                  <a:pt x="5430421" y="3045676"/>
                </a:cubicBezTo>
                <a:cubicBezTo>
                  <a:pt x="5324139" y="3045676"/>
                  <a:pt x="5324139" y="3045676"/>
                  <a:pt x="5324139" y="2938172"/>
                </a:cubicBezTo>
                <a:cubicBezTo>
                  <a:pt x="5324139" y="2894192"/>
                  <a:pt x="5325358" y="2848990"/>
                  <a:pt x="5324139" y="2805010"/>
                </a:cubicBezTo>
                <a:cubicBezTo>
                  <a:pt x="5322917" y="2775691"/>
                  <a:pt x="5335133" y="2752481"/>
                  <a:pt x="5355900" y="2734156"/>
                </a:cubicBezTo>
                <a:cubicBezTo>
                  <a:pt x="5380332" y="2712165"/>
                  <a:pt x="5403544" y="2707279"/>
                  <a:pt x="5427977" y="2737821"/>
                </a:cubicBezTo>
                <a:cubicBezTo>
                  <a:pt x="5447526" y="2763474"/>
                  <a:pt x="5467069" y="2795238"/>
                  <a:pt x="5508607" y="2780578"/>
                </a:cubicBezTo>
                <a:cubicBezTo>
                  <a:pt x="5552586" y="2765919"/>
                  <a:pt x="5579462" y="2724383"/>
                  <a:pt x="5581905" y="2674294"/>
                </a:cubicBezTo>
                <a:cubicBezTo>
                  <a:pt x="5584348" y="2629092"/>
                  <a:pt x="5577018" y="2590001"/>
                  <a:pt x="5537926" y="2560681"/>
                </a:cubicBezTo>
                <a:cubicBezTo>
                  <a:pt x="5497612" y="2530140"/>
                  <a:pt x="5475621" y="2532583"/>
                  <a:pt x="5440195" y="2570454"/>
                </a:cubicBezTo>
                <a:cubicBezTo>
                  <a:pt x="5424312" y="2587558"/>
                  <a:pt x="5418205" y="2619320"/>
                  <a:pt x="5382779" y="2605882"/>
                </a:cubicBezTo>
                <a:cubicBezTo>
                  <a:pt x="5347348" y="2591221"/>
                  <a:pt x="5325358" y="2565567"/>
                  <a:pt x="5324139" y="2527695"/>
                </a:cubicBezTo>
                <a:cubicBezTo>
                  <a:pt x="5322917" y="2453175"/>
                  <a:pt x="5324139" y="2378654"/>
                  <a:pt x="5322917" y="2304134"/>
                </a:cubicBezTo>
                <a:cubicBezTo>
                  <a:pt x="5322917" y="2280923"/>
                  <a:pt x="5332689" y="2278479"/>
                  <a:pt x="5351016" y="2278479"/>
                </a:cubicBezTo>
                <a:cubicBezTo>
                  <a:pt x="5419427" y="2279702"/>
                  <a:pt x="5487839" y="2278479"/>
                  <a:pt x="5556254" y="2278479"/>
                </a:cubicBezTo>
                <a:cubicBezTo>
                  <a:pt x="5575797" y="2278479"/>
                  <a:pt x="5594120" y="2277258"/>
                  <a:pt x="5610003" y="2263820"/>
                </a:cubicBezTo>
                <a:cubicBezTo>
                  <a:pt x="5631992" y="2244274"/>
                  <a:pt x="5641767" y="2228392"/>
                  <a:pt x="5611225" y="2203958"/>
                </a:cubicBezTo>
                <a:cubicBezTo>
                  <a:pt x="5547698" y="2152649"/>
                  <a:pt x="5548920" y="2108671"/>
                  <a:pt x="5606337" y="2053696"/>
                </a:cubicBezTo>
                <a:cubicBezTo>
                  <a:pt x="5638102" y="2023155"/>
                  <a:pt x="5683302" y="2011854"/>
                  <a:pt x="5726517" y="2017504"/>
                </a:cubicBezTo>
                <a:close/>
                <a:moveTo>
                  <a:pt x="0" y="0"/>
                </a:moveTo>
                <a:lnTo>
                  <a:pt x="5329115" y="0"/>
                </a:lnTo>
                <a:lnTo>
                  <a:pt x="5332434" y="5729"/>
                </a:lnTo>
                <a:cubicBezTo>
                  <a:pt x="5333904" y="11284"/>
                  <a:pt x="5334438" y="18309"/>
                  <a:pt x="5334132" y="27166"/>
                </a:cubicBezTo>
                <a:cubicBezTo>
                  <a:pt x="5331688" y="93135"/>
                  <a:pt x="5332910" y="160325"/>
                  <a:pt x="5332910" y="227517"/>
                </a:cubicBezTo>
                <a:cubicBezTo>
                  <a:pt x="5332910" y="245842"/>
                  <a:pt x="5334132" y="262944"/>
                  <a:pt x="5346347" y="276382"/>
                </a:cubicBezTo>
                <a:cubicBezTo>
                  <a:pt x="5364674" y="295929"/>
                  <a:pt x="5378111" y="304481"/>
                  <a:pt x="5402544" y="277604"/>
                </a:cubicBezTo>
                <a:cubicBezTo>
                  <a:pt x="5463627" y="204305"/>
                  <a:pt x="5551584" y="225072"/>
                  <a:pt x="5582127" y="317919"/>
                </a:cubicBezTo>
                <a:cubicBezTo>
                  <a:pt x="5606557" y="392438"/>
                  <a:pt x="5583346" y="463295"/>
                  <a:pt x="5523486" y="501165"/>
                </a:cubicBezTo>
                <a:cubicBezTo>
                  <a:pt x="5479508" y="529263"/>
                  <a:pt x="5450188" y="523155"/>
                  <a:pt x="5411097" y="481620"/>
                </a:cubicBezTo>
                <a:cubicBezTo>
                  <a:pt x="5398879" y="469403"/>
                  <a:pt x="5393991" y="441305"/>
                  <a:pt x="5369558" y="453522"/>
                </a:cubicBezTo>
                <a:cubicBezTo>
                  <a:pt x="5345127" y="464516"/>
                  <a:pt x="5332910" y="485285"/>
                  <a:pt x="5332910" y="514605"/>
                </a:cubicBezTo>
                <a:cubicBezTo>
                  <a:pt x="5334132" y="583017"/>
                  <a:pt x="5331688" y="651429"/>
                  <a:pt x="5334132" y="719841"/>
                </a:cubicBezTo>
                <a:cubicBezTo>
                  <a:pt x="5335356" y="750383"/>
                  <a:pt x="5328023" y="761378"/>
                  <a:pt x="5295041" y="760156"/>
                </a:cubicBezTo>
                <a:cubicBezTo>
                  <a:pt x="5229072" y="757713"/>
                  <a:pt x="5161881" y="758935"/>
                  <a:pt x="5094692" y="758935"/>
                </a:cubicBezTo>
                <a:cubicBezTo>
                  <a:pt x="5077586" y="758935"/>
                  <a:pt x="5060482" y="758935"/>
                  <a:pt x="5045820" y="772373"/>
                </a:cubicBezTo>
                <a:cubicBezTo>
                  <a:pt x="5025053" y="791918"/>
                  <a:pt x="5011616" y="805357"/>
                  <a:pt x="5043379" y="831012"/>
                </a:cubicBezTo>
                <a:cubicBezTo>
                  <a:pt x="5109351" y="883542"/>
                  <a:pt x="5102018" y="948291"/>
                  <a:pt x="5031161" y="997156"/>
                </a:cubicBezTo>
                <a:cubicBezTo>
                  <a:pt x="4963969" y="1042356"/>
                  <a:pt x="4861351" y="1019146"/>
                  <a:pt x="4818594" y="949511"/>
                </a:cubicBezTo>
                <a:cubicBezTo>
                  <a:pt x="4791718" y="905532"/>
                  <a:pt x="4797826" y="878656"/>
                  <a:pt x="4840582" y="837120"/>
                </a:cubicBezTo>
                <a:cubicBezTo>
                  <a:pt x="4852797" y="824903"/>
                  <a:pt x="4879674" y="818795"/>
                  <a:pt x="4866234" y="793140"/>
                </a:cubicBezTo>
                <a:cubicBezTo>
                  <a:pt x="4854020" y="772373"/>
                  <a:pt x="4836918" y="757713"/>
                  <a:pt x="4808822" y="758935"/>
                </a:cubicBezTo>
                <a:cubicBezTo>
                  <a:pt x="4737964" y="760156"/>
                  <a:pt x="4665887" y="758935"/>
                  <a:pt x="4595032" y="760156"/>
                </a:cubicBezTo>
                <a:cubicBezTo>
                  <a:pt x="4585870" y="760156"/>
                  <a:pt x="4578942" y="759469"/>
                  <a:pt x="4573923" y="757192"/>
                </a:cubicBezTo>
                <a:lnTo>
                  <a:pt x="4572290" y="755075"/>
                </a:lnTo>
                <a:lnTo>
                  <a:pt x="4542110" y="755075"/>
                </a:lnTo>
                <a:lnTo>
                  <a:pt x="4532620" y="757803"/>
                </a:lnTo>
                <a:cubicBezTo>
                  <a:pt x="4461765" y="756580"/>
                  <a:pt x="4389688" y="756580"/>
                  <a:pt x="4318830" y="757803"/>
                </a:cubicBezTo>
                <a:cubicBezTo>
                  <a:pt x="4291954" y="757803"/>
                  <a:pt x="4269964" y="746808"/>
                  <a:pt x="4252861" y="727261"/>
                </a:cubicBezTo>
                <a:cubicBezTo>
                  <a:pt x="4230872" y="701606"/>
                  <a:pt x="4222318" y="677173"/>
                  <a:pt x="4257749" y="652741"/>
                </a:cubicBezTo>
                <a:cubicBezTo>
                  <a:pt x="4284626" y="633194"/>
                  <a:pt x="4315164" y="611204"/>
                  <a:pt x="4298063" y="570889"/>
                </a:cubicBezTo>
                <a:cubicBezTo>
                  <a:pt x="4280960" y="531797"/>
                  <a:pt x="4251638" y="503698"/>
                  <a:pt x="4205214" y="501255"/>
                </a:cubicBezTo>
                <a:cubicBezTo>
                  <a:pt x="4161241" y="498812"/>
                  <a:pt x="4119705" y="498812"/>
                  <a:pt x="4087942" y="535462"/>
                </a:cubicBezTo>
                <a:cubicBezTo>
                  <a:pt x="4050070" y="578219"/>
                  <a:pt x="4051293" y="606317"/>
                  <a:pt x="4094050" y="644189"/>
                </a:cubicBezTo>
                <a:cubicBezTo>
                  <a:pt x="4111153" y="658848"/>
                  <a:pt x="4138030" y="669843"/>
                  <a:pt x="4127035" y="700384"/>
                </a:cubicBezTo>
                <a:cubicBezTo>
                  <a:pt x="4114818" y="732148"/>
                  <a:pt x="4090385" y="756580"/>
                  <a:pt x="4057400" y="757803"/>
                </a:cubicBezTo>
                <a:cubicBezTo>
                  <a:pt x="3977993" y="761467"/>
                  <a:pt x="3898585" y="759023"/>
                  <a:pt x="3819179" y="759023"/>
                </a:cubicBezTo>
                <a:lnTo>
                  <a:pt x="3813849" y="756900"/>
                </a:lnTo>
                <a:lnTo>
                  <a:pt x="3810549" y="758781"/>
                </a:lnTo>
                <a:lnTo>
                  <a:pt x="3815750" y="768157"/>
                </a:lnTo>
                <a:cubicBezTo>
                  <a:pt x="3817087" y="773464"/>
                  <a:pt x="3817545" y="780106"/>
                  <a:pt x="3817238" y="788353"/>
                </a:cubicBezTo>
                <a:cubicBezTo>
                  <a:pt x="3814797" y="853100"/>
                  <a:pt x="3816018" y="919069"/>
                  <a:pt x="3816018" y="983816"/>
                </a:cubicBezTo>
                <a:cubicBezTo>
                  <a:pt x="3816018" y="1011914"/>
                  <a:pt x="3809910" y="1036348"/>
                  <a:pt x="3789144" y="1057116"/>
                </a:cubicBezTo>
                <a:cubicBezTo>
                  <a:pt x="3757381" y="1088878"/>
                  <a:pt x="3737836" y="1087658"/>
                  <a:pt x="3708516" y="1053451"/>
                </a:cubicBezTo>
                <a:cubicBezTo>
                  <a:pt x="3688971" y="1031461"/>
                  <a:pt x="3670645" y="1000919"/>
                  <a:pt x="3635219" y="1014358"/>
                </a:cubicBezTo>
                <a:cubicBezTo>
                  <a:pt x="3596125" y="1029018"/>
                  <a:pt x="3566806" y="1054673"/>
                  <a:pt x="3560696" y="1098651"/>
                </a:cubicBezTo>
                <a:cubicBezTo>
                  <a:pt x="3553368" y="1151183"/>
                  <a:pt x="3555811" y="1200050"/>
                  <a:pt x="3603457" y="1235477"/>
                </a:cubicBezTo>
                <a:cubicBezTo>
                  <a:pt x="3642548" y="1264796"/>
                  <a:pt x="3664539" y="1262352"/>
                  <a:pt x="3697521" y="1226924"/>
                </a:cubicBezTo>
                <a:cubicBezTo>
                  <a:pt x="3714624" y="1208600"/>
                  <a:pt x="3724397" y="1174394"/>
                  <a:pt x="3759825" y="1190276"/>
                </a:cubicBezTo>
                <a:cubicBezTo>
                  <a:pt x="3794029" y="1204935"/>
                  <a:pt x="3814797" y="1233032"/>
                  <a:pt x="3816018" y="1270905"/>
                </a:cubicBezTo>
                <a:cubicBezTo>
                  <a:pt x="3817238" y="1344204"/>
                  <a:pt x="3816018" y="1417503"/>
                  <a:pt x="3817238" y="1489580"/>
                </a:cubicBezTo>
                <a:cubicBezTo>
                  <a:pt x="3817238" y="1499964"/>
                  <a:pt x="3815711" y="1506988"/>
                  <a:pt x="3811589" y="1511264"/>
                </a:cubicBezTo>
                <a:lnTo>
                  <a:pt x="3801031" y="1513846"/>
                </a:lnTo>
                <a:lnTo>
                  <a:pt x="3806488" y="1516917"/>
                </a:lnTo>
                <a:lnTo>
                  <a:pt x="3807926" y="1520360"/>
                </a:lnTo>
                <a:lnTo>
                  <a:pt x="3814241" y="1520360"/>
                </a:lnTo>
                <a:lnTo>
                  <a:pt x="3829058" y="1502514"/>
                </a:lnTo>
                <a:cubicBezTo>
                  <a:pt x="3837597" y="1499199"/>
                  <a:pt x="3849165" y="1498742"/>
                  <a:pt x="3863824" y="1499658"/>
                </a:cubicBezTo>
                <a:cubicBezTo>
                  <a:pt x="3926128" y="1503323"/>
                  <a:pt x="3987214" y="1499658"/>
                  <a:pt x="4049516" y="1500879"/>
                </a:cubicBezTo>
                <a:cubicBezTo>
                  <a:pt x="4081280" y="1500879"/>
                  <a:pt x="4106935" y="1489884"/>
                  <a:pt x="4117929" y="1460565"/>
                </a:cubicBezTo>
                <a:cubicBezTo>
                  <a:pt x="4127702" y="1433689"/>
                  <a:pt x="4098382" y="1430024"/>
                  <a:pt x="4084945" y="1416587"/>
                </a:cubicBezTo>
                <a:cubicBezTo>
                  <a:pt x="4049516" y="1381158"/>
                  <a:pt x="4043408" y="1348173"/>
                  <a:pt x="4070285" y="1306638"/>
                </a:cubicBezTo>
                <a:cubicBezTo>
                  <a:pt x="4094107" y="1269377"/>
                  <a:pt x="4135338" y="1246777"/>
                  <a:pt x="4178554" y="1241127"/>
                </a:cubicBezTo>
                <a:cubicBezTo>
                  <a:pt x="4221764" y="1235476"/>
                  <a:pt x="4266966" y="1246777"/>
                  <a:pt x="4298729" y="1277318"/>
                </a:cubicBezTo>
                <a:cubicBezTo>
                  <a:pt x="4356145" y="1332293"/>
                  <a:pt x="4357369" y="1376272"/>
                  <a:pt x="4293841" y="1427580"/>
                </a:cubicBezTo>
                <a:cubicBezTo>
                  <a:pt x="4263300" y="1452014"/>
                  <a:pt x="4273074" y="1467896"/>
                  <a:pt x="4295062" y="1487441"/>
                </a:cubicBezTo>
                <a:cubicBezTo>
                  <a:pt x="4310947" y="1500879"/>
                  <a:pt x="4329269" y="1502101"/>
                  <a:pt x="4348815" y="1502101"/>
                </a:cubicBezTo>
                <a:cubicBezTo>
                  <a:pt x="4417231" y="1502101"/>
                  <a:pt x="4485641" y="1503323"/>
                  <a:pt x="4554055" y="1502101"/>
                </a:cubicBezTo>
                <a:cubicBezTo>
                  <a:pt x="4567798" y="1502101"/>
                  <a:pt x="4576731" y="1503475"/>
                  <a:pt x="4580339" y="1513955"/>
                </a:cubicBezTo>
                <a:lnTo>
                  <a:pt x="4580382" y="1514287"/>
                </a:lnTo>
                <a:lnTo>
                  <a:pt x="4581432" y="1513558"/>
                </a:lnTo>
                <a:cubicBezTo>
                  <a:pt x="4585612" y="1512222"/>
                  <a:pt x="4591033" y="1511688"/>
                  <a:pt x="4598057" y="1511994"/>
                </a:cubicBezTo>
                <a:cubicBezTo>
                  <a:pt x="4668913" y="1514436"/>
                  <a:pt x="4740990" y="1513216"/>
                  <a:pt x="4811845" y="1513216"/>
                </a:cubicBezTo>
                <a:cubicBezTo>
                  <a:pt x="4853383" y="1513216"/>
                  <a:pt x="4880258" y="1535205"/>
                  <a:pt x="4894918" y="1571855"/>
                </a:cubicBezTo>
                <a:cubicBezTo>
                  <a:pt x="4908357" y="1606060"/>
                  <a:pt x="4876594" y="1614613"/>
                  <a:pt x="4859491" y="1630493"/>
                </a:cubicBezTo>
                <a:cubicBezTo>
                  <a:pt x="4821621" y="1665922"/>
                  <a:pt x="4820399" y="1690354"/>
                  <a:pt x="4853383" y="1731891"/>
                </a:cubicBezTo>
                <a:cubicBezTo>
                  <a:pt x="4883921" y="1769762"/>
                  <a:pt x="4925460" y="1772204"/>
                  <a:pt x="4969438" y="1770984"/>
                </a:cubicBezTo>
                <a:cubicBezTo>
                  <a:pt x="5020749" y="1768539"/>
                  <a:pt x="5052511" y="1740442"/>
                  <a:pt x="5069614" y="1696462"/>
                </a:cubicBezTo>
                <a:cubicBezTo>
                  <a:pt x="5085496" y="1656148"/>
                  <a:pt x="5051292" y="1636602"/>
                  <a:pt x="5025634" y="1617055"/>
                </a:cubicBezTo>
                <a:cubicBezTo>
                  <a:pt x="4997537" y="1595065"/>
                  <a:pt x="5001201" y="1573075"/>
                  <a:pt x="5020749" y="1548643"/>
                </a:cubicBezTo>
                <a:cubicBezTo>
                  <a:pt x="5039074" y="1525431"/>
                  <a:pt x="5062283" y="1513216"/>
                  <a:pt x="5094050" y="1513216"/>
                </a:cubicBezTo>
                <a:cubicBezTo>
                  <a:pt x="5163683" y="1514436"/>
                  <a:pt x="5233316" y="1515658"/>
                  <a:pt x="5302949" y="1513216"/>
                </a:cubicBezTo>
                <a:cubicBezTo>
                  <a:pt x="5332270" y="1511994"/>
                  <a:pt x="5337157" y="1524210"/>
                  <a:pt x="5335935" y="1548643"/>
                </a:cubicBezTo>
                <a:cubicBezTo>
                  <a:pt x="5334713" y="1581628"/>
                  <a:pt x="5335935" y="1615833"/>
                  <a:pt x="5335935" y="1648817"/>
                </a:cubicBezTo>
                <a:cubicBezTo>
                  <a:pt x="5337157" y="1668364"/>
                  <a:pt x="5337157" y="1686689"/>
                  <a:pt x="5335935" y="1706237"/>
                </a:cubicBezTo>
                <a:cubicBezTo>
                  <a:pt x="5335935" y="1727004"/>
                  <a:pt x="5337157" y="1747772"/>
                  <a:pt x="5335935" y="1768539"/>
                </a:cubicBezTo>
                <a:cubicBezTo>
                  <a:pt x="5333492" y="1805189"/>
                  <a:pt x="5312721" y="1830844"/>
                  <a:pt x="5279741" y="1844283"/>
                </a:cubicBezTo>
                <a:cubicBezTo>
                  <a:pt x="5246756" y="1857721"/>
                  <a:pt x="5235760" y="1827179"/>
                  <a:pt x="5219879" y="1808854"/>
                </a:cubicBezTo>
                <a:cubicBezTo>
                  <a:pt x="5185675" y="1770984"/>
                  <a:pt x="5161239" y="1768539"/>
                  <a:pt x="5122147" y="1799081"/>
                </a:cubicBezTo>
                <a:cubicBezTo>
                  <a:pt x="5074501" y="1834509"/>
                  <a:pt x="5070837" y="1883375"/>
                  <a:pt x="5080610" y="1935906"/>
                </a:cubicBezTo>
                <a:cubicBezTo>
                  <a:pt x="5087938" y="1979885"/>
                  <a:pt x="5117259" y="2005540"/>
                  <a:pt x="5156351" y="2018979"/>
                </a:cubicBezTo>
                <a:cubicBezTo>
                  <a:pt x="5193002" y="2029974"/>
                  <a:pt x="5210105" y="2000654"/>
                  <a:pt x="5229651" y="1978665"/>
                </a:cubicBezTo>
                <a:cubicBezTo>
                  <a:pt x="5260193" y="1945680"/>
                  <a:pt x="5278517" y="1945680"/>
                  <a:pt x="5311502" y="1977443"/>
                </a:cubicBezTo>
                <a:cubicBezTo>
                  <a:pt x="5331048" y="1996989"/>
                  <a:pt x="5335935" y="2020200"/>
                  <a:pt x="5335935" y="2047077"/>
                </a:cubicBezTo>
                <a:cubicBezTo>
                  <a:pt x="5334713" y="2114267"/>
                  <a:pt x="5333492" y="2181459"/>
                  <a:pt x="5335935" y="2247429"/>
                </a:cubicBezTo>
                <a:cubicBezTo>
                  <a:pt x="5337157" y="2275526"/>
                  <a:pt x="5331048" y="2285299"/>
                  <a:pt x="5300506" y="2284079"/>
                </a:cubicBezTo>
                <a:cubicBezTo>
                  <a:pt x="5230872" y="2281634"/>
                  <a:pt x="5161239" y="2282856"/>
                  <a:pt x="5091606" y="2282856"/>
                </a:cubicBezTo>
                <a:cubicBezTo>
                  <a:pt x="5062283" y="2282856"/>
                  <a:pt x="5041516" y="2297516"/>
                  <a:pt x="5030522" y="2320726"/>
                </a:cubicBezTo>
                <a:cubicBezTo>
                  <a:pt x="5018307" y="2346381"/>
                  <a:pt x="5046403" y="2351268"/>
                  <a:pt x="5058619" y="2362263"/>
                </a:cubicBezTo>
                <a:cubicBezTo>
                  <a:pt x="5102599" y="2402578"/>
                  <a:pt x="5106265" y="2439228"/>
                  <a:pt x="5070837" y="2486872"/>
                </a:cubicBezTo>
                <a:cubicBezTo>
                  <a:pt x="5034186" y="2535737"/>
                  <a:pt x="4982875" y="2543067"/>
                  <a:pt x="4926682" y="2539402"/>
                </a:cubicBezTo>
                <a:cubicBezTo>
                  <a:pt x="4869262" y="2535737"/>
                  <a:pt x="4833836" y="2501532"/>
                  <a:pt x="4813067" y="2452666"/>
                </a:cubicBezTo>
                <a:cubicBezTo>
                  <a:pt x="4793521" y="2406242"/>
                  <a:pt x="4822840" y="2376923"/>
                  <a:pt x="4855825" y="2352491"/>
                </a:cubicBezTo>
                <a:cubicBezTo>
                  <a:pt x="4886368" y="2329278"/>
                  <a:pt x="4872928" y="2313396"/>
                  <a:pt x="4853383" y="2296294"/>
                </a:cubicBezTo>
                <a:cubicBezTo>
                  <a:pt x="4837499" y="2282856"/>
                  <a:pt x="4819176" y="2281634"/>
                  <a:pt x="4799629" y="2281634"/>
                </a:cubicBezTo>
                <a:cubicBezTo>
                  <a:pt x="4744656" y="2281634"/>
                  <a:pt x="4688460" y="2281634"/>
                  <a:pt x="4633486" y="2281634"/>
                </a:cubicBezTo>
                <a:cubicBezTo>
                  <a:pt x="4584009" y="2281634"/>
                  <a:pt x="4571638" y="2281634"/>
                  <a:pt x="4568545" y="2254834"/>
                </a:cubicBezTo>
                <a:lnTo>
                  <a:pt x="4568533" y="2254378"/>
                </a:lnTo>
                <a:lnTo>
                  <a:pt x="4567644" y="2255861"/>
                </a:lnTo>
                <a:lnTo>
                  <a:pt x="4544720" y="2264404"/>
                </a:lnTo>
                <a:lnTo>
                  <a:pt x="4554906" y="2264379"/>
                </a:lnTo>
                <a:cubicBezTo>
                  <a:pt x="4579338" y="2264379"/>
                  <a:pt x="4573231" y="2281482"/>
                  <a:pt x="4573231" y="2293699"/>
                </a:cubicBezTo>
                <a:cubicBezTo>
                  <a:pt x="4573231" y="2360888"/>
                  <a:pt x="4573231" y="2426858"/>
                  <a:pt x="4573231" y="2494050"/>
                </a:cubicBezTo>
                <a:cubicBezTo>
                  <a:pt x="4573231" y="2514817"/>
                  <a:pt x="4575675" y="2534362"/>
                  <a:pt x="4590334" y="2551467"/>
                </a:cubicBezTo>
                <a:cubicBezTo>
                  <a:pt x="4609880" y="2573457"/>
                  <a:pt x="4624541" y="2578342"/>
                  <a:pt x="4646530" y="2551467"/>
                </a:cubicBezTo>
                <a:cubicBezTo>
                  <a:pt x="4703946" y="2484275"/>
                  <a:pt x="4766251" y="2490385"/>
                  <a:pt x="4815115" y="2567347"/>
                </a:cubicBezTo>
                <a:cubicBezTo>
                  <a:pt x="4852987" y="2627209"/>
                  <a:pt x="4834663" y="2727384"/>
                  <a:pt x="4778466" y="2768920"/>
                </a:cubicBezTo>
                <a:cubicBezTo>
                  <a:pt x="4732044" y="2803126"/>
                  <a:pt x="4697840" y="2798240"/>
                  <a:pt x="4657524" y="2757926"/>
                </a:cubicBezTo>
                <a:cubicBezTo>
                  <a:pt x="4645308" y="2745708"/>
                  <a:pt x="4640420" y="2713946"/>
                  <a:pt x="4612323" y="2728606"/>
                </a:cubicBezTo>
                <a:cubicBezTo>
                  <a:pt x="4589112" y="2740822"/>
                  <a:pt x="4575675" y="2761591"/>
                  <a:pt x="4575675" y="2790910"/>
                </a:cubicBezTo>
                <a:cubicBezTo>
                  <a:pt x="4576894" y="2858100"/>
                  <a:pt x="4574453" y="2924070"/>
                  <a:pt x="4576894" y="2991261"/>
                </a:cubicBezTo>
                <a:cubicBezTo>
                  <a:pt x="4577506" y="3007143"/>
                  <a:pt x="4576286" y="3018138"/>
                  <a:pt x="4570481" y="3024856"/>
                </a:cubicBezTo>
                <a:lnTo>
                  <a:pt x="4561944" y="3029609"/>
                </a:lnTo>
                <a:lnTo>
                  <a:pt x="4568608" y="3030206"/>
                </a:lnTo>
                <a:cubicBezTo>
                  <a:pt x="4573170" y="3031561"/>
                  <a:pt x="4576490" y="3033737"/>
                  <a:pt x="4578857" y="3036715"/>
                </a:cubicBezTo>
                <a:lnTo>
                  <a:pt x="4581540" y="3051267"/>
                </a:lnTo>
                <a:lnTo>
                  <a:pt x="4595169" y="3045892"/>
                </a:lnTo>
                <a:cubicBezTo>
                  <a:pt x="4602213" y="3044843"/>
                  <a:pt x="4610614" y="3044843"/>
                  <a:pt x="4620385" y="3045454"/>
                </a:cubicBezTo>
                <a:cubicBezTo>
                  <a:pt x="4682688" y="3049119"/>
                  <a:pt x="4743775" y="3045454"/>
                  <a:pt x="4806076" y="3046674"/>
                </a:cubicBezTo>
                <a:cubicBezTo>
                  <a:pt x="4837839" y="3046674"/>
                  <a:pt x="4863493" y="3035679"/>
                  <a:pt x="4874487" y="3006359"/>
                </a:cubicBezTo>
                <a:cubicBezTo>
                  <a:pt x="4884260" y="2979484"/>
                  <a:pt x="4854941" y="2975819"/>
                  <a:pt x="4841504" y="2962382"/>
                </a:cubicBezTo>
                <a:cubicBezTo>
                  <a:pt x="4806076" y="2926952"/>
                  <a:pt x="4799966" y="2893968"/>
                  <a:pt x="4826843" y="2852433"/>
                </a:cubicBezTo>
                <a:cubicBezTo>
                  <a:pt x="4874487" y="2777911"/>
                  <a:pt x="4991766" y="2762031"/>
                  <a:pt x="5055294" y="2823113"/>
                </a:cubicBezTo>
                <a:cubicBezTo>
                  <a:pt x="5112710" y="2878088"/>
                  <a:pt x="5113934" y="2922067"/>
                  <a:pt x="5050406" y="2973375"/>
                </a:cubicBezTo>
                <a:cubicBezTo>
                  <a:pt x="5019863" y="2997809"/>
                  <a:pt x="5029637" y="3013691"/>
                  <a:pt x="5051628" y="3033236"/>
                </a:cubicBezTo>
                <a:cubicBezTo>
                  <a:pt x="5067509" y="3046674"/>
                  <a:pt x="5085834" y="3047896"/>
                  <a:pt x="5105382" y="3047896"/>
                </a:cubicBezTo>
                <a:cubicBezTo>
                  <a:pt x="5173793" y="3047896"/>
                  <a:pt x="5242205" y="3049119"/>
                  <a:pt x="5310620" y="3047896"/>
                </a:cubicBezTo>
                <a:cubicBezTo>
                  <a:pt x="5328943" y="3047896"/>
                  <a:pt x="5338715" y="3050340"/>
                  <a:pt x="5338715" y="3073551"/>
                </a:cubicBezTo>
                <a:cubicBezTo>
                  <a:pt x="5337493" y="3148071"/>
                  <a:pt x="5338715" y="3222592"/>
                  <a:pt x="5337493" y="3297112"/>
                </a:cubicBezTo>
                <a:cubicBezTo>
                  <a:pt x="5336275" y="3334984"/>
                  <a:pt x="5314284" y="3360640"/>
                  <a:pt x="5278853" y="3375299"/>
                </a:cubicBezTo>
                <a:cubicBezTo>
                  <a:pt x="5243424" y="3388737"/>
                  <a:pt x="5237318" y="3356974"/>
                  <a:pt x="5221435" y="3339871"/>
                </a:cubicBezTo>
                <a:cubicBezTo>
                  <a:pt x="5186011" y="3302000"/>
                  <a:pt x="5164019" y="3299557"/>
                  <a:pt x="5123706" y="3330097"/>
                </a:cubicBezTo>
                <a:cubicBezTo>
                  <a:pt x="5084613" y="3359419"/>
                  <a:pt x="5077283" y="3398509"/>
                  <a:pt x="5079725" y="3443711"/>
                </a:cubicBezTo>
                <a:cubicBezTo>
                  <a:pt x="5082171" y="3493800"/>
                  <a:pt x="5109045" y="3535335"/>
                  <a:pt x="5153026" y="3549995"/>
                </a:cubicBezTo>
                <a:cubicBezTo>
                  <a:pt x="5194561" y="3564655"/>
                  <a:pt x="5214107" y="3532891"/>
                  <a:pt x="5233655" y="3507238"/>
                </a:cubicBezTo>
                <a:cubicBezTo>
                  <a:pt x="5258085" y="3476696"/>
                  <a:pt x="5281299" y="3481583"/>
                  <a:pt x="5305732" y="3503573"/>
                </a:cubicBezTo>
                <a:cubicBezTo>
                  <a:pt x="5326497" y="3521897"/>
                  <a:pt x="5338715" y="3545108"/>
                  <a:pt x="5337493" y="3574428"/>
                </a:cubicBezTo>
                <a:cubicBezTo>
                  <a:pt x="5336275" y="3618407"/>
                  <a:pt x="5337493" y="3663609"/>
                  <a:pt x="5337493" y="3707588"/>
                </a:cubicBezTo>
                <a:cubicBezTo>
                  <a:pt x="5337493" y="3815093"/>
                  <a:pt x="5337493" y="3815093"/>
                  <a:pt x="5231209" y="3815093"/>
                </a:cubicBezTo>
                <a:cubicBezTo>
                  <a:pt x="5183567" y="3815093"/>
                  <a:pt x="5135923" y="3813871"/>
                  <a:pt x="5088277" y="3815093"/>
                </a:cubicBezTo>
                <a:cubicBezTo>
                  <a:pt x="5062622" y="3816315"/>
                  <a:pt x="5041855" y="3828531"/>
                  <a:pt x="5032081" y="3852965"/>
                </a:cubicBezTo>
                <a:cubicBezTo>
                  <a:pt x="5021087" y="3878619"/>
                  <a:pt x="5047962" y="3883505"/>
                  <a:pt x="5060180" y="3894500"/>
                </a:cubicBezTo>
                <a:cubicBezTo>
                  <a:pt x="5100495" y="3932372"/>
                  <a:pt x="5106604" y="3962912"/>
                  <a:pt x="5079725" y="4006891"/>
                </a:cubicBezTo>
                <a:cubicBezTo>
                  <a:pt x="5045520" y="4063088"/>
                  <a:pt x="4986880" y="4085078"/>
                  <a:pt x="4909915" y="4069196"/>
                </a:cubicBezTo>
                <a:cubicBezTo>
                  <a:pt x="4858608" y="4058201"/>
                  <a:pt x="4826843" y="4023994"/>
                  <a:pt x="4812184" y="3976351"/>
                </a:cubicBezTo>
                <a:cubicBezTo>
                  <a:pt x="4799966" y="3934814"/>
                  <a:pt x="4826843" y="3907938"/>
                  <a:pt x="4857383" y="3885949"/>
                </a:cubicBezTo>
                <a:cubicBezTo>
                  <a:pt x="4886704" y="3865180"/>
                  <a:pt x="4875708" y="3848078"/>
                  <a:pt x="4856163" y="3829753"/>
                </a:cubicBezTo>
                <a:cubicBezTo>
                  <a:pt x="4840282" y="3816315"/>
                  <a:pt x="4821956" y="3815093"/>
                  <a:pt x="4802409" y="3815093"/>
                </a:cubicBezTo>
                <a:cubicBezTo>
                  <a:pt x="4737662" y="3815093"/>
                  <a:pt x="4671692" y="3813871"/>
                  <a:pt x="4606946" y="3816315"/>
                </a:cubicBezTo>
                <a:lnTo>
                  <a:pt x="4581843" y="3811533"/>
                </a:lnTo>
                <a:lnTo>
                  <a:pt x="4581798" y="3821095"/>
                </a:lnTo>
                <a:cubicBezTo>
                  <a:pt x="4581798" y="3896838"/>
                  <a:pt x="4583017" y="3973802"/>
                  <a:pt x="4581798" y="4049544"/>
                </a:cubicBezTo>
                <a:cubicBezTo>
                  <a:pt x="4581798" y="4084971"/>
                  <a:pt x="4558584" y="4106962"/>
                  <a:pt x="4528044" y="4121621"/>
                </a:cubicBezTo>
                <a:cubicBezTo>
                  <a:pt x="4495059" y="4137504"/>
                  <a:pt x="4484065" y="4106962"/>
                  <a:pt x="4468182" y="4089859"/>
                </a:cubicBezTo>
                <a:cubicBezTo>
                  <a:pt x="4430311" y="4047102"/>
                  <a:pt x="4407103" y="4045879"/>
                  <a:pt x="4364344" y="4081306"/>
                </a:cubicBezTo>
                <a:cubicBezTo>
                  <a:pt x="4309368" y="4127729"/>
                  <a:pt x="4306924" y="4223012"/>
                  <a:pt x="4360678" y="4271879"/>
                </a:cubicBezTo>
                <a:cubicBezTo>
                  <a:pt x="4403437" y="4310973"/>
                  <a:pt x="4430311" y="4309750"/>
                  <a:pt x="4469406" y="4266992"/>
                </a:cubicBezTo>
                <a:cubicBezTo>
                  <a:pt x="4485284" y="4249889"/>
                  <a:pt x="4496280" y="4219348"/>
                  <a:pt x="4529266" y="4235230"/>
                </a:cubicBezTo>
                <a:cubicBezTo>
                  <a:pt x="4561028" y="4249889"/>
                  <a:pt x="4583017" y="4273100"/>
                  <a:pt x="4583017" y="4312195"/>
                </a:cubicBezTo>
                <a:cubicBezTo>
                  <a:pt x="4585462" y="4347622"/>
                  <a:pt x="4585462" y="4384273"/>
                  <a:pt x="4585462" y="4420922"/>
                </a:cubicBezTo>
                <a:cubicBezTo>
                  <a:pt x="4585462" y="4458793"/>
                  <a:pt x="4584239" y="4496664"/>
                  <a:pt x="4585462" y="4535755"/>
                </a:cubicBezTo>
                <a:cubicBezTo>
                  <a:pt x="4586072" y="4546140"/>
                  <a:pt x="4584544" y="4552858"/>
                  <a:pt x="4580270" y="4556981"/>
                </a:cubicBezTo>
                <a:lnTo>
                  <a:pt x="4558623" y="4562623"/>
                </a:lnTo>
                <a:lnTo>
                  <a:pt x="4558623" y="4566440"/>
                </a:lnTo>
                <a:lnTo>
                  <a:pt x="4573343" y="4568280"/>
                </a:lnTo>
                <a:cubicBezTo>
                  <a:pt x="4578783" y="4570870"/>
                  <a:pt x="4582162" y="4575308"/>
                  <a:pt x="4583997" y="4582238"/>
                </a:cubicBezTo>
                <a:lnTo>
                  <a:pt x="4584236" y="4584622"/>
                </a:lnTo>
                <a:lnTo>
                  <a:pt x="4590467" y="4573843"/>
                </a:lnTo>
                <a:cubicBezTo>
                  <a:pt x="4597795" y="4567736"/>
                  <a:pt x="4609706" y="4566514"/>
                  <a:pt x="4626810" y="4567125"/>
                </a:cubicBezTo>
                <a:cubicBezTo>
                  <a:pt x="4692779" y="4569566"/>
                  <a:pt x="4759971" y="4568344"/>
                  <a:pt x="4827160" y="4567125"/>
                </a:cubicBezTo>
                <a:cubicBezTo>
                  <a:pt x="4852815" y="4567125"/>
                  <a:pt x="4873581" y="4573232"/>
                  <a:pt x="4890685" y="4591556"/>
                </a:cubicBezTo>
                <a:cubicBezTo>
                  <a:pt x="4922450" y="4624541"/>
                  <a:pt x="4922450" y="4641643"/>
                  <a:pt x="4887021" y="4672186"/>
                </a:cubicBezTo>
                <a:cubicBezTo>
                  <a:pt x="4865031" y="4690510"/>
                  <a:pt x="4839376" y="4707614"/>
                  <a:pt x="4847929" y="4741820"/>
                </a:cubicBezTo>
                <a:cubicBezTo>
                  <a:pt x="4857700" y="4779693"/>
                  <a:pt x="4882136" y="4806567"/>
                  <a:pt x="4920006" y="4817562"/>
                </a:cubicBezTo>
                <a:cubicBezTo>
                  <a:pt x="4973756" y="4832222"/>
                  <a:pt x="5023846" y="4829780"/>
                  <a:pt x="5064161" y="4784578"/>
                </a:cubicBezTo>
                <a:cubicBezTo>
                  <a:pt x="5100811" y="4744263"/>
                  <a:pt x="5098367" y="4714943"/>
                  <a:pt x="5056831" y="4679516"/>
                </a:cubicBezTo>
                <a:cubicBezTo>
                  <a:pt x="5039730" y="4664857"/>
                  <a:pt x="5011629" y="4653861"/>
                  <a:pt x="5022625" y="4624541"/>
                </a:cubicBezTo>
                <a:cubicBezTo>
                  <a:pt x="5034842" y="4592778"/>
                  <a:pt x="5056831" y="4568344"/>
                  <a:pt x="5092258" y="4568344"/>
                </a:cubicBezTo>
                <a:cubicBezTo>
                  <a:pt x="5171666" y="4567125"/>
                  <a:pt x="5251073" y="4568344"/>
                  <a:pt x="5330479" y="4567125"/>
                </a:cubicBezTo>
                <a:cubicBezTo>
                  <a:pt x="5354913" y="4567125"/>
                  <a:pt x="5353691" y="4581784"/>
                  <a:pt x="5353691" y="4597667"/>
                </a:cubicBezTo>
                <a:cubicBezTo>
                  <a:pt x="5353691" y="4666079"/>
                  <a:pt x="5353691" y="4734491"/>
                  <a:pt x="5353691" y="4802902"/>
                </a:cubicBezTo>
                <a:cubicBezTo>
                  <a:pt x="5353691" y="4823671"/>
                  <a:pt x="5354913" y="4843218"/>
                  <a:pt x="5372016" y="4859100"/>
                </a:cubicBezTo>
                <a:cubicBezTo>
                  <a:pt x="5390340" y="4876203"/>
                  <a:pt x="5404999" y="4881089"/>
                  <a:pt x="5422104" y="4856655"/>
                </a:cubicBezTo>
                <a:cubicBezTo>
                  <a:pt x="5444093" y="4826114"/>
                  <a:pt x="5470970" y="4796794"/>
                  <a:pt x="5512505" y="4809011"/>
                </a:cubicBezTo>
                <a:cubicBezTo>
                  <a:pt x="5560149" y="4822449"/>
                  <a:pt x="5596799" y="4854213"/>
                  <a:pt x="5607793" y="4905522"/>
                </a:cubicBezTo>
                <a:cubicBezTo>
                  <a:pt x="5620010" y="4965383"/>
                  <a:pt x="5615124" y="5021578"/>
                  <a:pt x="5562593" y="5065559"/>
                </a:cubicBezTo>
                <a:cubicBezTo>
                  <a:pt x="5512505" y="5105874"/>
                  <a:pt x="5473414" y="5103431"/>
                  <a:pt x="5430656" y="5057007"/>
                </a:cubicBezTo>
                <a:cubicBezTo>
                  <a:pt x="5419660" y="5046011"/>
                  <a:pt x="5414773" y="5020357"/>
                  <a:pt x="5392783" y="5030132"/>
                </a:cubicBezTo>
                <a:cubicBezTo>
                  <a:pt x="5370794" y="5039903"/>
                  <a:pt x="5354913" y="5058228"/>
                  <a:pt x="5354913" y="5085106"/>
                </a:cubicBezTo>
                <a:cubicBezTo>
                  <a:pt x="5354913" y="5154739"/>
                  <a:pt x="5353691" y="5224372"/>
                  <a:pt x="5356135" y="5294008"/>
                </a:cubicBezTo>
                <a:lnTo>
                  <a:pt x="5350738" y="5321930"/>
                </a:lnTo>
                <a:lnTo>
                  <a:pt x="5371287" y="5318874"/>
                </a:lnTo>
                <a:cubicBezTo>
                  <a:pt x="5442143" y="5320096"/>
                  <a:pt x="5514220" y="5320096"/>
                  <a:pt x="5585072" y="5318874"/>
                </a:cubicBezTo>
                <a:cubicBezTo>
                  <a:pt x="5613173" y="5318874"/>
                  <a:pt x="5633940" y="5328648"/>
                  <a:pt x="5651043" y="5349416"/>
                </a:cubicBezTo>
                <a:cubicBezTo>
                  <a:pt x="5673032" y="5375071"/>
                  <a:pt x="5677919" y="5398281"/>
                  <a:pt x="5646155" y="5421493"/>
                </a:cubicBezTo>
                <a:cubicBezTo>
                  <a:pt x="5620503" y="5439818"/>
                  <a:pt x="5591181" y="5460587"/>
                  <a:pt x="5603399" y="5498458"/>
                </a:cubicBezTo>
                <a:cubicBezTo>
                  <a:pt x="5616836" y="5539994"/>
                  <a:pt x="5647378" y="5568092"/>
                  <a:pt x="5692578" y="5574200"/>
                </a:cubicBezTo>
                <a:cubicBezTo>
                  <a:pt x="5736560" y="5580308"/>
                  <a:pt x="5778092" y="5577865"/>
                  <a:pt x="5812299" y="5544881"/>
                </a:cubicBezTo>
                <a:cubicBezTo>
                  <a:pt x="5855056" y="5502123"/>
                  <a:pt x="5853835" y="5469139"/>
                  <a:pt x="5808637" y="5430047"/>
                </a:cubicBezTo>
                <a:cubicBezTo>
                  <a:pt x="5792754" y="5416606"/>
                  <a:pt x="5765877" y="5408054"/>
                  <a:pt x="5778092" y="5378737"/>
                </a:cubicBezTo>
                <a:cubicBezTo>
                  <a:pt x="5789088" y="5351860"/>
                  <a:pt x="5807412" y="5324983"/>
                  <a:pt x="5837954" y="5323761"/>
                </a:cubicBezTo>
                <a:cubicBezTo>
                  <a:pt x="5922246" y="5320096"/>
                  <a:pt x="6006538" y="5321318"/>
                  <a:pt x="6089611" y="5320096"/>
                </a:cubicBezTo>
                <a:cubicBezTo>
                  <a:pt x="6110381" y="5320096"/>
                  <a:pt x="6106714" y="5333534"/>
                  <a:pt x="6106714" y="5345752"/>
                </a:cubicBezTo>
                <a:cubicBezTo>
                  <a:pt x="6106714" y="5421493"/>
                  <a:pt x="6107935" y="5498458"/>
                  <a:pt x="6106714" y="5574200"/>
                </a:cubicBezTo>
                <a:cubicBezTo>
                  <a:pt x="6106714" y="5609627"/>
                  <a:pt x="6083502" y="5631617"/>
                  <a:pt x="6052963" y="5646278"/>
                </a:cubicBezTo>
                <a:cubicBezTo>
                  <a:pt x="6019978" y="5662160"/>
                  <a:pt x="6008982" y="5631617"/>
                  <a:pt x="5993101" y="5614516"/>
                </a:cubicBezTo>
                <a:cubicBezTo>
                  <a:pt x="5955231" y="5571758"/>
                  <a:pt x="5932020" y="5570536"/>
                  <a:pt x="5889264" y="5605962"/>
                </a:cubicBezTo>
                <a:cubicBezTo>
                  <a:pt x="5834290" y="5652387"/>
                  <a:pt x="5831845" y="5747674"/>
                  <a:pt x="5885598" y="5796541"/>
                </a:cubicBezTo>
                <a:cubicBezTo>
                  <a:pt x="5928355" y="5835633"/>
                  <a:pt x="5955231" y="5834411"/>
                  <a:pt x="5994323" y="5791654"/>
                </a:cubicBezTo>
                <a:cubicBezTo>
                  <a:pt x="6010204" y="5774551"/>
                  <a:pt x="6021199" y="5744009"/>
                  <a:pt x="6054184" y="5759891"/>
                </a:cubicBezTo>
                <a:cubicBezTo>
                  <a:pt x="6085947" y="5774551"/>
                  <a:pt x="6107935" y="5797761"/>
                  <a:pt x="6107935" y="5836855"/>
                </a:cubicBezTo>
                <a:cubicBezTo>
                  <a:pt x="6110381" y="5872283"/>
                  <a:pt x="6110381" y="5908933"/>
                  <a:pt x="6110381" y="5945582"/>
                </a:cubicBezTo>
                <a:cubicBezTo>
                  <a:pt x="6110381" y="5983452"/>
                  <a:pt x="6109158" y="6021324"/>
                  <a:pt x="6110381" y="6060417"/>
                </a:cubicBezTo>
                <a:lnTo>
                  <a:pt x="6106055" y="6078094"/>
                </a:lnTo>
                <a:lnTo>
                  <a:pt x="6108059" y="6078201"/>
                </a:lnTo>
                <a:cubicBezTo>
                  <a:pt x="6113937" y="6079652"/>
                  <a:pt x="6118214" y="6082172"/>
                  <a:pt x="6121268" y="6085837"/>
                </a:cubicBezTo>
                <a:lnTo>
                  <a:pt x="6125405" y="6096044"/>
                </a:lnTo>
                <a:lnTo>
                  <a:pt x="6126156" y="6094323"/>
                </a:lnTo>
                <a:cubicBezTo>
                  <a:pt x="6132418" y="6087298"/>
                  <a:pt x="6143413" y="6084855"/>
                  <a:pt x="6161736" y="6086077"/>
                </a:cubicBezTo>
                <a:cubicBezTo>
                  <a:pt x="6230149" y="6089740"/>
                  <a:pt x="6298561" y="6088520"/>
                  <a:pt x="6366973" y="6086077"/>
                </a:cubicBezTo>
                <a:cubicBezTo>
                  <a:pt x="6399958" y="6084855"/>
                  <a:pt x="6420725" y="6100737"/>
                  <a:pt x="6439050" y="6125170"/>
                </a:cubicBezTo>
                <a:cubicBezTo>
                  <a:pt x="6454932" y="6147159"/>
                  <a:pt x="6456154" y="6166707"/>
                  <a:pt x="6431720" y="6186252"/>
                </a:cubicBezTo>
                <a:cubicBezTo>
                  <a:pt x="6403623" y="6209464"/>
                  <a:pt x="6364530" y="6230232"/>
                  <a:pt x="6388963" y="6279097"/>
                </a:cubicBezTo>
                <a:cubicBezTo>
                  <a:pt x="6413395" y="6327963"/>
                  <a:pt x="6463484" y="6351176"/>
                  <a:pt x="6524567" y="6343846"/>
                </a:cubicBezTo>
                <a:cubicBezTo>
                  <a:pt x="6570989" y="6337738"/>
                  <a:pt x="6618633" y="6299866"/>
                  <a:pt x="6624741" y="6260772"/>
                </a:cubicBezTo>
                <a:cubicBezTo>
                  <a:pt x="6629628" y="6231454"/>
                  <a:pt x="6608861" y="6214349"/>
                  <a:pt x="6589314" y="6197247"/>
                </a:cubicBezTo>
                <a:cubicBezTo>
                  <a:pt x="6572211" y="6182587"/>
                  <a:pt x="6546556" y="6170372"/>
                  <a:pt x="6559994" y="6139830"/>
                </a:cubicBezTo>
                <a:cubicBezTo>
                  <a:pt x="6572211" y="6112953"/>
                  <a:pt x="6590536" y="6088520"/>
                  <a:pt x="6622298" y="6087298"/>
                </a:cubicBezTo>
                <a:cubicBezTo>
                  <a:pt x="6705370" y="6084855"/>
                  <a:pt x="6787220" y="6086077"/>
                  <a:pt x="6870294" y="6086077"/>
                </a:cubicBezTo>
                <a:lnTo>
                  <a:pt x="6878000" y="6089431"/>
                </a:lnTo>
                <a:lnTo>
                  <a:pt x="6879007" y="6086924"/>
                </a:lnTo>
                <a:lnTo>
                  <a:pt x="6877557" y="6084401"/>
                </a:lnTo>
                <a:cubicBezTo>
                  <a:pt x="6876221" y="6079209"/>
                  <a:pt x="6875763" y="6072642"/>
                  <a:pt x="6876069" y="6064396"/>
                </a:cubicBezTo>
                <a:cubicBezTo>
                  <a:pt x="6879734" y="5997205"/>
                  <a:pt x="6877291" y="5928793"/>
                  <a:pt x="6877291" y="5860381"/>
                </a:cubicBezTo>
                <a:cubicBezTo>
                  <a:pt x="6877291" y="5829839"/>
                  <a:pt x="6861409" y="5807849"/>
                  <a:pt x="6835754" y="5796854"/>
                </a:cubicBezTo>
                <a:cubicBezTo>
                  <a:pt x="6812542" y="5787081"/>
                  <a:pt x="6806435" y="5815179"/>
                  <a:pt x="6794219" y="5827396"/>
                </a:cubicBezTo>
                <a:cubicBezTo>
                  <a:pt x="6753903" y="5867710"/>
                  <a:pt x="6717253" y="5871375"/>
                  <a:pt x="6672053" y="5838391"/>
                </a:cubicBezTo>
                <a:cubicBezTo>
                  <a:pt x="6620744" y="5800519"/>
                  <a:pt x="6613414" y="5749211"/>
                  <a:pt x="6618301" y="5690570"/>
                </a:cubicBezTo>
                <a:cubicBezTo>
                  <a:pt x="6623188" y="5633153"/>
                  <a:pt x="6657393" y="5597725"/>
                  <a:pt x="6707480" y="5578181"/>
                </a:cubicBezTo>
                <a:cubicBezTo>
                  <a:pt x="6753903" y="5559855"/>
                  <a:pt x="6782002" y="5590395"/>
                  <a:pt x="6806435" y="5623380"/>
                </a:cubicBezTo>
                <a:cubicBezTo>
                  <a:pt x="6824759" y="5647814"/>
                  <a:pt x="6839419" y="5640484"/>
                  <a:pt x="6856522" y="5623380"/>
                </a:cubicBezTo>
                <a:cubicBezTo>
                  <a:pt x="6871182" y="5607498"/>
                  <a:pt x="6876069" y="5589174"/>
                  <a:pt x="6876069" y="5567184"/>
                </a:cubicBezTo>
                <a:cubicBezTo>
                  <a:pt x="6874847" y="5501214"/>
                  <a:pt x="6877291" y="5436468"/>
                  <a:pt x="6874847" y="5371720"/>
                </a:cubicBezTo>
                <a:cubicBezTo>
                  <a:pt x="6873626" y="5342401"/>
                  <a:pt x="6879734" y="5331406"/>
                  <a:pt x="6912719" y="5332627"/>
                </a:cubicBezTo>
                <a:cubicBezTo>
                  <a:pt x="6979908" y="5335071"/>
                  <a:pt x="7045878" y="5332627"/>
                  <a:pt x="7113069" y="5333849"/>
                </a:cubicBezTo>
                <a:cubicBezTo>
                  <a:pt x="7143610" y="5333849"/>
                  <a:pt x="7166822" y="5321632"/>
                  <a:pt x="7179039" y="5295978"/>
                </a:cubicBezTo>
                <a:cubicBezTo>
                  <a:pt x="7191254" y="5269101"/>
                  <a:pt x="7159492" y="5264216"/>
                  <a:pt x="7147275" y="5250776"/>
                </a:cubicBezTo>
                <a:cubicBezTo>
                  <a:pt x="7109404" y="5212905"/>
                  <a:pt x="7104517" y="5178699"/>
                  <a:pt x="7136280" y="5133498"/>
                </a:cubicBezTo>
                <a:cubicBezTo>
                  <a:pt x="7175372" y="5077303"/>
                  <a:pt x="7231569" y="5072416"/>
                  <a:pt x="7292651" y="5078525"/>
                </a:cubicBezTo>
                <a:cubicBezTo>
                  <a:pt x="7337853" y="5083410"/>
                  <a:pt x="7389162" y="5124946"/>
                  <a:pt x="7400157" y="5167705"/>
                </a:cubicBezTo>
                <a:cubicBezTo>
                  <a:pt x="7412373" y="5211683"/>
                  <a:pt x="7387940" y="5242226"/>
                  <a:pt x="7354955" y="5264216"/>
                </a:cubicBezTo>
                <a:cubicBezTo>
                  <a:pt x="7324413" y="5284983"/>
                  <a:pt x="7336631" y="5300865"/>
                  <a:pt x="7357398" y="5319191"/>
                </a:cubicBezTo>
                <a:cubicBezTo>
                  <a:pt x="7372058" y="5332627"/>
                  <a:pt x="7390383" y="5335071"/>
                  <a:pt x="7409930" y="5335071"/>
                </a:cubicBezTo>
                <a:cubicBezTo>
                  <a:pt x="7478342" y="5333849"/>
                  <a:pt x="7546754" y="5335071"/>
                  <a:pt x="7615166" y="5333849"/>
                </a:cubicBezTo>
                <a:cubicBezTo>
                  <a:pt x="7638378" y="5333849"/>
                  <a:pt x="7644486" y="5339958"/>
                  <a:pt x="7644486" y="5363168"/>
                </a:cubicBezTo>
                <a:cubicBezTo>
                  <a:pt x="7643265" y="5436468"/>
                  <a:pt x="7644486" y="5508546"/>
                  <a:pt x="7644486" y="5581843"/>
                </a:cubicBezTo>
                <a:cubicBezTo>
                  <a:pt x="7644486" y="5622159"/>
                  <a:pt x="7622498" y="5646592"/>
                  <a:pt x="7588291" y="5661252"/>
                </a:cubicBezTo>
                <a:cubicBezTo>
                  <a:pt x="7552863" y="5677133"/>
                  <a:pt x="7545534" y="5642927"/>
                  <a:pt x="7529651" y="5627045"/>
                </a:cubicBezTo>
                <a:cubicBezTo>
                  <a:pt x="7493002" y="5589174"/>
                  <a:pt x="7468569" y="5586731"/>
                  <a:pt x="7428255" y="5619716"/>
                </a:cubicBezTo>
                <a:cubicBezTo>
                  <a:pt x="7384275" y="5656366"/>
                  <a:pt x="7381832" y="5704009"/>
                  <a:pt x="7390383" y="5754097"/>
                </a:cubicBezTo>
                <a:cubicBezTo>
                  <a:pt x="7397713" y="5798076"/>
                  <a:pt x="7428255" y="5823731"/>
                  <a:pt x="7466127" y="5837169"/>
                </a:cubicBezTo>
                <a:cubicBezTo>
                  <a:pt x="7500332" y="5849386"/>
                  <a:pt x="7521101" y="5820066"/>
                  <a:pt x="7538204" y="5795633"/>
                </a:cubicBezTo>
                <a:cubicBezTo>
                  <a:pt x="7563858" y="5760204"/>
                  <a:pt x="7589513" y="5766314"/>
                  <a:pt x="7617611" y="5791968"/>
                </a:cubicBezTo>
                <a:cubicBezTo>
                  <a:pt x="7635935" y="5809071"/>
                  <a:pt x="7645708" y="5829839"/>
                  <a:pt x="7644486" y="5855493"/>
                </a:cubicBezTo>
                <a:cubicBezTo>
                  <a:pt x="7643265" y="5890921"/>
                  <a:pt x="7644486" y="5925128"/>
                  <a:pt x="7644486" y="5960555"/>
                </a:cubicBezTo>
                <a:cubicBezTo>
                  <a:pt x="7643265" y="5998427"/>
                  <a:pt x="7643265" y="6036299"/>
                  <a:pt x="7645708" y="6072947"/>
                </a:cubicBezTo>
                <a:lnTo>
                  <a:pt x="7643676" y="6091527"/>
                </a:lnTo>
                <a:lnTo>
                  <a:pt x="7645318" y="6082343"/>
                </a:lnTo>
                <a:cubicBezTo>
                  <a:pt x="7650662" y="6075776"/>
                  <a:pt x="7660435" y="6073028"/>
                  <a:pt x="7677538" y="6073639"/>
                </a:cubicBezTo>
                <a:cubicBezTo>
                  <a:pt x="7747172" y="6077304"/>
                  <a:pt x="7816806" y="6074861"/>
                  <a:pt x="7886441" y="6074861"/>
                </a:cubicBezTo>
                <a:cubicBezTo>
                  <a:pt x="7915760" y="6074861"/>
                  <a:pt x="7938970" y="6085854"/>
                  <a:pt x="7956073" y="6107844"/>
                </a:cubicBezTo>
                <a:cubicBezTo>
                  <a:pt x="7975620" y="6132276"/>
                  <a:pt x="7979285" y="6154268"/>
                  <a:pt x="7949965" y="6176258"/>
                </a:cubicBezTo>
                <a:cubicBezTo>
                  <a:pt x="7924311" y="6195803"/>
                  <a:pt x="7890105" y="6216571"/>
                  <a:pt x="7905986" y="6256885"/>
                </a:cubicBezTo>
                <a:cubicBezTo>
                  <a:pt x="7923090" y="6298422"/>
                  <a:pt x="7953630" y="6327742"/>
                  <a:pt x="8002497" y="6331407"/>
                </a:cubicBezTo>
                <a:cubicBezTo>
                  <a:pt x="8041589" y="6335072"/>
                  <a:pt x="8078239" y="6332629"/>
                  <a:pt x="8110001" y="6304530"/>
                </a:cubicBezTo>
                <a:cubicBezTo>
                  <a:pt x="8160089" y="6258108"/>
                  <a:pt x="8160089" y="6228788"/>
                  <a:pt x="8110001" y="6183586"/>
                </a:cubicBezTo>
                <a:cubicBezTo>
                  <a:pt x="8095342" y="6171371"/>
                  <a:pt x="8070909" y="6161598"/>
                  <a:pt x="8079461" y="6135943"/>
                </a:cubicBezTo>
                <a:cubicBezTo>
                  <a:pt x="8089234" y="6106623"/>
                  <a:pt x="8108779" y="6078526"/>
                  <a:pt x="8141764" y="6077304"/>
                </a:cubicBezTo>
                <a:cubicBezTo>
                  <a:pt x="8226058" y="6073639"/>
                  <a:pt x="8310352" y="6074861"/>
                  <a:pt x="8393425" y="6074861"/>
                </a:cubicBezTo>
                <a:cubicBezTo>
                  <a:pt x="8399838" y="6074861"/>
                  <a:pt x="8404037" y="6076082"/>
                  <a:pt x="8406729" y="6078106"/>
                </a:cubicBezTo>
                <a:lnTo>
                  <a:pt x="8410249" y="6084768"/>
                </a:lnTo>
                <a:lnTo>
                  <a:pt x="8414744" y="6080797"/>
                </a:lnTo>
                <a:cubicBezTo>
                  <a:pt x="8420699" y="6078506"/>
                  <a:pt x="8428640" y="6079422"/>
                  <a:pt x="8436581" y="6079422"/>
                </a:cubicBezTo>
                <a:cubicBezTo>
                  <a:pt x="8504993" y="6079422"/>
                  <a:pt x="8573405" y="6079422"/>
                  <a:pt x="8641819" y="6079422"/>
                </a:cubicBezTo>
                <a:cubicBezTo>
                  <a:pt x="8660144" y="6079422"/>
                  <a:pt x="8677247" y="6078202"/>
                  <a:pt x="8690684" y="6065984"/>
                </a:cubicBezTo>
                <a:cubicBezTo>
                  <a:pt x="8713896" y="6046439"/>
                  <a:pt x="8726112" y="6030557"/>
                  <a:pt x="8693127" y="6003680"/>
                </a:cubicBezTo>
                <a:cubicBezTo>
                  <a:pt x="8633267" y="5957258"/>
                  <a:pt x="8633267" y="5909613"/>
                  <a:pt x="8688242" y="5855861"/>
                </a:cubicBezTo>
                <a:cubicBezTo>
                  <a:pt x="8746881" y="5798443"/>
                  <a:pt x="8856828" y="5805773"/>
                  <a:pt x="8909360" y="5870521"/>
                </a:cubicBezTo>
                <a:cubicBezTo>
                  <a:pt x="8949675" y="5919386"/>
                  <a:pt x="8946010" y="5954815"/>
                  <a:pt x="8900808" y="5998795"/>
                </a:cubicBezTo>
                <a:cubicBezTo>
                  <a:pt x="8888593" y="6011010"/>
                  <a:pt x="8861716" y="6017119"/>
                  <a:pt x="8873933" y="6041552"/>
                </a:cubicBezTo>
                <a:cubicBezTo>
                  <a:pt x="8884928" y="6063542"/>
                  <a:pt x="8904473" y="6078202"/>
                  <a:pt x="8931350" y="6078202"/>
                </a:cubicBezTo>
                <a:cubicBezTo>
                  <a:pt x="8999762" y="6078202"/>
                  <a:pt x="9068174" y="6080644"/>
                  <a:pt x="9136587" y="6076979"/>
                </a:cubicBezTo>
                <a:cubicBezTo>
                  <a:pt x="9146055" y="6076369"/>
                  <a:pt x="9153537" y="6076751"/>
                  <a:pt x="9159416" y="6078201"/>
                </a:cubicBezTo>
                <a:lnTo>
                  <a:pt x="9160395" y="6078767"/>
                </a:lnTo>
                <a:lnTo>
                  <a:pt x="9159383" y="6065178"/>
                </a:lnTo>
                <a:cubicBezTo>
                  <a:pt x="9161828" y="5995543"/>
                  <a:pt x="9159383" y="5925909"/>
                  <a:pt x="9160606" y="5856275"/>
                </a:cubicBezTo>
                <a:cubicBezTo>
                  <a:pt x="9160606" y="5828177"/>
                  <a:pt x="9147168" y="5809852"/>
                  <a:pt x="9125178" y="5798859"/>
                </a:cubicBezTo>
                <a:cubicBezTo>
                  <a:pt x="9099523" y="5785420"/>
                  <a:pt x="9094636" y="5813517"/>
                  <a:pt x="9083641" y="5825735"/>
                </a:cubicBezTo>
                <a:cubicBezTo>
                  <a:pt x="9042106" y="5869714"/>
                  <a:pt x="9003012" y="5873379"/>
                  <a:pt x="8954147" y="5835507"/>
                </a:cubicBezTo>
                <a:cubicBezTo>
                  <a:pt x="8928492" y="5817184"/>
                  <a:pt x="8916275" y="5790307"/>
                  <a:pt x="8901615" y="5764652"/>
                </a:cubicBezTo>
                <a:cubicBezTo>
                  <a:pt x="8901615" y="5732890"/>
                  <a:pt x="8901615" y="5701127"/>
                  <a:pt x="8902838" y="5668142"/>
                </a:cubicBezTo>
                <a:cubicBezTo>
                  <a:pt x="8963920" y="5559415"/>
                  <a:pt x="9012786" y="5550862"/>
                  <a:pt x="9099523" y="5630271"/>
                </a:cubicBezTo>
                <a:cubicBezTo>
                  <a:pt x="9111739" y="5641266"/>
                  <a:pt x="9120291" y="5642486"/>
                  <a:pt x="9132508" y="5633936"/>
                </a:cubicBezTo>
                <a:cubicBezTo>
                  <a:pt x="9153276" y="5618054"/>
                  <a:pt x="9161828" y="5599729"/>
                  <a:pt x="9161828" y="5572855"/>
                </a:cubicBezTo>
                <a:cubicBezTo>
                  <a:pt x="9160606" y="5509327"/>
                  <a:pt x="9165493" y="5445801"/>
                  <a:pt x="9160606" y="5382276"/>
                </a:cubicBezTo>
                <a:cubicBezTo>
                  <a:pt x="9156941" y="5337075"/>
                  <a:pt x="9174043" y="5329745"/>
                  <a:pt x="9213137" y="5332188"/>
                </a:cubicBezTo>
                <a:cubicBezTo>
                  <a:pt x="9275440" y="5335853"/>
                  <a:pt x="9336524" y="5332188"/>
                  <a:pt x="9398827" y="5333410"/>
                </a:cubicBezTo>
                <a:cubicBezTo>
                  <a:pt x="9430591" y="5333410"/>
                  <a:pt x="9456246" y="5322415"/>
                  <a:pt x="9467240" y="5293094"/>
                </a:cubicBezTo>
                <a:cubicBezTo>
                  <a:pt x="9477013" y="5266220"/>
                  <a:pt x="9447693" y="5262554"/>
                  <a:pt x="9434256" y="5249118"/>
                </a:cubicBezTo>
                <a:cubicBezTo>
                  <a:pt x="9398827" y="5213689"/>
                  <a:pt x="9392719" y="5180704"/>
                  <a:pt x="9419596" y="5139169"/>
                </a:cubicBezTo>
                <a:cubicBezTo>
                  <a:pt x="9467240" y="5064646"/>
                  <a:pt x="9584518" y="5048767"/>
                  <a:pt x="9648044" y="5109848"/>
                </a:cubicBezTo>
                <a:cubicBezTo>
                  <a:pt x="9705461" y="5164823"/>
                  <a:pt x="9706684" y="5208802"/>
                  <a:pt x="9643157" y="5260110"/>
                </a:cubicBezTo>
                <a:cubicBezTo>
                  <a:pt x="9612615" y="5284544"/>
                  <a:pt x="9622389" y="5300426"/>
                  <a:pt x="9644379" y="5319971"/>
                </a:cubicBezTo>
                <a:cubicBezTo>
                  <a:pt x="9660261" y="5333410"/>
                  <a:pt x="9678584" y="5334631"/>
                  <a:pt x="9698131" y="5334631"/>
                </a:cubicBezTo>
                <a:cubicBezTo>
                  <a:pt x="9766544" y="5334631"/>
                  <a:pt x="9834956" y="5335853"/>
                  <a:pt x="9903370" y="5334631"/>
                </a:cubicBezTo>
                <a:cubicBezTo>
                  <a:pt x="9917113" y="5334631"/>
                  <a:pt x="9926046" y="5336007"/>
                  <a:pt x="9929654" y="5346485"/>
                </a:cubicBezTo>
                <a:lnTo>
                  <a:pt x="9930724" y="5354628"/>
                </a:lnTo>
                <a:lnTo>
                  <a:pt x="9932264" y="5354628"/>
                </a:lnTo>
                <a:lnTo>
                  <a:pt x="9932800" y="5349644"/>
                </a:lnTo>
                <a:cubicBezTo>
                  <a:pt x="9935434" y="5343481"/>
                  <a:pt x="9940130" y="5339572"/>
                  <a:pt x="9947918" y="5337597"/>
                </a:cubicBezTo>
                <a:lnTo>
                  <a:pt x="9951318" y="5337347"/>
                </a:lnTo>
                <a:lnTo>
                  <a:pt x="9952291" y="5335521"/>
                </a:lnTo>
                <a:lnTo>
                  <a:pt x="9934946" y="5330599"/>
                </a:lnTo>
                <a:cubicBezTo>
                  <a:pt x="9931128" y="5326323"/>
                  <a:pt x="9930211" y="5319604"/>
                  <a:pt x="9930821" y="5309831"/>
                </a:cubicBezTo>
                <a:cubicBezTo>
                  <a:pt x="9932044" y="5235310"/>
                  <a:pt x="9932044" y="5160790"/>
                  <a:pt x="9930821" y="5086269"/>
                </a:cubicBezTo>
                <a:cubicBezTo>
                  <a:pt x="9930821" y="5052061"/>
                  <a:pt x="9950369" y="5030071"/>
                  <a:pt x="9976023" y="5012969"/>
                </a:cubicBezTo>
                <a:cubicBezTo>
                  <a:pt x="9993126" y="5001974"/>
                  <a:pt x="10009008" y="5003196"/>
                  <a:pt x="10026111" y="5020300"/>
                </a:cubicBezTo>
                <a:cubicBezTo>
                  <a:pt x="10092080" y="5086269"/>
                  <a:pt x="10106740" y="5088711"/>
                  <a:pt x="10151942" y="5045954"/>
                </a:cubicBezTo>
                <a:cubicBezTo>
                  <a:pt x="10198364" y="5001974"/>
                  <a:pt x="10203251" y="4916459"/>
                  <a:pt x="10160492" y="4868816"/>
                </a:cubicBezTo>
                <a:cubicBezTo>
                  <a:pt x="10115292" y="4817505"/>
                  <a:pt x="10084750" y="4817505"/>
                  <a:pt x="10039550" y="4867593"/>
                </a:cubicBezTo>
                <a:cubicBezTo>
                  <a:pt x="10026111" y="4882253"/>
                  <a:pt x="10017560" y="4907907"/>
                  <a:pt x="9987018" y="4895690"/>
                </a:cubicBezTo>
                <a:cubicBezTo>
                  <a:pt x="9956476" y="4883475"/>
                  <a:pt x="9933266" y="4863928"/>
                  <a:pt x="9932044" y="4830943"/>
                </a:cubicBezTo>
                <a:cubicBezTo>
                  <a:pt x="9929601" y="4750316"/>
                  <a:pt x="9930821" y="4669686"/>
                  <a:pt x="9929601" y="4587835"/>
                </a:cubicBezTo>
                <a:cubicBezTo>
                  <a:pt x="9929601" y="4564624"/>
                  <a:pt x="9944261" y="4568288"/>
                  <a:pt x="9957699" y="4568288"/>
                </a:cubicBezTo>
                <a:cubicBezTo>
                  <a:pt x="10024890" y="4568288"/>
                  <a:pt x="10090860" y="4568288"/>
                  <a:pt x="10158050" y="4568288"/>
                </a:cubicBezTo>
                <a:cubicBezTo>
                  <a:pt x="10173932" y="4568288"/>
                  <a:pt x="10189812" y="4569509"/>
                  <a:pt x="10204472" y="4560959"/>
                </a:cubicBezTo>
                <a:cubicBezTo>
                  <a:pt x="10241122" y="4540189"/>
                  <a:pt x="10243566" y="4520644"/>
                  <a:pt x="10213024" y="4493768"/>
                </a:cubicBezTo>
                <a:cubicBezTo>
                  <a:pt x="10155607" y="4442457"/>
                  <a:pt x="10154385" y="4398478"/>
                  <a:pt x="10209359" y="4345948"/>
                </a:cubicBezTo>
                <a:cubicBezTo>
                  <a:pt x="10239900" y="4316628"/>
                  <a:pt x="10283268" y="4304412"/>
                  <a:pt x="10325263" y="4307925"/>
                </a:cubicBezTo>
                <a:cubicBezTo>
                  <a:pt x="10367257" y="4311436"/>
                  <a:pt x="10407876" y="4330677"/>
                  <a:pt x="10432920" y="4364272"/>
                </a:cubicBezTo>
                <a:cubicBezTo>
                  <a:pt x="10467127" y="4409475"/>
                  <a:pt x="10462240" y="4447344"/>
                  <a:pt x="10423148" y="4486437"/>
                </a:cubicBezTo>
                <a:cubicBezTo>
                  <a:pt x="10410932" y="4498655"/>
                  <a:pt x="10377948" y="4502319"/>
                  <a:pt x="10393828" y="4531639"/>
                </a:cubicBezTo>
                <a:cubicBezTo>
                  <a:pt x="10407266" y="4557294"/>
                  <a:pt x="10429257" y="4569509"/>
                  <a:pt x="10459798" y="4569509"/>
                </a:cubicBezTo>
                <a:cubicBezTo>
                  <a:pt x="10526989" y="4568288"/>
                  <a:pt x="10592957" y="4570731"/>
                  <a:pt x="10660149" y="4568288"/>
                </a:cubicBezTo>
                <a:cubicBezTo>
                  <a:pt x="10690691" y="4567067"/>
                  <a:pt x="10701684" y="4574397"/>
                  <a:pt x="10700463" y="4607381"/>
                </a:cubicBezTo>
                <a:cubicBezTo>
                  <a:pt x="10698020" y="4672129"/>
                  <a:pt x="10699241" y="4738097"/>
                  <a:pt x="10699241" y="4802845"/>
                </a:cubicBezTo>
                <a:cubicBezTo>
                  <a:pt x="10699241" y="4830943"/>
                  <a:pt x="10693133" y="4855378"/>
                  <a:pt x="10672366" y="4876145"/>
                </a:cubicBezTo>
                <a:cubicBezTo>
                  <a:pt x="10640602" y="4907907"/>
                  <a:pt x="10621056" y="4906687"/>
                  <a:pt x="10591736" y="4872480"/>
                </a:cubicBezTo>
                <a:cubicBezTo>
                  <a:pt x="10572189" y="4850489"/>
                  <a:pt x="10553864" y="4819948"/>
                  <a:pt x="10518437" y="4833387"/>
                </a:cubicBezTo>
                <a:cubicBezTo>
                  <a:pt x="10479345" y="4848047"/>
                  <a:pt x="10450025" y="4873702"/>
                  <a:pt x="10443915" y="4917681"/>
                </a:cubicBezTo>
                <a:cubicBezTo>
                  <a:pt x="10436587" y="4970212"/>
                  <a:pt x="10439030" y="5019078"/>
                  <a:pt x="10486675" y="5054507"/>
                </a:cubicBezTo>
                <a:cubicBezTo>
                  <a:pt x="10525767" y="5083825"/>
                  <a:pt x="10547757" y="5081381"/>
                  <a:pt x="10580742" y="5045954"/>
                </a:cubicBezTo>
                <a:cubicBezTo>
                  <a:pt x="10597844" y="5027629"/>
                  <a:pt x="10607617" y="4993424"/>
                  <a:pt x="10643046" y="5009304"/>
                </a:cubicBezTo>
                <a:cubicBezTo>
                  <a:pt x="10677251" y="5023964"/>
                  <a:pt x="10698020" y="5052061"/>
                  <a:pt x="10699241" y="5089935"/>
                </a:cubicBezTo>
                <a:cubicBezTo>
                  <a:pt x="10700463" y="5163234"/>
                  <a:pt x="10699241" y="5236532"/>
                  <a:pt x="10700463" y="5308610"/>
                </a:cubicBezTo>
                <a:lnTo>
                  <a:pt x="10695953" y="5325919"/>
                </a:lnTo>
                <a:lnTo>
                  <a:pt x="10695953" y="5342506"/>
                </a:lnTo>
                <a:lnTo>
                  <a:pt x="10697005" y="5340688"/>
                </a:lnTo>
                <a:cubicBezTo>
                  <a:pt x="10705709" y="5333510"/>
                  <a:pt x="10719758" y="5332289"/>
                  <a:pt x="10739305" y="5333510"/>
                </a:cubicBezTo>
                <a:cubicBezTo>
                  <a:pt x="10801608" y="5337175"/>
                  <a:pt x="10862692" y="5333510"/>
                  <a:pt x="10924995" y="5334732"/>
                </a:cubicBezTo>
                <a:cubicBezTo>
                  <a:pt x="10956759" y="5334732"/>
                  <a:pt x="10982414" y="5323737"/>
                  <a:pt x="10993408" y="5294417"/>
                </a:cubicBezTo>
                <a:cubicBezTo>
                  <a:pt x="11003181" y="5267541"/>
                  <a:pt x="10973861" y="5263877"/>
                  <a:pt x="10960424" y="5250439"/>
                </a:cubicBezTo>
                <a:cubicBezTo>
                  <a:pt x="10924995" y="5215009"/>
                  <a:pt x="10918887" y="5182026"/>
                  <a:pt x="10945764" y="5140490"/>
                </a:cubicBezTo>
                <a:cubicBezTo>
                  <a:pt x="10993408" y="5065968"/>
                  <a:pt x="11110686" y="5050088"/>
                  <a:pt x="11174212" y="5111172"/>
                </a:cubicBezTo>
                <a:cubicBezTo>
                  <a:pt x="11231629" y="5166144"/>
                  <a:pt x="11232852" y="5210124"/>
                  <a:pt x="11169325" y="5261432"/>
                </a:cubicBezTo>
                <a:cubicBezTo>
                  <a:pt x="11138783" y="5285866"/>
                  <a:pt x="11148557" y="5301748"/>
                  <a:pt x="11170547" y="5321293"/>
                </a:cubicBezTo>
                <a:cubicBezTo>
                  <a:pt x="11186429" y="5334732"/>
                  <a:pt x="11204752" y="5335954"/>
                  <a:pt x="11224299" y="5335954"/>
                </a:cubicBezTo>
                <a:cubicBezTo>
                  <a:pt x="11292712" y="5335954"/>
                  <a:pt x="11361124" y="5337175"/>
                  <a:pt x="11429538" y="5335954"/>
                </a:cubicBezTo>
                <a:cubicBezTo>
                  <a:pt x="11447862" y="5335954"/>
                  <a:pt x="11457635" y="5338397"/>
                  <a:pt x="11457635" y="5361608"/>
                </a:cubicBezTo>
                <a:cubicBezTo>
                  <a:pt x="11456413" y="5436129"/>
                  <a:pt x="11457635" y="5510649"/>
                  <a:pt x="11456413" y="5585169"/>
                </a:cubicBezTo>
                <a:cubicBezTo>
                  <a:pt x="11455192" y="5623042"/>
                  <a:pt x="11433202" y="5648697"/>
                  <a:pt x="11397773" y="5663355"/>
                </a:cubicBezTo>
                <a:cubicBezTo>
                  <a:pt x="11362346" y="5676794"/>
                  <a:pt x="11356238" y="5645031"/>
                  <a:pt x="11340356" y="5627928"/>
                </a:cubicBezTo>
                <a:cubicBezTo>
                  <a:pt x="11304929" y="5590057"/>
                  <a:pt x="11282939" y="5587614"/>
                  <a:pt x="11242624" y="5618154"/>
                </a:cubicBezTo>
                <a:cubicBezTo>
                  <a:pt x="11203532" y="5647475"/>
                  <a:pt x="11196202" y="5686566"/>
                  <a:pt x="11198645" y="5731767"/>
                </a:cubicBezTo>
                <a:cubicBezTo>
                  <a:pt x="11201089" y="5781856"/>
                  <a:pt x="11227964" y="5823392"/>
                  <a:pt x="11271944" y="5838051"/>
                </a:cubicBezTo>
                <a:cubicBezTo>
                  <a:pt x="11313481" y="5852711"/>
                  <a:pt x="11333026" y="5820947"/>
                  <a:pt x="11352573" y="5795294"/>
                </a:cubicBezTo>
                <a:cubicBezTo>
                  <a:pt x="11377006" y="5764752"/>
                  <a:pt x="11400218" y="5769639"/>
                  <a:pt x="11424650" y="5791629"/>
                </a:cubicBezTo>
                <a:cubicBezTo>
                  <a:pt x="11445418" y="5809954"/>
                  <a:pt x="11457635" y="5833164"/>
                  <a:pt x="11456413" y="5862484"/>
                </a:cubicBezTo>
                <a:cubicBezTo>
                  <a:pt x="11455192" y="5906464"/>
                  <a:pt x="11456413" y="5951665"/>
                  <a:pt x="11456413" y="5995645"/>
                </a:cubicBezTo>
                <a:cubicBezTo>
                  <a:pt x="11456413" y="6035959"/>
                  <a:pt x="11456413" y="6061155"/>
                  <a:pt x="11450808" y="6076903"/>
                </a:cubicBezTo>
                <a:lnTo>
                  <a:pt x="11443434" y="6089200"/>
                </a:lnTo>
                <a:lnTo>
                  <a:pt x="11447629" y="6089179"/>
                </a:lnTo>
                <a:lnTo>
                  <a:pt x="11460380" y="6094729"/>
                </a:lnTo>
                <a:lnTo>
                  <a:pt x="11461414" y="6089396"/>
                </a:lnTo>
                <a:cubicBezTo>
                  <a:pt x="11466607" y="6083288"/>
                  <a:pt x="11475769" y="6080844"/>
                  <a:pt x="11491039" y="6081456"/>
                </a:cubicBezTo>
                <a:cubicBezTo>
                  <a:pt x="11555788" y="6083898"/>
                  <a:pt x="11621755" y="6082676"/>
                  <a:pt x="11686503" y="6082676"/>
                </a:cubicBezTo>
                <a:cubicBezTo>
                  <a:pt x="11702385" y="6082676"/>
                  <a:pt x="11718267" y="6082676"/>
                  <a:pt x="11732927" y="6074124"/>
                </a:cubicBezTo>
                <a:cubicBezTo>
                  <a:pt x="11768354" y="6055799"/>
                  <a:pt x="11770797" y="6033811"/>
                  <a:pt x="11741477" y="6008156"/>
                </a:cubicBezTo>
                <a:cubicBezTo>
                  <a:pt x="11715824" y="5986166"/>
                  <a:pt x="11688947" y="5961732"/>
                  <a:pt x="11698720" y="5923862"/>
                </a:cubicBezTo>
                <a:cubicBezTo>
                  <a:pt x="11710937" y="5878660"/>
                  <a:pt x="11741477" y="5844455"/>
                  <a:pt x="11785457" y="5829795"/>
                </a:cubicBezTo>
                <a:cubicBezTo>
                  <a:pt x="11801644" y="5823992"/>
                  <a:pt x="11818289" y="5821014"/>
                  <a:pt x="11834763" y="5820594"/>
                </a:cubicBezTo>
                <a:cubicBezTo>
                  <a:pt x="11884183" y="5819334"/>
                  <a:pt x="11932056" y="5841095"/>
                  <a:pt x="11961375" y="5878660"/>
                </a:cubicBezTo>
                <a:cubicBezTo>
                  <a:pt x="11998025" y="5925083"/>
                  <a:pt x="11993137" y="5961732"/>
                  <a:pt x="11949158" y="6003269"/>
                </a:cubicBezTo>
                <a:cubicBezTo>
                  <a:pt x="11936942" y="6014264"/>
                  <a:pt x="11910065" y="6019151"/>
                  <a:pt x="11922283" y="6046026"/>
                </a:cubicBezTo>
                <a:cubicBezTo>
                  <a:pt x="11934500" y="6070461"/>
                  <a:pt x="11956488" y="6082676"/>
                  <a:pt x="11983365" y="6082676"/>
                </a:cubicBezTo>
                <a:cubicBezTo>
                  <a:pt x="12050556" y="6082676"/>
                  <a:pt x="12116524" y="6085121"/>
                  <a:pt x="12183716" y="6081456"/>
                </a:cubicBezTo>
                <a:lnTo>
                  <a:pt x="12191999" y="6083007"/>
                </a:lnTo>
                <a:lnTo>
                  <a:pt x="12191999" y="6858000"/>
                </a:lnTo>
                <a:lnTo>
                  <a:pt x="0" y="6858000"/>
                </a:lnTo>
                <a:close/>
              </a:path>
            </a:pathLst>
          </a:custGeom>
          <a:solidFill>
            <a:schemeClr val="bg1">
              <a:lumMod val="95000"/>
            </a:schemeClr>
          </a:solidFill>
          <a:ln w="12700">
            <a:noFill/>
          </a:ln>
        </p:spPr>
        <p:txBody>
          <a:bodyPr wrap="square" anchor="ctr">
            <a:noAutofit/>
          </a:bodyPr>
          <a:lstStyle>
            <a:lvl1pPr marL="0" indent="0" algn="ctr">
              <a:buNone/>
              <a:defRPr sz="1200">
                <a:solidFill>
                  <a:schemeClr val="tx1">
                    <a:lumMod val="75000"/>
                    <a:lumOff val="25000"/>
                  </a:schemeClr>
                </a:solidFill>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Your Picture Her </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ontents slide layout">
    <p:spTree>
      <p:nvGrpSpPr>
        <p:cNvPr id="1" name=""/>
        <p:cNvGrpSpPr/>
        <p:nvPr/>
      </p:nvGrpSpPr>
      <p:grpSpPr>
        <a:xfrm>
          <a:off x="0" y="0"/>
          <a:ext cx="0" cy="0"/>
          <a:chOff x="0" y="0"/>
          <a:chExt cx="0" cy="0"/>
        </a:xfrm>
      </p:grpSpPr>
      <p:grpSp>
        <p:nvGrpSpPr>
          <p:cNvPr id="2" name="Graphic 14">
            <a:extLst>
              <a:ext uri="{FF2B5EF4-FFF2-40B4-BE49-F238E27FC236}">
                <a16:creationId xmlns:a16="http://schemas.microsoft.com/office/drawing/2014/main" id="{951D8330-E771-4350-AECC-9F5BCE08B469}"/>
              </a:ext>
            </a:extLst>
          </p:cNvPr>
          <p:cNvGrpSpPr/>
          <p:nvPr userDrawn="1"/>
        </p:nvGrpSpPr>
        <p:grpSpPr>
          <a:xfrm>
            <a:off x="4079368" y="2057112"/>
            <a:ext cx="4033264" cy="3172231"/>
            <a:chOff x="2444748" y="555045"/>
            <a:chExt cx="7282048" cy="5727454"/>
          </a:xfrm>
        </p:grpSpPr>
        <p:sp>
          <p:nvSpPr>
            <p:cNvPr id="3" name="Freeform: Shape 2">
              <a:extLst>
                <a:ext uri="{FF2B5EF4-FFF2-40B4-BE49-F238E27FC236}">
                  <a16:creationId xmlns:a16="http://schemas.microsoft.com/office/drawing/2014/main" id="{A9BC9537-D370-4B73-BE04-2487029288D3}"/>
                </a:ext>
              </a:extLst>
            </p:cNvPr>
            <p:cNvSpPr/>
            <p:nvPr/>
          </p:nvSpPr>
          <p:spPr>
            <a:xfrm>
              <a:off x="4964693" y="5443837"/>
              <a:ext cx="2168250" cy="818208"/>
            </a:xfrm>
            <a:custGeom>
              <a:avLst/>
              <a:gdLst>
                <a:gd name="connsiteX0" fmla="*/ 1941333 w 2168250"/>
                <a:gd name="connsiteY0" fmla="*/ 525699 h 818207"/>
                <a:gd name="connsiteX1" fmla="*/ 1785874 w 2168250"/>
                <a:gd name="connsiteY1" fmla="*/ 30683 h 818207"/>
                <a:gd name="connsiteX2" fmla="*/ 1114943 w 2168250"/>
                <a:gd name="connsiteY2" fmla="*/ 30683 h 818207"/>
                <a:gd name="connsiteX3" fmla="*/ 1065851 w 2168250"/>
                <a:gd name="connsiteY3" fmla="*/ 30683 h 818207"/>
                <a:gd name="connsiteX4" fmla="*/ 390830 w 2168250"/>
                <a:gd name="connsiteY4" fmla="*/ 30683 h 818207"/>
                <a:gd name="connsiteX5" fmla="*/ 235370 w 2168250"/>
                <a:gd name="connsiteY5" fmla="*/ 525699 h 818207"/>
                <a:gd name="connsiteX6" fmla="*/ 259916 w 2168250"/>
                <a:gd name="connsiteY6" fmla="*/ 816162 h 818207"/>
                <a:gd name="connsiteX7" fmla="*/ 1065851 w 2168250"/>
                <a:gd name="connsiteY7" fmla="*/ 816162 h 818207"/>
                <a:gd name="connsiteX8" fmla="*/ 1114943 w 2168250"/>
                <a:gd name="connsiteY8" fmla="*/ 816162 h 818207"/>
                <a:gd name="connsiteX9" fmla="*/ 1920878 w 2168250"/>
                <a:gd name="connsiteY9" fmla="*/ 816162 h 818207"/>
                <a:gd name="connsiteX10" fmla="*/ 1941333 w 2168250"/>
                <a:gd name="connsiteY10" fmla="*/ 525699 h 8182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68250" h="818207">
                  <a:moveTo>
                    <a:pt x="1941333" y="525699"/>
                  </a:moveTo>
                  <a:cubicBezTo>
                    <a:pt x="1789965" y="370239"/>
                    <a:pt x="1785874" y="30683"/>
                    <a:pt x="1785874" y="30683"/>
                  </a:cubicBezTo>
                  <a:lnTo>
                    <a:pt x="1114943" y="30683"/>
                  </a:lnTo>
                  <a:lnTo>
                    <a:pt x="1065851" y="30683"/>
                  </a:lnTo>
                  <a:lnTo>
                    <a:pt x="390830" y="30683"/>
                  </a:lnTo>
                  <a:cubicBezTo>
                    <a:pt x="390830" y="30683"/>
                    <a:pt x="386739" y="366148"/>
                    <a:pt x="235370" y="525699"/>
                  </a:cubicBezTo>
                  <a:cubicBezTo>
                    <a:pt x="84002" y="681158"/>
                    <a:pt x="-149188" y="816162"/>
                    <a:pt x="259916" y="816162"/>
                  </a:cubicBezTo>
                  <a:cubicBezTo>
                    <a:pt x="587199" y="816162"/>
                    <a:pt x="939029" y="816162"/>
                    <a:pt x="1065851" y="816162"/>
                  </a:cubicBezTo>
                  <a:cubicBezTo>
                    <a:pt x="1098579" y="816162"/>
                    <a:pt x="1114943" y="816162"/>
                    <a:pt x="1114943" y="816162"/>
                  </a:cubicBezTo>
                  <a:cubicBezTo>
                    <a:pt x="1245857" y="816162"/>
                    <a:pt x="1597686" y="816162"/>
                    <a:pt x="1920878" y="816162"/>
                  </a:cubicBezTo>
                  <a:cubicBezTo>
                    <a:pt x="2329982" y="816162"/>
                    <a:pt x="2092702" y="681158"/>
                    <a:pt x="1941333" y="525699"/>
                  </a:cubicBezTo>
                  <a:close/>
                </a:path>
              </a:pathLst>
            </a:custGeom>
            <a:gradFill>
              <a:gsLst>
                <a:gs pos="0">
                  <a:schemeClr val="bg1">
                    <a:lumMod val="75000"/>
                  </a:schemeClr>
                </a:gs>
                <a:gs pos="53000">
                  <a:schemeClr val="bg1">
                    <a:lumMod val="85000"/>
                  </a:schemeClr>
                </a:gs>
                <a:gs pos="83000">
                  <a:schemeClr val="bg1">
                    <a:lumMod val="75000"/>
                  </a:schemeClr>
                </a:gs>
                <a:gs pos="100000">
                  <a:schemeClr val="bg1">
                    <a:lumMod val="75000"/>
                  </a:schemeClr>
                </a:gs>
              </a:gsLst>
              <a:lin ang="16200000" scaled="0"/>
            </a:gradFill>
            <a:ln w="9525" cap="flat">
              <a:noFill/>
              <a:prstDash val="solid"/>
              <a:miter/>
            </a:ln>
          </p:spPr>
          <p:txBody>
            <a:bodyPr rtlCol="0" anchor="ctr"/>
            <a:lstStyle/>
            <a:p>
              <a:endParaRPr lang="en-US"/>
            </a:p>
          </p:txBody>
        </p:sp>
        <p:sp>
          <p:nvSpPr>
            <p:cNvPr id="4" name="Freeform: Shape 3">
              <a:extLst>
                <a:ext uri="{FF2B5EF4-FFF2-40B4-BE49-F238E27FC236}">
                  <a16:creationId xmlns:a16="http://schemas.microsoft.com/office/drawing/2014/main" id="{789FD703-8A1A-4123-93DA-DCB9796279E7}"/>
                </a:ext>
              </a:extLst>
            </p:cNvPr>
            <p:cNvSpPr/>
            <p:nvPr/>
          </p:nvSpPr>
          <p:spPr>
            <a:xfrm>
              <a:off x="2444748" y="555045"/>
              <a:ext cx="7282048" cy="4950157"/>
            </a:xfrm>
            <a:custGeom>
              <a:avLst/>
              <a:gdLst>
                <a:gd name="connsiteX0" fmla="*/ 7038632 w 7282048"/>
                <a:gd name="connsiteY0" fmla="*/ 30683 h 4950157"/>
                <a:gd name="connsiteX1" fmla="*/ 3704436 w 7282048"/>
                <a:gd name="connsiteY1" fmla="*/ 30683 h 4950157"/>
                <a:gd name="connsiteX2" fmla="*/ 3589886 w 7282048"/>
                <a:gd name="connsiteY2" fmla="*/ 30683 h 4950157"/>
                <a:gd name="connsiteX3" fmla="*/ 259781 w 7282048"/>
                <a:gd name="connsiteY3" fmla="*/ 30683 h 4950157"/>
                <a:gd name="connsiteX4" fmla="*/ 30683 w 7282048"/>
                <a:gd name="connsiteY4" fmla="*/ 259781 h 4950157"/>
                <a:gd name="connsiteX5" fmla="*/ 30683 w 7282048"/>
                <a:gd name="connsiteY5" fmla="*/ 4698558 h 4950157"/>
                <a:gd name="connsiteX6" fmla="*/ 239326 w 7282048"/>
                <a:gd name="connsiteY6" fmla="*/ 4931748 h 4950157"/>
                <a:gd name="connsiteX7" fmla="*/ 7042723 w 7282048"/>
                <a:gd name="connsiteY7" fmla="*/ 4931748 h 4950157"/>
                <a:gd name="connsiteX8" fmla="*/ 7251366 w 7282048"/>
                <a:gd name="connsiteY8" fmla="*/ 4698558 h 4950157"/>
                <a:gd name="connsiteX9" fmla="*/ 7251366 w 7282048"/>
                <a:gd name="connsiteY9" fmla="*/ 259781 h 4950157"/>
                <a:gd name="connsiteX10" fmla="*/ 7038632 w 7282048"/>
                <a:gd name="connsiteY10" fmla="*/ 30683 h 4950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282048" h="4950157">
                  <a:moveTo>
                    <a:pt x="7038632" y="30683"/>
                  </a:moveTo>
                  <a:lnTo>
                    <a:pt x="3704436" y="30683"/>
                  </a:lnTo>
                  <a:lnTo>
                    <a:pt x="3589886" y="30683"/>
                  </a:lnTo>
                  <a:lnTo>
                    <a:pt x="259781" y="30683"/>
                  </a:lnTo>
                  <a:cubicBezTo>
                    <a:pt x="141141" y="30683"/>
                    <a:pt x="30683" y="128868"/>
                    <a:pt x="30683" y="259781"/>
                  </a:cubicBezTo>
                  <a:lnTo>
                    <a:pt x="30683" y="4698558"/>
                  </a:lnTo>
                  <a:cubicBezTo>
                    <a:pt x="30683" y="4829472"/>
                    <a:pt x="124777" y="4931748"/>
                    <a:pt x="239326" y="4931748"/>
                  </a:cubicBezTo>
                  <a:lnTo>
                    <a:pt x="7042723" y="4931748"/>
                  </a:lnTo>
                  <a:cubicBezTo>
                    <a:pt x="7157272" y="4931748"/>
                    <a:pt x="7251366" y="4825380"/>
                    <a:pt x="7251366" y="4698558"/>
                  </a:cubicBezTo>
                  <a:lnTo>
                    <a:pt x="7251366" y="259781"/>
                  </a:lnTo>
                  <a:cubicBezTo>
                    <a:pt x="7251366" y="128868"/>
                    <a:pt x="7157272" y="30683"/>
                    <a:pt x="7038632" y="30683"/>
                  </a:cubicBezTo>
                  <a:close/>
                </a:path>
              </a:pathLst>
            </a:custGeom>
            <a:solidFill>
              <a:srgbClr val="999999"/>
            </a:solidFill>
            <a:ln w="9525" cap="flat">
              <a:noFill/>
              <a:prstDash val="solid"/>
              <a:miter/>
            </a:ln>
          </p:spPr>
          <p:txBody>
            <a:bodyPr rtlCol="0" anchor="ctr"/>
            <a:lstStyle/>
            <a:p>
              <a:endParaRPr lang="en-US" dirty="0"/>
            </a:p>
          </p:txBody>
        </p:sp>
        <p:sp>
          <p:nvSpPr>
            <p:cNvPr id="5" name="Freeform: Shape 4">
              <a:extLst>
                <a:ext uri="{FF2B5EF4-FFF2-40B4-BE49-F238E27FC236}">
                  <a16:creationId xmlns:a16="http://schemas.microsoft.com/office/drawing/2014/main" id="{5513713B-7120-4DB6-9B20-6EAD0FF0844F}"/>
                </a:ext>
              </a:extLst>
            </p:cNvPr>
            <p:cNvSpPr/>
            <p:nvPr/>
          </p:nvSpPr>
          <p:spPr>
            <a:xfrm>
              <a:off x="8706599" y="5435655"/>
              <a:ext cx="490925" cy="81821"/>
            </a:xfrm>
            <a:custGeom>
              <a:avLst/>
              <a:gdLst>
                <a:gd name="connsiteX0" fmla="*/ 32212 w 490924"/>
                <a:gd name="connsiteY0" fmla="*/ 30683 h 81820"/>
                <a:gd name="connsiteX1" fmla="*/ 64939 w 490924"/>
                <a:gd name="connsiteY1" fmla="*/ 71593 h 81820"/>
                <a:gd name="connsiteX2" fmla="*/ 461771 w 490924"/>
                <a:gd name="connsiteY2" fmla="*/ 71593 h 81820"/>
                <a:gd name="connsiteX3" fmla="*/ 498590 w 490924"/>
                <a:gd name="connsiteY3" fmla="*/ 30683 h 81820"/>
                <a:gd name="connsiteX4" fmla="*/ 32212 w 490924"/>
                <a:gd name="connsiteY4" fmla="*/ 30683 h 818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924" h="81820">
                  <a:moveTo>
                    <a:pt x="32212" y="30683"/>
                  </a:moveTo>
                  <a:cubicBezTo>
                    <a:pt x="32212" y="30683"/>
                    <a:pt x="19938" y="67502"/>
                    <a:pt x="64939" y="71593"/>
                  </a:cubicBezTo>
                  <a:lnTo>
                    <a:pt x="461771" y="71593"/>
                  </a:lnTo>
                  <a:cubicBezTo>
                    <a:pt x="461771" y="71593"/>
                    <a:pt x="502681" y="75684"/>
                    <a:pt x="498590" y="30683"/>
                  </a:cubicBezTo>
                  <a:lnTo>
                    <a:pt x="32212" y="30683"/>
                  </a:lnTo>
                  <a:close/>
                </a:path>
              </a:pathLst>
            </a:custGeom>
            <a:solidFill>
              <a:srgbClr val="999999"/>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94728E52-C81E-4E0F-AE94-8B5DD8D16BB8}"/>
                </a:ext>
              </a:extLst>
            </p:cNvPr>
            <p:cNvSpPr/>
            <p:nvPr/>
          </p:nvSpPr>
          <p:spPr>
            <a:xfrm>
              <a:off x="2481568" y="595956"/>
              <a:ext cx="7200228" cy="4336501"/>
            </a:xfrm>
            <a:custGeom>
              <a:avLst/>
              <a:gdLst>
                <a:gd name="connsiteX0" fmla="*/ 6973175 w 7200227"/>
                <a:gd name="connsiteY0" fmla="*/ 30683 h 4336501"/>
                <a:gd name="connsiteX1" fmla="*/ 3671707 w 7200227"/>
                <a:gd name="connsiteY1" fmla="*/ 30683 h 4336501"/>
                <a:gd name="connsiteX2" fmla="*/ 3561249 w 7200227"/>
                <a:gd name="connsiteY2" fmla="*/ 30683 h 4336501"/>
                <a:gd name="connsiteX3" fmla="*/ 259781 w 7200227"/>
                <a:gd name="connsiteY3" fmla="*/ 30683 h 4336501"/>
                <a:gd name="connsiteX4" fmla="*/ 30683 w 7200227"/>
                <a:gd name="connsiteY4" fmla="*/ 231144 h 4336501"/>
                <a:gd name="connsiteX5" fmla="*/ 30683 w 7200227"/>
                <a:gd name="connsiteY5" fmla="*/ 4330365 h 4336501"/>
                <a:gd name="connsiteX6" fmla="*/ 7185909 w 7200227"/>
                <a:gd name="connsiteY6" fmla="*/ 4330365 h 4336501"/>
                <a:gd name="connsiteX7" fmla="*/ 7185909 w 7200227"/>
                <a:gd name="connsiteY7" fmla="*/ 231144 h 4336501"/>
                <a:gd name="connsiteX8" fmla="*/ 6973175 w 7200227"/>
                <a:gd name="connsiteY8" fmla="*/ 30683 h 4336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4336501">
                  <a:moveTo>
                    <a:pt x="6973175" y="30683"/>
                  </a:moveTo>
                  <a:lnTo>
                    <a:pt x="3671707" y="30683"/>
                  </a:lnTo>
                  <a:lnTo>
                    <a:pt x="3561249" y="30683"/>
                  </a:lnTo>
                  <a:lnTo>
                    <a:pt x="259781" y="30683"/>
                  </a:lnTo>
                  <a:cubicBezTo>
                    <a:pt x="141141" y="30683"/>
                    <a:pt x="30683" y="112504"/>
                    <a:pt x="30683" y="231144"/>
                  </a:cubicBezTo>
                  <a:lnTo>
                    <a:pt x="30683" y="4330365"/>
                  </a:lnTo>
                  <a:lnTo>
                    <a:pt x="7185909" y="4330365"/>
                  </a:lnTo>
                  <a:lnTo>
                    <a:pt x="7185909" y="231144"/>
                  </a:lnTo>
                  <a:cubicBezTo>
                    <a:pt x="7185909" y="112504"/>
                    <a:pt x="7091815" y="30683"/>
                    <a:pt x="6973175" y="30683"/>
                  </a:cubicBezTo>
                  <a:close/>
                </a:path>
              </a:pathLst>
            </a:custGeom>
            <a:solidFill>
              <a:srgbClr val="231F20"/>
            </a:solidFill>
            <a:ln w="9525"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867B8875-7B2F-4099-BF43-6AEEFA066AC6}"/>
                </a:ext>
              </a:extLst>
            </p:cNvPr>
            <p:cNvSpPr/>
            <p:nvPr/>
          </p:nvSpPr>
          <p:spPr>
            <a:xfrm>
              <a:off x="4968919" y="6159768"/>
              <a:ext cx="2168250" cy="122731"/>
            </a:xfrm>
            <a:custGeom>
              <a:avLst/>
              <a:gdLst>
                <a:gd name="connsiteX0" fmla="*/ 30683 w 2168250"/>
                <a:gd name="connsiteY0" fmla="*/ 34774 h 122731"/>
                <a:gd name="connsiteX1" fmla="*/ 30683 w 2168250"/>
                <a:gd name="connsiteY1" fmla="*/ 34774 h 122731"/>
                <a:gd name="connsiteX2" fmla="*/ 30683 w 2168250"/>
                <a:gd name="connsiteY2" fmla="*/ 38865 h 122731"/>
                <a:gd name="connsiteX3" fmla="*/ 30683 w 2168250"/>
                <a:gd name="connsiteY3" fmla="*/ 38865 h 122731"/>
                <a:gd name="connsiteX4" fmla="*/ 263872 w 2168250"/>
                <a:gd name="connsiteY4" fmla="*/ 96140 h 122731"/>
                <a:gd name="connsiteX5" fmla="*/ 1069807 w 2168250"/>
                <a:gd name="connsiteY5" fmla="*/ 96140 h 122731"/>
                <a:gd name="connsiteX6" fmla="*/ 1118899 w 2168250"/>
                <a:gd name="connsiteY6" fmla="*/ 96140 h 122731"/>
                <a:gd name="connsiteX7" fmla="*/ 1924834 w 2168250"/>
                <a:gd name="connsiteY7" fmla="*/ 96140 h 122731"/>
                <a:gd name="connsiteX8" fmla="*/ 2153932 w 2168250"/>
                <a:gd name="connsiteY8" fmla="*/ 30683 h 122731"/>
                <a:gd name="connsiteX9" fmla="*/ 2137568 w 2168250"/>
                <a:gd name="connsiteY9" fmla="*/ 30683 h 122731"/>
                <a:gd name="connsiteX10" fmla="*/ 2137568 w 2168250"/>
                <a:gd name="connsiteY10" fmla="*/ 30683 h 122731"/>
                <a:gd name="connsiteX11" fmla="*/ 30683 w 2168250"/>
                <a:gd name="connsiteY11" fmla="*/ 30683 h 122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68250" h="122731">
                  <a:moveTo>
                    <a:pt x="30683" y="34774"/>
                  </a:moveTo>
                  <a:lnTo>
                    <a:pt x="30683" y="34774"/>
                  </a:lnTo>
                  <a:cubicBezTo>
                    <a:pt x="30683" y="38865"/>
                    <a:pt x="30683" y="38865"/>
                    <a:pt x="30683" y="38865"/>
                  </a:cubicBezTo>
                  <a:lnTo>
                    <a:pt x="30683" y="38865"/>
                  </a:lnTo>
                  <a:cubicBezTo>
                    <a:pt x="30683" y="79775"/>
                    <a:pt x="96139" y="96140"/>
                    <a:pt x="263872" y="96140"/>
                  </a:cubicBezTo>
                  <a:cubicBezTo>
                    <a:pt x="591155" y="96140"/>
                    <a:pt x="942984" y="96140"/>
                    <a:pt x="1069807" y="96140"/>
                  </a:cubicBezTo>
                  <a:cubicBezTo>
                    <a:pt x="1102535" y="96140"/>
                    <a:pt x="1118899" y="96140"/>
                    <a:pt x="1118899" y="96140"/>
                  </a:cubicBezTo>
                  <a:cubicBezTo>
                    <a:pt x="1249812" y="96140"/>
                    <a:pt x="1601642" y="96140"/>
                    <a:pt x="1924834" y="96140"/>
                  </a:cubicBezTo>
                  <a:cubicBezTo>
                    <a:pt x="2092566" y="96140"/>
                    <a:pt x="2149841" y="75684"/>
                    <a:pt x="2153932" y="30683"/>
                  </a:cubicBezTo>
                  <a:lnTo>
                    <a:pt x="2137568" y="30683"/>
                  </a:lnTo>
                  <a:lnTo>
                    <a:pt x="2137568" y="30683"/>
                  </a:lnTo>
                  <a:lnTo>
                    <a:pt x="30683" y="30683"/>
                  </a:lnTo>
                  <a:close/>
                </a:path>
              </a:pathLst>
            </a:custGeom>
            <a:solidFill>
              <a:schemeClr val="tx1">
                <a:lumMod val="50000"/>
                <a:lumOff val="50000"/>
              </a:schemeClr>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38DFC375-279E-4884-956E-2358B7CF3780}"/>
                </a:ext>
              </a:extLst>
            </p:cNvPr>
            <p:cNvSpPr/>
            <p:nvPr/>
          </p:nvSpPr>
          <p:spPr>
            <a:xfrm>
              <a:off x="2481568" y="4903820"/>
              <a:ext cx="7200228" cy="572745"/>
            </a:xfrm>
            <a:custGeom>
              <a:avLst/>
              <a:gdLst>
                <a:gd name="connsiteX0" fmla="*/ 30683 w 7200227"/>
                <a:gd name="connsiteY0" fmla="*/ 362057 h 572745"/>
                <a:gd name="connsiteX1" fmla="*/ 259781 w 7200227"/>
                <a:gd name="connsiteY1" fmla="*/ 562518 h 572745"/>
                <a:gd name="connsiteX2" fmla="*/ 3561249 w 7200227"/>
                <a:gd name="connsiteY2" fmla="*/ 562518 h 572745"/>
                <a:gd name="connsiteX3" fmla="*/ 3671707 w 7200227"/>
                <a:gd name="connsiteY3" fmla="*/ 562518 h 572745"/>
                <a:gd name="connsiteX4" fmla="*/ 6973175 w 7200227"/>
                <a:gd name="connsiteY4" fmla="*/ 562518 h 572745"/>
                <a:gd name="connsiteX5" fmla="*/ 7185909 w 7200227"/>
                <a:gd name="connsiteY5" fmla="*/ 362057 h 572745"/>
                <a:gd name="connsiteX6" fmla="*/ 7185909 w 7200227"/>
                <a:gd name="connsiteY6" fmla="*/ 30683 h 572745"/>
                <a:gd name="connsiteX7" fmla="*/ 30683 w 7200227"/>
                <a:gd name="connsiteY7" fmla="*/ 30683 h 572745"/>
                <a:gd name="connsiteX8" fmla="*/ 30683 w 7200227"/>
                <a:gd name="connsiteY8" fmla="*/ 362057 h 572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00227" h="572745">
                  <a:moveTo>
                    <a:pt x="30683" y="362057"/>
                  </a:moveTo>
                  <a:cubicBezTo>
                    <a:pt x="30683" y="464333"/>
                    <a:pt x="141141" y="562518"/>
                    <a:pt x="259781" y="562518"/>
                  </a:cubicBezTo>
                  <a:lnTo>
                    <a:pt x="3561249" y="562518"/>
                  </a:lnTo>
                  <a:lnTo>
                    <a:pt x="3671707" y="562518"/>
                  </a:lnTo>
                  <a:lnTo>
                    <a:pt x="6973175" y="562518"/>
                  </a:lnTo>
                  <a:cubicBezTo>
                    <a:pt x="7091815" y="562518"/>
                    <a:pt x="7185909" y="464333"/>
                    <a:pt x="7185909" y="362057"/>
                  </a:cubicBezTo>
                  <a:lnTo>
                    <a:pt x="7185909" y="30683"/>
                  </a:lnTo>
                  <a:lnTo>
                    <a:pt x="30683" y="30683"/>
                  </a:lnTo>
                  <a:lnTo>
                    <a:pt x="30683" y="362057"/>
                  </a:lnTo>
                  <a:close/>
                </a:path>
              </a:pathLst>
            </a:custGeom>
            <a:solidFill>
              <a:schemeClr val="bg1">
                <a:lumMod val="75000"/>
              </a:schemeClr>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A01D1132-8E41-42FD-9265-9196BB6CA1F3}"/>
                </a:ext>
              </a:extLst>
            </p:cNvPr>
            <p:cNvSpPr/>
            <p:nvPr/>
          </p:nvSpPr>
          <p:spPr>
            <a:xfrm>
              <a:off x="2747714" y="910966"/>
              <a:ext cx="6676116" cy="3763756"/>
            </a:xfrm>
            <a:custGeom>
              <a:avLst/>
              <a:gdLst>
                <a:gd name="connsiteX0" fmla="*/ 30683 w 6586571"/>
                <a:gd name="connsiteY0" fmla="*/ 30683 h 3763755"/>
                <a:gd name="connsiteX1" fmla="*/ 6564071 w 6586571"/>
                <a:gd name="connsiteY1" fmla="*/ 30683 h 3763755"/>
                <a:gd name="connsiteX2" fmla="*/ 6564071 w 6586571"/>
                <a:gd name="connsiteY2" fmla="*/ 3753528 h 3763755"/>
                <a:gd name="connsiteX3" fmla="*/ 30683 w 6586571"/>
                <a:gd name="connsiteY3" fmla="*/ 3753528 h 3763755"/>
              </a:gdLst>
              <a:ahLst/>
              <a:cxnLst>
                <a:cxn ang="0">
                  <a:pos x="connsiteX0" y="connsiteY0"/>
                </a:cxn>
                <a:cxn ang="0">
                  <a:pos x="connsiteX1" y="connsiteY1"/>
                </a:cxn>
                <a:cxn ang="0">
                  <a:pos x="connsiteX2" y="connsiteY2"/>
                </a:cxn>
                <a:cxn ang="0">
                  <a:pos x="connsiteX3" y="connsiteY3"/>
                </a:cxn>
              </a:cxnLst>
              <a:rect l="l" t="t" r="r" b="b"/>
              <a:pathLst>
                <a:path w="6586571" h="3763755">
                  <a:moveTo>
                    <a:pt x="30683" y="30683"/>
                  </a:moveTo>
                  <a:lnTo>
                    <a:pt x="6564071" y="30683"/>
                  </a:lnTo>
                  <a:lnTo>
                    <a:pt x="6564071" y="3753528"/>
                  </a:lnTo>
                  <a:lnTo>
                    <a:pt x="30683" y="3753528"/>
                  </a:lnTo>
                  <a:close/>
                </a:path>
              </a:pathLst>
            </a:custGeom>
            <a:solidFill>
              <a:srgbClr val="F2F2F2"/>
            </a:solidFill>
            <a:ln w="9525"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CF613B5-35BF-44C8-BEF5-D0FA2E5CFB0C}"/>
                </a:ext>
              </a:extLst>
            </p:cNvPr>
            <p:cNvSpPr/>
            <p:nvPr/>
          </p:nvSpPr>
          <p:spPr>
            <a:xfrm>
              <a:off x="5654591" y="939518"/>
              <a:ext cx="3769239" cy="3736342"/>
            </a:xfrm>
            <a:custGeom>
              <a:avLst/>
              <a:gdLst>
                <a:gd name="connsiteX0" fmla="*/ 2567127 w 4009217"/>
                <a:gd name="connsiteY0" fmla="*/ 30683 h 4295590"/>
                <a:gd name="connsiteX1" fmla="*/ 3798529 w 4009217"/>
                <a:gd name="connsiteY1" fmla="*/ 30683 h 4295590"/>
                <a:gd name="connsiteX2" fmla="*/ 4007172 w 4009217"/>
                <a:gd name="connsiteY2" fmla="*/ 272054 h 4295590"/>
                <a:gd name="connsiteX3" fmla="*/ 3998990 w 4009217"/>
                <a:gd name="connsiteY3" fmla="*/ 4268999 h 4295590"/>
                <a:gd name="connsiteX4" fmla="*/ 30683 w 4009217"/>
                <a:gd name="connsiteY4" fmla="*/ 4268999 h 4295590"/>
                <a:gd name="connsiteX0" fmla="*/ 2536444 w 3976489"/>
                <a:gd name="connsiteY0" fmla="*/ 0 h 4238316"/>
                <a:gd name="connsiteX1" fmla="*/ 3976489 w 3976489"/>
                <a:gd name="connsiteY1" fmla="*/ 241371 h 4238316"/>
                <a:gd name="connsiteX2" fmla="*/ 3968307 w 3976489"/>
                <a:gd name="connsiteY2" fmla="*/ 4238316 h 4238316"/>
                <a:gd name="connsiteX3" fmla="*/ 0 w 3976489"/>
                <a:gd name="connsiteY3" fmla="*/ 4238316 h 4238316"/>
                <a:gd name="connsiteX0" fmla="*/ 2536444 w 3976489"/>
                <a:gd name="connsiteY0" fmla="*/ 0 h 4238316"/>
                <a:gd name="connsiteX1" fmla="*/ 3976489 w 3976489"/>
                <a:gd name="connsiteY1" fmla="*/ 213683 h 4238316"/>
                <a:gd name="connsiteX2" fmla="*/ 3968307 w 3976489"/>
                <a:gd name="connsiteY2" fmla="*/ 4238316 h 4238316"/>
                <a:gd name="connsiteX3" fmla="*/ 0 w 3976489"/>
                <a:gd name="connsiteY3" fmla="*/ 4238316 h 4238316"/>
                <a:gd name="connsiteX0" fmla="*/ 2473335 w 3976489"/>
                <a:gd name="connsiteY0" fmla="*/ 0 h 4035268"/>
                <a:gd name="connsiteX1" fmla="*/ 3976489 w 3976489"/>
                <a:gd name="connsiteY1" fmla="*/ 10635 h 4035268"/>
                <a:gd name="connsiteX2" fmla="*/ 3968307 w 3976489"/>
                <a:gd name="connsiteY2" fmla="*/ 4035268 h 4035268"/>
                <a:gd name="connsiteX3" fmla="*/ 0 w 3976489"/>
                <a:gd name="connsiteY3" fmla="*/ 4035268 h 4035268"/>
              </a:gdLst>
              <a:ahLst/>
              <a:cxnLst>
                <a:cxn ang="0">
                  <a:pos x="connsiteX0" y="connsiteY0"/>
                </a:cxn>
                <a:cxn ang="0">
                  <a:pos x="connsiteX1" y="connsiteY1"/>
                </a:cxn>
                <a:cxn ang="0">
                  <a:pos x="connsiteX2" y="connsiteY2"/>
                </a:cxn>
                <a:cxn ang="0">
                  <a:pos x="connsiteX3" y="connsiteY3"/>
                </a:cxn>
              </a:cxnLst>
              <a:rect l="l" t="t" r="r" b="b"/>
              <a:pathLst>
                <a:path w="3976489" h="4035268">
                  <a:moveTo>
                    <a:pt x="2473335" y="0"/>
                  </a:moveTo>
                  <a:lnTo>
                    <a:pt x="3976489" y="10635"/>
                  </a:lnTo>
                  <a:cubicBezTo>
                    <a:pt x="3973762" y="1342950"/>
                    <a:pt x="3971034" y="2702953"/>
                    <a:pt x="3968307" y="4035268"/>
                  </a:cubicBezTo>
                  <a:lnTo>
                    <a:pt x="0" y="4035268"/>
                  </a:lnTo>
                </a:path>
              </a:pathLst>
            </a:custGeom>
            <a:solidFill>
              <a:srgbClr val="999999">
                <a:alpha val="10000"/>
              </a:srgbClr>
            </a:solidFill>
            <a:ln w="9525" cap="flat">
              <a:noFill/>
              <a:prstDash val="solid"/>
              <a:miter/>
            </a:ln>
          </p:spPr>
          <p:txBody>
            <a:bodyPr rtlCol="0" anchor="ctr"/>
            <a:lstStyle/>
            <a:p>
              <a:endParaRPr lang="en-US" dirty="0"/>
            </a:p>
          </p:txBody>
        </p:sp>
      </p:grpSp>
      <p:sp>
        <p:nvSpPr>
          <p:cNvPr id="11" name="그림 개체 틀 2">
            <a:extLst>
              <a:ext uri="{FF2B5EF4-FFF2-40B4-BE49-F238E27FC236}">
                <a16:creationId xmlns:a16="http://schemas.microsoft.com/office/drawing/2014/main" id="{FAF57B49-8A83-4949-8F5C-EF028AC6B5A7}"/>
              </a:ext>
            </a:extLst>
          </p:cNvPr>
          <p:cNvSpPr>
            <a:spLocks noGrp="1"/>
          </p:cNvSpPr>
          <p:nvPr>
            <p:ph type="pic" sz="quarter" idx="43" hasCustomPrompt="1"/>
          </p:nvPr>
        </p:nvSpPr>
        <p:spPr>
          <a:xfrm>
            <a:off x="4247170" y="2218668"/>
            <a:ext cx="3678250" cy="2155760"/>
          </a:xfrm>
          <a:prstGeom prst="rect">
            <a:avLst/>
          </a:prstGeom>
          <a:solidFill>
            <a:schemeClr val="bg1">
              <a:lumMod val="95000"/>
            </a:schemeClr>
          </a:solidFill>
        </p:spPr>
        <p:txBody>
          <a:bodyPr tIns="540000" anchor="ctr"/>
          <a:lstStyle>
            <a:lvl1pPr marL="0" indent="0" algn="ctr">
              <a:buNone/>
              <a:defRPr sz="1200">
                <a:latin typeface="+mn-lt"/>
                <a:cs typeface="Arial" pitchFamily="34" charset="0"/>
              </a:defRPr>
            </a:lvl1pPr>
          </a:lstStyle>
          <a:p>
            <a:r>
              <a:rPr lang="en-US" altLang="ko-KR" dirty="0"/>
              <a:t>Insert Your Image</a:t>
            </a:r>
            <a:endParaRPr lang="ko-KR" altLang="en-US" dirty="0"/>
          </a:p>
        </p:txBody>
      </p:sp>
      <p:sp>
        <p:nvSpPr>
          <p:cNvPr id="12" name="Text Placeholder 9">
            <a:extLst>
              <a:ext uri="{FF2B5EF4-FFF2-40B4-BE49-F238E27FC236}">
                <a16:creationId xmlns:a16="http://schemas.microsoft.com/office/drawing/2014/main" id="{EDCE1E69-8985-4606-9313-59F3633EE6BB}"/>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199585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Picture Placeholder 7">
            <a:extLst>
              <a:ext uri="{FF2B5EF4-FFF2-40B4-BE49-F238E27FC236}">
                <a16:creationId xmlns:a16="http://schemas.microsoft.com/office/drawing/2014/main" id="{6F5FFA75-247A-4C8C-99A7-8FA7026719CF}"/>
              </a:ext>
            </a:extLst>
          </p:cNvPr>
          <p:cNvSpPr>
            <a:spLocks noGrp="1"/>
          </p:cNvSpPr>
          <p:nvPr>
            <p:ph type="pic" idx="16" hasCustomPrompt="1"/>
          </p:nvPr>
        </p:nvSpPr>
        <p:spPr>
          <a:xfrm>
            <a:off x="4403035" y="0"/>
            <a:ext cx="7788965" cy="6858000"/>
          </a:xfrm>
          <a:custGeom>
            <a:avLst/>
            <a:gdLst>
              <a:gd name="connsiteX0" fmla="*/ 3894482 w 7788965"/>
              <a:gd name="connsiteY0" fmla="*/ 2146852 h 6858000"/>
              <a:gd name="connsiteX1" fmla="*/ 7788964 w 7788965"/>
              <a:gd name="connsiteY1" fmla="*/ 6858000 h 6858000"/>
              <a:gd name="connsiteX2" fmla="*/ 0 w 7788965"/>
              <a:gd name="connsiteY2" fmla="*/ 6858000 h 6858000"/>
              <a:gd name="connsiteX3" fmla="*/ 0 w 7788965"/>
              <a:gd name="connsiteY3" fmla="*/ 6857999 h 6858000"/>
              <a:gd name="connsiteX4" fmla="*/ 5734705 w 7788965"/>
              <a:gd name="connsiteY4" fmla="*/ 0 h 6858000"/>
              <a:gd name="connsiteX5" fmla="*/ 7788965 w 7788965"/>
              <a:gd name="connsiteY5" fmla="*/ 0 h 6858000"/>
              <a:gd name="connsiteX6" fmla="*/ 7788965 w 7788965"/>
              <a:gd name="connsiteY6" fmla="*/ 6641351 h 6858000"/>
              <a:gd name="connsiteX7" fmla="*/ 4000566 w 7788965"/>
              <a:gd name="connsiteY7" fmla="*/ 2078313 h 6858000"/>
              <a:gd name="connsiteX8" fmla="*/ 2214158 w 7788965"/>
              <a:gd name="connsiteY8" fmla="*/ 0 h 6858000"/>
              <a:gd name="connsiteX9" fmla="*/ 5574803 w 7788965"/>
              <a:gd name="connsiteY9" fmla="*/ 0 h 6858000"/>
              <a:gd name="connsiteX10" fmla="*/ 3894480 w 7788965"/>
              <a:gd name="connsiteY10" fmla="*/ 2032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88965" h="6858000">
                <a:moveTo>
                  <a:pt x="3894482" y="2146852"/>
                </a:moveTo>
                <a:lnTo>
                  <a:pt x="7788964" y="6858000"/>
                </a:lnTo>
                <a:lnTo>
                  <a:pt x="0" y="6858000"/>
                </a:lnTo>
                <a:lnTo>
                  <a:pt x="0" y="6857999"/>
                </a:lnTo>
                <a:close/>
                <a:moveTo>
                  <a:pt x="5734705" y="0"/>
                </a:moveTo>
                <a:lnTo>
                  <a:pt x="7788965" y="0"/>
                </a:lnTo>
                <a:lnTo>
                  <a:pt x="7788965" y="6641351"/>
                </a:lnTo>
                <a:lnTo>
                  <a:pt x="4000566" y="2078313"/>
                </a:lnTo>
                <a:close/>
                <a:moveTo>
                  <a:pt x="2214158" y="0"/>
                </a:moveTo>
                <a:lnTo>
                  <a:pt x="5574803" y="0"/>
                </a:lnTo>
                <a:lnTo>
                  <a:pt x="3894480" y="2032683"/>
                </a:lnTo>
                <a:close/>
              </a:path>
            </a:pathLst>
          </a:custGeom>
          <a:solidFill>
            <a:schemeClr val="bg1">
              <a:lumMod val="95000"/>
            </a:schemeClr>
          </a:solidFill>
        </p:spPr>
        <p:txBody>
          <a:bodyPr wrap="square" anchor="ctr">
            <a:noAutofit/>
          </a:bodyPr>
          <a:lstStyle>
            <a:lvl1pPr marL="0" indent="0" algn="ctr">
              <a:buNone/>
              <a:defRPr sz="1200">
                <a:latin typeface="Arial" pitchFamily="34" charset="0"/>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Your Picture Here</a:t>
            </a:r>
            <a:endParaRPr lang="ko-KR" altLang="en-US" dirty="0"/>
          </a:p>
        </p:txBody>
      </p:sp>
    </p:spTree>
    <p:extLst>
      <p:ext uri="{BB962C8B-B14F-4D97-AF65-F5344CB8AC3E}">
        <p14:creationId xmlns:p14="http://schemas.microsoft.com/office/powerpoint/2010/main" val="24452834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1_Contents slide layou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0C8E7EEE-5767-4D24-A28E-7A274AF0833D}"/>
              </a:ext>
            </a:extLst>
          </p:cNvPr>
          <p:cNvSpPr>
            <a:spLocks noGrp="1"/>
          </p:cNvSpPr>
          <p:nvPr>
            <p:ph type="pic" idx="13" hasCustomPrompt="1"/>
          </p:nvPr>
        </p:nvSpPr>
        <p:spPr>
          <a:xfrm>
            <a:off x="5724525" y="0"/>
            <a:ext cx="6467475" cy="6858000"/>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9188379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3_Contents slide layout">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F9241B93-F28E-4606-BBD4-AC939342005F}"/>
              </a:ext>
            </a:extLst>
          </p:cNvPr>
          <p:cNvGrpSpPr/>
          <p:nvPr userDrawn="1"/>
        </p:nvGrpSpPr>
        <p:grpSpPr>
          <a:xfrm>
            <a:off x="8295412" y="1658804"/>
            <a:ext cx="3174949" cy="4282922"/>
            <a:chOff x="5745956" y="3501865"/>
            <a:chExt cx="2146216" cy="2895189"/>
          </a:xfrm>
        </p:grpSpPr>
        <p:sp>
          <p:nvSpPr>
            <p:cNvPr id="3" name="Freeform: Shape 2">
              <a:extLst>
                <a:ext uri="{FF2B5EF4-FFF2-40B4-BE49-F238E27FC236}">
                  <a16:creationId xmlns:a16="http://schemas.microsoft.com/office/drawing/2014/main" id="{4D5FEAD8-CCC8-4927-9D00-F13C672A0888}"/>
                </a:ext>
              </a:extLst>
            </p:cNvPr>
            <p:cNvSpPr/>
            <p:nvPr/>
          </p:nvSpPr>
          <p:spPr>
            <a:xfrm>
              <a:off x="7498806" y="3501865"/>
              <a:ext cx="157347" cy="62939"/>
            </a:xfrm>
            <a:custGeom>
              <a:avLst/>
              <a:gdLst>
                <a:gd name="connsiteX0" fmla="*/ 45244 w 47625"/>
                <a:gd name="connsiteY0" fmla="*/ 13811 h 19050"/>
                <a:gd name="connsiteX1" fmla="*/ 45244 w 47625"/>
                <a:gd name="connsiteY1" fmla="*/ 13811 h 19050"/>
                <a:gd name="connsiteX2" fmla="*/ 38576 w 47625"/>
                <a:gd name="connsiteY2" fmla="*/ 20479 h 19050"/>
                <a:gd name="connsiteX3" fmla="*/ 13811 w 47625"/>
                <a:gd name="connsiteY3" fmla="*/ 20479 h 19050"/>
                <a:gd name="connsiteX4" fmla="*/ 7144 w 47625"/>
                <a:gd name="connsiteY4" fmla="*/ 13811 h 19050"/>
                <a:gd name="connsiteX5" fmla="*/ 7144 w 47625"/>
                <a:gd name="connsiteY5" fmla="*/ 13811 h 19050"/>
                <a:gd name="connsiteX6" fmla="*/ 13811 w 47625"/>
                <a:gd name="connsiteY6" fmla="*/ 7144 h 19050"/>
                <a:gd name="connsiteX7" fmla="*/ 38576 w 47625"/>
                <a:gd name="connsiteY7" fmla="*/ 7144 h 19050"/>
                <a:gd name="connsiteX8" fmla="*/ 45244 w 47625"/>
                <a:gd name="connsiteY8" fmla="*/ 13811 h 19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625" h="19050">
                  <a:moveTo>
                    <a:pt x="45244" y="13811"/>
                  </a:moveTo>
                  <a:lnTo>
                    <a:pt x="45244" y="13811"/>
                  </a:lnTo>
                  <a:cubicBezTo>
                    <a:pt x="45244" y="17621"/>
                    <a:pt x="42386" y="20479"/>
                    <a:pt x="38576" y="20479"/>
                  </a:cubicBezTo>
                  <a:lnTo>
                    <a:pt x="13811" y="20479"/>
                  </a:lnTo>
                  <a:cubicBezTo>
                    <a:pt x="10001" y="20479"/>
                    <a:pt x="7144" y="17621"/>
                    <a:pt x="7144" y="13811"/>
                  </a:cubicBezTo>
                  <a:lnTo>
                    <a:pt x="7144" y="13811"/>
                  </a:lnTo>
                  <a:cubicBezTo>
                    <a:pt x="7144" y="10001"/>
                    <a:pt x="10001" y="7144"/>
                    <a:pt x="13811" y="7144"/>
                  </a:cubicBezTo>
                  <a:lnTo>
                    <a:pt x="38576" y="7144"/>
                  </a:lnTo>
                  <a:cubicBezTo>
                    <a:pt x="42386" y="8096"/>
                    <a:pt x="45244" y="10954"/>
                    <a:pt x="45244" y="13811"/>
                  </a:cubicBezTo>
                  <a:close/>
                </a:path>
              </a:pathLst>
            </a:custGeom>
            <a:solidFill>
              <a:srgbClr val="808080"/>
            </a:solidFill>
            <a:ln w="9525" cap="flat">
              <a:noFill/>
              <a:prstDash val="solid"/>
              <a:miter/>
            </a:ln>
          </p:spPr>
          <p:txBody>
            <a:bodyPr rtlCol="0" anchor="ctr"/>
            <a:lstStyle/>
            <a:p>
              <a:endParaRPr lang="en-US"/>
            </a:p>
          </p:txBody>
        </p:sp>
        <p:sp>
          <p:nvSpPr>
            <p:cNvPr id="4" name="Freeform: Shape 3">
              <a:extLst>
                <a:ext uri="{FF2B5EF4-FFF2-40B4-BE49-F238E27FC236}">
                  <a16:creationId xmlns:a16="http://schemas.microsoft.com/office/drawing/2014/main" id="{6410C0D4-0751-4396-AC4D-8AA62394539D}"/>
                </a:ext>
              </a:extLst>
            </p:cNvPr>
            <p:cNvSpPr/>
            <p:nvPr/>
          </p:nvSpPr>
          <p:spPr>
            <a:xfrm>
              <a:off x="7829233" y="3977052"/>
              <a:ext cx="62939" cy="157347"/>
            </a:xfrm>
            <a:custGeom>
              <a:avLst/>
              <a:gdLst>
                <a:gd name="connsiteX0" fmla="*/ 13811 w 19050"/>
                <a:gd name="connsiteY0" fmla="*/ 45244 h 47625"/>
                <a:gd name="connsiteX1" fmla="*/ 13811 w 19050"/>
                <a:gd name="connsiteY1" fmla="*/ 45244 h 47625"/>
                <a:gd name="connsiteX2" fmla="*/ 7144 w 19050"/>
                <a:gd name="connsiteY2" fmla="*/ 38576 h 47625"/>
                <a:gd name="connsiteX3" fmla="*/ 7144 w 19050"/>
                <a:gd name="connsiteY3" fmla="*/ 13811 h 47625"/>
                <a:gd name="connsiteX4" fmla="*/ 13811 w 19050"/>
                <a:gd name="connsiteY4" fmla="*/ 7144 h 47625"/>
                <a:gd name="connsiteX5" fmla="*/ 13811 w 19050"/>
                <a:gd name="connsiteY5" fmla="*/ 7144 h 47625"/>
                <a:gd name="connsiteX6" fmla="*/ 20479 w 19050"/>
                <a:gd name="connsiteY6" fmla="*/ 13811 h 47625"/>
                <a:gd name="connsiteX7" fmla="*/ 20479 w 19050"/>
                <a:gd name="connsiteY7" fmla="*/ 38576 h 47625"/>
                <a:gd name="connsiteX8" fmla="*/ 13811 w 19050"/>
                <a:gd name="connsiteY8" fmla="*/ 45244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47625">
                  <a:moveTo>
                    <a:pt x="13811" y="45244"/>
                  </a:moveTo>
                  <a:lnTo>
                    <a:pt x="13811" y="45244"/>
                  </a:lnTo>
                  <a:cubicBezTo>
                    <a:pt x="10001" y="45244"/>
                    <a:pt x="7144" y="42386"/>
                    <a:pt x="7144" y="38576"/>
                  </a:cubicBezTo>
                  <a:lnTo>
                    <a:pt x="7144" y="13811"/>
                  </a:lnTo>
                  <a:cubicBezTo>
                    <a:pt x="7144" y="10001"/>
                    <a:pt x="10001" y="7144"/>
                    <a:pt x="13811" y="7144"/>
                  </a:cubicBezTo>
                  <a:lnTo>
                    <a:pt x="13811" y="7144"/>
                  </a:lnTo>
                  <a:cubicBezTo>
                    <a:pt x="17621" y="7144"/>
                    <a:pt x="20479" y="10001"/>
                    <a:pt x="20479" y="13811"/>
                  </a:cubicBezTo>
                  <a:lnTo>
                    <a:pt x="20479" y="38576"/>
                  </a:lnTo>
                  <a:cubicBezTo>
                    <a:pt x="20479" y="42386"/>
                    <a:pt x="17621" y="45244"/>
                    <a:pt x="13811" y="45244"/>
                  </a:cubicBezTo>
                  <a:close/>
                </a:path>
              </a:pathLst>
            </a:custGeom>
            <a:solidFill>
              <a:srgbClr val="808080"/>
            </a:solidFill>
            <a:ln w="9525" cap="flat">
              <a:noFill/>
              <a:prstDash val="solid"/>
              <a:miter/>
            </a:ln>
          </p:spPr>
          <p:txBody>
            <a:bodyPr rtlCol="0" anchor="ctr"/>
            <a:lstStyle/>
            <a:p>
              <a:endParaRPr lang="en-US"/>
            </a:p>
          </p:txBody>
        </p:sp>
        <p:sp>
          <p:nvSpPr>
            <p:cNvPr id="5" name="Freeform: Shape 4">
              <a:extLst>
                <a:ext uri="{FF2B5EF4-FFF2-40B4-BE49-F238E27FC236}">
                  <a16:creationId xmlns:a16="http://schemas.microsoft.com/office/drawing/2014/main" id="{1B7F163A-D0A2-4263-BD43-507FBE27081D}"/>
                </a:ext>
              </a:extLst>
            </p:cNvPr>
            <p:cNvSpPr/>
            <p:nvPr/>
          </p:nvSpPr>
          <p:spPr>
            <a:xfrm>
              <a:off x="7829233" y="3838586"/>
              <a:ext cx="62939" cy="157347"/>
            </a:xfrm>
            <a:custGeom>
              <a:avLst/>
              <a:gdLst>
                <a:gd name="connsiteX0" fmla="*/ 13811 w 19050"/>
                <a:gd name="connsiteY0" fmla="*/ 45244 h 47625"/>
                <a:gd name="connsiteX1" fmla="*/ 13811 w 19050"/>
                <a:gd name="connsiteY1" fmla="*/ 45244 h 47625"/>
                <a:gd name="connsiteX2" fmla="*/ 7144 w 19050"/>
                <a:gd name="connsiteY2" fmla="*/ 38576 h 47625"/>
                <a:gd name="connsiteX3" fmla="*/ 7144 w 19050"/>
                <a:gd name="connsiteY3" fmla="*/ 13811 h 47625"/>
                <a:gd name="connsiteX4" fmla="*/ 13811 w 19050"/>
                <a:gd name="connsiteY4" fmla="*/ 7144 h 47625"/>
                <a:gd name="connsiteX5" fmla="*/ 13811 w 19050"/>
                <a:gd name="connsiteY5" fmla="*/ 7144 h 47625"/>
                <a:gd name="connsiteX6" fmla="*/ 20479 w 19050"/>
                <a:gd name="connsiteY6" fmla="*/ 13811 h 47625"/>
                <a:gd name="connsiteX7" fmla="*/ 20479 w 19050"/>
                <a:gd name="connsiteY7" fmla="*/ 38576 h 47625"/>
                <a:gd name="connsiteX8" fmla="*/ 13811 w 19050"/>
                <a:gd name="connsiteY8" fmla="*/ 45244 h 4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050" h="47625">
                  <a:moveTo>
                    <a:pt x="13811" y="45244"/>
                  </a:moveTo>
                  <a:lnTo>
                    <a:pt x="13811" y="45244"/>
                  </a:lnTo>
                  <a:cubicBezTo>
                    <a:pt x="10001" y="45244"/>
                    <a:pt x="7144" y="42386"/>
                    <a:pt x="7144" y="38576"/>
                  </a:cubicBezTo>
                  <a:lnTo>
                    <a:pt x="7144" y="13811"/>
                  </a:lnTo>
                  <a:cubicBezTo>
                    <a:pt x="7144" y="10001"/>
                    <a:pt x="10001" y="7144"/>
                    <a:pt x="13811" y="7144"/>
                  </a:cubicBezTo>
                  <a:lnTo>
                    <a:pt x="13811" y="7144"/>
                  </a:lnTo>
                  <a:cubicBezTo>
                    <a:pt x="17621" y="7144"/>
                    <a:pt x="20479" y="10001"/>
                    <a:pt x="20479" y="13811"/>
                  </a:cubicBezTo>
                  <a:lnTo>
                    <a:pt x="20479" y="38576"/>
                  </a:lnTo>
                  <a:cubicBezTo>
                    <a:pt x="20479" y="42386"/>
                    <a:pt x="17621" y="45244"/>
                    <a:pt x="13811" y="45244"/>
                  </a:cubicBezTo>
                  <a:close/>
                </a:path>
              </a:pathLst>
            </a:custGeom>
            <a:solidFill>
              <a:srgbClr val="808080"/>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E906E010-95BC-405B-A541-6121D952C170}"/>
                </a:ext>
              </a:extLst>
            </p:cNvPr>
            <p:cNvSpPr/>
            <p:nvPr/>
          </p:nvSpPr>
          <p:spPr>
            <a:xfrm>
              <a:off x="5745956" y="3523892"/>
              <a:ext cx="2139922" cy="2863720"/>
            </a:xfrm>
            <a:custGeom>
              <a:avLst/>
              <a:gdLst>
                <a:gd name="connsiteX0" fmla="*/ 611029 w 647700"/>
                <a:gd name="connsiteY0" fmla="*/ 7144 h 866775"/>
                <a:gd name="connsiteX1" fmla="*/ 40481 w 647700"/>
                <a:gd name="connsiteY1" fmla="*/ 7144 h 866775"/>
                <a:gd name="connsiteX2" fmla="*/ 7144 w 647700"/>
                <a:gd name="connsiteY2" fmla="*/ 41434 h 866775"/>
                <a:gd name="connsiteX3" fmla="*/ 7144 w 647700"/>
                <a:gd name="connsiteY3" fmla="*/ 831056 h 866775"/>
                <a:gd name="connsiteX4" fmla="*/ 40481 w 647700"/>
                <a:gd name="connsiteY4" fmla="*/ 865346 h 866775"/>
                <a:gd name="connsiteX5" fmla="*/ 611029 w 647700"/>
                <a:gd name="connsiteY5" fmla="*/ 865346 h 866775"/>
                <a:gd name="connsiteX6" fmla="*/ 644366 w 647700"/>
                <a:gd name="connsiteY6" fmla="*/ 831056 h 866775"/>
                <a:gd name="connsiteX7" fmla="*/ 644366 w 647700"/>
                <a:gd name="connsiteY7" fmla="*/ 41434 h 866775"/>
                <a:gd name="connsiteX8" fmla="*/ 611029 w 647700"/>
                <a:gd name="connsiteY8" fmla="*/ 7144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47700" h="866775">
                  <a:moveTo>
                    <a:pt x="611029" y="7144"/>
                  </a:moveTo>
                  <a:lnTo>
                    <a:pt x="40481" y="7144"/>
                  </a:lnTo>
                  <a:cubicBezTo>
                    <a:pt x="22384" y="7144"/>
                    <a:pt x="7144" y="22384"/>
                    <a:pt x="7144" y="41434"/>
                  </a:cubicBezTo>
                  <a:lnTo>
                    <a:pt x="7144" y="831056"/>
                  </a:lnTo>
                  <a:cubicBezTo>
                    <a:pt x="7144" y="850106"/>
                    <a:pt x="22384" y="865346"/>
                    <a:pt x="40481" y="865346"/>
                  </a:cubicBezTo>
                  <a:lnTo>
                    <a:pt x="611029" y="865346"/>
                  </a:lnTo>
                  <a:cubicBezTo>
                    <a:pt x="629126" y="865346"/>
                    <a:pt x="644366" y="850106"/>
                    <a:pt x="644366" y="831056"/>
                  </a:cubicBezTo>
                  <a:lnTo>
                    <a:pt x="644366" y="41434"/>
                  </a:lnTo>
                  <a:cubicBezTo>
                    <a:pt x="644366" y="23336"/>
                    <a:pt x="629126" y="7144"/>
                    <a:pt x="611029" y="7144"/>
                  </a:cubicBezTo>
                  <a:close/>
                </a:path>
              </a:pathLst>
            </a:custGeom>
            <a:solidFill>
              <a:srgbClr val="808080"/>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97DEF5EB-BA10-4B7D-A44B-0133ED1CF242}"/>
                </a:ext>
              </a:extLst>
            </p:cNvPr>
            <p:cNvSpPr/>
            <p:nvPr/>
          </p:nvSpPr>
          <p:spPr>
            <a:xfrm>
              <a:off x="5755398" y="3533334"/>
              <a:ext cx="2108453" cy="2863720"/>
            </a:xfrm>
            <a:custGeom>
              <a:avLst/>
              <a:gdLst>
                <a:gd name="connsiteX0" fmla="*/ 605314 w 638175"/>
                <a:gd name="connsiteY0" fmla="*/ 7144 h 866775"/>
                <a:gd name="connsiteX1" fmla="*/ 40481 w 638175"/>
                <a:gd name="connsiteY1" fmla="*/ 7144 h 866775"/>
                <a:gd name="connsiteX2" fmla="*/ 7144 w 638175"/>
                <a:gd name="connsiteY2" fmla="*/ 41434 h 866775"/>
                <a:gd name="connsiteX3" fmla="*/ 7144 w 638175"/>
                <a:gd name="connsiteY3" fmla="*/ 826294 h 866775"/>
                <a:gd name="connsiteX4" fmla="*/ 40481 w 638175"/>
                <a:gd name="connsiteY4" fmla="*/ 860584 h 866775"/>
                <a:gd name="connsiteX5" fmla="*/ 604361 w 638175"/>
                <a:gd name="connsiteY5" fmla="*/ 860584 h 866775"/>
                <a:gd name="connsiteX6" fmla="*/ 637699 w 638175"/>
                <a:gd name="connsiteY6" fmla="*/ 826294 h 866775"/>
                <a:gd name="connsiteX7" fmla="*/ 637699 w 638175"/>
                <a:gd name="connsiteY7" fmla="*/ 41434 h 866775"/>
                <a:gd name="connsiteX8" fmla="*/ 605314 w 638175"/>
                <a:gd name="connsiteY8" fmla="*/ 7144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38175" h="866775">
                  <a:moveTo>
                    <a:pt x="605314" y="7144"/>
                  </a:moveTo>
                  <a:lnTo>
                    <a:pt x="40481" y="7144"/>
                  </a:lnTo>
                  <a:cubicBezTo>
                    <a:pt x="22384" y="7144"/>
                    <a:pt x="7144" y="22384"/>
                    <a:pt x="7144" y="41434"/>
                  </a:cubicBezTo>
                  <a:lnTo>
                    <a:pt x="7144" y="826294"/>
                  </a:lnTo>
                  <a:cubicBezTo>
                    <a:pt x="7144" y="845344"/>
                    <a:pt x="22384" y="860584"/>
                    <a:pt x="40481" y="860584"/>
                  </a:cubicBezTo>
                  <a:lnTo>
                    <a:pt x="604361" y="860584"/>
                  </a:lnTo>
                  <a:cubicBezTo>
                    <a:pt x="622459" y="860584"/>
                    <a:pt x="637699" y="845344"/>
                    <a:pt x="637699" y="826294"/>
                  </a:cubicBezTo>
                  <a:lnTo>
                    <a:pt x="637699" y="41434"/>
                  </a:lnTo>
                  <a:cubicBezTo>
                    <a:pt x="637699" y="22384"/>
                    <a:pt x="623411" y="7144"/>
                    <a:pt x="605314" y="7144"/>
                  </a:cubicBezTo>
                  <a:close/>
                </a:path>
              </a:pathLst>
            </a:custGeom>
            <a:solidFill>
              <a:srgbClr val="231F20"/>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07A51BDC-88C3-445B-9C4C-1FEB7CAC7E9E}"/>
                </a:ext>
              </a:extLst>
            </p:cNvPr>
            <p:cNvSpPr/>
            <p:nvPr/>
          </p:nvSpPr>
          <p:spPr>
            <a:xfrm>
              <a:off x="5972536" y="3781941"/>
              <a:ext cx="1699350" cy="2360208"/>
            </a:xfrm>
            <a:custGeom>
              <a:avLst/>
              <a:gdLst>
                <a:gd name="connsiteX0" fmla="*/ 7144 w 514350"/>
                <a:gd name="connsiteY0" fmla="*/ 7144 h 714375"/>
                <a:gd name="connsiteX1" fmla="*/ 508159 w 514350"/>
                <a:gd name="connsiteY1" fmla="*/ 7144 h 714375"/>
                <a:gd name="connsiteX2" fmla="*/ 508159 w 514350"/>
                <a:gd name="connsiteY2" fmla="*/ 711041 h 714375"/>
                <a:gd name="connsiteX3" fmla="*/ 7144 w 514350"/>
                <a:gd name="connsiteY3" fmla="*/ 711041 h 714375"/>
              </a:gdLst>
              <a:ahLst/>
              <a:cxnLst>
                <a:cxn ang="0">
                  <a:pos x="connsiteX0" y="connsiteY0"/>
                </a:cxn>
                <a:cxn ang="0">
                  <a:pos x="connsiteX1" y="connsiteY1"/>
                </a:cxn>
                <a:cxn ang="0">
                  <a:pos x="connsiteX2" y="connsiteY2"/>
                </a:cxn>
                <a:cxn ang="0">
                  <a:pos x="connsiteX3" y="connsiteY3"/>
                </a:cxn>
              </a:cxnLst>
              <a:rect l="l" t="t" r="r" b="b"/>
              <a:pathLst>
                <a:path w="514350" h="714375">
                  <a:moveTo>
                    <a:pt x="7144" y="7144"/>
                  </a:moveTo>
                  <a:lnTo>
                    <a:pt x="508159" y="7144"/>
                  </a:lnTo>
                  <a:lnTo>
                    <a:pt x="508159" y="711041"/>
                  </a:lnTo>
                  <a:lnTo>
                    <a:pt x="7144" y="711041"/>
                  </a:lnTo>
                  <a:close/>
                </a:path>
              </a:pathLst>
            </a:custGeom>
            <a:solidFill>
              <a:srgbClr val="F2F2F2"/>
            </a:solidFill>
            <a:ln w="9525"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F4B3BD2-D148-4C5F-BC4B-7DC5CEAD0464}"/>
                </a:ext>
              </a:extLst>
            </p:cNvPr>
            <p:cNvSpPr/>
            <p:nvPr/>
          </p:nvSpPr>
          <p:spPr>
            <a:xfrm>
              <a:off x="6537278" y="3804313"/>
              <a:ext cx="1119116" cy="2330356"/>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solidFill>
                  <a:schemeClr val="tx1"/>
                </a:solidFill>
              </a:endParaRPr>
            </a:p>
          </p:txBody>
        </p:sp>
        <p:grpSp>
          <p:nvGrpSpPr>
            <p:cNvPr id="10" name="Group 9">
              <a:extLst>
                <a:ext uri="{FF2B5EF4-FFF2-40B4-BE49-F238E27FC236}">
                  <a16:creationId xmlns:a16="http://schemas.microsoft.com/office/drawing/2014/main" id="{2438DEFB-93C7-4417-B27A-E84ED16848D4}"/>
                </a:ext>
              </a:extLst>
            </p:cNvPr>
            <p:cNvGrpSpPr/>
            <p:nvPr/>
          </p:nvGrpSpPr>
          <p:grpSpPr>
            <a:xfrm>
              <a:off x="6752948" y="6198983"/>
              <a:ext cx="113352" cy="113352"/>
              <a:chOff x="6768693" y="6038239"/>
              <a:chExt cx="147969" cy="147969"/>
            </a:xfrm>
          </p:grpSpPr>
          <p:sp>
            <p:nvSpPr>
              <p:cNvPr id="11" name="Oval 10">
                <a:extLst>
                  <a:ext uri="{FF2B5EF4-FFF2-40B4-BE49-F238E27FC236}">
                    <a16:creationId xmlns:a16="http://schemas.microsoft.com/office/drawing/2014/main" id="{8AEC7DDB-BF36-4D8E-9784-41D44C809CAD}"/>
                  </a:ext>
                </a:extLst>
              </p:cNvPr>
              <p:cNvSpPr/>
              <p:nvPr/>
            </p:nvSpPr>
            <p:spPr>
              <a:xfrm>
                <a:off x="6768693" y="6038239"/>
                <a:ext cx="147969" cy="147969"/>
              </a:xfrm>
              <a:prstGeom prst="ellipse">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D8151709-F242-456E-96D1-B0235A677014}"/>
                  </a:ext>
                </a:extLst>
              </p:cNvPr>
              <p:cNvSpPr/>
              <p:nvPr/>
            </p:nvSpPr>
            <p:spPr>
              <a:xfrm>
                <a:off x="6802088" y="6071634"/>
                <a:ext cx="81180" cy="81180"/>
              </a:xfrm>
              <a:prstGeom prst="ellips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13" name="Group 12">
            <a:extLst>
              <a:ext uri="{FF2B5EF4-FFF2-40B4-BE49-F238E27FC236}">
                <a16:creationId xmlns:a16="http://schemas.microsoft.com/office/drawing/2014/main" id="{80420992-F47F-4217-A43D-619E55FB4C8A}"/>
              </a:ext>
            </a:extLst>
          </p:cNvPr>
          <p:cNvGrpSpPr/>
          <p:nvPr userDrawn="1"/>
        </p:nvGrpSpPr>
        <p:grpSpPr>
          <a:xfrm>
            <a:off x="6823319" y="3202196"/>
            <a:ext cx="1656867" cy="2912686"/>
            <a:chOff x="7182034" y="5192864"/>
            <a:chExt cx="825553" cy="1451279"/>
          </a:xfrm>
        </p:grpSpPr>
        <p:grpSp>
          <p:nvGrpSpPr>
            <p:cNvPr id="14" name="Group 3">
              <a:extLst>
                <a:ext uri="{FF2B5EF4-FFF2-40B4-BE49-F238E27FC236}">
                  <a16:creationId xmlns:a16="http://schemas.microsoft.com/office/drawing/2014/main" id="{EA578C17-35B1-48E6-B296-61B28F520150}"/>
                </a:ext>
              </a:extLst>
            </p:cNvPr>
            <p:cNvGrpSpPr/>
            <p:nvPr/>
          </p:nvGrpSpPr>
          <p:grpSpPr>
            <a:xfrm>
              <a:off x="7182034" y="5192864"/>
              <a:ext cx="825553" cy="1451279"/>
              <a:chOff x="445712" y="1449040"/>
              <a:chExt cx="2113018" cy="3924176"/>
            </a:xfrm>
          </p:grpSpPr>
          <p:sp>
            <p:nvSpPr>
              <p:cNvPr id="18" name="Rounded Rectangle 4">
                <a:extLst>
                  <a:ext uri="{FF2B5EF4-FFF2-40B4-BE49-F238E27FC236}">
                    <a16:creationId xmlns:a16="http://schemas.microsoft.com/office/drawing/2014/main" id="{D2F761DF-C8DF-4DE2-906D-05957CBED4CC}"/>
                  </a:ext>
                </a:extLst>
              </p:cNvPr>
              <p:cNvSpPr/>
              <p:nvPr userDrawn="1"/>
            </p:nvSpPr>
            <p:spPr>
              <a:xfrm>
                <a:off x="445712" y="1449040"/>
                <a:ext cx="2113018" cy="3924176"/>
              </a:xfrm>
              <a:prstGeom prst="roundRect">
                <a:avLst>
                  <a:gd name="adj" fmla="val 13580"/>
                </a:avLst>
              </a:prstGeom>
              <a:solidFill>
                <a:srgbClr val="262626"/>
              </a:solidFill>
              <a:ln w="88900">
                <a:noFill/>
              </a:ln>
              <a:effectLst/>
              <a:scene3d>
                <a:camera prst="perspectiveFront"/>
                <a:lightRig rig="threePt" dir="t"/>
              </a:scene3d>
              <a:sp3d prstMaterial="plastic">
                <a:bevelT w="127000" h="50800"/>
                <a:bevelB w="127000" h="2540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dirty="0"/>
              </a:p>
            </p:txBody>
          </p:sp>
          <p:sp>
            <p:nvSpPr>
              <p:cNvPr id="19" name="Rectangle 5">
                <a:extLst>
                  <a:ext uri="{FF2B5EF4-FFF2-40B4-BE49-F238E27FC236}">
                    <a16:creationId xmlns:a16="http://schemas.microsoft.com/office/drawing/2014/main" id="{9A9C4939-7986-450A-BF03-92EC6994DDFE}"/>
                  </a:ext>
                </a:extLst>
              </p:cNvPr>
              <p:cNvSpPr/>
              <p:nvPr userDrawn="1"/>
            </p:nvSpPr>
            <p:spPr>
              <a:xfrm>
                <a:off x="1379920" y="1650572"/>
                <a:ext cx="216024" cy="34350"/>
              </a:xfrm>
              <a:prstGeom prst="rect">
                <a:avLst/>
              </a:prstGeom>
              <a:solidFill>
                <a:srgbClr val="B0B0B0"/>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nvGrpSpPr>
              <p:cNvPr id="20" name="Group 6">
                <a:extLst>
                  <a:ext uri="{FF2B5EF4-FFF2-40B4-BE49-F238E27FC236}">
                    <a16:creationId xmlns:a16="http://schemas.microsoft.com/office/drawing/2014/main" id="{651C2E6A-1A07-41FB-BAFE-59DB09FC6CB0}"/>
                  </a:ext>
                </a:extLst>
              </p:cNvPr>
              <p:cNvGrpSpPr/>
              <p:nvPr userDrawn="1"/>
            </p:nvGrpSpPr>
            <p:grpSpPr>
              <a:xfrm>
                <a:off x="1407705" y="5045834"/>
                <a:ext cx="211967" cy="211967"/>
                <a:chOff x="1549420" y="5712364"/>
                <a:chExt cx="312583" cy="312583"/>
              </a:xfrm>
            </p:grpSpPr>
            <p:sp>
              <p:nvSpPr>
                <p:cNvPr id="21" name="Oval 7">
                  <a:extLst>
                    <a:ext uri="{FF2B5EF4-FFF2-40B4-BE49-F238E27FC236}">
                      <a16:creationId xmlns:a16="http://schemas.microsoft.com/office/drawing/2014/main" id="{0158E23C-F3BA-4F44-A0C3-4095E0A30994}"/>
                    </a:ext>
                  </a:extLst>
                </p:cNvPr>
                <p:cNvSpPr/>
                <p:nvPr userDrawn="1"/>
              </p:nvSpPr>
              <p:spPr>
                <a:xfrm>
                  <a:off x="1549420" y="5712364"/>
                  <a:ext cx="312583" cy="312583"/>
                </a:xfrm>
                <a:prstGeom prst="ellipse">
                  <a:avLst/>
                </a:prstGeom>
                <a:gradFill flip="none" rotWithShape="1">
                  <a:gsLst>
                    <a:gs pos="0">
                      <a:schemeClr val="tx1">
                        <a:lumMod val="94000"/>
                        <a:lumOff val="6000"/>
                      </a:schemeClr>
                    </a:gs>
                    <a:gs pos="56000">
                      <a:schemeClr val="tx1">
                        <a:lumMod val="65000"/>
                        <a:lumOff val="35000"/>
                      </a:schemeClr>
                    </a:gs>
                    <a:gs pos="91000">
                      <a:schemeClr val="tx1">
                        <a:lumMod val="50000"/>
                        <a:lumOff val="50000"/>
                      </a:schemeClr>
                    </a:gs>
                    <a:gs pos="100000">
                      <a:schemeClr val="bg1">
                        <a:lumMod val="75000"/>
                      </a:schemeClr>
                    </a:gs>
                  </a:gsLst>
                  <a:lin ang="10800000" scaled="1"/>
                  <a:tileRect/>
                </a:gradFill>
                <a:ln w="0">
                  <a:solidFill>
                    <a:srgbClr val="262626"/>
                  </a:solidFill>
                </a:ln>
                <a:scene3d>
                  <a:camera prst="perspectiveFront"/>
                  <a:lightRig rig="threePt" dir="t"/>
                </a:scene3d>
                <a:sp3d>
                  <a:bevelT w="635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22" name="Rounded Rectangle 8">
                  <a:extLst>
                    <a:ext uri="{FF2B5EF4-FFF2-40B4-BE49-F238E27FC236}">
                      <a16:creationId xmlns:a16="http://schemas.microsoft.com/office/drawing/2014/main" id="{A65E39CA-F6F1-47A9-A567-86385EA9C95D}"/>
                    </a:ext>
                  </a:extLst>
                </p:cNvPr>
                <p:cNvSpPr/>
                <p:nvPr userDrawn="1"/>
              </p:nvSpPr>
              <p:spPr>
                <a:xfrm>
                  <a:off x="1634225" y="5796647"/>
                  <a:ext cx="142969" cy="144016"/>
                </a:xfrm>
                <a:prstGeom prst="roundRect">
                  <a:avLst/>
                </a:prstGeom>
                <a:solidFill>
                  <a:srgbClr val="737373"/>
                </a:solidFill>
                <a:ln w="6350">
                  <a:solidFill>
                    <a:srgbClr val="B0B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grpSp>
        </p:grpSp>
        <p:grpSp>
          <p:nvGrpSpPr>
            <p:cNvPr id="15" name="Group 14">
              <a:extLst>
                <a:ext uri="{FF2B5EF4-FFF2-40B4-BE49-F238E27FC236}">
                  <a16:creationId xmlns:a16="http://schemas.microsoft.com/office/drawing/2014/main" id="{6F3EE5F6-CF51-429D-9AB0-4384D58D7D4D}"/>
                </a:ext>
              </a:extLst>
            </p:cNvPr>
            <p:cNvGrpSpPr/>
            <p:nvPr/>
          </p:nvGrpSpPr>
          <p:grpSpPr>
            <a:xfrm>
              <a:off x="7210904" y="5333460"/>
              <a:ext cx="734603" cy="1136247"/>
              <a:chOff x="7224494" y="5344134"/>
              <a:chExt cx="734603" cy="1189257"/>
            </a:xfrm>
          </p:grpSpPr>
          <p:sp>
            <p:nvSpPr>
              <p:cNvPr id="16" name="Freeform: Shape 15">
                <a:extLst>
                  <a:ext uri="{FF2B5EF4-FFF2-40B4-BE49-F238E27FC236}">
                    <a16:creationId xmlns:a16="http://schemas.microsoft.com/office/drawing/2014/main" id="{62058873-FEEF-4AE4-A07B-EFD8FB550E55}"/>
                  </a:ext>
                </a:extLst>
              </p:cNvPr>
              <p:cNvSpPr/>
              <p:nvPr/>
            </p:nvSpPr>
            <p:spPr>
              <a:xfrm>
                <a:off x="7224494" y="5344134"/>
                <a:ext cx="734603" cy="1189257"/>
              </a:xfrm>
              <a:custGeom>
                <a:avLst/>
                <a:gdLst>
                  <a:gd name="connsiteX0" fmla="*/ 7144 w 333375"/>
                  <a:gd name="connsiteY0" fmla="*/ 7144 h 590550"/>
                  <a:gd name="connsiteX1" fmla="*/ 331946 w 333375"/>
                  <a:gd name="connsiteY1" fmla="*/ 7144 h 590550"/>
                  <a:gd name="connsiteX2" fmla="*/ 331946 w 333375"/>
                  <a:gd name="connsiteY2" fmla="*/ 586264 h 590550"/>
                  <a:gd name="connsiteX3" fmla="*/ 7144 w 333375"/>
                  <a:gd name="connsiteY3" fmla="*/ 586264 h 590550"/>
                </a:gdLst>
                <a:ahLst/>
                <a:cxnLst>
                  <a:cxn ang="0">
                    <a:pos x="connsiteX0" y="connsiteY0"/>
                  </a:cxn>
                  <a:cxn ang="0">
                    <a:pos x="connsiteX1" y="connsiteY1"/>
                  </a:cxn>
                  <a:cxn ang="0">
                    <a:pos x="connsiteX2" y="connsiteY2"/>
                  </a:cxn>
                  <a:cxn ang="0">
                    <a:pos x="connsiteX3" y="connsiteY3"/>
                  </a:cxn>
                </a:cxnLst>
                <a:rect l="l" t="t" r="r" b="b"/>
                <a:pathLst>
                  <a:path w="333375" h="590550">
                    <a:moveTo>
                      <a:pt x="7144" y="7144"/>
                    </a:moveTo>
                    <a:lnTo>
                      <a:pt x="331946" y="7144"/>
                    </a:lnTo>
                    <a:lnTo>
                      <a:pt x="331946" y="586264"/>
                    </a:lnTo>
                    <a:lnTo>
                      <a:pt x="7144" y="586264"/>
                    </a:lnTo>
                    <a:close/>
                  </a:path>
                </a:pathLst>
              </a:custGeom>
              <a:solidFill>
                <a:schemeClr val="bg1">
                  <a:lumMod val="95000"/>
                </a:schemeClr>
              </a:solidFill>
              <a:ln w="9525"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FDA00E9A-7402-448B-B85E-58BD242040AC}"/>
                  </a:ext>
                </a:extLst>
              </p:cNvPr>
              <p:cNvSpPr/>
              <p:nvPr/>
            </p:nvSpPr>
            <p:spPr>
              <a:xfrm>
                <a:off x="7353653" y="5363515"/>
                <a:ext cx="604560" cy="1150499"/>
              </a:xfrm>
              <a:custGeom>
                <a:avLst/>
                <a:gdLst>
                  <a:gd name="connsiteX0" fmla="*/ 614149 w 1119116"/>
                  <a:gd name="connsiteY0" fmla="*/ 0 h 2330356"/>
                  <a:gd name="connsiteX1" fmla="*/ 1115704 w 1119116"/>
                  <a:gd name="connsiteY1" fmla="*/ 6824 h 2330356"/>
                  <a:gd name="connsiteX2" fmla="*/ 1119116 w 1119116"/>
                  <a:gd name="connsiteY2" fmla="*/ 2330356 h 2330356"/>
                  <a:gd name="connsiteX3" fmla="*/ 0 w 1119116"/>
                  <a:gd name="connsiteY3" fmla="*/ 2330356 h 2330356"/>
                  <a:gd name="connsiteX4" fmla="*/ 614149 w 1119116"/>
                  <a:gd name="connsiteY4" fmla="*/ 0 h 2330356"/>
                  <a:gd name="connsiteX0" fmla="*/ 614149 w 1119116"/>
                  <a:gd name="connsiteY0" fmla="*/ 0 h 2330356"/>
                  <a:gd name="connsiteX1" fmla="*/ 1115704 w 1119116"/>
                  <a:gd name="connsiteY1" fmla="*/ 3412 h 2330356"/>
                  <a:gd name="connsiteX2" fmla="*/ 1119116 w 1119116"/>
                  <a:gd name="connsiteY2" fmla="*/ 2330356 h 2330356"/>
                  <a:gd name="connsiteX3" fmla="*/ 0 w 1119116"/>
                  <a:gd name="connsiteY3" fmla="*/ 2330356 h 2330356"/>
                  <a:gd name="connsiteX4" fmla="*/ 614149 w 1119116"/>
                  <a:gd name="connsiteY4" fmla="*/ 0 h 233035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9116" h="2330356">
                    <a:moveTo>
                      <a:pt x="614149" y="0"/>
                    </a:moveTo>
                    <a:lnTo>
                      <a:pt x="1115704" y="3412"/>
                    </a:lnTo>
                    <a:cubicBezTo>
                      <a:pt x="1116841" y="777923"/>
                      <a:pt x="1117979" y="1555845"/>
                      <a:pt x="1119116" y="2330356"/>
                    </a:cubicBezTo>
                    <a:lnTo>
                      <a:pt x="0" y="2330356"/>
                    </a:lnTo>
                    <a:lnTo>
                      <a:pt x="614149" y="0"/>
                    </a:lnTo>
                    <a:close/>
                  </a:path>
                </a:pathLst>
              </a:custGeom>
              <a:solidFill>
                <a:srgbClr val="999999">
                  <a:alpha val="10000"/>
                </a:srgbClr>
              </a:soli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dirty="0">
                  <a:solidFill>
                    <a:schemeClr val="tx1"/>
                  </a:solidFill>
                </a:endParaRPr>
              </a:p>
            </p:txBody>
          </p:sp>
        </p:grpSp>
      </p:grpSp>
      <p:sp>
        <p:nvSpPr>
          <p:cNvPr id="23" name="Picture Placeholder 2">
            <a:extLst>
              <a:ext uri="{FF2B5EF4-FFF2-40B4-BE49-F238E27FC236}">
                <a16:creationId xmlns:a16="http://schemas.microsoft.com/office/drawing/2014/main" id="{344AA3EA-E673-4ED9-A582-47186191FE78}"/>
              </a:ext>
            </a:extLst>
          </p:cNvPr>
          <p:cNvSpPr>
            <a:spLocks noGrp="1"/>
          </p:cNvSpPr>
          <p:nvPr>
            <p:ph type="pic" idx="12" hasCustomPrompt="1"/>
          </p:nvPr>
        </p:nvSpPr>
        <p:spPr>
          <a:xfrm>
            <a:off x="8609452" y="2064430"/>
            <a:ext cx="2535033" cy="3500209"/>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Insert Your Image</a:t>
            </a:r>
            <a:endParaRPr lang="ko-KR" altLang="en-US" dirty="0"/>
          </a:p>
        </p:txBody>
      </p:sp>
      <p:sp>
        <p:nvSpPr>
          <p:cNvPr id="24" name="Picture Placeholder 2">
            <a:extLst>
              <a:ext uri="{FF2B5EF4-FFF2-40B4-BE49-F238E27FC236}">
                <a16:creationId xmlns:a16="http://schemas.microsoft.com/office/drawing/2014/main" id="{60F52A28-79CD-4100-B2ED-9CB938668D05}"/>
              </a:ext>
            </a:extLst>
          </p:cNvPr>
          <p:cNvSpPr>
            <a:spLocks noGrp="1"/>
          </p:cNvSpPr>
          <p:nvPr>
            <p:ph type="pic" idx="13" hasCustomPrompt="1"/>
          </p:nvPr>
        </p:nvSpPr>
        <p:spPr>
          <a:xfrm>
            <a:off x="6906381" y="3455576"/>
            <a:ext cx="1484457" cy="2330645"/>
          </a:xfrm>
          <a:prstGeom prst="rect">
            <a:avLst/>
          </a:prstGeom>
          <a:solidFill>
            <a:schemeClr val="bg1">
              <a:lumMod val="95000"/>
            </a:schemeClr>
          </a:solidFill>
        </p:spPr>
        <p:txBody>
          <a:bodyPr anchor="ctr"/>
          <a:lstStyle>
            <a:lvl1pPr marL="0" indent="0" algn="ctr">
              <a:buNone/>
              <a:defRPr sz="1200" baseline="0">
                <a:latin typeface="+mn-lt"/>
                <a:cs typeface="Arial" pitchFamily="34" charset="0"/>
              </a:defRPr>
            </a:lvl1pPr>
            <a:lvl2pPr marL="457223" indent="0">
              <a:buNone/>
              <a:defRPr sz="2800"/>
            </a:lvl2pPr>
            <a:lvl3pPr marL="914446" indent="0">
              <a:buNone/>
              <a:defRPr sz="2400"/>
            </a:lvl3pPr>
            <a:lvl4pPr marL="1371669" indent="0">
              <a:buNone/>
              <a:defRPr sz="2000"/>
            </a:lvl4pPr>
            <a:lvl5pPr marL="1828891" indent="0">
              <a:buNone/>
              <a:defRPr sz="2000"/>
            </a:lvl5pPr>
            <a:lvl6pPr marL="2286114" indent="0">
              <a:buNone/>
              <a:defRPr sz="2000"/>
            </a:lvl6pPr>
            <a:lvl7pPr marL="2743337" indent="0">
              <a:buNone/>
              <a:defRPr sz="2000"/>
            </a:lvl7pPr>
            <a:lvl8pPr marL="3200560" indent="0">
              <a:buNone/>
              <a:defRPr sz="2000"/>
            </a:lvl8pPr>
            <a:lvl9pPr marL="3657783" indent="0">
              <a:buNone/>
              <a:defRPr sz="2000"/>
            </a:lvl9pPr>
          </a:lstStyle>
          <a:p>
            <a:r>
              <a:rPr lang="en-US" altLang="ko-KR" dirty="0"/>
              <a:t>Insert Your Image</a:t>
            </a:r>
            <a:endParaRPr lang="ko-KR" altLang="en-US" dirty="0"/>
          </a:p>
        </p:txBody>
      </p:sp>
      <p:sp>
        <p:nvSpPr>
          <p:cNvPr id="25" name="Text Placeholder 9">
            <a:extLst>
              <a:ext uri="{FF2B5EF4-FFF2-40B4-BE49-F238E27FC236}">
                <a16:creationId xmlns:a16="http://schemas.microsoft.com/office/drawing/2014/main" id="{979E55A1-D4BA-4358-932E-9597C584FB30}"/>
              </a:ext>
            </a:extLst>
          </p:cNvPr>
          <p:cNvSpPr>
            <a:spLocks noGrp="1"/>
          </p:cNvSpPr>
          <p:nvPr>
            <p:ph type="body" sz="quarter" idx="10" hasCustomPrompt="1"/>
          </p:nvPr>
        </p:nvSpPr>
        <p:spPr>
          <a:xfrm>
            <a:off x="323529" y="339509"/>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3750974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5_Contents slide layout">
    <p:spTree>
      <p:nvGrpSpPr>
        <p:cNvPr id="1" name=""/>
        <p:cNvGrpSpPr/>
        <p:nvPr/>
      </p:nvGrpSpPr>
      <p:grpSpPr>
        <a:xfrm>
          <a:off x="0" y="0"/>
          <a:ext cx="0" cy="0"/>
          <a:chOff x="0" y="0"/>
          <a:chExt cx="0" cy="0"/>
        </a:xfrm>
      </p:grpSpPr>
      <p:sp>
        <p:nvSpPr>
          <p:cNvPr id="2" name="Picture Placeholder 4">
            <a:extLst>
              <a:ext uri="{FF2B5EF4-FFF2-40B4-BE49-F238E27FC236}">
                <a16:creationId xmlns:a16="http://schemas.microsoft.com/office/drawing/2014/main" id="{816C7FB5-2361-4828-BC29-E65F8DBFBE6D}"/>
              </a:ext>
            </a:extLst>
          </p:cNvPr>
          <p:cNvSpPr>
            <a:spLocks noGrp="1"/>
          </p:cNvSpPr>
          <p:nvPr>
            <p:ph type="pic" sz="quarter" idx="12" hasCustomPrompt="1"/>
          </p:nvPr>
        </p:nvSpPr>
        <p:spPr>
          <a:xfrm>
            <a:off x="4319757" y="-1"/>
            <a:ext cx="6580997" cy="5001448"/>
          </a:xfrm>
          <a:custGeom>
            <a:avLst/>
            <a:gdLst>
              <a:gd name="connsiteX0" fmla="*/ 5450668 w 6580997"/>
              <a:gd name="connsiteY0" fmla="*/ 0 h 5001448"/>
              <a:gd name="connsiteX1" fmla="*/ 6157327 w 6580997"/>
              <a:gd name="connsiteY1" fmla="*/ 0 h 5001448"/>
              <a:gd name="connsiteX2" fmla="*/ 6395676 w 6580997"/>
              <a:gd name="connsiteY2" fmla="*/ 313936 h 5001448"/>
              <a:gd name="connsiteX3" fmla="*/ 6417268 w 6580997"/>
              <a:gd name="connsiteY3" fmla="*/ 349241 h 5001448"/>
              <a:gd name="connsiteX4" fmla="*/ 5974700 w 6580997"/>
              <a:gd name="connsiteY4" fmla="*/ 683575 h 5001448"/>
              <a:gd name="connsiteX5" fmla="*/ 5947410 w 6580997"/>
              <a:gd name="connsiteY5" fmla="*/ 654273 h 5001448"/>
              <a:gd name="connsiteX6" fmla="*/ 4672001 w 6580997"/>
              <a:gd name="connsiteY6" fmla="*/ 0 h 5001448"/>
              <a:gd name="connsiteX7" fmla="*/ 5378659 w 6580997"/>
              <a:gd name="connsiteY7" fmla="*/ 0 h 5001448"/>
              <a:gd name="connsiteX8" fmla="*/ 6328696 w 6580997"/>
              <a:gd name="connsiteY8" fmla="*/ 1251323 h 5001448"/>
              <a:gd name="connsiteX9" fmla="*/ 6356584 w 6580997"/>
              <a:gd name="connsiteY9" fmla="*/ 1296919 h 5001448"/>
              <a:gd name="connsiteX10" fmla="*/ 5915946 w 6580997"/>
              <a:gd name="connsiteY10" fmla="*/ 1629794 h 5001448"/>
              <a:gd name="connsiteX11" fmla="*/ 5880432 w 6580997"/>
              <a:gd name="connsiteY11" fmla="*/ 1591659 h 5001448"/>
              <a:gd name="connsiteX12" fmla="*/ 3893333 w 6580997"/>
              <a:gd name="connsiteY12" fmla="*/ 0 h 5001448"/>
              <a:gd name="connsiteX13" fmla="*/ 4599991 w 6580997"/>
              <a:gd name="connsiteY13" fmla="*/ 0 h 5001448"/>
              <a:gd name="connsiteX14" fmla="*/ 6234116 w 6580997"/>
              <a:gd name="connsiteY14" fmla="*/ 2152354 h 5001448"/>
              <a:gd name="connsiteX15" fmla="*/ 5785032 w 6580997"/>
              <a:gd name="connsiteY15" fmla="*/ 2491611 h 5001448"/>
              <a:gd name="connsiteX16" fmla="*/ 3114666 w 6580997"/>
              <a:gd name="connsiteY16" fmla="*/ 0 h 5001448"/>
              <a:gd name="connsiteX17" fmla="*/ 3821325 w 6580997"/>
              <a:gd name="connsiteY17" fmla="*/ 0 h 5001448"/>
              <a:gd name="connsiteX18" fmla="*/ 6505646 w 6580997"/>
              <a:gd name="connsiteY18" fmla="*/ 3535597 h 5001448"/>
              <a:gd name="connsiteX19" fmla="*/ 6517688 w 6580997"/>
              <a:gd name="connsiteY19" fmla="*/ 3555286 h 5001448"/>
              <a:gd name="connsiteX20" fmla="*/ 6072188 w 6580997"/>
              <a:gd name="connsiteY20" fmla="*/ 3891835 h 5001448"/>
              <a:gd name="connsiteX21" fmla="*/ 6057380 w 6580997"/>
              <a:gd name="connsiteY21" fmla="*/ 3875934 h 5001448"/>
              <a:gd name="connsiteX22" fmla="*/ 2335999 w 6580997"/>
              <a:gd name="connsiteY22" fmla="*/ 0 h 5001448"/>
              <a:gd name="connsiteX23" fmla="*/ 3042658 w 6580997"/>
              <a:gd name="connsiteY23" fmla="*/ 0 h 5001448"/>
              <a:gd name="connsiteX24" fmla="*/ 6561747 w 6580997"/>
              <a:gd name="connsiteY24" fmla="*/ 4635097 h 5001448"/>
              <a:gd name="connsiteX25" fmla="*/ 6580997 w 6580997"/>
              <a:gd name="connsiteY25" fmla="*/ 4666571 h 5001448"/>
              <a:gd name="connsiteX26" fmla="*/ 6137710 w 6580997"/>
              <a:gd name="connsiteY26" fmla="*/ 5001448 h 5001448"/>
              <a:gd name="connsiteX27" fmla="*/ 6113482 w 6580997"/>
              <a:gd name="connsiteY27" fmla="*/ 4975433 h 5001448"/>
              <a:gd name="connsiteX28" fmla="*/ 1557333 w 6580997"/>
              <a:gd name="connsiteY28" fmla="*/ 0 h 5001448"/>
              <a:gd name="connsiteX29" fmla="*/ 2263992 w 6580997"/>
              <a:gd name="connsiteY29" fmla="*/ 0 h 5001448"/>
              <a:gd name="connsiteX30" fmla="*/ 5106184 w 6580997"/>
              <a:gd name="connsiteY30" fmla="*/ 3743536 h 5001448"/>
              <a:gd name="connsiteX31" fmla="*/ 5116342 w 6580997"/>
              <a:gd name="connsiteY31" fmla="*/ 3759688 h 5001448"/>
              <a:gd name="connsiteX32" fmla="*/ 4669838 w 6580997"/>
              <a:gd name="connsiteY32" fmla="*/ 4096994 h 5001448"/>
              <a:gd name="connsiteX33" fmla="*/ 4657919 w 6580997"/>
              <a:gd name="connsiteY33" fmla="*/ 4083873 h 5001448"/>
              <a:gd name="connsiteX34" fmla="*/ 778665 w 6580997"/>
              <a:gd name="connsiteY34" fmla="*/ 0 h 5001448"/>
              <a:gd name="connsiteX35" fmla="*/ 1485324 w 6580997"/>
              <a:gd name="connsiteY35" fmla="*/ 0 h 5001448"/>
              <a:gd name="connsiteX36" fmla="*/ 4803038 w 6580997"/>
              <a:gd name="connsiteY36" fmla="*/ 4369858 h 5001448"/>
              <a:gd name="connsiteX37" fmla="*/ 4353952 w 6580997"/>
              <a:gd name="connsiteY37" fmla="*/ 4709116 h 5001448"/>
              <a:gd name="connsiteX38" fmla="*/ 0 w 6580997"/>
              <a:gd name="connsiteY38" fmla="*/ 0 h 5001448"/>
              <a:gd name="connsiteX39" fmla="*/ 706659 w 6580997"/>
              <a:gd name="connsiteY39" fmla="*/ 0 h 5001448"/>
              <a:gd name="connsiteX40" fmla="*/ 3300400 w 6580997"/>
              <a:gd name="connsiteY40" fmla="*/ 3416293 h 5001448"/>
              <a:gd name="connsiteX41" fmla="*/ 2851316 w 6580997"/>
              <a:gd name="connsiteY41" fmla="*/ 3755550 h 50014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6580997" h="5001448">
                <a:moveTo>
                  <a:pt x="5450668" y="0"/>
                </a:moveTo>
                <a:lnTo>
                  <a:pt x="6157327" y="0"/>
                </a:lnTo>
                <a:lnTo>
                  <a:pt x="6395676" y="313936"/>
                </a:lnTo>
                <a:lnTo>
                  <a:pt x="6417268" y="349241"/>
                </a:lnTo>
                <a:lnTo>
                  <a:pt x="5974700" y="683575"/>
                </a:lnTo>
                <a:lnTo>
                  <a:pt x="5947410" y="654273"/>
                </a:lnTo>
                <a:close/>
                <a:moveTo>
                  <a:pt x="4672001" y="0"/>
                </a:moveTo>
                <a:lnTo>
                  <a:pt x="5378659" y="0"/>
                </a:lnTo>
                <a:lnTo>
                  <a:pt x="6328696" y="1251323"/>
                </a:lnTo>
                <a:lnTo>
                  <a:pt x="6356584" y="1296919"/>
                </a:lnTo>
                <a:lnTo>
                  <a:pt x="5915946" y="1629794"/>
                </a:lnTo>
                <a:lnTo>
                  <a:pt x="5880432" y="1591659"/>
                </a:lnTo>
                <a:close/>
                <a:moveTo>
                  <a:pt x="3893333" y="0"/>
                </a:moveTo>
                <a:lnTo>
                  <a:pt x="4599991" y="0"/>
                </a:lnTo>
                <a:lnTo>
                  <a:pt x="6234116" y="2152354"/>
                </a:lnTo>
                <a:lnTo>
                  <a:pt x="5785032" y="2491611"/>
                </a:lnTo>
                <a:close/>
                <a:moveTo>
                  <a:pt x="3114666" y="0"/>
                </a:moveTo>
                <a:lnTo>
                  <a:pt x="3821325" y="0"/>
                </a:lnTo>
                <a:lnTo>
                  <a:pt x="6505646" y="3535597"/>
                </a:lnTo>
                <a:lnTo>
                  <a:pt x="6517688" y="3555286"/>
                </a:lnTo>
                <a:lnTo>
                  <a:pt x="6072188" y="3891835"/>
                </a:lnTo>
                <a:lnTo>
                  <a:pt x="6057380" y="3875934"/>
                </a:lnTo>
                <a:close/>
                <a:moveTo>
                  <a:pt x="2335999" y="0"/>
                </a:moveTo>
                <a:lnTo>
                  <a:pt x="3042658" y="0"/>
                </a:lnTo>
                <a:lnTo>
                  <a:pt x="6561747" y="4635097"/>
                </a:lnTo>
                <a:lnTo>
                  <a:pt x="6580997" y="4666571"/>
                </a:lnTo>
                <a:lnTo>
                  <a:pt x="6137710" y="5001448"/>
                </a:lnTo>
                <a:lnTo>
                  <a:pt x="6113482" y="4975433"/>
                </a:lnTo>
                <a:close/>
                <a:moveTo>
                  <a:pt x="1557333" y="0"/>
                </a:moveTo>
                <a:lnTo>
                  <a:pt x="2263992" y="0"/>
                </a:lnTo>
                <a:lnTo>
                  <a:pt x="5106184" y="3743536"/>
                </a:lnTo>
                <a:lnTo>
                  <a:pt x="5116342" y="3759688"/>
                </a:lnTo>
                <a:lnTo>
                  <a:pt x="4669838" y="4096994"/>
                </a:lnTo>
                <a:lnTo>
                  <a:pt x="4657919" y="4083873"/>
                </a:lnTo>
                <a:close/>
                <a:moveTo>
                  <a:pt x="778665" y="0"/>
                </a:moveTo>
                <a:lnTo>
                  <a:pt x="1485324" y="0"/>
                </a:lnTo>
                <a:lnTo>
                  <a:pt x="4803038" y="4369858"/>
                </a:lnTo>
                <a:lnTo>
                  <a:pt x="4353952" y="4709116"/>
                </a:lnTo>
                <a:close/>
                <a:moveTo>
                  <a:pt x="0" y="0"/>
                </a:moveTo>
                <a:lnTo>
                  <a:pt x="706659" y="0"/>
                </a:lnTo>
                <a:lnTo>
                  <a:pt x="3300400" y="3416293"/>
                </a:lnTo>
                <a:lnTo>
                  <a:pt x="2851316" y="3755550"/>
                </a:lnTo>
                <a:close/>
              </a:path>
            </a:pathLst>
          </a:custGeom>
          <a:solidFill>
            <a:schemeClr val="bg1">
              <a:lumMod val="95000"/>
            </a:schemeClr>
          </a:solidFill>
          <a:ln w="25400">
            <a:noFill/>
          </a:ln>
          <a:effectLst/>
        </p:spPr>
        <p:txBody>
          <a:bodyPr wrap="square" anchor="ctr">
            <a:noAutofit/>
          </a:bodyPr>
          <a:lstStyle>
            <a:lvl1pPr marL="0" indent="0" algn="ctr">
              <a:buFontTx/>
              <a:buNone/>
              <a:defRPr sz="1200">
                <a:solidFill>
                  <a:schemeClr val="tx1">
                    <a:lumMod val="75000"/>
                    <a:lumOff val="25000"/>
                  </a:schemeClr>
                </a:solidFill>
                <a:latin typeface="+mn-lt"/>
                <a:cs typeface="Arial" pitchFamily="34" charset="0"/>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9649280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19" Type="http://schemas.openxmlformats.org/officeDocument/2006/relationships/theme" Target="../theme/theme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9" r:id="rId15"/>
    <p:sldLayoutId id="2147483687" r:id="rId16"/>
    <p:sldLayoutId id="2147483671" r:id="rId17"/>
    <p:sldLayoutId id="2147483672"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3.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9.xml"/><Relationship Id="rId7" Type="http://schemas.openxmlformats.org/officeDocument/2006/relationships/image" Target="../media/image21.png"/><Relationship Id="rId2" Type="http://schemas.openxmlformats.org/officeDocument/2006/relationships/slideLayout" Target="../slideLayouts/slideLayout5.xml"/><Relationship Id="rId1" Type="http://schemas.openxmlformats.org/officeDocument/2006/relationships/tags" Target="../tags/tag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10.xml"/><Relationship Id="rId7" Type="http://schemas.openxmlformats.org/officeDocument/2006/relationships/image" Target="../media/image21.png"/><Relationship Id="rId2" Type="http://schemas.openxmlformats.org/officeDocument/2006/relationships/slideLayout" Target="../slideLayouts/slideLayout5.xml"/><Relationship Id="rId1" Type="http://schemas.openxmlformats.org/officeDocument/2006/relationships/tags" Target="../tags/tag5.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DAEEEB37-3A7B-A845-C911-5899231FCBB4}"/>
              </a:ext>
            </a:extLst>
          </p:cNvPr>
          <p:cNvGrpSpPr/>
          <p:nvPr/>
        </p:nvGrpSpPr>
        <p:grpSpPr>
          <a:xfrm>
            <a:off x="0" y="1481092"/>
            <a:ext cx="12192000" cy="1901276"/>
            <a:chOff x="152400" y="1666150"/>
            <a:chExt cx="12192000" cy="1901276"/>
          </a:xfrm>
        </p:grpSpPr>
        <p:sp>
          <p:nvSpPr>
            <p:cNvPr id="2" name="Rectangle 1">
              <a:extLst>
                <a:ext uri="{FF2B5EF4-FFF2-40B4-BE49-F238E27FC236}">
                  <a16:creationId xmlns:a16="http://schemas.microsoft.com/office/drawing/2014/main" id="{87110E29-5E15-FB1B-9836-7E31DE71DF2A}"/>
                </a:ext>
              </a:extLst>
            </p:cNvPr>
            <p:cNvSpPr/>
            <p:nvPr/>
          </p:nvSpPr>
          <p:spPr>
            <a:xfrm>
              <a:off x="152400" y="1666150"/>
              <a:ext cx="12192000" cy="1901276"/>
            </a:xfrm>
            <a:prstGeom prst="rect">
              <a:avLst/>
            </a:prstGeom>
            <a:gradFill flip="none" rotWithShape="1">
              <a:gsLst>
                <a:gs pos="100000">
                  <a:schemeClr val="accent1">
                    <a:shade val="30000"/>
                    <a:satMod val="115000"/>
                  </a:schemeClr>
                </a:gs>
                <a:gs pos="0">
                  <a:schemeClr val="accent1">
                    <a:shade val="67500"/>
                    <a:satMod val="115000"/>
                  </a:schemeClr>
                </a:gs>
                <a:gs pos="53000">
                  <a:schemeClr val="accent1">
                    <a:shade val="100000"/>
                    <a:satMod val="11500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03B4C724-0776-4328-8F0A-B72DA1579537}"/>
                </a:ext>
              </a:extLst>
            </p:cNvPr>
            <p:cNvSpPr txBox="1"/>
            <p:nvPr/>
          </p:nvSpPr>
          <p:spPr>
            <a:xfrm>
              <a:off x="152400" y="1739625"/>
              <a:ext cx="12192000" cy="1754326"/>
            </a:xfrm>
            <a:prstGeom prst="rect">
              <a:avLst/>
            </a:prstGeom>
            <a:noFill/>
            <a:ln>
              <a:noFill/>
            </a:ln>
          </p:spPr>
          <p:txBody>
            <a:bodyPr wrap="square" rtlCol="0" anchor="ctr">
              <a:spAutoFit/>
            </a:bodyPr>
            <a:lstStyle/>
            <a:p>
              <a:pPr algn="ctr"/>
              <a:r>
                <a:rPr lang="fr-FR" sz="5400" dirty="0">
                  <a:solidFill>
                    <a:srgbClr val="353938"/>
                  </a:solidFill>
                  <a:latin typeface="+mj-lt"/>
                </a:rPr>
                <a:t>L'Art de Conception des Systèmes à Grande Échelle</a:t>
              </a:r>
              <a:endParaRPr lang="ko-KR" altLang="en-US" sz="5400" dirty="0">
                <a:solidFill>
                  <a:srgbClr val="353938"/>
                </a:solidFill>
                <a:latin typeface="+mj-lt"/>
                <a:cs typeface="Arial" pitchFamily="34" charset="0"/>
              </a:endParaRPr>
            </a:p>
          </p:txBody>
        </p:sp>
      </p:grpSp>
      <p:sp>
        <p:nvSpPr>
          <p:cNvPr id="10" name="TextBox 9">
            <a:extLst>
              <a:ext uri="{FF2B5EF4-FFF2-40B4-BE49-F238E27FC236}">
                <a16:creationId xmlns:a16="http://schemas.microsoft.com/office/drawing/2014/main" id="{00147559-CE6C-92DC-BDA9-8C2EFC02FDCC}"/>
              </a:ext>
            </a:extLst>
          </p:cNvPr>
          <p:cNvSpPr txBox="1"/>
          <p:nvPr/>
        </p:nvSpPr>
        <p:spPr>
          <a:xfrm>
            <a:off x="0" y="4793596"/>
            <a:ext cx="12192000" cy="707886"/>
          </a:xfrm>
          <a:prstGeom prst="rect">
            <a:avLst/>
          </a:prstGeom>
          <a:noFill/>
          <a:ln>
            <a:noFill/>
          </a:ln>
        </p:spPr>
        <p:txBody>
          <a:bodyPr wrap="square" rtlCol="0" anchor="ctr">
            <a:spAutoFit/>
          </a:bodyPr>
          <a:lstStyle/>
          <a:p>
            <a:pPr marL="342900" indent="-342900">
              <a:buFont typeface="Wingdings" panose="05000000000000000000" pitchFamily="2" charset="2"/>
              <a:buChar char="q"/>
            </a:pPr>
            <a:r>
              <a:rPr lang="fr-FR" sz="2000" b="0" i="1" dirty="0">
                <a:solidFill>
                  <a:srgbClr val="F9FAFB"/>
                </a:solidFill>
                <a:effectLst/>
                <a:latin typeface="quote-cjk-patch"/>
              </a:rPr>
              <a:t>Conférence présentée par Belkadi Hamza</a:t>
            </a:r>
          </a:p>
          <a:p>
            <a:pPr marL="342900" indent="-342900">
              <a:buFont typeface="Wingdings" panose="05000000000000000000" pitchFamily="2" charset="2"/>
              <a:buChar char="q"/>
            </a:pPr>
            <a:r>
              <a:rPr lang="fr-FR" sz="2000" b="0" i="1" dirty="0">
                <a:solidFill>
                  <a:srgbClr val="F9FAFB"/>
                </a:solidFill>
                <a:effectLst/>
                <a:latin typeface="quote-cjk-patch"/>
              </a:rPr>
              <a:t>Étudiant en 1</a:t>
            </a:r>
            <a:r>
              <a:rPr lang="fr-FR" sz="2000" b="0" i="1" baseline="30000" dirty="0">
                <a:solidFill>
                  <a:srgbClr val="F9FAFB"/>
                </a:solidFill>
                <a:effectLst/>
                <a:latin typeface="quote-cjk-patch"/>
              </a:rPr>
              <a:t>er</a:t>
            </a:r>
            <a:r>
              <a:rPr lang="fr-FR" sz="2000" b="0" i="1" dirty="0">
                <a:solidFill>
                  <a:srgbClr val="F9FAFB"/>
                </a:solidFill>
                <a:effectLst/>
                <a:latin typeface="quote-cjk-patch"/>
              </a:rPr>
              <a:t> Master d’excellence en Intelligence </a:t>
            </a:r>
            <a:r>
              <a:rPr lang="fr-FR" sz="2000" b="0" i="1" dirty="0" err="1">
                <a:solidFill>
                  <a:srgbClr val="F9FAFB"/>
                </a:solidFill>
                <a:effectLst/>
                <a:latin typeface="quote-cjk-patch"/>
              </a:rPr>
              <a:t>Artificiale</a:t>
            </a:r>
            <a:r>
              <a:rPr lang="fr-FR" sz="2000" b="0" i="1" dirty="0">
                <a:solidFill>
                  <a:srgbClr val="F9FAFB"/>
                </a:solidFill>
                <a:effectLst/>
                <a:latin typeface="quote-cjk-patch"/>
              </a:rPr>
              <a:t>, FSBM</a:t>
            </a:r>
          </a:p>
        </p:txBody>
      </p:sp>
      <p:pic>
        <p:nvPicPr>
          <p:cNvPr id="12" name="Picture 11">
            <a:extLst>
              <a:ext uri="{FF2B5EF4-FFF2-40B4-BE49-F238E27FC236}">
                <a16:creationId xmlns:a16="http://schemas.microsoft.com/office/drawing/2014/main" id="{D8147869-0863-3DD1-E1C8-6D5C1C54AE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1710" y="107945"/>
            <a:ext cx="1545336" cy="599016"/>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4" name="Picture 13">
            <a:extLst>
              <a:ext uri="{FF2B5EF4-FFF2-40B4-BE49-F238E27FC236}">
                <a16:creationId xmlns:a16="http://schemas.microsoft.com/office/drawing/2014/main" id="{2B7D95A0-73E5-2997-BCF2-F18E0D3DF96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955" y="107945"/>
            <a:ext cx="1540328" cy="599016"/>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6" name="TextBox 15">
            <a:extLst>
              <a:ext uri="{FF2B5EF4-FFF2-40B4-BE49-F238E27FC236}">
                <a16:creationId xmlns:a16="http://schemas.microsoft.com/office/drawing/2014/main" id="{C6A11344-6243-DD1D-C652-729BE91B2B45}"/>
              </a:ext>
            </a:extLst>
          </p:cNvPr>
          <p:cNvSpPr txBox="1"/>
          <p:nvPr/>
        </p:nvSpPr>
        <p:spPr>
          <a:xfrm>
            <a:off x="0" y="6144452"/>
            <a:ext cx="12192000" cy="379656"/>
          </a:xfrm>
          <a:prstGeom prst="rect">
            <a:avLst/>
          </a:prstGeom>
          <a:noFill/>
        </p:spPr>
        <p:txBody>
          <a:bodyPr wrap="square" rtlCol="0" anchor="ctr">
            <a:spAutoFit/>
          </a:bodyPr>
          <a:lstStyle/>
          <a:p>
            <a:pPr algn="ctr"/>
            <a:r>
              <a:rPr lang="fr-FR" altLang="ko-KR" sz="1867" dirty="0">
                <a:solidFill>
                  <a:schemeClr val="bg1"/>
                </a:solidFill>
                <a:cs typeface="Arial" pitchFamily="34" charset="0"/>
              </a:rPr>
              <a:t>2025 / 2026</a:t>
            </a:r>
            <a:endParaRPr lang="ko-KR" altLang="en-US" sz="1867" dirty="0">
              <a:solidFill>
                <a:schemeClr val="bg1"/>
              </a:solidFill>
              <a:cs typeface="Arial" pitchFamily="34" charset="0"/>
            </a:endParaRPr>
          </a:p>
        </p:txBody>
      </p:sp>
    </p:spTree>
    <p:extLst>
      <p:ext uri="{BB962C8B-B14F-4D97-AF65-F5344CB8AC3E}">
        <p14:creationId xmlns:p14="http://schemas.microsoft.com/office/powerpoint/2010/main" val="1236738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7270">
        <p159:morph option="byObject"/>
      </p:transition>
    </mc:Choice>
    <mc:Fallback xmlns="">
      <p:transition spd="slow" advTm="2727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DC64162-582B-D950-76F0-C4DDFC323E77}"/>
              </a:ext>
            </a:extLst>
          </p:cNvPr>
          <p:cNvSpPr/>
          <p:nvPr/>
        </p:nvSpPr>
        <p:spPr>
          <a:xfrm>
            <a:off x="0" y="1168400"/>
            <a:ext cx="12192000" cy="56896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2DC94EB-9415-658D-2A02-07F168C12FAA}"/>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err="1"/>
              <a:t>Problématique</a:t>
            </a:r>
            <a:r>
              <a:rPr lang="en-US" sz="4400" b="1" dirty="0"/>
              <a:t> </a:t>
            </a:r>
            <a:r>
              <a:rPr lang="en-US" sz="4400" b="1" dirty="0" err="1"/>
              <a:t>Contemporaine</a:t>
            </a:r>
            <a:endParaRPr lang="en-US" sz="4400" b="1" dirty="0"/>
          </a:p>
        </p:txBody>
      </p:sp>
      <p:sp>
        <p:nvSpPr>
          <p:cNvPr id="3" name="TextBox 2">
            <a:extLst>
              <a:ext uri="{FF2B5EF4-FFF2-40B4-BE49-F238E27FC236}">
                <a16:creationId xmlns:a16="http://schemas.microsoft.com/office/drawing/2014/main" id="{A13D018B-69FC-915A-7A31-22C7165834E6}"/>
              </a:ext>
            </a:extLst>
          </p:cNvPr>
          <p:cNvSpPr txBox="1"/>
          <p:nvPr/>
        </p:nvSpPr>
        <p:spPr>
          <a:xfrm>
            <a:off x="0" y="6191023"/>
            <a:ext cx="12192000" cy="666977"/>
          </a:xfrm>
          <a:prstGeom prst="rect">
            <a:avLst/>
          </a:prstGeom>
          <a:solidFill>
            <a:schemeClr val="accent1"/>
          </a:solidFill>
        </p:spPr>
        <p:txBody>
          <a:bodyPr wrap="square" rtlCol="0" anchor="ctr">
            <a:spAutoFit/>
          </a:bodyPr>
          <a:lstStyle/>
          <a:p>
            <a:pPr algn="ctr"/>
            <a:r>
              <a:rPr lang="fr-FR" altLang="ko-KR" sz="1867" b="1" dirty="0">
                <a:solidFill>
                  <a:srgbClr val="353938"/>
                </a:solidFill>
                <a:cs typeface="Arial" pitchFamily="34" charset="0"/>
              </a:rPr>
              <a:t>Comment des systèmes logiciels peuvent-ils supporter une telle échelle tout en restant performants, fiables et évolutifs ?</a:t>
            </a:r>
            <a:endParaRPr lang="ko-KR" altLang="en-US" sz="1867" b="1" dirty="0">
              <a:solidFill>
                <a:srgbClr val="353938"/>
              </a:solidFill>
              <a:cs typeface="Arial" pitchFamily="34" charset="0"/>
            </a:endParaRPr>
          </a:p>
        </p:txBody>
      </p:sp>
      <p:grpSp>
        <p:nvGrpSpPr>
          <p:cNvPr id="4" name="Group 3">
            <a:extLst>
              <a:ext uri="{FF2B5EF4-FFF2-40B4-BE49-F238E27FC236}">
                <a16:creationId xmlns:a16="http://schemas.microsoft.com/office/drawing/2014/main" id="{2F3FEC06-904E-AE0C-69A5-6946ECB2AA54}"/>
              </a:ext>
            </a:extLst>
          </p:cNvPr>
          <p:cNvGrpSpPr/>
          <p:nvPr/>
        </p:nvGrpSpPr>
        <p:grpSpPr>
          <a:xfrm>
            <a:off x="6512360" y="1572398"/>
            <a:ext cx="2207568" cy="4413436"/>
            <a:chOff x="6512360" y="1572398"/>
            <a:chExt cx="2207568" cy="4413436"/>
          </a:xfrm>
        </p:grpSpPr>
        <p:grpSp>
          <p:nvGrpSpPr>
            <p:cNvPr id="6" name="Group 5">
              <a:extLst>
                <a:ext uri="{FF2B5EF4-FFF2-40B4-BE49-F238E27FC236}">
                  <a16:creationId xmlns:a16="http://schemas.microsoft.com/office/drawing/2014/main" id="{2720E313-EBD4-D209-74BA-B206E667A517}"/>
                </a:ext>
              </a:extLst>
            </p:cNvPr>
            <p:cNvGrpSpPr/>
            <p:nvPr/>
          </p:nvGrpSpPr>
          <p:grpSpPr>
            <a:xfrm>
              <a:off x="6512360" y="1572398"/>
              <a:ext cx="2207568" cy="4413436"/>
              <a:chOff x="6512360" y="1360528"/>
              <a:chExt cx="2207568" cy="4413436"/>
            </a:xfrm>
          </p:grpSpPr>
          <p:sp>
            <p:nvSpPr>
              <p:cNvPr id="11" name="Hexagon 5">
                <a:extLst>
                  <a:ext uri="{FF2B5EF4-FFF2-40B4-BE49-F238E27FC236}">
                    <a16:creationId xmlns:a16="http://schemas.microsoft.com/office/drawing/2014/main" id="{8CF374CC-A691-7F44-8A5F-BFBF2987E711}"/>
                  </a:ext>
                </a:extLst>
              </p:cNvPr>
              <p:cNvSpPr/>
              <p:nvPr/>
            </p:nvSpPr>
            <p:spPr>
              <a:xfrm rot="5400000">
                <a:off x="5409426" y="2463462"/>
                <a:ext cx="4413436" cy="2207568"/>
              </a:xfrm>
              <a:prstGeom prst="hexagon">
                <a:avLst>
                  <a:gd name="adj" fmla="val 28647"/>
                  <a:gd name="vf" fmla="val 115470"/>
                </a:avLst>
              </a:prstGeom>
              <a:solidFill>
                <a:schemeClr val="bg1"/>
              </a:solidFill>
              <a:ln w="38100">
                <a:solidFill>
                  <a:srgbClr val="D2001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73">
                <a:extLst>
                  <a:ext uri="{FF2B5EF4-FFF2-40B4-BE49-F238E27FC236}">
                    <a16:creationId xmlns:a16="http://schemas.microsoft.com/office/drawing/2014/main" id="{D5C3B1C1-E8ED-55FE-EE3C-567B1BA51613}"/>
                  </a:ext>
                </a:extLst>
              </p:cNvPr>
              <p:cNvSpPr/>
              <p:nvPr/>
            </p:nvSpPr>
            <p:spPr>
              <a:xfrm>
                <a:off x="6526214" y="1360528"/>
                <a:ext cx="2176462" cy="639723"/>
              </a:xfrm>
              <a:prstGeom prst="triangle">
                <a:avLst/>
              </a:prstGeom>
              <a:solidFill>
                <a:srgbClr val="D20014"/>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p>
            </p:txBody>
          </p:sp>
        </p:grpSp>
        <p:sp>
          <p:nvSpPr>
            <p:cNvPr id="8" name="TextBox 7">
              <a:extLst>
                <a:ext uri="{FF2B5EF4-FFF2-40B4-BE49-F238E27FC236}">
                  <a16:creationId xmlns:a16="http://schemas.microsoft.com/office/drawing/2014/main" id="{1B90D816-C7F8-64CF-3A47-021DEEA9F9A8}"/>
                </a:ext>
              </a:extLst>
            </p:cNvPr>
            <p:cNvSpPr txBox="1"/>
            <p:nvPr/>
          </p:nvSpPr>
          <p:spPr>
            <a:xfrm>
              <a:off x="6656731" y="4025061"/>
              <a:ext cx="1920240" cy="1323439"/>
            </a:xfrm>
            <a:prstGeom prst="rect">
              <a:avLst/>
            </a:prstGeom>
            <a:noFill/>
          </p:spPr>
          <p:txBody>
            <a:bodyPr wrap="square" rtlCol="0">
              <a:spAutoFit/>
            </a:bodyPr>
            <a:lstStyle/>
            <a:p>
              <a:pPr algn="ctr"/>
              <a:r>
                <a:rPr lang="fr-FR" altLang="ko-KR" sz="2000" dirty="0">
                  <a:solidFill>
                    <a:schemeClr val="tx1">
                      <a:lumMod val="85000"/>
                      <a:lumOff val="15000"/>
                    </a:schemeClr>
                  </a:solidFill>
                  <a:cs typeface="Arial" pitchFamily="34" charset="0"/>
                </a:rPr>
                <a:t>1 milliard d'heures </a:t>
              </a:r>
              <a:r>
                <a:rPr lang="fr-FR" altLang="ko-KR" sz="2000" dirty="0" err="1">
                  <a:solidFill>
                    <a:schemeClr val="tx1">
                      <a:lumMod val="85000"/>
                      <a:lumOff val="15000"/>
                    </a:schemeClr>
                  </a:solidFill>
                  <a:cs typeface="Arial" pitchFamily="34" charset="0"/>
                </a:rPr>
                <a:t>streamées</a:t>
              </a:r>
              <a:r>
                <a:rPr lang="fr-FR" altLang="ko-KR" sz="2000" dirty="0">
                  <a:solidFill>
                    <a:schemeClr val="tx1">
                      <a:lumMod val="85000"/>
                      <a:lumOff val="15000"/>
                    </a:schemeClr>
                  </a:solidFill>
                  <a:cs typeface="Arial" pitchFamily="34" charset="0"/>
                </a:rPr>
                <a:t>/jour</a:t>
              </a:r>
              <a:endParaRPr lang="en-US" altLang="ko-KR" sz="2000" dirty="0">
                <a:solidFill>
                  <a:schemeClr val="tx1">
                    <a:lumMod val="85000"/>
                    <a:lumOff val="15000"/>
                  </a:schemeClr>
                </a:solidFill>
                <a:cs typeface="Arial" pitchFamily="34" charset="0"/>
              </a:endParaRPr>
            </a:p>
          </p:txBody>
        </p:sp>
        <p:sp>
          <p:nvSpPr>
            <p:cNvPr id="9" name="TextBox 8">
              <a:extLst>
                <a:ext uri="{FF2B5EF4-FFF2-40B4-BE49-F238E27FC236}">
                  <a16:creationId xmlns:a16="http://schemas.microsoft.com/office/drawing/2014/main" id="{FB8A1E48-9F06-3CAB-6F82-8F9A29B4A64C}"/>
                </a:ext>
              </a:extLst>
            </p:cNvPr>
            <p:cNvSpPr txBox="1"/>
            <p:nvPr/>
          </p:nvSpPr>
          <p:spPr>
            <a:xfrm>
              <a:off x="6928365" y="1815650"/>
              <a:ext cx="1371600" cy="365760"/>
            </a:xfrm>
            <a:prstGeom prst="rect">
              <a:avLst/>
            </a:prstGeom>
            <a:noFill/>
          </p:spPr>
          <p:txBody>
            <a:bodyPr wrap="square">
              <a:spAutoFit/>
            </a:bodyPr>
            <a:lstStyle/>
            <a:p>
              <a:pPr algn="ctr"/>
              <a:r>
                <a:rPr lang="en-US" b="1" dirty="0"/>
                <a:t>Netflix  </a:t>
              </a:r>
            </a:p>
          </p:txBody>
        </p:sp>
        <p:pic>
          <p:nvPicPr>
            <p:cNvPr id="10" name="Picture 9">
              <a:extLst>
                <a:ext uri="{FF2B5EF4-FFF2-40B4-BE49-F238E27FC236}">
                  <a16:creationId xmlns:a16="http://schemas.microsoft.com/office/drawing/2014/main" id="{5A29EFCD-718D-65F4-5245-D13693C817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6965" y="2564470"/>
              <a:ext cx="914400" cy="914400"/>
            </a:xfrm>
            <a:prstGeom prst="rect">
              <a:avLst/>
            </a:prstGeom>
          </p:spPr>
        </p:pic>
      </p:grpSp>
      <p:grpSp>
        <p:nvGrpSpPr>
          <p:cNvPr id="13" name="Group 12">
            <a:extLst>
              <a:ext uri="{FF2B5EF4-FFF2-40B4-BE49-F238E27FC236}">
                <a16:creationId xmlns:a16="http://schemas.microsoft.com/office/drawing/2014/main" id="{F58AACD2-7967-47BA-C5C8-F0459ACE113B}"/>
              </a:ext>
            </a:extLst>
          </p:cNvPr>
          <p:cNvGrpSpPr/>
          <p:nvPr/>
        </p:nvGrpSpPr>
        <p:grpSpPr>
          <a:xfrm>
            <a:off x="431782" y="1572398"/>
            <a:ext cx="2222518" cy="4413436"/>
            <a:chOff x="431782" y="1572398"/>
            <a:chExt cx="2222518" cy="4413436"/>
          </a:xfrm>
        </p:grpSpPr>
        <p:grpSp>
          <p:nvGrpSpPr>
            <p:cNvPr id="14" name="Group 13">
              <a:extLst>
                <a:ext uri="{FF2B5EF4-FFF2-40B4-BE49-F238E27FC236}">
                  <a16:creationId xmlns:a16="http://schemas.microsoft.com/office/drawing/2014/main" id="{485CB2CD-3A6F-9606-DA06-EFE4BA4EA7B5}"/>
                </a:ext>
              </a:extLst>
            </p:cNvPr>
            <p:cNvGrpSpPr/>
            <p:nvPr/>
          </p:nvGrpSpPr>
          <p:grpSpPr>
            <a:xfrm>
              <a:off x="431782" y="1572398"/>
              <a:ext cx="2222518" cy="4413436"/>
              <a:chOff x="431782" y="1360528"/>
              <a:chExt cx="2222518" cy="4413436"/>
            </a:xfrm>
          </p:grpSpPr>
          <p:sp>
            <p:nvSpPr>
              <p:cNvPr id="18" name="Hexagon 5">
                <a:extLst>
                  <a:ext uri="{FF2B5EF4-FFF2-40B4-BE49-F238E27FC236}">
                    <a16:creationId xmlns:a16="http://schemas.microsoft.com/office/drawing/2014/main" id="{56D2827B-6A6E-5BA8-1967-49A0B5323836}"/>
                  </a:ext>
                </a:extLst>
              </p:cNvPr>
              <p:cNvSpPr/>
              <p:nvPr/>
            </p:nvSpPr>
            <p:spPr>
              <a:xfrm rot="5400000">
                <a:off x="-671152" y="2463462"/>
                <a:ext cx="4413436" cy="2207568"/>
              </a:xfrm>
              <a:prstGeom prst="hexagon">
                <a:avLst>
                  <a:gd name="adj" fmla="val 28647"/>
                  <a:gd name="vf" fmla="val 115470"/>
                </a:avLst>
              </a:prstGeom>
              <a:solidFill>
                <a:schemeClr val="bg1"/>
              </a:solidFill>
              <a:ln w="38100">
                <a:solidFill>
                  <a:srgbClr val="1877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73">
                <a:extLst>
                  <a:ext uri="{FF2B5EF4-FFF2-40B4-BE49-F238E27FC236}">
                    <a16:creationId xmlns:a16="http://schemas.microsoft.com/office/drawing/2014/main" id="{ED64D308-2907-6D04-F0F8-F9E73E27EBF1}"/>
                  </a:ext>
                </a:extLst>
              </p:cNvPr>
              <p:cNvSpPr/>
              <p:nvPr/>
            </p:nvSpPr>
            <p:spPr>
              <a:xfrm>
                <a:off x="431782" y="1360529"/>
                <a:ext cx="2222518" cy="639721"/>
              </a:xfrm>
              <a:prstGeom prst="triangle">
                <a:avLst/>
              </a:prstGeom>
              <a:solidFill>
                <a:srgbClr val="1877F2"/>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p>
            </p:txBody>
          </p:sp>
        </p:grpSp>
        <p:sp>
          <p:nvSpPr>
            <p:cNvPr id="15" name="TextBox 14">
              <a:extLst>
                <a:ext uri="{FF2B5EF4-FFF2-40B4-BE49-F238E27FC236}">
                  <a16:creationId xmlns:a16="http://schemas.microsoft.com/office/drawing/2014/main" id="{3DBAD3C2-67D2-392B-A500-38DC4E0DA4C1}"/>
                </a:ext>
              </a:extLst>
            </p:cNvPr>
            <p:cNvSpPr txBox="1"/>
            <p:nvPr/>
          </p:nvSpPr>
          <p:spPr>
            <a:xfrm>
              <a:off x="573327" y="4025061"/>
              <a:ext cx="1920240" cy="1323439"/>
            </a:xfrm>
            <a:prstGeom prst="rect">
              <a:avLst/>
            </a:prstGeom>
            <a:noFill/>
          </p:spPr>
          <p:txBody>
            <a:bodyPr wrap="square" rtlCol="0">
              <a:spAutoFit/>
            </a:bodyPr>
            <a:lstStyle/>
            <a:p>
              <a:pPr algn="ctr"/>
              <a:r>
                <a:rPr lang="en-US" altLang="ko-KR" sz="2000" dirty="0">
                  <a:solidFill>
                    <a:schemeClr val="tx1">
                      <a:lumMod val="85000"/>
                      <a:lumOff val="15000"/>
                    </a:schemeClr>
                  </a:solidFill>
                  <a:cs typeface="Arial" pitchFamily="34" charset="0"/>
                </a:rPr>
                <a:t>2.9 milliards </a:t>
              </a:r>
              <a:r>
                <a:rPr lang="en-US" altLang="ko-KR" sz="2000" dirty="0" err="1">
                  <a:solidFill>
                    <a:schemeClr val="tx1">
                      <a:lumMod val="85000"/>
                      <a:lumOff val="15000"/>
                    </a:schemeClr>
                  </a:solidFill>
                  <a:cs typeface="Arial" pitchFamily="34" charset="0"/>
                </a:rPr>
                <a:t>d'utilisateurs</a:t>
              </a:r>
              <a:r>
                <a:rPr lang="en-US" altLang="ko-KR" sz="2000" dirty="0">
                  <a:solidFill>
                    <a:schemeClr val="tx1">
                      <a:lumMod val="85000"/>
                      <a:lumOff val="15000"/>
                    </a:schemeClr>
                  </a:solidFill>
                  <a:cs typeface="Arial" pitchFamily="34" charset="0"/>
                </a:rPr>
                <a:t> </a:t>
              </a:r>
              <a:r>
                <a:rPr lang="en-US" altLang="ko-KR" sz="2000" dirty="0" err="1">
                  <a:solidFill>
                    <a:schemeClr val="tx1">
                      <a:lumMod val="85000"/>
                      <a:lumOff val="15000"/>
                    </a:schemeClr>
                  </a:solidFill>
                  <a:cs typeface="Arial" pitchFamily="34" charset="0"/>
                </a:rPr>
                <a:t>mensuels</a:t>
              </a:r>
              <a:endParaRPr lang="en-US" altLang="ko-KR" sz="2000" dirty="0">
                <a:solidFill>
                  <a:schemeClr val="tx1">
                    <a:lumMod val="85000"/>
                    <a:lumOff val="15000"/>
                  </a:schemeClr>
                </a:solidFill>
                <a:cs typeface="Arial" pitchFamily="34" charset="0"/>
              </a:endParaRPr>
            </a:p>
          </p:txBody>
        </p:sp>
        <p:sp>
          <p:nvSpPr>
            <p:cNvPr id="16" name="TextBox 15">
              <a:extLst>
                <a:ext uri="{FF2B5EF4-FFF2-40B4-BE49-F238E27FC236}">
                  <a16:creationId xmlns:a16="http://schemas.microsoft.com/office/drawing/2014/main" id="{BD7FC191-8BF5-6285-1CE6-E281CE1C539F}"/>
                </a:ext>
              </a:extLst>
            </p:cNvPr>
            <p:cNvSpPr txBox="1"/>
            <p:nvPr/>
          </p:nvSpPr>
          <p:spPr>
            <a:xfrm>
              <a:off x="849766" y="1815650"/>
              <a:ext cx="1371600" cy="365760"/>
            </a:xfrm>
            <a:prstGeom prst="rect">
              <a:avLst/>
            </a:prstGeom>
            <a:noFill/>
          </p:spPr>
          <p:txBody>
            <a:bodyPr wrap="square">
              <a:spAutoFit/>
            </a:bodyPr>
            <a:lstStyle/>
            <a:p>
              <a:pPr algn="ctr"/>
              <a:r>
                <a:rPr lang="en-US" b="1" dirty="0"/>
                <a:t>Facebook </a:t>
              </a:r>
            </a:p>
          </p:txBody>
        </p:sp>
        <p:pic>
          <p:nvPicPr>
            <p:cNvPr id="17" name="Picture 16">
              <a:extLst>
                <a:ext uri="{FF2B5EF4-FFF2-40B4-BE49-F238E27FC236}">
                  <a16:creationId xmlns:a16="http://schemas.microsoft.com/office/drawing/2014/main" id="{011CDC44-5304-F36F-C1A1-7FBFC0A99FDC}"/>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1080345" y="2564470"/>
              <a:ext cx="914400" cy="914400"/>
            </a:xfrm>
            <a:prstGeom prst="rect">
              <a:avLst/>
            </a:prstGeom>
          </p:spPr>
        </p:pic>
      </p:grpSp>
      <p:grpSp>
        <p:nvGrpSpPr>
          <p:cNvPr id="20" name="Group 19">
            <a:extLst>
              <a:ext uri="{FF2B5EF4-FFF2-40B4-BE49-F238E27FC236}">
                <a16:creationId xmlns:a16="http://schemas.microsoft.com/office/drawing/2014/main" id="{8CE03F6A-BDE5-D0B6-1F9D-A2DEEE0AFF40}"/>
              </a:ext>
            </a:extLst>
          </p:cNvPr>
          <p:cNvGrpSpPr/>
          <p:nvPr/>
        </p:nvGrpSpPr>
        <p:grpSpPr>
          <a:xfrm>
            <a:off x="3472071" y="1572398"/>
            <a:ext cx="2207568" cy="4413436"/>
            <a:chOff x="3472071" y="1572398"/>
            <a:chExt cx="2207568" cy="4413436"/>
          </a:xfrm>
        </p:grpSpPr>
        <p:grpSp>
          <p:nvGrpSpPr>
            <p:cNvPr id="21" name="Group 20">
              <a:extLst>
                <a:ext uri="{FF2B5EF4-FFF2-40B4-BE49-F238E27FC236}">
                  <a16:creationId xmlns:a16="http://schemas.microsoft.com/office/drawing/2014/main" id="{8C536390-AA26-0CF7-EE23-F4FB51D0629E}"/>
                </a:ext>
              </a:extLst>
            </p:cNvPr>
            <p:cNvGrpSpPr/>
            <p:nvPr/>
          </p:nvGrpSpPr>
          <p:grpSpPr>
            <a:xfrm>
              <a:off x="3472071" y="1572398"/>
              <a:ext cx="2207568" cy="4413436"/>
              <a:chOff x="3472071" y="1360528"/>
              <a:chExt cx="2207568" cy="4413436"/>
            </a:xfrm>
          </p:grpSpPr>
          <p:sp>
            <p:nvSpPr>
              <p:cNvPr id="25" name="Hexagon 5">
                <a:extLst>
                  <a:ext uri="{FF2B5EF4-FFF2-40B4-BE49-F238E27FC236}">
                    <a16:creationId xmlns:a16="http://schemas.microsoft.com/office/drawing/2014/main" id="{52F72D64-8F20-DE1C-AA75-D08DF4C3A4A8}"/>
                  </a:ext>
                </a:extLst>
              </p:cNvPr>
              <p:cNvSpPr/>
              <p:nvPr/>
            </p:nvSpPr>
            <p:spPr>
              <a:xfrm rot="5400000">
                <a:off x="2369137" y="2463462"/>
                <a:ext cx="4413436" cy="2207568"/>
              </a:xfrm>
              <a:prstGeom prst="hexagon">
                <a:avLst>
                  <a:gd name="adj" fmla="val 28647"/>
                  <a:gd name="vf" fmla="val 115470"/>
                </a:avLst>
              </a:prstGeom>
              <a:solidFill>
                <a:schemeClr val="bg1"/>
              </a:solidFill>
              <a:ln w="38100">
                <a:solidFill>
                  <a:srgbClr val="39AE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73">
                <a:extLst>
                  <a:ext uri="{FF2B5EF4-FFF2-40B4-BE49-F238E27FC236}">
                    <a16:creationId xmlns:a16="http://schemas.microsoft.com/office/drawing/2014/main" id="{435661D8-6CD0-5410-93E6-B9CD63146AA5}"/>
                  </a:ext>
                </a:extLst>
              </p:cNvPr>
              <p:cNvSpPr/>
              <p:nvPr/>
            </p:nvSpPr>
            <p:spPr>
              <a:xfrm>
                <a:off x="3487021" y="1360528"/>
                <a:ext cx="2177179" cy="639723"/>
              </a:xfrm>
              <a:prstGeom prst="triangle">
                <a:avLst>
                  <a:gd name="adj" fmla="val 50152"/>
                </a:avLst>
              </a:prstGeom>
              <a:solidFill>
                <a:srgbClr val="39AE41"/>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400" dirty="0"/>
              </a:p>
            </p:txBody>
          </p:sp>
        </p:grpSp>
        <p:sp>
          <p:nvSpPr>
            <p:cNvPr id="22" name="TextBox 21">
              <a:extLst>
                <a:ext uri="{FF2B5EF4-FFF2-40B4-BE49-F238E27FC236}">
                  <a16:creationId xmlns:a16="http://schemas.microsoft.com/office/drawing/2014/main" id="{3092FD52-33FC-7057-5B3F-09F6C7C25C0B}"/>
                </a:ext>
              </a:extLst>
            </p:cNvPr>
            <p:cNvSpPr txBox="1"/>
            <p:nvPr/>
          </p:nvSpPr>
          <p:spPr>
            <a:xfrm>
              <a:off x="3615029" y="4025061"/>
              <a:ext cx="1920240" cy="1323439"/>
            </a:xfrm>
            <a:prstGeom prst="rect">
              <a:avLst/>
            </a:prstGeom>
            <a:noFill/>
          </p:spPr>
          <p:txBody>
            <a:bodyPr wrap="square" rtlCol="0">
              <a:spAutoFit/>
            </a:bodyPr>
            <a:lstStyle/>
            <a:p>
              <a:pPr algn="ctr"/>
              <a:r>
                <a:rPr lang="fr-FR" altLang="ko-KR" sz="2000" dirty="0">
                  <a:solidFill>
                    <a:schemeClr val="tx1">
                      <a:lumMod val="85000"/>
                      <a:lumOff val="15000"/>
                    </a:schemeClr>
                  </a:solidFill>
                  <a:cs typeface="Arial" pitchFamily="34" charset="0"/>
                </a:rPr>
                <a:t>100 milliards de messages/jour</a:t>
              </a:r>
              <a:endParaRPr lang="en-US" altLang="ko-KR" sz="2000" dirty="0">
                <a:solidFill>
                  <a:schemeClr val="tx1">
                    <a:lumMod val="85000"/>
                    <a:lumOff val="15000"/>
                  </a:schemeClr>
                </a:solidFill>
                <a:cs typeface="Arial" pitchFamily="34" charset="0"/>
              </a:endParaRPr>
            </a:p>
          </p:txBody>
        </p:sp>
        <p:sp>
          <p:nvSpPr>
            <p:cNvPr id="23" name="TextBox 22">
              <a:extLst>
                <a:ext uri="{FF2B5EF4-FFF2-40B4-BE49-F238E27FC236}">
                  <a16:creationId xmlns:a16="http://schemas.microsoft.com/office/drawing/2014/main" id="{C73EEADA-D8C0-E5B4-BF07-757C9AC56470}"/>
                </a:ext>
              </a:extLst>
            </p:cNvPr>
            <p:cNvSpPr txBox="1"/>
            <p:nvPr/>
          </p:nvSpPr>
          <p:spPr>
            <a:xfrm>
              <a:off x="3890055" y="1815650"/>
              <a:ext cx="1371600" cy="365760"/>
            </a:xfrm>
            <a:prstGeom prst="rect">
              <a:avLst/>
            </a:prstGeom>
            <a:noFill/>
          </p:spPr>
          <p:txBody>
            <a:bodyPr wrap="square">
              <a:spAutoFit/>
            </a:bodyPr>
            <a:lstStyle/>
            <a:p>
              <a:pPr algn="ctr"/>
              <a:r>
                <a:rPr lang="en-US" b="1" dirty="0"/>
                <a:t>WhatsApp </a:t>
              </a:r>
            </a:p>
          </p:txBody>
        </p:sp>
        <p:pic>
          <p:nvPicPr>
            <p:cNvPr id="24" name="Picture 23">
              <a:extLst>
                <a:ext uri="{FF2B5EF4-FFF2-40B4-BE49-F238E27FC236}">
                  <a16:creationId xmlns:a16="http://schemas.microsoft.com/office/drawing/2014/main" id="{F0A87E53-93C8-F5A3-0E00-B57176A0B662}"/>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4116676" y="2564470"/>
              <a:ext cx="914400" cy="914400"/>
            </a:xfrm>
            <a:prstGeom prst="rect">
              <a:avLst/>
            </a:prstGeom>
          </p:spPr>
        </p:pic>
      </p:grpSp>
      <p:grpSp>
        <p:nvGrpSpPr>
          <p:cNvPr id="27" name="Group 26">
            <a:extLst>
              <a:ext uri="{FF2B5EF4-FFF2-40B4-BE49-F238E27FC236}">
                <a16:creationId xmlns:a16="http://schemas.microsoft.com/office/drawing/2014/main" id="{AD7450B3-B479-261E-C4CA-917570B64DCD}"/>
              </a:ext>
            </a:extLst>
          </p:cNvPr>
          <p:cNvGrpSpPr/>
          <p:nvPr/>
        </p:nvGrpSpPr>
        <p:grpSpPr>
          <a:xfrm>
            <a:off x="9552650" y="1572398"/>
            <a:ext cx="2207568" cy="4413436"/>
            <a:chOff x="9552650" y="1572398"/>
            <a:chExt cx="2207568" cy="4413436"/>
          </a:xfrm>
        </p:grpSpPr>
        <p:grpSp>
          <p:nvGrpSpPr>
            <p:cNvPr id="28" name="Group 27">
              <a:extLst>
                <a:ext uri="{FF2B5EF4-FFF2-40B4-BE49-F238E27FC236}">
                  <a16:creationId xmlns:a16="http://schemas.microsoft.com/office/drawing/2014/main" id="{3679B24B-DA5F-435A-6B82-75CC17615A73}"/>
                </a:ext>
              </a:extLst>
            </p:cNvPr>
            <p:cNvGrpSpPr/>
            <p:nvPr/>
          </p:nvGrpSpPr>
          <p:grpSpPr>
            <a:xfrm>
              <a:off x="9552650" y="1572398"/>
              <a:ext cx="2207568" cy="4413436"/>
              <a:chOff x="9552650" y="1360528"/>
              <a:chExt cx="2207568" cy="4413436"/>
            </a:xfrm>
          </p:grpSpPr>
          <p:sp>
            <p:nvSpPr>
              <p:cNvPr id="32" name="Hexagon 5">
                <a:extLst>
                  <a:ext uri="{FF2B5EF4-FFF2-40B4-BE49-F238E27FC236}">
                    <a16:creationId xmlns:a16="http://schemas.microsoft.com/office/drawing/2014/main" id="{570B0D8F-CF8A-EDD7-B277-AA11CCC5EE3F}"/>
                  </a:ext>
                </a:extLst>
              </p:cNvPr>
              <p:cNvSpPr/>
              <p:nvPr/>
            </p:nvSpPr>
            <p:spPr>
              <a:xfrm rot="5400000">
                <a:off x="8449716" y="2463462"/>
                <a:ext cx="4413436" cy="2207568"/>
              </a:xfrm>
              <a:prstGeom prst="hexagon">
                <a:avLst>
                  <a:gd name="adj" fmla="val 28647"/>
                  <a:gd name="vf" fmla="val 115470"/>
                </a:avLst>
              </a:prstGeom>
              <a:solidFill>
                <a:schemeClr val="bg1"/>
              </a:solidFill>
              <a:ln w="38100">
                <a:solidFill>
                  <a:srgbClr val="FBBD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73">
                <a:extLst>
                  <a:ext uri="{FF2B5EF4-FFF2-40B4-BE49-F238E27FC236}">
                    <a16:creationId xmlns:a16="http://schemas.microsoft.com/office/drawing/2014/main" id="{4733C03F-688C-A288-728F-6705FC21EE40}"/>
                  </a:ext>
                </a:extLst>
              </p:cNvPr>
              <p:cNvSpPr/>
              <p:nvPr/>
            </p:nvSpPr>
            <p:spPr>
              <a:xfrm>
                <a:off x="9572626" y="1360528"/>
                <a:ext cx="2165350" cy="639723"/>
              </a:xfrm>
              <a:prstGeom prst="triangle">
                <a:avLst/>
              </a:prstGeom>
              <a:solidFill>
                <a:srgbClr val="FBBD00"/>
              </a:solidFill>
              <a:ln w="381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000" dirty="0"/>
              </a:p>
            </p:txBody>
          </p:sp>
        </p:grpSp>
        <p:sp>
          <p:nvSpPr>
            <p:cNvPr id="29" name="TextBox 28">
              <a:extLst>
                <a:ext uri="{FF2B5EF4-FFF2-40B4-BE49-F238E27FC236}">
                  <a16:creationId xmlns:a16="http://schemas.microsoft.com/office/drawing/2014/main" id="{CE3903C2-F508-1736-8D58-546D9B9B317A}"/>
                </a:ext>
              </a:extLst>
            </p:cNvPr>
            <p:cNvSpPr txBox="1"/>
            <p:nvPr/>
          </p:nvSpPr>
          <p:spPr>
            <a:xfrm>
              <a:off x="9698433" y="4025061"/>
              <a:ext cx="1920240" cy="1323439"/>
            </a:xfrm>
            <a:prstGeom prst="rect">
              <a:avLst/>
            </a:prstGeom>
            <a:noFill/>
          </p:spPr>
          <p:txBody>
            <a:bodyPr wrap="square" rtlCol="0">
              <a:spAutoFit/>
            </a:bodyPr>
            <a:lstStyle/>
            <a:p>
              <a:pPr algn="ctr"/>
              <a:r>
                <a:rPr lang="fr-FR" altLang="ko-KR" sz="2000" dirty="0">
                  <a:solidFill>
                    <a:schemeClr val="tx1">
                      <a:lumMod val="85000"/>
                      <a:lumOff val="15000"/>
                    </a:schemeClr>
                  </a:solidFill>
                  <a:cs typeface="Arial" pitchFamily="34" charset="0"/>
                </a:rPr>
                <a:t>8.5 milliards de requêtes/jour</a:t>
              </a:r>
              <a:endParaRPr lang="en-US" altLang="ko-KR" sz="2000" dirty="0">
                <a:solidFill>
                  <a:schemeClr val="tx1">
                    <a:lumMod val="85000"/>
                    <a:lumOff val="15000"/>
                  </a:schemeClr>
                </a:solidFill>
                <a:cs typeface="Arial" pitchFamily="34" charset="0"/>
              </a:endParaRPr>
            </a:p>
          </p:txBody>
        </p:sp>
        <p:sp>
          <p:nvSpPr>
            <p:cNvPr id="30" name="TextBox 29">
              <a:extLst>
                <a:ext uri="{FF2B5EF4-FFF2-40B4-BE49-F238E27FC236}">
                  <a16:creationId xmlns:a16="http://schemas.microsoft.com/office/drawing/2014/main" id="{A12785B5-75E5-0B70-C342-D2B9D6D2CA37}"/>
                </a:ext>
              </a:extLst>
            </p:cNvPr>
            <p:cNvSpPr txBox="1"/>
            <p:nvPr/>
          </p:nvSpPr>
          <p:spPr>
            <a:xfrm>
              <a:off x="9968655" y="1815650"/>
              <a:ext cx="1371600" cy="365760"/>
            </a:xfrm>
            <a:prstGeom prst="rect">
              <a:avLst/>
            </a:prstGeom>
            <a:noFill/>
          </p:spPr>
          <p:txBody>
            <a:bodyPr wrap="square">
              <a:spAutoFit/>
            </a:bodyPr>
            <a:lstStyle/>
            <a:p>
              <a:pPr algn="ctr"/>
              <a:r>
                <a:rPr lang="en-US" b="1" dirty="0"/>
                <a:t>Google</a:t>
              </a:r>
            </a:p>
          </p:txBody>
        </p:sp>
        <p:pic>
          <p:nvPicPr>
            <p:cNvPr id="31" name="Picture 30">
              <a:extLst>
                <a:ext uri="{FF2B5EF4-FFF2-40B4-BE49-F238E27FC236}">
                  <a16:creationId xmlns:a16="http://schemas.microsoft.com/office/drawing/2014/main" id="{0DEF17A9-C3BA-AE1F-E5D3-C8031D6FE9CC}"/>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10197255" y="2564470"/>
              <a:ext cx="914400" cy="914400"/>
            </a:xfrm>
            <a:prstGeom prst="rect">
              <a:avLst/>
            </a:prstGeom>
          </p:spPr>
        </p:pic>
      </p:grpSp>
    </p:spTree>
    <p:extLst>
      <p:ext uri="{BB962C8B-B14F-4D97-AF65-F5344CB8AC3E}">
        <p14:creationId xmlns:p14="http://schemas.microsoft.com/office/powerpoint/2010/main" val="6617144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0761">
        <p159:morph option="byObject"/>
      </p:transition>
    </mc:Choice>
    <mc:Fallback xmlns="">
      <p:transition spd="slow" advTm="40761">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heel(1)">
                                      <p:cBhvr>
                                        <p:cTn id="7" dur="2000"/>
                                        <p:tgtEl>
                                          <p:spTgt spid="13"/>
                                        </p:tgtEl>
                                      </p:cBhvr>
                                    </p:animEffect>
                                  </p:childTnLst>
                                </p:cTn>
                              </p:par>
                            </p:childTnLst>
                          </p:cTn>
                        </p:par>
                        <p:par>
                          <p:cTn id="8" fill="hold">
                            <p:stCondLst>
                              <p:cond delay="2000"/>
                            </p:stCondLst>
                            <p:childTnLst>
                              <p:par>
                                <p:cTn id="9" presetID="21" presetClass="entr" presetSubtype="1"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heel(1)">
                                      <p:cBhvr>
                                        <p:cTn id="11" dur="2000"/>
                                        <p:tgtEl>
                                          <p:spTgt spid="20"/>
                                        </p:tgtEl>
                                      </p:cBhvr>
                                    </p:animEffect>
                                  </p:childTnLst>
                                </p:cTn>
                              </p:par>
                            </p:childTnLst>
                          </p:cTn>
                        </p:par>
                        <p:par>
                          <p:cTn id="12" fill="hold">
                            <p:stCondLst>
                              <p:cond delay="4000"/>
                            </p:stCondLst>
                            <p:childTnLst>
                              <p:par>
                                <p:cTn id="13" presetID="21"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heel(1)">
                                      <p:cBhvr>
                                        <p:cTn id="15" dur="2000"/>
                                        <p:tgtEl>
                                          <p:spTgt spid="4"/>
                                        </p:tgtEl>
                                      </p:cBhvr>
                                    </p:animEffect>
                                  </p:childTnLst>
                                </p:cTn>
                              </p:par>
                            </p:childTnLst>
                          </p:cTn>
                        </p:par>
                        <p:par>
                          <p:cTn id="16" fill="hold">
                            <p:stCondLst>
                              <p:cond delay="6000"/>
                            </p:stCondLst>
                            <p:childTnLst>
                              <p:par>
                                <p:cTn id="17" presetID="21" presetClass="entr" presetSubtype="1"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heel(1)">
                                      <p:cBhvr>
                                        <p:cTn id="19" dur="2000"/>
                                        <p:tgtEl>
                                          <p:spTgt spid="27"/>
                                        </p:tgtEl>
                                      </p:cBhvr>
                                    </p:animEffect>
                                  </p:childTnLst>
                                </p:cTn>
                              </p:par>
                            </p:childTnLst>
                          </p:cTn>
                        </p:par>
                        <p:par>
                          <p:cTn id="20" fill="hold">
                            <p:stCondLst>
                              <p:cond delay="8000"/>
                            </p:stCondLst>
                            <p:childTnLst>
                              <p:par>
                                <p:cTn id="21" presetID="22" presetClass="entr" presetSubtype="8" fill="hold" grpId="0" nodeType="after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wipe(left)">
                                      <p:cBhvr>
                                        <p:cTn id="2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D7D7B297-92E3-986D-4625-75F3D00D579C}"/>
              </a:ext>
            </a:extLst>
          </p:cNvPr>
          <p:cNvSpPr txBox="1"/>
          <p:nvPr/>
        </p:nvSpPr>
        <p:spPr>
          <a:xfrm>
            <a:off x="2883587" y="2023123"/>
            <a:ext cx="7276392" cy="400110"/>
          </a:xfrm>
          <a:prstGeom prst="rect">
            <a:avLst/>
          </a:prstGeom>
          <a:noFill/>
        </p:spPr>
        <p:txBody>
          <a:bodyPr wrap="square" lIns="108000" rIns="108000" rtlCol="0">
            <a:spAutoFit/>
          </a:bodyPr>
          <a:lstStyle/>
          <a:p>
            <a:r>
              <a:rPr lang="fr-FR" altLang="ko-KR" sz="2000" b="1" dirty="0">
                <a:cs typeface="Arial" pitchFamily="34" charset="0"/>
              </a:rPr>
              <a:t>Principes fondamentaux du design système</a:t>
            </a:r>
            <a:endParaRPr lang="ko-KR" altLang="en-US" sz="2000" dirty="0">
              <a:cs typeface="Arial" pitchFamily="34" charset="0"/>
            </a:endParaRPr>
          </a:p>
        </p:txBody>
      </p:sp>
      <p:grpSp>
        <p:nvGrpSpPr>
          <p:cNvPr id="80" name="Group 79">
            <a:extLst>
              <a:ext uri="{FF2B5EF4-FFF2-40B4-BE49-F238E27FC236}">
                <a16:creationId xmlns:a16="http://schemas.microsoft.com/office/drawing/2014/main" id="{FC903D19-D2C4-8EF5-FF97-C6FAC652F515}"/>
              </a:ext>
            </a:extLst>
          </p:cNvPr>
          <p:cNvGrpSpPr/>
          <p:nvPr/>
        </p:nvGrpSpPr>
        <p:grpSpPr>
          <a:xfrm>
            <a:off x="2032021" y="1857418"/>
            <a:ext cx="640080" cy="731520"/>
            <a:chOff x="2032021" y="1349418"/>
            <a:chExt cx="640080" cy="731520"/>
          </a:xfrm>
        </p:grpSpPr>
        <p:sp>
          <p:nvSpPr>
            <p:cNvPr id="32" name="Hexagon 31">
              <a:extLst>
                <a:ext uri="{FF2B5EF4-FFF2-40B4-BE49-F238E27FC236}">
                  <a16:creationId xmlns:a16="http://schemas.microsoft.com/office/drawing/2014/main" id="{D6647BD3-B7CB-7AF2-DA19-F7602D2812FC}"/>
                </a:ext>
              </a:extLst>
            </p:cNvPr>
            <p:cNvSpPr/>
            <p:nvPr/>
          </p:nvSpPr>
          <p:spPr>
            <a:xfrm rot="5400000">
              <a:off x="1986301" y="1395138"/>
              <a:ext cx="731520" cy="640080"/>
            </a:xfrm>
            <a:prstGeom prst="hexagon">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3" name="TextBox 32">
              <a:extLst>
                <a:ext uri="{FF2B5EF4-FFF2-40B4-BE49-F238E27FC236}">
                  <a16:creationId xmlns:a16="http://schemas.microsoft.com/office/drawing/2014/main" id="{02645C0E-18E4-0F60-2160-5CFC6F029B51}"/>
                </a:ext>
              </a:extLst>
            </p:cNvPr>
            <p:cNvSpPr txBox="1"/>
            <p:nvPr/>
          </p:nvSpPr>
          <p:spPr>
            <a:xfrm>
              <a:off x="2088207" y="1484346"/>
              <a:ext cx="527709" cy="461665"/>
            </a:xfrm>
            <a:prstGeom prst="rect">
              <a:avLst/>
            </a:prstGeom>
            <a:noFill/>
            <a:ln>
              <a:noFill/>
            </a:ln>
          </p:spPr>
          <p:txBody>
            <a:bodyPr wrap="none" rtlCol="0">
              <a:spAutoFit/>
            </a:bodyPr>
            <a:lstStyle/>
            <a:p>
              <a:r>
                <a:rPr lang="en-US" sz="2400" b="1" dirty="0"/>
                <a:t>01</a:t>
              </a:r>
            </a:p>
          </p:txBody>
        </p:sp>
      </p:grpSp>
      <p:sp>
        <p:nvSpPr>
          <p:cNvPr id="22" name="TextBox 21">
            <a:extLst>
              <a:ext uri="{FF2B5EF4-FFF2-40B4-BE49-F238E27FC236}">
                <a16:creationId xmlns:a16="http://schemas.microsoft.com/office/drawing/2014/main" id="{C79A2BEB-CD5D-3FCD-2BFF-0F6893EED64D}"/>
              </a:ext>
            </a:extLst>
          </p:cNvPr>
          <p:cNvSpPr txBox="1"/>
          <p:nvPr/>
        </p:nvSpPr>
        <p:spPr>
          <a:xfrm>
            <a:off x="2883587" y="5131145"/>
            <a:ext cx="7276392" cy="400110"/>
          </a:xfrm>
          <a:prstGeom prst="rect">
            <a:avLst/>
          </a:prstGeom>
          <a:noFill/>
        </p:spPr>
        <p:txBody>
          <a:bodyPr wrap="square" lIns="108000" rIns="108000" rtlCol="0">
            <a:spAutoFit/>
          </a:bodyPr>
          <a:lstStyle>
            <a:defPPr>
              <a:defRPr lang="en-US"/>
            </a:defPPr>
            <a:lvl1pPr>
              <a:defRPr sz="2000" b="1">
                <a:cs typeface="Arial" pitchFamily="34" charset="0"/>
              </a:defRPr>
            </a:lvl1pPr>
          </a:lstStyle>
          <a:p>
            <a:r>
              <a:rPr lang="fr-FR" altLang="ko-KR" dirty="0"/>
              <a:t>Analyse d'architectures réelles</a:t>
            </a:r>
            <a:endParaRPr lang="ko-KR" altLang="en-US" dirty="0"/>
          </a:p>
        </p:txBody>
      </p:sp>
      <p:grpSp>
        <p:nvGrpSpPr>
          <p:cNvPr id="82" name="Group 81">
            <a:extLst>
              <a:ext uri="{FF2B5EF4-FFF2-40B4-BE49-F238E27FC236}">
                <a16:creationId xmlns:a16="http://schemas.microsoft.com/office/drawing/2014/main" id="{33E7DB0F-3ACF-E79D-FF4B-7FE41B8CD204}"/>
              </a:ext>
            </a:extLst>
          </p:cNvPr>
          <p:cNvGrpSpPr/>
          <p:nvPr/>
        </p:nvGrpSpPr>
        <p:grpSpPr>
          <a:xfrm>
            <a:off x="2032021" y="4965440"/>
            <a:ext cx="640080" cy="731520"/>
            <a:chOff x="2032021" y="3350000"/>
            <a:chExt cx="640080" cy="731520"/>
          </a:xfrm>
        </p:grpSpPr>
        <p:sp>
          <p:nvSpPr>
            <p:cNvPr id="67" name="Hexagon 66">
              <a:extLst>
                <a:ext uri="{FF2B5EF4-FFF2-40B4-BE49-F238E27FC236}">
                  <a16:creationId xmlns:a16="http://schemas.microsoft.com/office/drawing/2014/main" id="{C54826D3-E526-44B0-9C59-D210BCEB22FD}"/>
                </a:ext>
              </a:extLst>
            </p:cNvPr>
            <p:cNvSpPr/>
            <p:nvPr/>
          </p:nvSpPr>
          <p:spPr>
            <a:xfrm rot="5400000">
              <a:off x="1986301" y="3395720"/>
              <a:ext cx="731520" cy="640080"/>
            </a:xfrm>
            <a:prstGeom prst="hexagon">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8" name="TextBox 67">
              <a:extLst>
                <a:ext uri="{FF2B5EF4-FFF2-40B4-BE49-F238E27FC236}">
                  <a16:creationId xmlns:a16="http://schemas.microsoft.com/office/drawing/2014/main" id="{F196C11F-037F-A16C-D34E-FFE72883EB8B}"/>
                </a:ext>
              </a:extLst>
            </p:cNvPr>
            <p:cNvSpPr txBox="1"/>
            <p:nvPr/>
          </p:nvSpPr>
          <p:spPr>
            <a:xfrm>
              <a:off x="2088207" y="3484928"/>
              <a:ext cx="527709" cy="461665"/>
            </a:xfrm>
            <a:prstGeom prst="rect">
              <a:avLst/>
            </a:prstGeom>
            <a:noFill/>
            <a:ln>
              <a:noFill/>
            </a:ln>
          </p:spPr>
          <p:txBody>
            <a:bodyPr wrap="none" rtlCol="0">
              <a:spAutoFit/>
            </a:bodyPr>
            <a:lstStyle/>
            <a:p>
              <a:r>
                <a:rPr lang="en-US" sz="2400" b="1" dirty="0"/>
                <a:t>03</a:t>
              </a:r>
            </a:p>
          </p:txBody>
        </p:sp>
      </p:grpSp>
      <p:sp>
        <p:nvSpPr>
          <p:cNvPr id="52" name="TextBox 51">
            <a:extLst>
              <a:ext uri="{FF2B5EF4-FFF2-40B4-BE49-F238E27FC236}">
                <a16:creationId xmlns:a16="http://schemas.microsoft.com/office/drawing/2014/main" id="{59553BA6-993D-4106-A274-5E60FB011252}"/>
              </a:ext>
            </a:extLst>
          </p:cNvPr>
          <p:cNvSpPr txBox="1"/>
          <p:nvPr/>
        </p:nvSpPr>
        <p:spPr>
          <a:xfrm>
            <a:off x="2883587" y="3577134"/>
            <a:ext cx="7276392" cy="400110"/>
          </a:xfrm>
          <a:prstGeom prst="rect">
            <a:avLst/>
          </a:prstGeom>
          <a:noFill/>
        </p:spPr>
        <p:txBody>
          <a:bodyPr wrap="square" lIns="108000" rIns="108000" rtlCol="0">
            <a:spAutoFit/>
          </a:bodyPr>
          <a:lstStyle>
            <a:defPPr>
              <a:defRPr lang="en-US"/>
            </a:defPPr>
            <a:lvl1pPr>
              <a:defRPr sz="2000" b="1">
                <a:cs typeface="Arial" pitchFamily="34" charset="0"/>
              </a:defRPr>
            </a:lvl1pPr>
          </a:lstStyle>
          <a:p>
            <a:r>
              <a:rPr lang="fr-FR" altLang="ko-KR" dirty="0"/>
              <a:t>Méthodologie de conception structurée</a:t>
            </a:r>
            <a:endParaRPr lang="ko-KR" altLang="en-US" dirty="0"/>
          </a:p>
        </p:txBody>
      </p:sp>
      <p:grpSp>
        <p:nvGrpSpPr>
          <p:cNvPr id="81" name="Group 80">
            <a:extLst>
              <a:ext uri="{FF2B5EF4-FFF2-40B4-BE49-F238E27FC236}">
                <a16:creationId xmlns:a16="http://schemas.microsoft.com/office/drawing/2014/main" id="{A1CD42A7-23FD-5111-0402-2A1E608AF687}"/>
              </a:ext>
            </a:extLst>
          </p:cNvPr>
          <p:cNvGrpSpPr/>
          <p:nvPr/>
        </p:nvGrpSpPr>
        <p:grpSpPr>
          <a:xfrm>
            <a:off x="2032021" y="3411429"/>
            <a:ext cx="640080" cy="731520"/>
            <a:chOff x="2032021" y="2349709"/>
            <a:chExt cx="640080" cy="731520"/>
          </a:xfrm>
        </p:grpSpPr>
        <p:sp>
          <p:nvSpPr>
            <p:cNvPr id="73" name="Hexagon 72">
              <a:extLst>
                <a:ext uri="{FF2B5EF4-FFF2-40B4-BE49-F238E27FC236}">
                  <a16:creationId xmlns:a16="http://schemas.microsoft.com/office/drawing/2014/main" id="{08769A0A-CBF8-18F0-4738-7F7AE62F0F1F}"/>
                </a:ext>
              </a:extLst>
            </p:cNvPr>
            <p:cNvSpPr/>
            <p:nvPr/>
          </p:nvSpPr>
          <p:spPr>
            <a:xfrm rot="5400000">
              <a:off x="1986301" y="2395429"/>
              <a:ext cx="731520" cy="640080"/>
            </a:xfrm>
            <a:prstGeom prst="hexagon">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4" name="TextBox 73">
              <a:extLst>
                <a:ext uri="{FF2B5EF4-FFF2-40B4-BE49-F238E27FC236}">
                  <a16:creationId xmlns:a16="http://schemas.microsoft.com/office/drawing/2014/main" id="{4F2ECD84-6E89-5576-CCC0-40E7E463E6FB}"/>
                </a:ext>
              </a:extLst>
            </p:cNvPr>
            <p:cNvSpPr txBox="1"/>
            <p:nvPr/>
          </p:nvSpPr>
          <p:spPr>
            <a:xfrm>
              <a:off x="2088207" y="2484637"/>
              <a:ext cx="527709" cy="461665"/>
            </a:xfrm>
            <a:prstGeom prst="rect">
              <a:avLst/>
            </a:prstGeom>
            <a:noFill/>
            <a:ln>
              <a:noFill/>
            </a:ln>
          </p:spPr>
          <p:txBody>
            <a:bodyPr wrap="none" rtlCol="0">
              <a:spAutoFit/>
            </a:bodyPr>
            <a:lstStyle/>
            <a:p>
              <a:r>
                <a:rPr lang="en-US" sz="2400" b="1" dirty="0"/>
                <a:t>02</a:t>
              </a:r>
            </a:p>
          </p:txBody>
        </p:sp>
      </p:grpSp>
      <p:sp>
        <p:nvSpPr>
          <p:cNvPr id="78" name="Rectangle 77">
            <a:extLst>
              <a:ext uri="{FF2B5EF4-FFF2-40B4-BE49-F238E27FC236}">
                <a16:creationId xmlns:a16="http://schemas.microsoft.com/office/drawing/2014/main" id="{127BA022-0391-FDD0-AAC0-E009C244C2FE}"/>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err="1"/>
              <a:t>Objectifs</a:t>
            </a:r>
            <a:r>
              <a:rPr lang="en-US" sz="4400" b="1" dirty="0"/>
              <a:t> de la </a:t>
            </a:r>
            <a:r>
              <a:rPr lang="en-US" sz="4400" b="1" dirty="0" err="1"/>
              <a:t>Présentation</a:t>
            </a:r>
            <a:endParaRPr lang="en-US" sz="4400" b="1" dirty="0"/>
          </a:p>
        </p:txBody>
      </p:sp>
    </p:spTree>
    <p:extLst>
      <p:ext uri="{BB962C8B-B14F-4D97-AF65-F5344CB8AC3E}">
        <p14:creationId xmlns:p14="http://schemas.microsoft.com/office/powerpoint/2010/main" val="34865876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6217">
        <p159:morph option="byObject"/>
      </p:transition>
    </mc:Choice>
    <mc:Fallback xmlns="">
      <p:transition spd="slow" advTm="16217">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Hexagon 8">
            <a:extLst>
              <a:ext uri="{FF2B5EF4-FFF2-40B4-BE49-F238E27FC236}">
                <a16:creationId xmlns:a16="http://schemas.microsoft.com/office/drawing/2014/main" id="{81F44BB1-9E8F-5109-19A1-E448661A1378}"/>
              </a:ext>
            </a:extLst>
          </p:cNvPr>
          <p:cNvSpPr/>
          <p:nvPr/>
        </p:nvSpPr>
        <p:spPr>
          <a:xfrm>
            <a:off x="3416299" y="1331470"/>
            <a:ext cx="5715000" cy="1168399"/>
          </a:xfrm>
          <a:prstGeom prst="hexagon">
            <a:avLst/>
          </a:prstGeom>
          <a:solidFill>
            <a:schemeClr val="bg1"/>
          </a:solidFill>
          <a:ln w="38100">
            <a:solidFill>
              <a:srgbClr val="02ECEC"/>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600" b="1" dirty="0">
                <a:solidFill>
                  <a:schemeClr val="tx1"/>
                </a:solidFill>
              </a:rPr>
              <a:t>Health</a:t>
            </a:r>
            <a:r>
              <a:rPr lang="en-US" sz="3600" b="1" dirty="0">
                <a:solidFill>
                  <a:schemeClr val="accent1"/>
                </a:solidFill>
              </a:rPr>
              <a:t>Care</a:t>
            </a:r>
            <a:r>
              <a:rPr lang="en-US" sz="3600" b="1" dirty="0">
                <a:solidFill>
                  <a:schemeClr val="tx1"/>
                </a:solidFill>
              </a:rPr>
              <a:t>.gov</a:t>
            </a:r>
          </a:p>
          <a:p>
            <a:pPr algn="ctr"/>
            <a:r>
              <a:rPr lang="en-US" sz="3600" b="1" dirty="0">
                <a:solidFill>
                  <a:schemeClr val="accent1"/>
                </a:solidFill>
              </a:rPr>
              <a:t>2013</a:t>
            </a:r>
          </a:p>
        </p:txBody>
      </p:sp>
      <p:sp>
        <p:nvSpPr>
          <p:cNvPr id="7" name="Rectangle 6">
            <a:extLst>
              <a:ext uri="{FF2B5EF4-FFF2-40B4-BE49-F238E27FC236}">
                <a16:creationId xmlns:a16="http://schemas.microsoft.com/office/drawing/2014/main" id="{32DC94EB-9415-658D-2A02-07F168C12FAA}"/>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err="1"/>
              <a:t>Exemple</a:t>
            </a:r>
            <a:r>
              <a:rPr lang="en-US" sz="4400" b="1" dirty="0"/>
              <a:t> </a:t>
            </a:r>
            <a:r>
              <a:rPr lang="en-US" sz="4400" b="1" dirty="0" err="1"/>
              <a:t>d'Échec</a:t>
            </a:r>
            <a:r>
              <a:rPr lang="en-US" sz="4400" b="1" dirty="0"/>
              <a:t> </a:t>
            </a:r>
            <a:r>
              <a:rPr lang="en-US" sz="4400" b="1" dirty="0" err="1"/>
              <a:t>Coûteux</a:t>
            </a:r>
            <a:endParaRPr lang="en-US" sz="4400" b="1" dirty="0"/>
          </a:p>
        </p:txBody>
      </p:sp>
      <p:sp>
        <p:nvSpPr>
          <p:cNvPr id="10" name="Hexagon 9">
            <a:extLst>
              <a:ext uri="{FF2B5EF4-FFF2-40B4-BE49-F238E27FC236}">
                <a16:creationId xmlns:a16="http://schemas.microsoft.com/office/drawing/2014/main" id="{CDDDA163-8E1D-1061-A442-31C57DC6BE6E}"/>
              </a:ext>
            </a:extLst>
          </p:cNvPr>
          <p:cNvSpPr/>
          <p:nvPr/>
        </p:nvSpPr>
        <p:spPr>
          <a:xfrm rot="1828882">
            <a:off x="212002" y="178377"/>
            <a:ext cx="914400" cy="822960"/>
          </a:xfrm>
          <a:prstGeom prst="hexagon">
            <a:avLst>
              <a:gd name="adj" fmla="val 27586"/>
              <a:gd name="vf" fmla="val 11547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24E0655-DDAE-D434-29F0-B86554774770}"/>
              </a:ext>
            </a:extLst>
          </p:cNvPr>
          <p:cNvSpPr txBox="1"/>
          <p:nvPr/>
        </p:nvSpPr>
        <p:spPr>
          <a:xfrm>
            <a:off x="376493" y="322590"/>
            <a:ext cx="585417" cy="523220"/>
          </a:xfrm>
          <a:prstGeom prst="rect">
            <a:avLst/>
          </a:prstGeom>
          <a:noFill/>
        </p:spPr>
        <p:txBody>
          <a:bodyPr wrap="none" rtlCol="0">
            <a:spAutoFit/>
          </a:bodyPr>
          <a:lstStyle/>
          <a:p>
            <a:r>
              <a:rPr lang="en-US" sz="2800" b="1" dirty="0">
                <a:solidFill>
                  <a:schemeClr val="bg1"/>
                </a:solidFill>
              </a:rPr>
              <a:t>01</a:t>
            </a:r>
          </a:p>
        </p:txBody>
      </p:sp>
      <p:sp>
        <p:nvSpPr>
          <p:cNvPr id="14" name="Hexagon 13">
            <a:extLst>
              <a:ext uri="{FF2B5EF4-FFF2-40B4-BE49-F238E27FC236}">
                <a16:creationId xmlns:a16="http://schemas.microsoft.com/office/drawing/2014/main" id="{E2BE8549-BB3F-FF74-7FCF-829B47E2991E}"/>
              </a:ext>
            </a:extLst>
          </p:cNvPr>
          <p:cNvSpPr/>
          <p:nvPr/>
        </p:nvSpPr>
        <p:spPr>
          <a:xfrm>
            <a:off x="700951" y="2863851"/>
            <a:ext cx="3276600" cy="469899"/>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Problèmes</a:t>
            </a:r>
            <a:r>
              <a:rPr lang="en-US" b="1" dirty="0">
                <a:solidFill>
                  <a:schemeClr val="tx1"/>
                </a:solidFill>
              </a:rPr>
              <a:t> </a:t>
            </a:r>
            <a:r>
              <a:rPr lang="en-US" b="1" dirty="0" err="1">
                <a:solidFill>
                  <a:schemeClr val="tx1"/>
                </a:solidFill>
              </a:rPr>
              <a:t>rencontrés</a:t>
            </a:r>
            <a:r>
              <a:rPr lang="en-US" b="1" dirty="0">
                <a:solidFill>
                  <a:schemeClr val="tx1"/>
                </a:solidFill>
              </a:rPr>
              <a:t> </a:t>
            </a:r>
          </a:p>
        </p:txBody>
      </p:sp>
      <p:sp>
        <p:nvSpPr>
          <p:cNvPr id="15" name="Hexagon 14">
            <a:extLst>
              <a:ext uri="{FF2B5EF4-FFF2-40B4-BE49-F238E27FC236}">
                <a16:creationId xmlns:a16="http://schemas.microsoft.com/office/drawing/2014/main" id="{3A3B3880-8A6E-4EF2-769E-A9898ED4BDB0}"/>
              </a:ext>
            </a:extLst>
          </p:cNvPr>
          <p:cNvSpPr/>
          <p:nvPr/>
        </p:nvSpPr>
        <p:spPr>
          <a:xfrm>
            <a:off x="8214450" y="2863850"/>
            <a:ext cx="3276600" cy="469899"/>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Causes </a:t>
            </a:r>
            <a:r>
              <a:rPr lang="en-US" b="1" dirty="0" err="1">
                <a:solidFill>
                  <a:schemeClr val="tx1"/>
                </a:solidFill>
              </a:rPr>
              <a:t>identifiées</a:t>
            </a:r>
            <a:endParaRPr lang="en-US" b="1" dirty="0">
              <a:solidFill>
                <a:schemeClr val="tx1"/>
              </a:solidFill>
            </a:endParaRPr>
          </a:p>
        </p:txBody>
      </p:sp>
      <p:cxnSp>
        <p:nvCxnSpPr>
          <p:cNvPr id="21" name="Connector: Elbow 20">
            <a:extLst>
              <a:ext uri="{FF2B5EF4-FFF2-40B4-BE49-F238E27FC236}">
                <a16:creationId xmlns:a16="http://schemas.microsoft.com/office/drawing/2014/main" id="{0631038E-CC3B-C3C0-08F4-E896329A98B1}"/>
              </a:ext>
            </a:extLst>
          </p:cNvPr>
          <p:cNvCxnSpPr>
            <a:stCxn id="9" idx="0"/>
            <a:endCxn id="15" idx="0"/>
          </p:cNvCxnSpPr>
          <p:nvPr/>
        </p:nvCxnSpPr>
        <p:spPr>
          <a:xfrm>
            <a:off x="9131299" y="1915670"/>
            <a:ext cx="2359751" cy="1183130"/>
          </a:xfrm>
          <a:prstGeom prst="bentConnector3">
            <a:avLst>
              <a:gd name="adj1" fmla="val 109687"/>
            </a:avLst>
          </a:prstGeom>
          <a:ln>
            <a:tailEnd type="triangle"/>
          </a:ln>
        </p:spPr>
        <p:style>
          <a:lnRef idx="3">
            <a:schemeClr val="dk1"/>
          </a:lnRef>
          <a:fillRef idx="0">
            <a:schemeClr val="dk1"/>
          </a:fillRef>
          <a:effectRef idx="2">
            <a:schemeClr val="dk1"/>
          </a:effectRef>
          <a:fontRef idx="minor">
            <a:schemeClr val="tx1"/>
          </a:fontRef>
        </p:style>
      </p:cxnSp>
      <p:cxnSp>
        <p:nvCxnSpPr>
          <p:cNvPr id="24" name="Connector: Elbow 23">
            <a:extLst>
              <a:ext uri="{FF2B5EF4-FFF2-40B4-BE49-F238E27FC236}">
                <a16:creationId xmlns:a16="http://schemas.microsoft.com/office/drawing/2014/main" id="{0CE741A9-C432-36C6-2F5A-467830D29674}"/>
              </a:ext>
            </a:extLst>
          </p:cNvPr>
          <p:cNvCxnSpPr>
            <a:stCxn id="9" idx="3"/>
            <a:endCxn id="14" idx="3"/>
          </p:cNvCxnSpPr>
          <p:nvPr/>
        </p:nvCxnSpPr>
        <p:spPr>
          <a:xfrm rot="10800000" flipV="1">
            <a:off x="700951" y="1915669"/>
            <a:ext cx="2715348" cy="1183131"/>
          </a:xfrm>
          <a:prstGeom prst="bentConnector3">
            <a:avLst>
              <a:gd name="adj1" fmla="val 108419"/>
            </a:avLst>
          </a:prstGeom>
          <a:ln>
            <a:tailEnd type="triangle"/>
          </a:ln>
        </p:spPr>
        <p:style>
          <a:lnRef idx="3">
            <a:schemeClr val="dk1"/>
          </a:lnRef>
          <a:fillRef idx="0">
            <a:schemeClr val="dk1"/>
          </a:fillRef>
          <a:effectRef idx="2">
            <a:schemeClr val="dk1"/>
          </a:effectRef>
          <a:fontRef idx="minor">
            <a:schemeClr val="tx1"/>
          </a:fontRef>
        </p:style>
      </p:cxnSp>
      <p:sp>
        <p:nvSpPr>
          <p:cNvPr id="27" name="TextBox 26">
            <a:extLst>
              <a:ext uri="{FF2B5EF4-FFF2-40B4-BE49-F238E27FC236}">
                <a16:creationId xmlns:a16="http://schemas.microsoft.com/office/drawing/2014/main" id="{499EB1E3-D9FF-859E-4C55-AA4BB25A1951}"/>
              </a:ext>
            </a:extLst>
          </p:cNvPr>
          <p:cNvSpPr txBox="1"/>
          <p:nvPr/>
        </p:nvSpPr>
        <p:spPr>
          <a:xfrm>
            <a:off x="669201" y="3683000"/>
            <a:ext cx="3384260" cy="369332"/>
          </a:xfrm>
          <a:prstGeom prst="rect">
            <a:avLst/>
          </a:prstGeom>
          <a:noFill/>
        </p:spPr>
        <p:txBody>
          <a:bodyPr wrap="none" rtlCol="0">
            <a:spAutoFit/>
          </a:bodyPr>
          <a:lstStyle/>
          <a:p>
            <a:pPr marL="285750" indent="-285750">
              <a:buClr>
                <a:srgbClr val="02ECEC"/>
              </a:buClr>
              <a:buFont typeface="Wingdings" panose="05000000000000000000" pitchFamily="2" charset="2"/>
              <a:buChar char="Ø"/>
            </a:pPr>
            <a:r>
              <a:rPr lang="fr-FR" dirty="0"/>
              <a:t>Site crash lors du lancement</a:t>
            </a:r>
            <a:endParaRPr lang="en-US" dirty="0"/>
          </a:p>
        </p:txBody>
      </p:sp>
      <p:sp>
        <p:nvSpPr>
          <p:cNvPr id="28" name="TextBox 27">
            <a:extLst>
              <a:ext uri="{FF2B5EF4-FFF2-40B4-BE49-F238E27FC236}">
                <a16:creationId xmlns:a16="http://schemas.microsoft.com/office/drawing/2014/main" id="{398CDC75-C8EF-26A5-DF2B-D399AB2BEE11}"/>
              </a:ext>
            </a:extLst>
          </p:cNvPr>
          <p:cNvSpPr txBox="1"/>
          <p:nvPr/>
        </p:nvSpPr>
        <p:spPr>
          <a:xfrm>
            <a:off x="669201" y="4426966"/>
            <a:ext cx="3942169" cy="369332"/>
          </a:xfrm>
          <a:prstGeom prst="rect">
            <a:avLst/>
          </a:prstGeom>
          <a:noFill/>
        </p:spPr>
        <p:txBody>
          <a:bodyPr wrap="none" rtlCol="0">
            <a:spAutoFit/>
          </a:bodyPr>
          <a:lstStyle/>
          <a:p>
            <a:pPr marL="285750" indent="-285750">
              <a:buClr>
                <a:srgbClr val="02ECEC"/>
              </a:buClr>
              <a:buFont typeface="Wingdings" panose="05000000000000000000" pitchFamily="2" charset="2"/>
              <a:buChar char="Ø"/>
            </a:pPr>
            <a:r>
              <a:rPr lang="fr-FR" dirty="0"/>
              <a:t>Temps de réponse &gt; 10 secondes</a:t>
            </a:r>
            <a:endParaRPr lang="en-US" dirty="0"/>
          </a:p>
        </p:txBody>
      </p:sp>
      <p:sp>
        <p:nvSpPr>
          <p:cNvPr id="29" name="TextBox 28">
            <a:extLst>
              <a:ext uri="{FF2B5EF4-FFF2-40B4-BE49-F238E27FC236}">
                <a16:creationId xmlns:a16="http://schemas.microsoft.com/office/drawing/2014/main" id="{6C6A778F-3626-6EC7-8761-25ADB6C2DE35}"/>
              </a:ext>
            </a:extLst>
          </p:cNvPr>
          <p:cNvSpPr txBox="1"/>
          <p:nvPr/>
        </p:nvSpPr>
        <p:spPr>
          <a:xfrm>
            <a:off x="669201" y="5170931"/>
            <a:ext cx="3986989" cy="369332"/>
          </a:xfrm>
          <a:prstGeom prst="rect">
            <a:avLst/>
          </a:prstGeom>
          <a:noFill/>
        </p:spPr>
        <p:txBody>
          <a:bodyPr wrap="none" rtlCol="0">
            <a:spAutoFit/>
          </a:bodyPr>
          <a:lstStyle/>
          <a:p>
            <a:pPr marL="285750" indent="-285750">
              <a:buClr>
                <a:srgbClr val="02ECEC"/>
              </a:buClr>
              <a:buFont typeface="Wingdings" panose="05000000000000000000" pitchFamily="2" charset="2"/>
              <a:buChar char="Ø"/>
            </a:pPr>
            <a:r>
              <a:rPr lang="fr-FR" dirty="0"/>
              <a:t>30-40% de disponibilité seulement</a:t>
            </a:r>
            <a:endParaRPr lang="en-US" dirty="0"/>
          </a:p>
        </p:txBody>
      </p:sp>
      <p:sp>
        <p:nvSpPr>
          <p:cNvPr id="30" name="TextBox 29">
            <a:extLst>
              <a:ext uri="{FF2B5EF4-FFF2-40B4-BE49-F238E27FC236}">
                <a16:creationId xmlns:a16="http://schemas.microsoft.com/office/drawing/2014/main" id="{59485741-A10E-61D9-E558-E5EDD3E56976}"/>
              </a:ext>
            </a:extLst>
          </p:cNvPr>
          <p:cNvSpPr txBox="1"/>
          <p:nvPr/>
        </p:nvSpPr>
        <p:spPr>
          <a:xfrm>
            <a:off x="8214450" y="3683000"/>
            <a:ext cx="3666388" cy="369332"/>
          </a:xfrm>
          <a:prstGeom prst="rect">
            <a:avLst/>
          </a:prstGeom>
          <a:noFill/>
        </p:spPr>
        <p:txBody>
          <a:bodyPr wrap="none" rtlCol="0">
            <a:spAutoFit/>
          </a:bodyPr>
          <a:lstStyle/>
          <a:p>
            <a:pPr marL="285750" indent="-285750">
              <a:buClr>
                <a:srgbClr val="02ECEC"/>
              </a:buClr>
              <a:buFont typeface="Wingdings" panose="05000000000000000000" pitchFamily="2" charset="2"/>
              <a:buChar char="Ø"/>
            </a:pPr>
            <a:r>
              <a:rPr lang="fr-FR" dirty="0"/>
              <a:t>Mauvaise estimation de charge</a:t>
            </a:r>
            <a:endParaRPr lang="en-US" dirty="0"/>
          </a:p>
        </p:txBody>
      </p:sp>
      <p:sp>
        <p:nvSpPr>
          <p:cNvPr id="31" name="TextBox 30">
            <a:extLst>
              <a:ext uri="{FF2B5EF4-FFF2-40B4-BE49-F238E27FC236}">
                <a16:creationId xmlns:a16="http://schemas.microsoft.com/office/drawing/2014/main" id="{B4D4038F-F4BD-0FCF-F54B-4058B34A54C8}"/>
              </a:ext>
            </a:extLst>
          </p:cNvPr>
          <p:cNvSpPr txBox="1"/>
          <p:nvPr/>
        </p:nvSpPr>
        <p:spPr>
          <a:xfrm>
            <a:off x="8214450" y="4426966"/>
            <a:ext cx="3063659" cy="369332"/>
          </a:xfrm>
          <a:prstGeom prst="rect">
            <a:avLst/>
          </a:prstGeom>
          <a:noFill/>
        </p:spPr>
        <p:txBody>
          <a:bodyPr wrap="none" rtlCol="0">
            <a:spAutoFit/>
          </a:bodyPr>
          <a:lstStyle/>
          <a:p>
            <a:pPr marL="285750" indent="-285750">
              <a:buClr>
                <a:srgbClr val="02ECEC"/>
              </a:buClr>
              <a:buFont typeface="Wingdings" panose="05000000000000000000" pitchFamily="2" charset="2"/>
              <a:buChar char="Ø"/>
            </a:pPr>
            <a:r>
              <a:rPr lang="fr-FR" dirty="0"/>
              <a:t>Architecture non scalable</a:t>
            </a:r>
            <a:endParaRPr lang="en-US" dirty="0"/>
          </a:p>
        </p:txBody>
      </p:sp>
      <p:sp>
        <p:nvSpPr>
          <p:cNvPr id="32" name="TextBox 31">
            <a:extLst>
              <a:ext uri="{FF2B5EF4-FFF2-40B4-BE49-F238E27FC236}">
                <a16:creationId xmlns:a16="http://schemas.microsoft.com/office/drawing/2014/main" id="{DA04E759-9B4C-7234-B528-F794AB867221}"/>
              </a:ext>
            </a:extLst>
          </p:cNvPr>
          <p:cNvSpPr txBox="1"/>
          <p:nvPr/>
        </p:nvSpPr>
        <p:spPr>
          <a:xfrm>
            <a:off x="8214450" y="5170931"/>
            <a:ext cx="3332964" cy="369332"/>
          </a:xfrm>
          <a:prstGeom prst="rect">
            <a:avLst/>
          </a:prstGeom>
          <a:noFill/>
        </p:spPr>
        <p:txBody>
          <a:bodyPr wrap="none" rtlCol="0">
            <a:spAutoFit/>
          </a:bodyPr>
          <a:lstStyle/>
          <a:p>
            <a:pPr marL="285750" indent="-285750">
              <a:buClr>
                <a:srgbClr val="02ECEC"/>
              </a:buClr>
              <a:buFont typeface="Wingdings" panose="05000000000000000000" pitchFamily="2" charset="2"/>
              <a:buChar char="Ø"/>
            </a:pPr>
            <a:r>
              <a:rPr lang="fr-FR" dirty="0"/>
              <a:t>Absence de tests de charge</a:t>
            </a:r>
            <a:endParaRPr lang="en-US" dirty="0"/>
          </a:p>
        </p:txBody>
      </p:sp>
      <p:sp>
        <p:nvSpPr>
          <p:cNvPr id="33" name="Hexagon 32">
            <a:extLst>
              <a:ext uri="{FF2B5EF4-FFF2-40B4-BE49-F238E27FC236}">
                <a16:creationId xmlns:a16="http://schemas.microsoft.com/office/drawing/2014/main" id="{84543D4F-1CB2-57AD-51FF-D69401CCB6D5}"/>
              </a:ext>
            </a:extLst>
          </p:cNvPr>
          <p:cNvSpPr/>
          <p:nvPr/>
        </p:nvSpPr>
        <p:spPr>
          <a:xfrm>
            <a:off x="3284473" y="5905500"/>
            <a:ext cx="5623054" cy="469900"/>
          </a:xfrm>
          <a:prstGeom prst="hexag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Coût : 2 milliards de dollars + réputation</a:t>
            </a:r>
            <a:endParaRPr lang="en-US" b="1" dirty="0">
              <a:solidFill>
                <a:schemeClr val="tx1"/>
              </a:solidFill>
            </a:endParaRPr>
          </a:p>
        </p:txBody>
      </p:sp>
    </p:spTree>
    <p:custDataLst>
      <p:tags r:id="rId1"/>
    </p:custDataLst>
    <p:extLst>
      <p:ext uri="{BB962C8B-B14F-4D97-AF65-F5344CB8AC3E}">
        <p14:creationId xmlns:p14="http://schemas.microsoft.com/office/powerpoint/2010/main" val="6505982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45049">
        <p159:morph option="byObject"/>
      </p:transition>
    </mc:Choice>
    <mc:Fallback xmlns="">
      <p:transition spd="slow" advTm="45049">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right)">
                                      <p:cBhvr>
                                        <p:cTn id="7" dur="500"/>
                                        <p:tgtEl>
                                          <p:spTgt spid="2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left)">
                                      <p:cBhvr>
                                        <p:cTn id="11" dur="500"/>
                                        <p:tgtEl>
                                          <p:spTgt spid="14"/>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left)">
                                      <p:cBhvr>
                                        <p:cTn id="15" dur="500"/>
                                        <p:tgtEl>
                                          <p:spTgt spid="27"/>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wipe(left)">
                                      <p:cBhvr>
                                        <p:cTn id="19" dur="500"/>
                                        <p:tgtEl>
                                          <p:spTgt spid="28"/>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left)">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wipe(left)">
                                      <p:cBhvr>
                                        <p:cTn id="28" dur="500"/>
                                        <p:tgtEl>
                                          <p:spTgt spid="21"/>
                                        </p:tgtEl>
                                      </p:cBhvr>
                                    </p:animEffect>
                                  </p:childTnLst>
                                </p:cTn>
                              </p:par>
                            </p:childTnLst>
                          </p:cTn>
                        </p:par>
                        <p:par>
                          <p:cTn id="29" fill="hold">
                            <p:stCondLst>
                              <p:cond delay="500"/>
                            </p:stCondLst>
                            <p:childTnLst>
                              <p:par>
                                <p:cTn id="30" presetID="22" presetClass="entr" presetSubtype="2" fill="hold" grpId="0"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right)">
                                      <p:cBhvr>
                                        <p:cTn id="32" dur="500"/>
                                        <p:tgtEl>
                                          <p:spTgt spid="15"/>
                                        </p:tgtEl>
                                      </p:cBhvr>
                                    </p:animEffect>
                                  </p:childTnLst>
                                </p:cTn>
                              </p:par>
                            </p:childTnLst>
                          </p:cTn>
                        </p:par>
                        <p:par>
                          <p:cTn id="33" fill="hold">
                            <p:stCondLst>
                              <p:cond delay="1000"/>
                            </p:stCondLst>
                            <p:childTnLst>
                              <p:par>
                                <p:cTn id="34" presetID="22" presetClass="entr" presetSubtype="2" fill="hold" grpId="0" nodeType="afterEffect">
                                  <p:stCondLst>
                                    <p:cond delay="0"/>
                                  </p:stCondLst>
                                  <p:childTnLst>
                                    <p:set>
                                      <p:cBhvr>
                                        <p:cTn id="35" dur="1" fill="hold">
                                          <p:stCondLst>
                                            <p:cond delay="0"/>
                                          </p:stCondLst>
                                        </p:cTn>
                                        <p:tgtEl>
                                          <p:spTgt spid="30"/>
                                        </p:tgtEl>
                                        <p:attrNameLst>
                                          <p:attrName>style.visibility</p:attrName>
                                        </p:attrNameLst>
                                      </p:cBhvr>
                                      <p:to>
                                        <p:strVal val="visible"/>
                                      </p:to>
                                    </p:set>
                                    <p:animEffect transition="in" filter="wipe(right)">
                                      <p:cBhvr>
                                        <p:cTn id="36" dur="500"/>
                                        <p:tgtEl>
                                          <p:spTgt spid="30"/>
                                        </p:tgtEl>
                                      </p:cBhvr>
                                    </p:animEffect>
                                  </p:childTnLst>
                                </p:cTn>
                              </p:par>
                            </p:childTnLst>
                          </p:cTn>
                        </p:par>
                        <p:par>
                          <p:cTn id="37" fill="hold">
                            <p:stCondLst>
                              <p:cond delay="1500"/>
                            </p:stCondLst>
                            <p:childTnLst>
                              <p:par>
                                <p:cTn id="38" presetID="22" presetClass="entr" presetSubtype="2" fill="hold" grpId="0" nodeType="afterEffect">
                                  <p:stCondLst>
                                    <p:cond delay="0"/>
                                  </p:stCondLst>
                                  <p:childTnLst>
                                    <p:set>
                                      <p:cBhvr>
                                        <p:cTn id="39" dur="1" fill="hold">
                                          <p:stCondLst>
                                            <p:cond delay="0"/>
                                          </p:stCondLst>
                                        </p:cTn>
                                        <p:tgtEl>
                                          <p:spTgt spid="31"/>
                                        </p:tgtEl>
                                        <p:attrNameLst>
                                          <p:attrName>style.visibility</p:attrName>
                                        </p:attrNameLst>
                                      </p:cBhvr>
                                      <p:to>
                                        <p:strVal val="visible"/>
                                      </p:to>
                                    </p:set>
                                    <p:animEffect transition="in" filter="wipe(right)">
                                      <p:cBhvr>
                                        <p:cTn id="40" dur="500"/>
                                        <p:tgtEl>
                                          <p:spTgt spid="31"/>
                                        </p:tgtEl>
                                      </p:cBhvr>
                                    </p:animEffect>
                                  </p:childTnLst>
                                </p:cTn>
                              </p:par>
                            </p:childTnLst>
                          </p:cTn>
                        </p:par>
                        <p:par>
                          <p:cTn id="41" fill="hold">
                            <p:stCondLst>
                              <p:cond delay="2000"/>
                            </p:stCondLst>
                            <p:childTnLst>
                              <p:par>
                                <p:cTn id="42" presetID="22" presetClass="entr" presetSubtype="2" fill="hold" grpId="0" nodeType="after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wipe(right)">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16" presetClass="entr" presetSubtype="37"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barn(outVertical)">
                                      <p:cBhvr>
                                        <p:cTn id="49"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27" grpId="0"/>
      <p:bldP spid="28" grpId="0"/>
      <p:bldP spid="29" grpId="0"/>
      <p:bldP spid="30" grpId="0"/>
      <p:bldP spid="31" grpId="0"/>
      <p:bldP spid="32" grpId="0"/>
      <p:bldP spid="3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DC94EB-9415-658D-2A02-07F168C12FAA}"/>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400" b="1" dirty="0"/>
              <a:t>Le Processus de Conception</a:t>
            </a:r>
          </a:p>
        </p:txBody>
      </p:sp>
      <p:sp>
        <p:nvSpPr>
          <p:cNvPr id="10" name="Hexagon 9">
            <a:extLst>
              <a:ext uri="{FF2B5EF4-FFF2-40B4-BE49-F238E27FC236}">
                <a16:creationId xmlns:a16="http://schemas.microsoft.com/office/drawing/2014/main" id="{CDDDA163-8E1D-1061-A442-31C57DC6BE6E}"/>
              </a:ext>
            </a:extLst>
          </p:cNvPr>
          <p:cNvSpPr/>
          <p:nvPr/>
        </p:nvSpPr>
        <p:spPr>
          <a:xfrm rot="1828882">
            <a:off x="212002" y="178377"/>
            <a:ext cx="914400" cy="822960"/>
          </a:xfrm>
          <a:prstGeom prst="hexagon">
            <a:avLst>
              <a:gd name="adj" fmla="val 27586"/>
              <a:gd name="vf" fmla="val 11547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24E0655-DDAE-D434-29F0-B86554774770}"/>
              </a:ext>
            </a:extLst>
          </p:cNvPr>
          <p:cNvSpPr txBox="1"/>
          <p:nvPr/>
        </p:nvSpPr>
        <p:spPr>
          <a:xfrm>
            <a:off x="376493" y="322590"/>
            <a:ext cx="585417" cy="523220"/>
          </a:xfrm>
          <a:prstGeom prst="rect">
            <a:avLst/>
          </a:prstGeom>
          <a:noFill/>
        </p:spPr>
        <p:txBody>
          <a:bodyPr wrap="none" rtlCol="0">
            <a:spAutoFit/>
          </a:bodyPr>
          <a:lstStyle/>
          <a:p>
            <a:r>
              <a:rPr lang="en-US" sz="2800" b="1" dirty="0">
                <a:solidFill>
                  <a:schemeClr val="bg1"/>
                </a:solidFill>
              </a:rPr>
              <a:t>02</a:t>
            </a:r>
          </a:p>
        </p:txBody>
      </p:sp>
      <p:sp>
        <p:nvSpPr>
          <p:cNvPr id="5" name="Freeform: Shape 4">
            <a:extLst>
              <a:ext uri="{FF2B5EF4-FFF2-40B4-BE49-F238E27FC236}">
                <a16:creationId xmlns:a16="http://schemas.microsoft.com/office/drawing/2014/main" id="{66D7873C-08BD-953A-3891-4828D6F3A3F6}"/>
              </a:ext>
            </a:extLst>
          </p:cNvPr>
          <p:cNvSpPr/>
          <p:nvPr/>
        </p:nvSpPr>
        <p:spPr>
          <a:xfrm>
            <a:off x="1065887" y="3539025"/>
            <a:ext cx="731520" cy="731520"/>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tx2"/>
          </a:solidFill>
          <a:ln w="5155" cap="flat">
            <a:noFill/>
            <a:prstDash val="solid"/>
            <a:miter/>
          </a:ln>
        </p:spPr>
        <p:txBody>
          <a:bodyPr rtlCol="0" anchor="ctr"/>
          <a:lstStyle/>
          <a:p>
            <a:endParaRPr lang="en-US" dirty="0"/>
          </a:p>
        </p:txBody>
      </p:sp>
      <p:sp>
        <p:nvSpPr>
          <p:cNvPr id="18" name="Block Arc 41">
            <a:extLst>
              <a:ext uri="{FF2B5EF4-FFF2-40B4-BE49-F238E27FC236}">
                <a16:creationId xmlns:a16="http://schemas.microsoft.com/office/drawing/2014/main" id="{D4DD38E2-7165-380D-F31C-B20DBD508933}"/>
              </a:ext>
            </a:extLst>
          </p:cNvPr>
          <p:cNvSpPr/>
          <p:nvPr/>
        </p:nvSpPr>
        <p:spPr>
          <a:xfrm>
            <a:off x="623246" y="3200087"/>
            <a:ext cx="1616264" cy="1828827"/>
          </a:xfrm>
          <a:prstGeom prst="blockArc">
            <a:avLst>
              <a:gd name="adj1" fmla="val 10800000"/>
              <a:gd name="adj2" fmla="val 44603"/>
              <a:gd name="adj3" fmla="val 3819"/>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8" name="Block Arc 41">
            <a:extLst>
              <a:ext uri="{FF2B5EF4-FFF2-40B4-BE49-F238E27FC236}">
                <a16:creationId xmlns:a16="http://schemas.microsoft.com/office/drawing/2014/main" id="{498DAACA-CF29-917F-5404-CFAA2401AC44}"/>
              </a:ext>
            </a:extLst>
          </p:cNvPr>
          <p:cNvSpPr/>
          <p:nvPr/>
        </p:nvSpPr>
        <p:spPr>
          <a:xfrm>
            <a:off x="6842743" y="3238223"/>
            <a:ext cx="1616264" cy="1828827"/>
          </a:xfrm>
          <a:prstGeom prst="blockArc">
            <a:avLst>
              <a:gd name="adj1" fmla="val 10800000"/>
              <a:gd name="adj2" fmla="val 44603"/>
              <a:gd name="adj3" fmla="val 3819"/>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Block Arc 42">
            <a:extLst>
              <a:ext uri="{FF2B5EF4-FFF2-40B4-BE49-F238E27FC236}">
                <a16:creationId xmlns:a16="http://schemas.microsoft.com/office/drawing/2014/main" id="{F0048BBC-72F3-3E5F-BAD3-3A4F86B12E04}"/>
              </a:ext>
            </a:extLst>
          </p:cNvPr>
          <p:cNvSpPr/>
          <p:nvPr/>
        </p:nvSpPr>
        <p:spPr>
          <a:xfrm rot="10800000">
            <a:off x="8397887" y="3257291"/>
            <a:ext cx="1616264" cy="1828827"/>
          </a:xfrm>
          <a:prstGeom prst="blockArc">
            <a:avLst>
              <a:gd name="adj1" fmla="val 10800000"/>
              <a:gd name="adj2" fmla="val 44603"/>
              <a:gd name="adj3" fmla="val 3819"/>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Block Arc 41">
            <a:extLst>
              <a:ext uri="{FF2B5EF4-FFF2-40B4-BE49-F238E27FC236}">
                <a16:creationId xmlns:a16="http://schemas.microsoft.com/office/drawing/2014/main" id="{7B0F3FE3-D925-ED90-CB92-66B67E092042}"/>
              </a:ext>
            </a:extLst>
          </p:cNvPr>
          <p:cNvSpPr/>
          <p:nvPr/>
        </p:nvSpPr>
        <p:spPr>
          <a:xfrm>
            <a:off x="9952491" y="3257291"/>
            <a:ext cx="1616264" cy="1828827"/>
          </a:xfrm>
          <a:prstGeom prst="blockArc">
            <a:avLst>
              <a:gd name="adj1" fmla="val 10800000"/>
              <a:gd name="adj2" fmla="val 44603"/>
              <a:gd name="adj3" fmla="val 3819"/>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5" name="Freeform: Shape 34">
            <a:extLst>
              <a:ext uri="{FF2B5EF4-FFF2-40B4-BE49-F238E27FC236}">
                <a16:creationId xmlns:a16="http://schemas.microsoft.com/office/drawing/2014/main" id="{93AB679C-96BD-EBD3-CED8-BE550036E337}"/>
              </a:ext>
            </a:extLst>
          </p:cNvPr>
          <p:cNvSpPr/>
          <p:nvPr/>
        </p:nvSpPr>
        <p:spPr>
          <a:xfrm>
            <a:off x="7285115" y="3539025"/>
            <a:ext cx="731520" cy="731520"/>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accent4"/>
          </a:solidFill>
          <a:ln w="515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0CE8F3AF-0E6F-7E89-CAF8-673BC391DBD1}"/>
              </a:ext>
            </a:extLst>
          </p:cNvPr>
          <p:cNvSpPr/>
          <p:nvPr/>
        </p:nvSpPr>
        <p:spPr>
          <a:xfrm>
            <a:off x="10388867" y="3539025"/>
            <a:ext cx="731520" cy="731520"/>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accent6"/>
          </a:solidFill>
          <a:ln w="5155" cap="flat">
            <a:noFill/>
            <a:prstDash val="solid"/>
            <a:miter/>
          </a:ln>
        </p:spPr>
        <p:txBody>
          <a:bodyPr rtlCol="0" anchor="ctr"/>
          <a:lstStyle/>
          <a:p>
            <a:endParaRPr lang="en-US" dirty="0"/>
          </a:p>
        </p:txBody>
      </p:sp>
      <p:sp>
        <p:nvSpPr>
          <p:cNvPr id="19" name="Block Arc 42">
            <a:extLst>
              <a:ext uri="{FF2B5EF4-FFF2-40B4-BE49-F238E27FC236}">
                <a16:creationId xmlns:a16="http://schemas.microsoft.com/office/drawing/2014/main" id="{CB052FED-92F4-25AC-5C6D-D69CD573A552}"/>
              </a:ext>
            </a:extLst>
          </p:cNvPr>
          <p:cNvSpPr/>
          <p:nvPr/>
        </p:nvSpPr>
        <p:spPr>
          <a:xfrm rot="10800000">
            <a:off x="2178390" y="3219155"/>
            <a:ext cx="1616264" cy="1828827"/>
          </a:xfrm>
          <a:prstGeom prst="blockArc">
            <a:avLst>
              <a:gd name="adj1" fmla="val 10800000"/>
              <a:gd name="adj2" fmla="val 44603"/>
              <a:gd name="adj3" fmla="val 3819"/>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8" name="Freeform: Shape 37">
            <a:extLst>
              <a:ext uri="{FF2B5EF4-FFF2-40B4-BE49-F238E27FC236}">
                <a16:creationId xmlns:a16="http://schemas.microsoft.com/office/drawing/2014/main" id="{663A8ACF-DB5D-5EFF-9FB3-0374B34353BC}"/>
              </a:ext>
            </a:extLst>
          </p:cNvPr>
          <p:cNvSpPr/>
          <p:nvPr/>
        </p:nvSpPr>
        <p:spPr>
          <a:xfrm>
            <a:off x="2614226" y="4076345"/>
            <a:ext cx="731520" cy="731520"/>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accent1"/>
          </a:solidFill>
          <a:ln w="5155" cap="flat">
            <a:noFill/>
            <a:prstDash val="solid"/>
            <a:miter/>
          </a:ln>
        </p:spPr>
        <p:txBody>
          <a:bodyPr rtlCol="0" anchor="ctr"/>
          <a:lstStyle/>
          <a:p>
            <a:endParaRPr lang="en-US" dirty="0"/>
          </a:p>
        </p:txBody>
      </p:sp>
      <p:sp>
        <p:nvSpPr>
          <p:cNvPr id="39" name="Freeform: Shape 38">
            <a:extLst>
              <a:ext uri="{FF2B5EF4-FFF2-40B4-BE49-F238E27FC236}">
                <a16:creationId xmlns:a16="http://schemas.microsoft.com/office/drawing/2014/main" id="{443864A5-BFE7-051A-0746-4B76AA6CAF0D}"/>
              </a:ext>
            </a:extLst>
          </p:cNvPr>
          <p:cNvSpPr/>
          <p:nvPr/>
        </p:nvSpPr>
        <p:spPr>
          <a:xfrm>
            <a:off x="8840259" y="4076345"/>
            <a:ext cx="731520" cy="731520"/>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accent5"/>
          </a:solidFill>
          <a:ln w="5155" cap="flat">
            <a:noFill/>
            <a:prstDash val="solid"/>
            <a:miter/>
          </a:ln>
        </p:spPr>
        <p:txBody>
          <a:bodyPr rtlCol="0" anchor="ctr"/>
          <a:lstStyle/>
          <a:p>
            <a:endParaRPr lang="en-US" dirty="0"/>
          </a:p>
        </p:txBody>
      </p:sp>
      <p:sp>
        <p:nvSpPr>
          <p:cNvPr id="23" name="Block Arc 41">
            <a:extLst>
              <a:ext uri="{FF2B5EF4-FFF2-40B4-BE49-F238E27FC236}">
                <a16:creationId xmlns:a16="http://schemas.microsoft.com/office/drawing/2014/main" id="{D16952C4-C340-3F27-A2F2-6BDFEF0116AB}"/>
              </a:ext>
            </a:extLst>
          </p:cNvPr>
          <p:cNvSpPr/>
          <p:nvPr/>
        </p:nvSpPr>
        <p:spPr>
          <a:xfrm>
            <a:off x="3732995" y="3219155"/>
            <a:ext cx="1616264" cy="1828827"/>
          </a:xfrm>
          <a:prstGeom prst="blockArc">
            <a:avLst>
              <a:gd name="adj1" fmla="val 10800000"/>
              <a:gd name="adj2" fmla="val 44603"/>
              <a:gd name="adj3" fmla="val 3819"/>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Block Arc 42">
            <a:extLst>
              <a:ext uri="{FF2B5EF4-FFF2-40B4-BE49-F238E27FC236}">
                <a16:creationId xmlns:a16="http://schemas.microsoft.com/office/drawing/2014/main" id="{3D6B0C49-FDE9-39B4-8DFD-0A8DD28E7827}"/>
              </a:ext>
            </a:extLst>
          </p:cNvPr>
          <p:cNvSpPr/>
          <p:nvPr/>
        </p:nvSpPr>
        <p:spPr>
          <a:xfrm rot="10800000">
            <a:off x="5288139" y="3238223"/>
            <a:ext cx="1616264" cy="1828827"/>
          </a:xfrm>
          <a:prstGeom prst="blockArc">
            <a:avLst>
              <a:gd name="adj1" fmla="val 10800000"/>
              <a:gd name="adj2" fmla="val 44603"/>
              <a:gd name="adj3" fmla="val 381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Freeform: Shape 35">
            <a:extLst>
              <a:ext uri="{FF2B5EF4-FFF2-40B4-BE49-F238E27FC236}">
                <a16:creationId xmlns:a16="http://schemas.microsoft.com/office/drawing/2014/main" id="{135FB99B-B363-5555-22E5-B054B496EEA5}"/>
              </a:ext>
            </a:extLst>
          </p:cNvPr>
          <p:cNvSpPr/>
          <p:nvPr/>
        </p:nvSpPr>
        <p:spPr>
          <a:xfrm>
            <a:off x="4181902" y="3440184"/>
            <a:ext cx="731520" cy="731520"/>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accent2"/>
          </a:solidFill>
          <a:ln w="5155" cap="flat">
            <a:noFill/>
            <a:prstDash val="solid"/>
            <a:miter/>
          </a:ln>
        </p:spPr>
        <p:txBody>
          <a:bodyPr rtlCol="0" anchor="ctr"/>
          <a:lstStyle/>
          <a:p>
            <a:endParaRPr lang="en-US" dirty="0"/>
          </a:p>
        </p:txBody>
      </p:sp>
      <p:sp>
        <p:nvSpPr>
          <p:cNvPr id="40" name="Freeform: Shape 39">
            <a:extLst>
              <a:ext uri="{FF2B5EF4-FFF2-40B4-BE49-F238E27FC236}">
                <a16:creationId xmlns:a16="http://schemas.microsoft.com/office/drawing/2014/main" id="{47E8CEE3-A55F-2E75-1071-616DE89F19B5}"/>
              </a:ext>
            </a:extLst>
          </p:cNvPr>
          <p:cNvSpPr/>
          <p:nvPr/>
        </p:nvSpPr>
        <p:spPr>
          <a:xfrm>
            <a:off x="5727242" y="4076345"/>
            <a:ext cx="731520" cy="731520"/>
          </a:xfrm>
          <a:custGeom>
            <a:avLst/>
            <a:gdLst>
              <a:gd name="connsiteX0" fmla="*/ 959201 w 1857518"/>
              <a:gd name="connsiteY0" fmla="*/ 1852264 h 1847198"/>
              <a:gd name="connsiteX1" fmla="*/ 910700 w 1857518"/>
              <a:gd name="connsiteY1" fmla="*/ 1852264 h 1847198"/>
              <a:gd name="connsiteX2" fmla="*/ 891608 w 1857518"/>
              <a:gd name="connsiteY2" fmla="*/ 1830593 h 1847198"/>
              <a:gd name="connsiteX3" fmla="*/ 838463 w 1857518"/>
              <a:gd name="connsiteY3" fmla="*/ 1669608 h 1847198"/>
              <a:gd name="connsiteX4" fmla="*/ 813180 w 1857518"/>
              <a:gd name="connsiteY4" fmla="*/ 1646905 h 1847198"/>
              <a:gd name="connsiteX5" fmla="*/ 730624 w 1857518"/>
              <a:gd name="connsiteY5" fmla="*/ 1628330 h 1847198"/>
              <a:gd name="connsiteX6" fmla="*/ 693990 w 1857518"/>
              <a:gd name="connsiteY6" fmla="*/ 1639165 h 1847198"/>
              <a:gd name="connsiteX7" fmla="*/ 573251 w 1857518"/>
              <a:gd name="connsiteY7" fmla="*/ 1761452 h 1847198"/>
              <a:gd name="connsiteX8" fmla="*/ 542292 w 1857518"/>
              <a:gd name="connsiteY8" fmla="*/ 1766612 h 1847198"/>
              <a:gd name="connsiteX9" fmla="*/ 412782 w 1857518"/>
              <a:gd name="connsiteY9" fmla="*/ 1693859 h 1847198"/>
              <a:gd name="connsiteX10" fmla="*/ 398334 w 1857518"/>
              <a:gd name="connsiteY10" fmla="*/ 1660836 h 1847198"/>
              <a:gd name="connsiteX11" fmla="*/ 440644 w 1857518"/>
              <a:gd name="connsiteY11" fmla="*/ 1494176 h 1847198"/>
              <a:gd name="connsiteX12" fmla="*/ 432904 w 1857518"/>
              <a:gd name="connsiteY12" fmla="*/ 1462185 h 1847198"/>
              <a:gd name="connsiteX13" fmla="*/ 370471 w 1857518"/>
              <a:gd name="connsiteY13" fmla="*/ 1397172 h 1847198"/>
              <a:gd name="connsiteX14" fmla="*/ 340545 w 1857518"/>
              <a:gd name="connsiteY14" fmla="*/ 1388400 h 1847198"/>
              <a:gd name="connsiteX15" fmla="*/ 310618 w 1857518"/>
              <a:gd name="connsiteY15" fmla="*/ 1395108 h 1847198"/>
              <a:gd name="connsiteX16" fmla="*/ 170273 w 1857518"/>
              <a:gd name="connsiteY16" fmla="*/ 1426583 h 1847198"/>
              <a:gd name="connsiteX17" fmla="*/ 141377 w 1857518"/>
              <a:gd name="connsiteY17" fmla="*/ 1413683 h 1847198"/>
              <a:gd name="connsiteX18" fmla="*/ 70689 w 1857518"/>
              <a:gd name="connsiteY18" fmla="*/ 1276949 h 1847198"/>
              <a:gd name="connsiteX19" fmla="*/ 75848 w 1857518"/>
              <a:gd name="connsiteY19" fmla="*/ 1247539 h 1847198"/>
              <a:gd name="connsiteX20" fmla="*/ 206391 w 1857518"/>
              <a:gd name="connsiteY20" fmla="*/ 1126284 h 1847198"/>
              <a:gd name="connsiteX21" fmla="*/ 216710 w 1857518"/>
              <a:gd name="connsiteY21" fmla="*/ 1096873 h 1847198"/>
              <a:gd name="connsiteX22" fmla="*/ 201231 w 1857518"/>
              <a:gd name="connsiteY22" fmla="*/ 1012769 h 1847198"/>
              <a:gd name="connsiteX23" fmla="*/ 181108 w 1857518"/>
              <a:gd name="connsiteY23" fmla="*/ 989034 h 1847198"/>
              <a:gd name="connsiteX24" fmla="*/ 67077 w 1857518"/>
              <a:gd name="connsiteY24" fmla="*/ 947240 h 1847198"/>
              <a:gd name="connsiteX25" fmla="*/ 0 w 1857518"/>
              <a:gd name="connsiteY25" fmla="*/ 921957 h 1847198"/>
              <a:gd name="connsiteX26" fmla="*/ 0 w 1857518"/>
              <a:gd name="connsiteY26" fmla="*/ 893062 h 1847198"/>
              <a:gd name="connsiteX27" fmla="*/ 4643 w 1857518"/>
              <a:gd name="connsiteY27" fmla="*/ 842496 h 1847198"/>
              <a:gd name="connsiteX28" fmla="*/ 17543 w 1857518"/>
              <a:gd name="connsiteY28" fmla="*/ 743945 h 1847198"/>
              <a:gd name="connsiteX29" fmla="*/ 38182 w 1857518"/>
              <a:gd name="connsiteY29" fmla="*/ 723305 h 1847198"/>
              <a:gd name="connsiteX30" fmla="*/ 214131 w 1857518"/>
              <a:gd name="connsiteY30" fmla="*/ 691315 h 1847198"/>
              <a:gd name="connsiteX31" fmla="*/ 239929 w 1857518"/>
              <a:gd name="connsiteY31" fmla="*/ 671192 h 1847198"/>
              <a:gd name="connsiteX32" fmla="*/ 266760 w 1857518"/>
              <a:gd name="connsiteY32" fmla="*/ 606695 h 1847198"/>
              <a:gd name="connsiteX33" fmla="*/ 262116 w 1857518"/>
              <a:gd name="connsiteY33" fmla="*/ 570060 h 1847198"/>
              <a:gd name="connsiteX34" fmla="*/ 159437 w 1857518"/>
              <a:gd name="connsiteY34" fmla="*/ 434874 h 1847198"/>
              <a:gd name="connsiteX35" fmla="*/ 159953 w 1857518"/>
              <a:gd name="connsiteY35" fmla="*/ 401336 h 1847198"/>
              <a:gd name="connsiteX36" fmla="*/ 259536 w 1857518"/>
              <a:gd name="connsiteY36" fmla="*/ 278017 h 1847198"/>
              <a:gd name="connsiteX37" fmla="*/ 294623 w 1857518"/>
              <a:gd name="connsiteY37" fmla="*/ 268729 h 1847198"/>
              <a:gd name="connsiteX38" fmla="*/ 457672 w 1857518"/>
              <a:gd name="connsiteY38" fmla="*/ 336322 h 1847198"/>
              <a:gd name="connsiteX39" fmla="*/ 489146 w 1857518"/>
              <a:gd name="connsiteY39" fmla="*/ 333743 h 1847198"/>
              <a:gd name="connsiteX40" fmla="*/ 540744 w 1857518"/>
              <a:gd name="connsiteY40" fmla="*/ 298140 h 1847198"/>
              <a:gd name="connsiteX41" fmla="*/ 553127 w 1857518"/>
              <a:gd name="connsiteY41" fmla="*/ 273889 h 1847198"/>
              <a:gd name="connsiteX42" fmla="*/ 552096 w 1857518"/>
              <a:gd name="connsiteY42" fmla="*/ 255830 h 1847198"/>
              <a:gd name="connsiteX43" fmla="*/ 545904 w 1857518"/>
              <a:gd name="connsiteY43" fmla="*/ 175854 h 1847198"/>
              <a:gd name="connsiteX44" fmla="*/ 539712 w 1857518"/>
              <a:gd name="connsiteY44" fmla="*/ 95877 h 1847198"/>
              <a:gd name="connsiteX45" fmla="*/ 556739 w 1857518"/>
              <a:gd name="connsiteY45" fmla="*/ 69562 h 1847198"/>
              <a:gd name="connsiteX46" fmla="*/ 716176 w 1857518"/>
              <a:gd name="connsiteY46" fmla="*/ 15901 h 1847198"/>
              <a:gd name="connsiteX47" fmla="*/ 726496 w 1857518"/>
              <a:gd name="connsiteY47" fmla="*/ 14353 h 1847198"/>
              <a:gd name="connsiteX48" fmla="*/ 748167 w 1857518"/>
              <a:gd name="connsiteY48" fmla="*/ 28800 h 1847198"/>
              <a:gd name="connsiteX49" fmla="*/ 847750 w 1857518"/>
              <a:gd name="connsiteY49" fmla="*/ 172758 h 1847198"/>
              <a:gd name="connsiteX50" fmla="*/ 878709 w 1857518"/>
              <a:gd name="connsiteY50" fmla="*/ 187721 h 1847198"/>
              <a:gd name="connsiteX51" fmla="*/ 931855 w 1857518"/>
              <a:gd name="connsiteY51" fmla="*/ 185657 h 1847198"/>
              <a:gd name="connsiteX52" fmla="*/ 948366 w 1857518"/>
              <a:gd name="connsiteY52" fmla="*/ 177401 h 1847198"/>
              <a:gd name="connsiteX53" fmla="*/ 954042 w 1857518"/>
              <a:gd name="connsiteY53" fmla="*/ 169146 h 1847198"/>
              <a:gd name="connsiteX54" fmla="*/ 979840 w 1857518"/>
              <a:gd name="connsiteY54" fmla="*/ 121676 h 1847198"/>
              <a:gd name="connsiteX55" fmla="*/ 1037630 w 1857518"/>
              <a:gd name="connsiteY55" fmla="*/ 13837 h 1847198"/>
              <a:gd name="connsiteX56" fmla="*/ 1066525 w 1857518"/>
              <a:gd name="connsiteY56" fmla="*/ 937 h 1847198"/>
              <a:gd name="connsiteX57" fmla="*/ 1233702 w 1857518"/>
              <a:gd name="connsiteY57" fmla="*/ 40667 h 1847198"/>
              <a:gd name="connsiteX58" fmla="*/ 1253309 w 1857518"/>
              <a:gd name="connsiteY58" fmla="*/ 64918 h 1847198"/>
              <a:gd name="connsiteX59" fmla="*/ 1254341 w 1857518"/>
              <a:gd name="connsiteY59" fmla="*/ 85042 h 1847198"/>
              <a:gd name="connsiteX60" fmla="*/ 1258468 w 1857518"/>
              <a:gd name="connsiteY60" fmla="*/ 209908 h 1847198"/>
              <a:gd name="connsiteX61" fmla="*/ 1260016 w 1857518"/>
              <a:gd name="connsiteY61" fmla="*/ 244478 h 1847198"/>
              <a:gd name="connsiteX62" fmla="*/ 1276012 w 1857518"/>
              <a:gd name="connsiteY62" fmla="*/ 270277 h 1847198"/>
              <a:gd name="connsiteX63" fmla="*/ 1313678 w 1857518"/>
              <a:gd name="connsiteY63" fmla="*/ 291948 h 1847198"/>
              <a:gd name="connsiteX64" fmla="*/ 1349797 w 1857518"/>
              <a:gd name="connsiteY64" fmla="*/ 291948 h 1847198"/>
              <a:gd name="connsiteX65" fmla="*/ 1502526 w 1857518"/>
              <a:gd name="connsiteY65" fmla="*/ 206812 h 1847198"/>
              <a:gd name="connsiteX66" fmla="*/ 1535033 w 1857518"/>
              <a:gd name="connsiteY66" fmla="*/ 211456 h 1847198"/>
              <a:gd name="connsiteX67" fmla="*/ 1653707 w 1857518"/>
              <a:gd name="connsiteY67" fmla="*/ 332711 h 1847198"/>
              <a:gd name="connsiteX68" fmla="*/ 1657835 w 1857518"/>
              <a:gd name="connsiteY68" fmla="*/ 366249 h 1847198"/>
              <a:gd name="connsiteX69" fmla="*/ 1569087 w 1857518"/>
              <a:gd name="connsiteY69" fmla="*/ 515883 h 1847198"/>
              <a:gd name="connsiteX70" fmla="*/ 1568571 w 1857518"/>
              <a:gd name="connsiteY70" fmla="*/ 550453 h 1847198"/>
              <a:gd name="connsiteX71" fmla="*/ 1591274 w 1857518"/>
              <a:gd name="connsiteY71" fmla="*/ 592247 h 1847198"/>
              <a:gd name="connsiteX72" fmla="*/ 1617589 w 1857518"/>
              <a:gd name="connsiteY72" fmla="*/ 608759 h 1847198"/>
              <a:gd name="connsiteX73" fmla="*/ 1676926 w 1857518"/>
              <a:gd name="connsiteY73" fmla="*/ 612886 h 1847198"/>
              <a:gd name="connsiteX74" fmla="*/ 1797665 w 1857518"/>
              <a:gd name="connsiteY74" fmla="*/ 620626 h 1847198"/>
              <a:gd name="connsiteX75" fmla="*/ 1820884 w 1857518"/>
              <a:gd name="connsiteY75" fmla="*/ 640233 h 1847198"/>
              <a:gd name="connsiteX76" fmla="*/ 1857518 w 1857518"/>
              <a:gd name="connsiteY76" fmla="*/ 808442 h 1847198"/>
              <a:gd name="connsiteX77" fmla="*/ 1851842 w 1857518"/>
              <a:gd name="connsiteY77" fmla="*/ 829081 h 1847198"/>
              <a:gd name="connsiteX78" fmla="*/ 1841523 w 1857518"/>
              <a:gd name="connsiteY78" fmla="*/ 836305 h 1847198"/>
              <a:gd name="connsiteX79" fmla="*/ 1686214 w 1857518"/>
              <a:gd name="connsiteY79" fmla="*/ 913701 h 1847198"/>
              <a:gd name="connsiteX80" fmla="*/ 1668670 w 1857518"/>
              <a:gd name="connsiteY80" fmla="*/ 940016 h 1847198"/>
              <a:gd name="connsiteX81" fmla="*/ 1665059 w 1857518"/>
              <a:gd name="connsiteY81" fmla="*/ 998322 h 1847198"/>
              <a:gd name="connsiteX82" fmla="*/ 1678474 w 1857518"/>
              <a:gd name="connsiteY82" fmla="*/ 1026184 h 1847198"/>
              <a:gd name="connsiteX83" fmla="*/ 1821916 w 1857518"/>
              <a:gd name="connsiteY83" fmla="*/ 1131960 h 1847198"/>
              <a:gd name="connsiteX84" fmla="*/ 1831720 w 1857518"/>
              <a:gd name="connsiteY84" fmla="*/ 1163950 h 1847198"/>
              <a:gd name="connsiteX85" fmla="*/ 1805404 w 1857518"/>
              <a:gd name="connsiteY85" fmla="*/ 1236703 h 1847198"/>
              <a:gd name="connsiteX86" fmla="*/ 1775478 w 1857518"/>
              <a:gd name="connsiteY86" fmla="*/ 1317711 h 1847198"/>
              <a:gd name="connsiteX87" fmla="*/ 1750195 w 1857518"/>
              <a:gd name="connsiteY87" fmla="*/ 1334223 h 1847198"/>
              <a:gd name="connsiteX88" fmla="*/ 1685698 w 1857518"/>
              <a:gd name="connsiteY88" fmla="*/ 1327515 h 1847198"/>
              <a:gd name="connsiteX89" fmla="*/ 1574247 w 1857518"/>
              <a:gd name="connsiteY89" fmla="*/ 1315648 h 1847198"/>
              <a:gd name="connsiteX90" fmla="*/ 1545868 w 1857518"/>
              <a:gd name="connsiteY90" fmla="*/ 1328547 h 1847198"/>
              <a:gd name="connsiteX91" fmla="*/ 1505622 w 1857518"/>
              <a:gd name="connsiteY91" fmla="*/ 1383241 h 1847198"/>
              <a:gd name="connsiteX92" fmla="*/ 1500978 w 1857518"/>
              <a:gd name="connsiteY92" fmla="*/ 1417811 h 1847198"/>
              <a:gd name="connsiteX93" fmla="*/ 1563411 w 1857518"/>
              <a:gd name="connsiteY93" fmla="*/ 1581892 h 1847198"/>
              <a:gd name="connsiteX94" fmla="*/ 1554124 w 1857518"/>
              <a:gd name="connsiteY94" fmla="*/ 1615430 h 1847198"/>
              <a:gd name="connsiteX95" fmla="*/ 1430805 w 1857518"/>
              <a:gd name="connsiteY95" fmla="*/ 1708822 h 1847198"/>
              <a:gd name="connsiteX96" fmla="*/ 1397266 w 1857518"/>
              <a:gd name="connsiteY96" fmla="*/ 1708306 h 1847198"/>
              <a:gd name="connsiteX97" fmla="*/ 1263628 w 1857518"/>
              <a:gd name="connsiteY97" fmla="*/ 1600467 h 1847198"/>
              <a:gd name="connsiteX98" fmla="*/ 1232154 w 1857518"/>
              <a:gd name="connsiteY98" fmla="*/ 1594275 h 1847198"/>
              <a:gd name="connsiteX99" fmla="*/ 1153725 w 1857518"/>
              <a:gd name="connsiteY99" fmla="*/ 1624202 h 1847198"/>
              <a:gd name="connsiteX100" fmla="*/ 1134634 w 1857518"/>
              <a:gd name="connsiteY100" fmla="*/ 1646905 h 1847198"/>
              <a:gd name="connsiteX101" fmla="*/ 1123798 w 1857518"/>
              <a:gd name="connsiteY101" fmla="*/ 1698503 h 1847198"/>
              <a:gd name="connsiteX102" fmla="*/ 1097999 w 1857518"/>
              <a:gd name="connsiteY102" fmla="*/ 1821821 h 1847198"/>
              <a:gd name="connsiteX103" fmla="*/ 1076329 w 1857518"/>
              <a:gd name="connsiteY103" fmla="*/ 1842460 h 1847198"/>
              <a:gd name="connsiteX104" fmla="*/ 994288 w 1857518"/>
              <a:gd name="connsiteY104" fmla="*/ 1851232 h 1847198"/>
              <a:gd name="connsiteX105" fmla="*/ 959201 w 1857518"/>
              <a:gd name="connsiteY105" fmla="*/ 1852264 h 1847198"/>
              <a:gd name="connsiteX106" fmla="*/ 928759 w 1857518"/>
              <a:gd name="connsiteY106" fmla="*/ 382245 h 1847198"/>
              <a:gd name="connsiteX107" fmla="*/ 386983 w 1857518"/>
              <a:gd name="connsiteY107" fmla="*/ 921957 h 1847198"/>
              <a:gd name="connsiteX108" fmla="*/ 926695 w 1857518"/>
              <a:gd name="connsiteY108" fmla="*/ 1465797 h 1847198"/>
              <a:gd name="connsiteX109" fmla="*/ 1470535 w 1857518"/>
              <a:gd name="connsiteY109" fmla="*/ 924537 h 1847198"/>
              <a:gd name="connsiteX110" fmla="*/ 928759 w 1857518"/>
              <a:gd name="connsiteY110" fmla="*/ 382245 h 184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1857518" h="1847198">
                <a:moveTo>
                  <a:pt x="959201" y="1852264"/>
                </a:moveTo>
                <a:cubicBezTo>
                  <a:pt x="943206" y="1852264"/>
                  <a:pt x="927211" y="1852264"/>
                  <a:pt x="910700" y="1852264"/>
                </a:cubicBezTo>
                <a:cubicBezTo>
                  <a:pt x="900380" y="1848652"/>
                  <a:pt x="894704" y="1840913"/>
                  <a:pt x="891608" y="1830593"/>
                </a:cubicBezTo>
                <a:cubicBezTo>
                  <a:pt x="874065" y="1776931"/>
                  <a:pt x="856006" y="1723270"/>
                  <a:pt x="838463" y="1669608"/>
                </a:cubicBezTo>
                <a:cubicBezTo>
                  <a:pt x="834335" y="1657224"/>
                  <a:pt x="826080" y="1649485"/>
                  <a:pt x="813180" y="1646905"/>
                </a:cubicBezTo>
                <a:cubicBezTo>
                  <a:pt x="785833" y="1640713"/>
                  <a:pt x="757970" y="1635037"/>
                  <a:pt x="730624" y="1628330"/>
                </a:cubicBezTo>
                <a:cubicBezTo>
                  <a:pt x="716176" y="1624718"/>
                  <a:pt x="704309" y="1628330"/>
                  <a:pt x="693990" y="1639165"/>
                </a:cubicBezTo>
                <a:cubicBezTo>
                  <a:pt x="654259" y="1680443"/>
                  <a:pt x="613497" y="1720690"/>
                  <a:pt x="573251" y="1761452"/>
                </a:cubicBezTo>
                <a:cubicBezTo>
                  <a:pt x="563963" y="1770739"/>
                  <a:pt x="553127" y="1772804"/>
                  <a:pt x="542292" y="1766612"/>
                </a:cubicBezTo>
                <a:cubicBezTo>
                  <a:pt x="498950" y="1742361"/>
                  <a:pt x="456123" y="1718110"/>
                  <a:pt x="412782" y="1693859"/>
                </a:cubicBezTo>
                <a:cubicBezTo>
                  <a:pt x="397818" y="1685603"/>
                  <a:pt x="394206" y="1676832"/>
                  <a:pt x="398334" y="1660836"/>
                </a:cubicBezTo>
                <a:cubicBezTo>
                  <a:pt x="412265" y="1605111"/>
                  <a:pt x="426713" y="1549901"/>
                  <a:pt x="440644" y="1494176"/>
                </a:cubicBezTo>
                <a:cubicBezTo>
                  <a:pt x="443741" y="1482308"/>
                  <a:pt x="441676" y="1471473"/>
                  <a:pt x="432904" y="1462185"/>
                </a:cubicBezTo>
                <a:cubicBezTo>
                  <a:pt x="412265" y="1440514"/>
                  <a:pt x="391110" y="1418843"/>
                  <a:pt x="370471" y="1397172"/>
                </a:cubicBezTo>
                <a:cubicBezTo>
                  <a:pt x="362216" y="1388400"/>
                  <a:pt x="351896" y="1385820"/>
                  <a:pt x="340545" y="1388400"/>
                </a:cubicBezTo>
                <a:cubicBezTo>
                  <a:pt x="330226" y="1390464"/>
                  <a:pt x="320422" y="1393044"/>
                  <a:pt x="310618" y="1395108"/>
                </a:cubicBezTo>
                <a:cubicBezTo>
                  <a:pt x="263664" y="1405428"/>
                  <a:pt x="217226" y="1416263"/>
                  <a:pt x="170273" y="1426583"/>
                </a:cubicBezTo>
                <a:cubicBezTo>
                  <a:pt x="157373" y="1429679"/>
                  <a:pt x="147054" y="1425035"/>
                  <a:pt x="141377" y="1413683"/>
                </a:cubicBezTo>
                <a:cubicBezTo>
                  <a:pt x="117642" y="1368277"/>
                  <a:pt x="94423" y="1322355"/>
                  <a:pt x="70689" y="1276949"/>
                </a:cubicBezTo>
                <a:cubicBezTo>
                  <a:pt x="65529" y="1266630"/>
                  <a:pt x="67593" y="1255278"/>
                  <a:pt x="75848" y="1247539"/>
                </a:cubicBezTo>
                <a:cubicBezTo>
                  <a:pt x="119191" y="1207292"/>
                  <a:pt x="163049" y="1166530"/>
                  <a:pt x="206391" y="1126284"/>
                </a:cubicBezTo>
                <a:cubicBezTo>
                  <a:pt x="215162" y="1118544"/>
                  <a:pt x="218258" y="1108225"/>
                  <a:pt x="216710" y="1096873"/>
                </a:cubicBezTo>
                <a:cubicBezTo>
                  <a:pt x="211551" y="1069010"/>
                  <a:pt x="206391" y="1040631"/>
                  <a:pt x="201231" y="1012769"/>
                </a:cubicBezTo>
                <a:cubicBezTo>
                  <a:pt x="199167" y="1000901"/>
                  <a:pt x="192459" y="993162"/>
                  <a:pt x="181108" y="989034"/>
                </a:cubicBezTo>
                <a:cubicBezTo>
                  <a:pt x="142925" y="975103"/>
                  <a:pt x="104743" y="961171"/>
                  <a:pt x="67077" y="947240"/>
                </a:cubicBezTo>
                <a:cubicBezTo>
                  <a:pt x="44890" y="938984"/>
                  <a:pt x="22187" y="931760"/>
                  <a:pt x="0" y="921957"/>
                </a:cubicBezTo>
                <a:cubicBezTo>
                  <a:pt x="0" y="912153"/>
                  <a:pt x="0" y="902866"/>
                  <a:pt x="0" y="893062"/>
                </a:cubicBezTo>
                <a:cubicBezTo>
                  <a:pt x="1548" y="876035"/>
                  <a:pt x="3096" y="859524"/>
                  <a:pt x="4643" y="842496"/>
                </a:cubicBezTo>
                <a:cubicBezTo>
                  <a:pt x="7740" y="809474"/>
                  <a:pt x="12383" y="776451"/>
                  <a:pt x="17543" y="743945"/>
                </a:cubicBezTo>
                <a:cubicBezTo>
                  <a:pt x="19091" y="733109"/>
                  <a:pt x="26831" y="725369"/>
                  <a:pt x="38182" y="723305"/>
                </a:cubicBezTo>
                <a:cubicBezTo>
                  <a:pt x="97003" y="712470"/>
                  <a:pt x="155309" y="702150"/>
                  <a:pt x="214131" y="691315"/>
                </a:cubicBezTo>
                <a:cubicBezTo>
                  <a:pt x="226514" y="689251"/>
                  <a:pt x="234770" y="682543"/>
                  <a:pt x="239929" y="671192"/>
                </a:cubicBezTo>
                <a:cubicBezTo>
                  <a:pt x="248701" y="649521"/>
                  <a:pt x="257989" y="627850"/>
                  <a:pt x="266760" y="606695"/>
                </a:cubicBezTo>
                <a:cubicBezTo>
                  <a:pt x="272436" y="593279"/>
                  <a:pt x="270888" y="581928"/>
                  <a:pt x="262116" y="570060"/>
                </a:cubicBezTo>
                <a:cubicBezTo>
                  <a:pt x="227546" y="525170"/>
                  <a:pt x="193492" y="479764"/>
                  <a:pt x="159437" y="434874"/>
                </a:cubicBezTo>
                <a:cubicBezTo>
                  <a:pt x="150665" y="423007"/>
                  <a:pt x="150665" y="412687"/>
                  <a:pt x="159953" y="401336"/>
                </a:cubicBezTo>
                <a:cubicBezTo>
                  <a:pt x="192975" y="360058"/>
                  <a:pt x="225998" y="319295"/>
                  <a:pt x="259536" y="278017"/>
                </a:cubicBezTo>
                <a:cubicBezTo>
                  <a:pt x="270372" y="265118"/>
                  <a:pt x="279144" y="262538"/>
                  <a:pt x="294623" y="268729"/>
                </a:cubicBezTo>
                <a:cubicBezTo>
                  <a:pt x="348801" y="291433"/>
                  <a:pt x="402978" y="313620"/>
                  <a:pt x="457672" y="336322"/>
                </a:cubicBezTo>
                <a:cubicBezTo>
                  <a:pt x="468507" y="340966"/>
                  <a:pt x="479342" y="340450"/>
                  <a:pt x="489146" y="333743"/>
                </a:cubicBezTo>
                <a:cubicBezTo>
                  <a:pt x="506690" y="321875"/>
                  <a:pt x="523717" y="310008"/>
                  <a:pt x="540744" y="298140"/>
                </a:cubicBezTo>
                <a:cubicBezTo>
                  <a:pt x="548999" y="292464"/>
                  <a:pt x="553127" y="284209"/>
                  <a:pt x="553127" y="273889"/>
                </a:cubicBezTo>
                <a:cubicBezTo>
                  <a:pt x="553127" y="267697"/>
                  <a:pt x="552612" y="261506"/>
                  <a:pt x="552096" y="255830"/>
                </a:cubicBezTo>
                <a:cubicBezTo>
                  <a:pt x="550032" y="228999"/>
                  <a:pt x="547968" y="202684"/>
                  <a:pt x="545904" y="175854"/>
                </a:cubicBezTo>
                <a:cubicBezTo>
                  <a:pt x="543840" y="149023"/>
                  <a:pt x="541776" y="122708"/>
                  <a:pt x="539712" y="95877"/>
                </a:cubicBezTo>
                <a:cubicBezTo>
                  <a:pt x="538680" y="83493"/>
                  <a:pt x="544872" y="73690"/>
                  <a:pt x="556739" y="69562"/>
                </a:cubicBezTo>
                <a:cubicBezTo>
                  <a:pt x="609885" y="51503"/>
                  <a:pt x="663031" y="33444"/>
                  <a:pt x="716176" y="15901"/>
                </a:cubicBezTo>
                <a:cubicBezTo>
                  <a:pt x="719788" y="14869"/>
                  <a:pt x="722884" y="14353"/>
                  <a:pt x="726496" y="14353"/>
                </a:cubicBezTo>
                <a:cubicBezTo>
                  <a:pt x="736299" y="14869"/>
                  <a:pt x="742491" y="21060"/>
                  <a:pt x="748167" y="28800"/>
                </a:cubicBezTo>
                <a:cubicBezTo>
                  <a:pt x="781189" y="76786"/>
                  <a:pt x="814728" y="124772"/>
                  <a:pt x="847750" y="172758"/>
                </a:cubicBezTo>
                <a:cubicBezTo>
                  <a:pt x="855490" y="183593"/>
                  <a:pt x="865810" y="188753"/>
                  <a:pt x="878709" y="187721"/>
                </a:cubicBezTo>
                <a:cubicBezTo>
                  <a:pt x="896252" y="186173"/>
                  <a:pt x="914312" y="185657"/>
                  <a:pt x="931855" y="185657"/>
                </a:cubicBezTo>
                <a:cubicBezTo>
                  <a:pt x="939079" y="185657"/>
                  <a:pt x="944239" y="183077"/>
                  <a:pt x="948366" y="177401"/>
                </a:cubicBezTo>
                <a:cubicBezTo>
                  <a:pt x="950430" y="174822"/>
                  <a:pt x="952494" y="171726"/>
                  <a:pt x="954042" y="169146"/>
                </a:cubicBezTo>
                <a:cubicBezTo>
                  <a:pt x="962814" y="153150"/>
                  <a:pt x="971069" y="137155"/>
                  <a:pt x="979840" y="121676"/>
                </a:cubicBezTo>
                <a:cubicBezTo>
                  <a:pt x="998932" y="85558"/>
                  <a:pt x="1018539" y="49955"/>
                  <a:pt x="1037630" y="13837"/>
                </a:cubicBezTo>
                <a:cubicBezTo>
                  <a:pt x="1043822" y="2485"/>
                  <a:pt x="1053626" y="-2159"/>
                  <a:pt x="1066525" y="937"/>
                </a:cubicBezTo>
                <a:cubicBezTo>
                  <a:pt x="1122251" y="14353"/>
                  <a:pt x="1177976" y="27252"/>
                  <a:pt x="1233702" y="40667"/>
                </a:cubicBezTo>
                <a:cubicBezTo>
                  <a:pt x="1245569" y="43763"/>
                  <a:pt x="1252793" y="52535"/>
                  <a:pt x="1253309" y="64918"/>
                </a:cubicBezTo>
                <a:cubicBezTo>
                  <a:pt x="1253825" y="71626"/>
                  <a:pt x="1253825" y="78334"/>
                  <a:pt x="1254341" y="85042"/>
                </a:cubicBezTo>
                <a:cubicBezTo>
                  <a:pt x="1255888" y="126836"/>
                  <a:pt x="1256921" y="168630"/>
                  <a:pt x="1258468" y="209908"/>
                </a:cubicBezTo>
                <a:cubicBezTo>
                  <a:pt x="1258985" y="221260"/>
                  <a:pt x="1259501" y="233127"/>
                  <a:pt x="1260016" y="244478"/>
                </a:cubicBezTo>
                <a:cubicBezTo>
                  <a:pt x="1260532" y="255830"/>
                  <a:pt x="1266208" y="264602"/>
                  <a:pt x="1276012" y="270277"/>
                </a:cubicBezTo>
                <a:cubicBezTo>
                  <a:pt x="1288395" y="277501"/>
                  <a:pt x="1301295" y="284209"/>
                  <a:pt x="1313678" y="291948"/>
                </a:cubicBezTo>
                <a:cubicBezTo>
                  <a:pt x="1326062" y="299172"/>
                  <a:pt x="1337413" y="298656"/>
                  <a:pt x="1349797" y="291948"/>
                </a:cubicBezTo>
                <a:cubicBezTo>
                  <a:pt x="1400879" y="263570"/>
                  <a:pt x="1451444" y="235191"/>
                  <a:pt x="1502526" y="206812"/>
                </a:cubicBezTo>
                <a:cubicBezTo>
                  <a:pt x="1514394" y="200105"/>
                  <a:pt x="1525745" y="202168"/>
                  <a:pt x="1535033" y="211456"/>
                </a:cubicBezTo>
                <a:cubicBezTo>
                  <a:pt x="1574763" y="251702"/>
                  <a:pt x="1613977" y="292464"/>
                  <a:pt x="1653707" y="332711"/>
                </a:cubicBezTo>
                <a:cubicBezTo>
                  <a:pt x="1664027" y="343546"/>
                  <a:pt x="1665575" y="353350"/>
                  <a:pt x="1657835" y="366249"/>
                </a:cubicBezTo>
                <a:cubicBezTo>
                  <a:pt x="1628424" y="416299"/>
                  <a:pt x="1598497" y="465833"/>
                  <a:pt x="1569087" y="515883"/>
                </a:cubicBezTo>
                <a:cubicBezTo>
                  <a:pt x="1562379" y="527234"/>
                  <a:pt x="1561863" y="539102"/>
                  <a:pt x="1568571" y="550453"/>
                </a:cubicBezTo>
                <a:cubicBezTo>
                  <a:pt x="1576311" y="564384"/>
                  <a:pt x="1583534" y="578316"/>
                  <a:pt x="1591274" y="592247"/>
                </a:cubicBezTo>
                <a:cubicBezTo>
                  <a:pt x="1596950" y="602567"/>
                  <a:pt x="1605721" y="608243"/>
                  <a:pt x="1617589" y="608759"/>
                </a:cubicBezTo>
                <a:cubicBezTo>
                  <a:pt x="1637196" y="610307"/>
                  <a:pt x="1657319" y="611339"/>
                  <a:pt x="1676926" y="612886"/>
                </a:cubicBezTo>
                <a:cubicBezTo>
                  <a:pt x="1717172" y="615466"/>
                  <a:pt x="1757419" y="618046"/>
                  <a:pt x="1797665" y="620626"/>
                </a:cubicBezTo>
                <a:cubicBezTo>
                  <a:pt x="1809016" y="621142"/>
                  <a:pt x="1818304" y="628882"/>
                  <a:pt x="1820884" y="640233"/>
                </a:cubicBezTo>
                <a:cubicBezTo>
                  <a:pt x="1833267" y="695959"/>
                  <a:pt x="1845135" y="752200"/>
                  <a:pt x="1857518" y="808442"/>
                </a:cubicBezTo>
                <a:cubicBezTo>
                  <a:pt x="1859066" y="816181"/>
                  <a:pt x="1857002" y="822889"/>
                  <a:pt x="1851842" y="829081"/>
                </a:cubicBezTo>
                <a:cubicBezTo>
                  <a:pt x="1849262" y="832177"/>
                  <a:pt x="1845135" y="834241"/>
                  <a:pt x="1841523" y="836305"/>
                </a:cubicBezTo>
                <a:cubicBezTo>
                  <a:pt x="1789925" y="862103"/>
                  <a:pt x="1738327" y="887902"/>
                  <a:pt x="1686214" y="913701"/>
                </a:cubicBezTo>
                <a:cubicBezTo>
                  <a:pt x="1675378" y="919377"/>
                  <a:pt x="1669187" y="927633"/>
                  <a:pt x="1668670" y="940016"/>
                </a:cubicBezTo>
                <a:cubicBezTo>
                  <a:pt x="1667639" y="959623"/>
                  <a:pt x="1666090" y="978714"/>
                  <a:pt x="1665059" y="998322"/>
                </a:cubicBezTo>
                <a:cubicBezTo>
                  <a:pt x="1664543" y="1009673"/>
                  <a:pt x="1668670" y="1019477"/>
                  <a:pt x="1678474" y="1026184"/>
                </a:cubicBezTo>
                <a:cubicBezTo>
                  <a:pt x="1726460" y="1061271"/>
                  <a:pt x="1773930" y="1096873"/>
                  <a:pt x="1821916" y="1131960"/>
                </a:cubicBezTo>
                <a:cubicBezTo>
                  <a:pt x="1833267" y="1140215"/>
                  <a:pt x="1836879" y="1150535"/>
                  <a:pt x="1831720" y="1163950"/>
                </a:cubicBezTo>
                <a:cubicBezTo>
                  <a:pt x="1822948" y="1188201"/>
                  <a:pt x="1814176" y="1212452"/>
                  <a:pt x="1805404" y="1236703"/>
                </a:cubicBezTo>
                <a:cubicBezTo>
                  <a:pt x="1795601" y="1263534"/>
                  <a:pt x="1785798" y="1290881"/>
                  <a:pt x="1775478" y="1317711"/>
                </a:cubicBezTo>
                <a:cubicBezTo>
                  <a:pt x="1771350" y="1329063"/>
                  <a:pt x="1761546" y="1335255"/>
                  <a:pt x="1750195" y="1334223"/>
                </a:cubicBezTo>
                <a:cubicBezTo>
                  <a:pt x="1728524" y="1332159"/>
                  <a:pt x="1707369" y="1329579"/>
                  <a:pt x="1685698" y="1327515"/>
                </a:cubicBezTo>
                <a:cubicBezTo>
                  <a:pt x="1648548" y="1323387"/>
                  <a:pt x="1611397" y="1319259"/>
                  <a:pt x="1574247" y="1315648"/>
                </a:cubicBezTo>
                <a:cubicBezTo>
                  <a:pt x="1562379" y="1314616"/>
                  <a:pt x="1553092" y="1318743"/>
                  <a:pt x="1545868" y="1328547"/>
                </a:cubicBezTo>
                <a:cubicBezTo>
                  <a:pt x="1532453" y="1346606"/>
                  <a:pt x="1519553" y="1365181"/>
                  <a:pt x="1505622" y="1383241"/>
                </a:cubicBezTo>
                <a:cubicBezTo>
                  <a:pt x="1497366" y="1394076"/>
                  <a:pt x="1496334" y="1405428"/>
                  <a:pt x="1500978" y="1417811"/>
                </a:cubicBezTo>
                <a:cubicBezTo>
                  <a:pt x="1521617" y="1472505"/>
                  <a:pt x="1542772" y="1527198"/>
                  <a:pt x="1563411" y="1581892"/>
                </a:cubicBezTo>
                <a:cubicBezTo>
                  <a:pt x="1569087" y="1596339"/>
                  <a:pt x="1565991" y="1606143"/>
                  <a:pt x="1554124" y="1615430"/>
                </a:cubicBezTo>
                <a:cubicBezTo>
                  <a:pt x="1512845" y="1646389"/>
                  <a:pt x="1472083" y="1677864"/>
                  <a:pt x="1430805" y="1708822"/>
                </a:cubicBezTo>
                <a:cubicBezTo>
                  <a:pt x="1418938" y="1717594"/>
                  <a:pt x="1408618" y="1717594"/>
                  <a:pt x="1397266" y="1708306"/>
                </a:cubicBezTo>
                <a:cubicBezTo>
                  <a:pt x="1352892" y="1672704"/>
                  <a:pt x="1308003" y="1636585"/>
                  <a:pt x="1263628" y="1600467"/>
                </a:cubicBezTo>
                <a:cubicBezTo>
                  <a:pt x="1253825" y="1592727"/>
                  <a:pt x="1243505" y="1590147"/>
                  <a:pt x="1232154" y="1594275"/>
                </a:cubicBezTo>
                <a:cubicBezTo>
                  <a:pt x="1205839" y="1604079"/>
                  <a:pt x="1179524" y="1613883"/>
                  <a:pt x="1153725" y="1624202"/>
                </a:cubicBezTo>
                <a:cubicBezTo>
                  <a:pt x="1143406" y="1628330"/>
                  <a:pt x="1137214" y="1636070"/>
                  <a:pt x="1134634" y="1646905"/>
                </a:cubicBezTo>
                <a:cubicBezTo>
                  <a:pt x="1131022" y="1663932"/>
                  <a:pt x="1127411" y="1681475"/>
                  <a:pt x="1123798" y="1698503"/>
                </a:cubicBezTo>
                <a:cubicBezTo>
                  <a:pt x="1115027" y="1739781"/>
                  <a:pt x="1106771" y="1780543"/>
                  <a:pt x="1097999" y="1821821"/>
                </a:cubicBezTo>
                <a:cubicBezTo>
                  <a:pt x="1095420" y="1833689"/>
                  <a:pt x="1088196" y="1840913"/>
                  <a:pt x="1076329" y="1842460"/>
                </a:cubicBezTo>
                <a:cubicBezTo>
                  <a:pt x="1048982" y="1846072"/>
                  <a:pt x="1021635" y="1848652"/>
                  <a:pt x="994288" y="1851232"/>
                </a:cubicBezTo>
                <a:cubicBezTo>
                  <a:pt x="980873" y="1850200"/>
                  <a:pt x="970037" y="1851232"/>
                  <a:pt x="959201" y="1852264"/>
                </a:cubicBezTo>
                <a:close/>
                <a:moveTo>
                  <a:pt x="928759" y="382245"/>
                </a:moveTo>
                <a:cubicBezTo>
                  <a:pt x="633620" y="381729"/>
                  <a:pt x="388015" y="619594"/>
                  <a:pt x="386983" y="921957"/>
                </a:cubicBezTo>
                <a:cubicBezTo>
                  <a:pt x="385951" y="1222772"/>
                  <a:pt x="627428" y="1464765"/>
                  <a:pt x="926695" y="1465797"/>
                </a:cubicBezTo>
                <a:cubicBezTo>
                  <a:pt x="1229058" y="1466829"/>
                  <a:pt x="1470019" y="1222772"/>
                  <a:pt x="1470535" y="924537"/>
                </a:cubicBezTo>
                <a:cubicBezTo>
                  <a:pt x="1470535" y="625270"/>
                  <a:pt x="1228026" y="381729"/>
                  <a:pt x="928759" y="382245"/>
                </a:cubicBezTo>
                <a:close/>
              </a:path>
            </a:pathLst>
          </a:custGeom>
          <a:solidFill>
            <a:schemeClr val="accent3"/>
          </a:solidFill>
          <a:ln w="5155" cap="flat">
            <a:noFill/>
            <a:prstDash val="solid"/>
            <a:miter/>
          </a:ln>
        </p:spPr>
        <p:txBody>
          <a:bodyPr rtlCol="0" anchor="ctr"/>
          <a:lstStyle/>
          <a:p>
            <a:endParaRPr lang="en-US" dirty="0"/>
          </a:p>
        </p:txBody>
      </p:sp>
      <p:sp>
        <p:nvSpPr>
          <p:cNvPr id="49" name="Callout: Up Arrow 48">
            <a:extLst>
              <a:ext uri="{FF2B5EF4-FFF2-40B4-BE49-F238E27FC236}">
                <a16:creationId xmlns:a16="http://schemas.microsoft.com/office/drawing/2014/main" id="{2F80AACD-793A-996F-C8AF-559BD4ED084B}"/>
              </a:ext>
            </a:extLst>
          </p:cNvPr>
          <p:cNvSpPr/>
          <p:nvPr/>
        </p:nvSpPr>
        <p:spPr>
          <a:xfrm>
            <a:off x="3334499" y="4514306"/>
            <a:ext cx="2413434" cy="1689719"/>
          </a:xfrm>
          <a:prstGeom prst="upArrowCallout">
            <a:avLst>
              <a:gd name="adj1" fmla="val 19304"/>
              <a:gd name="adj2" fmla="val 17595"/>
              <a:gd name="adj3" fmla="val 25000"/>
              <a:gd name="adj4" fmla="val 41052"/>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t>Calculs</a:t>
            </a:r>
            <a:endParaRPr lang="en-US" b="1" dirty="0"/>
          </a:p>
        </p:txBody>
      </p:sp>
      <p:sp>
        <p:nvSpPr>
          <p:cNvPr id="44" name="Callout: Up Arrow 43">
            <a:extLst>
              <a:ext uri="{FF2B5EF4-FFF2-40B4-BE49-F238E27FC236}">
                <a16:creationId xmlns:a16="http://schemas.microsoft.com/office/drawing/2014/main" id="{1ED4D47E-860B-09AE-0AEB-CB14E761C224}"/>
              </a:ext>
            </a:extLst>
          </p:cNvPr>
          <p:cNvSpPr/>
          <p:nvPr/>
        </p:nvSpPr>
        <p:spPr>
          <a:xfrm>
            <a:off x="224930" y="4514306"/>
            <a:ext cx="2413434" cy="1689719"/>
          </a:xfrm>
          <a:prstGeom prst="upArrowCallout">
            <a:avLst>
              <a:gd name="adj1" fmla="val 19304"/>
              <a:gd name="adj2" fmla="val 17595"/>
              <a:gd name="adj3" fmla="val 25000"/>
              <a:gd name="adj4" fmla="val 41052"/>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Clarification</a:t>
            </a:r>
          </a:p>
        </p:txBody>
      </p:sp>
      <p:sp>
        <p:nvSpPr>
          <p:cNvPr id="51" name="Callout: Up Arrow 50">
            <a:extLst>
              <a:ext uri="{FF2B5EF4-FFF2-40B4-BE49-F238E27FC236}">
                <a16:creationId xmlns:a16="http://schemas.microsoft.com/office/drawing/2014/main" id="{3F4EAB4B-665C-AF1D-D454-0A00C5DFC24C}"/>
              </a:ext>
            </a:extLst>
          </p:cNvPr>
          <p:cNvSpPr/>
          <p:nvPr/>
        </p:nvSpPr>
        <p:spPr>
          <a:xfrm>
            <a:off x="9553636" y="4514306"/>
            <a:ext cx="2413434" cy="1689719"/>
          </a:xfrm>
          <a:prstGeom prst="upArrowCallout">
            <a:avLst>
              <a:gd name="adj1" fmla="val 19304"/>
              <a:gd name="adj2" fmla="val 17595"/>
              <a:gd name="adj3" fmla="val 25000"/>
              <a:gd name="adj4" fmla="val 41052"/>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Validation</a:t>
            </a:r>
          </a:p>
        </p:txBody>
      </p:sp>
      <p:sp>
        <p:nvSpPr>
          <p:cNvPr id="52" name="Callout: Up Arrow 51">
            <a:extLst>
              <a:ext uri="{FF2B5EF4-FFF2-40B4-BE49-F238E27FC236}">
                <a16:creationId xmlns:a16="http://schemas.microsoft.com/office/drawing/2014/main" id="{9D0F7D48-A9DE-DCEB-F372-28FCAAA00D20}"/>
              </a:ext>
            </a:extLst>
          </p:cNvPr>
          <p:cNvSpPr/>
          <p:nvPr/>
        </p:nvSpPr>
        <p:spPr>
          <a:xfrm>
            <a:off x="6444068" y="4514306"/>
            <a:ext cx="2413434" cy="1689719"/>
          </a:xfrm>
          <a:prstGeom prst="upArrowCallout">
            <a:avLst>
              <a:gd name="adj1" fmla="val 19304"/>
              <a:gd name="adj2" fmla="val 17595"/>
              <a:gd name="adj3" fmla="val 25000"/>
              <a:gd name="adj4" fmla="val 41052"/>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t>Approfondissement</a:t>
            </a:r>
            <a:endParaRPr lang="en-US" b="1" dirty="0"/>
          </a:p>
        </p:txBody>
      </p:sp>
      <p:sp>
        <p:nvSpPr>
          <p:cNvPr id="48" name="Callout: Down Arrow 47">
            <a:extLst>
              <a:ext uri="{FF2B5EF4-FFF2-40B4-BE49-F238E27FC236}">
                <a16:creationId xmlns:a16="http://schemas.microsoft.com/office/drawing/2014/main" id="{24ADFBE6-7BFD-CB4D-F19C-05D556A72D75}"/>
              </a:ext>
            </a:extLst>
          </p:cNvPr>
          <p:cNvSpPr/>
          <p:nvPr/>
        </p:nvSpPr>
        <p:spPr>
          <a:xfrm>
            <a:off x="4891370" y="2082181"/>
            <a:ext cx="2403832" cy="1689719"/>
          </a:xfrm>
          <a:prstGeom prst="downArrowCallout">
            <a:avLst>
              <a:gd name="adj1" fmla="val 18164"/>
              <a:gd name="adj2" fmla="val 17595"/>
              <a:gd name="adj3" fmla="val 25000"/>
              <a:gd name="adj4" fmla="val 40483"/>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Architecture</a:t>
            </a:r>
          </a:p>
        </p:txBody>
      </p:sp>
      <p:sp>
        <p:nvSpPr>
          <p:cNvPr id="42" name="Callout: Down Arrow 41">
            <a:extLst>
              <a:ext uri="{FF2B5EF4-FFF2-40B4-BE49-F238E27FC236}">
                <a16:creationId xmlns:a16="http://schemas.microsoft.com/office/drawing/2014/main" id="{D1B2F5FA-CBAF-0D9E-8F23-C4544ACE6E9E}"/>
              </a:ext>
            </a:extLst>
          </p:cNvPr>
          <p:cNvSpPr/>
          <p:nvPr/>
        </p:nvSpPr>
        <p:spPr>
          <a:xfrm>
            <a:off x="1778907" y="2082181"/>
            <a:ext cx="2403832" cy="1689719"/>
          </a:xfrm>
          <a:prstGeom prst="downArrowCallout">
            <a:avLst>
              <a:gd name="adj1" fmla="val 18164"/>
              <a:gd name="adj2" fmla="val 17595"/>
              <a:gd name="adj3" fmla="val 25000"/>
              <a:gd name="adj4" fmla="val 40483"/>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Exigences</a:t>
            </a:r>
          </a:p>
        </p:txBody>
      </p:sp>
      <p:sp>
        <p:nvSpPr>
          <p:cNvPr id="53" name="Callout: Down Arrow 52">
            <a:extLst>
              <a:ext uri="{FF2B5EF4-FFF2-40B4-BE49-F238E27FC236}">
                <a16:creationId xmlns:a16="http://schemas.microsoft.com/office/drawing/2014/main" id="{7E14EFD6-ECB6-90C5-969F-901C65F1971A}"/>
              </a:ext>
            </a:extLst>
          </p:cNvPr>
          <p:cNvSpPr/>
          <p:nvPr/>
        </p:nvSpPr>
        <p:spPr>
          <a:xfrm>
            <a:off x="8003833" y="2082181"/>
            <a:ext cx="2403832" cy="1689719"/>
          </a:xfrm>
          <a:prstGeom prst="downArrowCallout">
            <a:avLst>
              <a:gd name="adj1" fmla="val 18164"/>
              <a:gd name="adj2" fmla="val 17595"/>
              <a:gd name="adj3" fmla="val 25000"/>
              <a:gd name="adj4" fmla="val 40483"/>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t>Compromis</a:t>
            </a:r>
            <a:endParaRPr lang="en-US" b="1" dirty="0"/>
          </a:p>
        </p:txBody>
      </p:sp>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CAAA6E95-CB68-AD8A-D2FD-6FAB42CFB7DA}"/>
                  </a:ext>
                </a:extLst>
              </p14:cNvPr>
              <p14:cNvContentPartPr/>
              <p14:nvPr/>
            </p14:nvContentPartPr>
            <p14:xfrm>
              <a:off x="7031880" y="4675680"/>
              <a:ext cx="360" cy="360"/>
            </p14:xfrm>
          </p:contentPart>
        </mc:Choice>
        <mc:Fallback xmlns="">
          <p:pic>
            <p:nvPicPr>
              <p:cNvPr id="6" name="Ink 5">
                <a:extLst>
                  <a:ext uri="{FF2B5EF4-FFF2-40B4-BE49-F238E27FC236}">
                    <a16:creationId xmlns:a16="http://schemas.microsoft.com/office/drawing/2014/main" id="{CAAA6E95-CB68-AD8A-D2FD-6FAB42CFB7DA}"/>
                  </a:ext>
                </a:extLst>
              </p:cNvPr>
              <p:cNvPicPr/>
              <p:nvPr/>
            </p:nvPicPr>
            <p:blipFill>
              <a:blip r:embed="rId6"/>
              <a:stretch>
                <a:fillRect/>
              </a:stretch>
            </p:blipFill>
            <p:spPr>
              <a:xfrm>
                <a:off x="7022520" y="4666320"/>
                <a:ext cx="19080" cy="19080"/>
              </a:xfrm>
              <a:prstGeom prst="rect">
                <a:avLst/>
              </a:prstGeom>
            </p:spPr>
          </p:pic>
        </mc:Fallback>
      </mc:AlternateContent>
    </p:spTree>
    <p:extLst>
      <p:ext uri="{BB962C8B-B14F-4D97-AF65-F5344CB8AC3E}">
        <p14:creationId xmlns:p14="http://schemas.microsoft.com/office/powerpoint/2010/main" val="3775166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5060">
        <p159:morph option="byObject"/>
      </p:transition>
    </mc:Choice>
    <mc:Fallback xmlns="">
      <p:transition spd="slow" advTm="1506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wipe(down)">
                                      <p:cBhvr>
                                        <p:cTn id="11" dur="500"/>
                                        <p:tgtEl>
                                          <p:spTgt spid="44"/>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down)">
                                      <p:cBhvr>
                                        <p:cTn id="15" dur="500"/>
                                        <p:tgtEl>
                                          <p:spTgt spid="5"/>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wipe(left)">
                                      <p:cBhvr>
                                        <p:cTn id="19" dur="500"/>
                                        <p:tgtEl>
                                          <p:spTgt spid="19"/>
                                        </p:tgtEl>
                                      </p:cBhvr>
                                    </p:animEffect>
                                  </p:childTnLst>
                                </p:cTn>
                              </p:par>
                            </p:childTnLst>
                          </p:cTn>
                        </p:par>
                        <p:par>
                          <p:cTn id="20" fill="hold">
                            <p:stCondLst>
                              <p:cond delay="2000"/>
                            </p:stCondLst>
                            <p:childTnLst>
                              <p:par>
                                <p:cTn id="21" presetID="22" presetClass="entr" presetSubtype="1" fill="hold" grpId="0" nodeType="afterEffect">
                                  <p:stCondLst>
                                    <p:cond delay="0"/>
                                  </p:stCondLst>
                                  <p:childTnLst>
                                    <p:set>
                                      <p:cBhvr>
                                        <p:cTn id="22" dur="1" fill="hold">
                                          <p:stCondLst>
                                            <p:cond delay="0"/>
                                          </p:stCondLst>
                                        </p:cTn>
                                        <p:tgtEl>
                                          <p:spTgt spid="42"/>
                                        </p:tgtEl>
                                        <p:attrNameLst>
                                          <p:attrName>style.visibility</p:attrName>
                                        </p:attrNameLst>
                                      </p:cBhvr>
                                      <p:to>
                                        <p:strVal val="visible"/>
                                      </p:to>
                                    </p:set>
                                    <p:animEffect transition="in" filter="wipe(up)">
                                      <p:cBhvr>
                                        <p:cTn id="23" dur="500"/>
                                        <p:tgtEl>
                                          <p:spTgt spid="42"/>
                                        </p:tgtEl>
                                      </p:cBhvr>
                                    </p:animEffect>
                                  </p:childTnLst>
                                </p:cTn>
                              </p:par>
                            </p:childTnLst>
                          </p:cTn>
                        </p:par>
                        <p:par>
                          <p:cTn id="24" fill="hold">
                            <p:stCondLst>
                              <p:cond delay="2500"/>
                            </p:stCondLst>
                            <p:childTnLst>
                              <p:par>
                                <p:cTn id="25" presetID="22" presetClass="entr" presetSubtype="1" fill="hold" grpId="0" nodeType="after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up)">
                                      <p:cBhvr>
                                        <p:cTn id="27" dur="500"/>
                                        <p:tgtEl>
                                          <p:spTgt spid="38"/>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wipe(left)">
                                      <p:cBhvr>
                                        <p:cTn id="31" dur="500"/>
                                        <p:tgtEl>
                                          <p:spTgt spid="23"/>
                                        </p:tgtEl>
                                      </p:cBhvr>
                                    </p:animEffect>
                                  </p:childTnLst>
                                </p:cTn>
                              </p:par>
                            </p:childTnLst>
                          </p:cTn>
                        </p:par>
                        <p:par>
                          <p:cTn id="32" fill="hold">
                            <p:stCondLst>
                              <p:cond delay="3500"/>
                            </p:stCondLst>
                            <p:childTnLst>
                              <p:par>
                                <p:cTn id="33" presetID="22" presetClass="entr" presetSubtype="4" fill="hold" grpId="0" nodeType="afterEffect">
                                  <p:stCondLst>
                                    <p:cond delay="0"/>
                                  </p:stCondLst>
                                  <p:childTnLst>
                                    <p:set>
                                      <p:cBhvr>
                                        <p:cTn id="34" dur="1" fill="hold">
                                          <p:stCondLst>
                                            <p:cond delay="0"/>
                                          </p:stCondLst>
                                        </p:cTn>
                                        <p:tgtEl>
                                          <p:spTgt spid="49"/>
                                        </p:tgtEl>
                                        <p:attrNameLst>
                                          <p:attrName>style.visibility</p:attrName>
                                        </p:attrNameLst>
                                      </p:cBhvr>
                                      <p:to>
                                        <p:strVal val="visible"/>
                                      </p:to>
                                    </p:set>
                                    <p:animEffect transition="in" filter="wipe(down)">
                                      <p:cBhvr>
                                        <p:cTn id="35" dur="500"/>
                                        <p:tgtEl>
                                          <p:spTgt spid="49"/>
                                        </p:tgtEl>
                                      </p:cBhvr>
                                    </p:animEffect>
                                  </p:childTnLst>
                                </p:cTn>
                              </p:par>
                            </p:childTnLst>
                          </p:cTn>
                        </p:par>
                        <p:par>
                          <p:cTn id="36" fill="hold">
                            <p:stCondLst>
                              <p:cond delay="4000"/>
                            </p:stCondLst>
                            <p:childTnLst>
                              <p:par>
                                <p:cTn id="37" presetID="22" presetClass="entr" presetSubtype="4" fill="hold" grpId="0" nodeType="after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wipe(down)">
                                      <p:cBhvr>
                                        <p:cTn id="39" dur="500"/>
                                        <p:tgtEl>
                                          <p:spTgt spid="36"/>
                                        </p:tgtEl>
                                      </p:cBhvr>
                                    </p:animEffect>
                                  </p:childTnLst>
                                </p:cTn>
                              </p:par>
                            </p:childTnLst>
                          </p:cTn>
                        </p:par>
                        <p:par>
                          <p:cTn id="40" fill="hold">
                            <p:stCondLst>
                              <p:cond delay="4500"/>
                            </p:stCondLst>
                            <p:childTnLst>
                              <p:par>
                                <p:cTn id="41" presetID="22" presetClass="entr" presetSubtype="8" fill="hold" grpId="0" nodeType="afterEffect">
                                  <p:stCondLst>
                                    <p:cond delay="0"/>
                                  </p:stCondLst>
                                  <p:childTnLst>
                                    <p:set>
                                      <p:cBhvr>
                                        <p:cTn id="42" dur="1" fill="hold">
                                          <p:stCondLst>
                                            <p:cond delay="0"/>
                                          </p:stCondLst>
                                        </p:cTn>
                                        <p:tgtEl>
                                          <p:spTgt spid="24"/>
                                        </p:tgtEl>
                                        <p:attrNameLst>
                                          <p:attrName>style.visibility</p:attrName>
                                        </p:attrNameLst>
                                      </p:cBhvr>
                                      <p:to>
                                        <p:strVal val="visible"/>
                                      </p:to>
                                    </p:set>
                                    <p:animEffect transition="in" filter="wipe(left)">
                                      <p:cBhvr>
                                        <p:cTn id="43" dur="500"/>
                                        <p:tgtEl>
                                          <p:spTgt spid="24"/>
                                        </p:tgtEl>
                                      </p:cBhvr>
                                    </p:animEffect>
                                  </p:childTnLst>
                                </p:cTn>
                              </p:par>
                            </p:childTnLst>
                          </p:cTn>
                        </p:par>
                        <p:par>
                          <p:cTn id="44" fill="hold">
                            <p:stCondLst>
                              <p:cond delay="5000"/>
                            </p:stCondLst>
                            <p:childTnLst>
                              <p:par>
                                <p:cTn id="45" presetID="22" presetClass="entr" presetSubtype="1" fill="hold" grpId="0" nodeType="afterEffect">
                                  <p:stCondLst>
                                    <p:cond delay="0"/>
                                  </p:stCondLst>
                                  <p:childTnLst>
                                    <p:set>
                                      <p:cBhvr>
                                        <p:cTn id="46" dur="1" fill="hold">
                                          <p:stCondLst>
                                            <p:cond delay="0"/>
                                          </p:stCondLst>
                                        </p:cTn>
                                        <p:tgtEl>
                                          <p:spTgt spid="48"/>
                                        </p:tgtEl>
                                        <p:attrNameLst>
                                          <p:attrName>style.visibility</p:attrName>
                                        </p:attrNameLst>
                                      </p:cBhvr>
                                      <p:to>
                                        <p:strVal val="visible"/>
                                      </p:to>
                                    </p:set>
                                    <p:animEffect transition="in" filter="wipe(up)">
                                      <p:cBhvr>
                                        <p:cTn id="47" dur="500"/>
                                        <p:tgtEl>
                                          <p:spTgt spid="48"/>
                                        </p:tgtEl>
                                      </p:cBhvr>
                                    </p:animEffect>
                                  </p:childTnLst>
                                </p:cTn>
                              </p:par>
                            </p:childTnLst>
                          </p:cTn>
                        </p:par>
                        <p:par>
                          <p:cTn id="48" fill="hold">
                            <p:stCondLst>
                              <p:cond delay="5500"/>
                            </p:stCondLst>
                            <p:childTnLst>
                              <p:par>
                                <p:cTn id="49" presetID="22" presetClass="entr" presetSubtype="1" fill="hold" grpId="0" nodeType="after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wipe(up)">
                                      <p:cBhvr>
                                        <p:cTn id="51" dur="500"/>
                                        <p:tgtEl>
                                          <p:spTgt spid="40"/>
                                        </p:tgtEl>
                                      </p:cBhvr>
                                    </p:animEffect>
                                  </p:childTnLst>
                                </p:cTn>
                              </p:par>
                            </p:childTnLst>
                          </p:cTn>
                        </p:par>
                        <p:par>
                          <p:cTn id="52" fill="hold">
                            <p:stCondLst>
                              <p:cond delay="6000"/>
                            </p:stCondLst>
                            <p:childTnLst>
                              <p:par>
                                <p:cTn id="53" presetID="22" presetClass="entr" presetSubtype="8" fill="hold" grpId="0" nodeType="afterEffect">
                                  <p:stCondLst>
                                    <p:cond delay="0"/>
                                  </p:stCondLst>
                                  <p:childTnLst>
                                    <p:set>
                                      <p:cBhvr>
                                        <p:cTn id="54" dur="1" fill="hold">
                                          <p:stCondLst>
                                            <p:cond delay="0"/>
                                          </p:stCondLst>
                                        </p:cTn>
                                        <p:tgtEl>
                                          <p:spTgt spid="28"/>
                                        </p:tgtEl>
                                        <p:attrNameLst>
                                          <p:attrName>style.visibility</p:attrName>
                                        </p:attrNameLst>
                                      </p:cBhvr>
                                      <p:to>
                                        <p:strVal val="visible"/>
                                      </p:to>
                                    </p:set>
                                    <p:animEffect transition="in" filter="wipe(left)">
                                      <p:cBhvr>
                                        <p:cTn id="55" dur="500"/>
                                        <p:tgtEl>
                                          <p:spTgt spid="28"/>
                                        </p:tgtEl>
                                      </p:cBhvr>
                                    </p:animEffect>
                                  </p:childTnLst>
                                </p:cTn>
                              </p:par>
                            </p:childTnLst>
                          </p:cTn>
                        </p:par>
                        <p:par>
                          <p:cTn id="56" fill="hold">
                            <p:stCondLst>
                              <p:cond delay="6500"/>
                            </p:stCondLst>
                            <p:childTnLst>
                              <p:par>
                                <p:cTn id="57" presetID="22" presetClass="entr" presetSubtype="4" fill="hold" grpId="0" nodeType="afterEffect">
                                  <p:stCondLst>
                                    <p:cond delay="0"/>
                                  </p:stCondLst>
                                  <p:childTnLst>
                                    <p:set>
                                      <p:cBhvr>
                                        <p:cTn id="58" dur="1" fill="hold">
                                          <p:stCondLst>
                                            <p:cond delay="0"/>
                                          </p:stCondLst>
                                        </p:cTn>
                                        <p:tgtEl>
                                          <p:spTgt spid="52"/>
                                        </p:tgtEl>
                                        <p:attrNameLst>
                                          <p:attrName>style.visibility</p:attrName>
                                        </p:attrNameLst>
                                      </p:cBhvr>
                                      <p:to>
                                        <p:strVal val="visible"/>
                                      </p:to>
                                    </p:set>
                                    <p:animEffect transition="in" filter="wipe(down)">
                                      <p:cBhvr>
                                        <p:cTn id="59" dur="500"/>
                                        <p:tgtEl>
                                          <p:spTgt spid="52"/>
                                        </p:tgtEl>
                                      </p:cBhvr>
                                    </p:animEffect>
                                  </p:childTnLst>
                                </p:cTn>
                              </p:par>
                            </p:childTnLst>
                          </p:cTn>
                        </p:par>
                        <p:par>
                          <p:cTn id="60" fill="hold">
                            <p:stCondLst>
                              <p:cond delay="7000"/>
                            </p:stCondLst>
                            <p:childTnLst>
                              <p:par>
                                <p:cTn id="61" presetID="22" presetClass="entr" presetSubtype="4" fill="hold" grpId="0" nodeType="afterEffect">
                                  <p:stCondLst>
                                    <p:cond delay="0"/>
                                  </p:stCondLst>
                                  <p:childTnLst>
                                    <p:set>
                                      <p:cBhvr>
                                        <p:cTn id="62" dur="1" fill="hold">
                                          <p:stCondLst>
                                            <p:cond delay="0"/>
                                          </p:stCondLst>
                                        </p:cTn>
                                        <p:tgtEl>
                                          <p:spTgt spid="35"/>
                                        </p:tgtEl>
                                        <p:attrNameLst>
                                          <p:attrName>style.visibility</p:attrName>
                                        </p:attrNameLst>
                                      </p:cBhvr>
                                      <p:to>
                                        <p:strVal val="visible"/>
                                      </p:to>
                                    </p:set>
                                    <p:animEffect transition="in" filter="wipe(down)">
                                      <p:cBhvr>
                                        <p:cTn id="63" dur="500"/>
                                        <p:tgtEl>
                                          <p:spTgt spid="35"/>
                                        </p:tgtEl>
                                      </p:cBhvr>
                                    </p:animEffect>
                                  </p:childTnLst>
                                </p:cTn>
                              </p:par>
                            </p:childTnLst>
                          </p:cTn>
                        </p:par>
                        <p:par>
                          <p:cTn id="64" fill="hold">
                            <p:stCondLst>
                              <p:cond delay="7500"/>
                            </p:stCondLst>
                            <p:childTnLst>
                              <p:par>
                                <p:cTn id="65" presetID="22" presetClass="entr" presetSubtype="8" fill="hold" grpId="0" nodeType="after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wipe(left)">
                                      <p:cBhvr>
                                        <p:cTn id="67" dur="500"/>
                                        <p:tgtEl>
                                          <p:spTgt spid="29"/>
                                        </p:tgtEl>
                                      </p:cBhvr>
                                    </p:animEffect>
                                  </p:childTnLst>
                                </p:cTn>
                              </p:par>
                            </p:childTnLst>
                          </p:cTn>
                        </p:par>
                        <p:par>
                          <p:cTn id="68" fill="hold">
                            <p:stCondLst>
                              <p:cond delay="8000"/>
                            </p:stCondLst>
                            <p:childTnLst>
                              <p:par>
                                <p:cTn id="69" presetID="22" presetClass="entr" presetSubtype="1" fill="hold" grpId="0" nodeType="afterEffect">
                                  <p:stCondLst>
                                    <p:cond delay="0"/>
                                  </p:stCondLst>
                                  <p:childTnLst>
                                    <p:set>
                                      <p:cBhvr>
                                        <p:cTn id="70" dur="1" fill="hold">
                                          <p:stCondLst>
                                            <p:cond delay="0"/>
                                          </p:stCondLst>
                                        </p:cTn>
                                        <p:tgtEl>
                                          <p:spTgt spid="53"/>
                                        </p:tgtEl>
                                        <p:attrNameLst>
                                          <p:attrName>style.visibility</p:attrName>
                                        </p:attrNameLst>
                                      </p:cBhvr>
                                      <p:to>
                                        <p:strVal val="visible"/>
                                      </p:to>
                                    </p:set>
                                    <p:animEffect transition="in" filter="wipe(up)">
                                      <p:cBhvr>
                                        <p:cTn id="71" dur="500"/>
                                        <p:tgtEl>
                                          <p:spTgt spid="53"/>
                                        </p:tgtEl>
                                      </p:cBhvr>
                                    </p:animEffect>
                                  </p:childTnLst>
                                </p:cTn>
                              </p:par>
                            </p:childTnLst>
                          </p:cTn>
                        </p:par>
                        <p:par>
                          <p:cTn id="72" fill="hold">
                            <p:stCondLst>
                              <p:cond delay="8500"/>
                            </p:stCondLst>
                            <p:childTnLst>
                              <p:par>
                                <p:cTn id="73" presetID="22" presetClass="entr" presetSubtype="1" fill="hold" grpId="0" nodeType="afterEffect">
                                  <p:stCondLst>
                                    <p:cond delay="0"/>
                                  </p:stCondLst>
                                  <p:childTnLst>
                                    <p:set>
                                      <p:cBhvr>
                                        <p:cTn id="74" dur="1" fill="hold">
                                          <p:stCondLst>
                                            <p:cond delay="0"/>
                                          </p:stCondLst>
                                        </p:cTn>
                                        <p:tgtEl>
                                          <p:spTgt spid="39"/>
                                        </p:tgtEl>
                                        <p:attrNameLst>
                                          <p:attrName>style.visibility</p:attrName>
                                        </p:attrNameLst>
                                      </p:cBhvr>
                                      <p:to>
                                        <p:strVal val="visible"/>
                                      </p:to>
                                    </p:set>
                                    <p:animEffect transition="in" filter="wipe(up)">
                                      <p:cBhvr>
                                        <p:cTn id="75" dur="500"/>
                                        <p:tgtEl>
                                          <p:spTgt spid="39"/>
                                        </p:tgtEl>
                                      </p:cBhvr>
                                    </p:animEffect>
                                  </p:childTnLst>
                                </p:cTn>
                              </p:par>
                            </p:childTnLst>
                          </p:cTn>
                        </p:par>
                        <p:par>
                          <p:cTn id="76" fill="hold">
                            <p:stCondLst>
                              <p:cond delay="9000"/>
                            </p:stCondLst>
                            <p:childTnLst>
                              <p:par>
                                <p:cTn id="77" presetID="22" presetClass="entr" presetSubtype="8" fill="hold" grpId="0" nodeType="afterEffect">
                                  <p:stCondLst>
                                    <p:cond delay="0"/>
                                  </p:stCondLst>
                                  <p:childTnLst>
                                    <p:set>
                                      <p:cBhvr>
                                        <p:cTn id="78" dur="1" fill="hold">
                                          <p:stCondLst>
                                            <p:cond delay="0"/>
                                          </p:stCondLst>
                                        </p:cTn>
                                        <p:tgtEl>
                                          <p:spTgt spid="31"/>
                                        </p:tgtEl>
                                        <p:attrNameLst>
                                          <p:attrName>style.visibility</p:attrName>
                                        </p:attrNameLst>
                                      </p:cBhvr>
                                      <p:to>
                                        <p:strVal val="visible"/>
                                      </p:to>
                                    </p:set>
                                    <p:animEffect transition="in" filter="wipe(left)">
                                      <p:cBhvr>
                                        <p:cTn id="79" dur="500"/>
                                        <p:tgtEl>
                                          <p:spTgt spid="31"/>
                                        </p:tgtEl>
                                      </p:cBhvr>
                                    </p:animEffect>
                                  </p:childTnLst>
                                </p:cTn>
                              </p:par>
                            </p:childTnLst>
                          </p:cTn>
                        </p:par>
                        <p:par>
                          <p:cTn id="80" fill="hold">
                            <p:stCondLst>
                              <p:cond delay="9500"/>
                            </p:stCondLst>
                            <p:childTnLst>
                              <p:par>
                                <p:cTn id="81" presetID="22" presetClass="entr" presetSubtype="4" fill="hold" grpId="0" nodeType="afterEffect">
                                  <p:stCondLst>
                                    <p:cond delay="0"/>
                                  </p:stCondLst>
                                  <p:childTnLst>
                                    <p:set>
                                      <p:cBhvr>
                                        <p:cTn id="82" dur="1" fill="hold">
                                          <p:stCondLst>
                                            <p:cond delay="0"/>
                                          </p:stCondLst>
                                        </p:cTn>
                                        <p:tgtEl>
                                          <p:spTgt spid="51"/>
                                        </p:tgtEl>
                                        <p:attrNameLst>
                                          <p:attrName>style.visibility</p:attrName>
                                        </p:attrNameLst>
                                      </p:cBhvr>
                                      <p:to>
                                        <p:strVal val="visible"/>
                                      </p:to>
                                    </p:set>
                                    <p:animEffect transition="in" filter="wipe(down)">
                                      <p:cBhvr>
                                        <p:cTn id="83" dur="500"/>
                                        <p:tgtEl>
                                          <p:spTgt spid="51"/>
                                        </p:tgtEl>
                                      </p:cBhvr>
                                    </p:animEffect>
                                  </p:childTnLst>
                                </p:cTn>
                              </p:par>
                            </p:childTnLst>
                          </p:cTn>
                        </p:par>
                        <p:par>
                          <p:cTn id="84" fill="hold">
                            <p:stCondLst>
                              <p:cond delay="10000"/>
                            </p:stCondLst>
                            <p:childTnLst>
                              <p:par>
                                <p:cTn id="85" presetID="22" presetClass="entr" presetSubtype="4" fill="hold" grpId="0" nodeType="after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wipe(down)">
                                      <p:cBhvr>
                                        <p:cTn id="87"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animBg="1"/>
      <p:bldP spid="28" grpId="0" animBg="1"/>
      <p:bldP spid="29" grpId="0" animBg="1"/>
      <p:bldP spid="31" grpId="0" animBg="1"/>
      <p:bldP spid="35" grpId="0" animBg="1"/>
      <p:bldP spid="37" grpId="0" animBg="1"/>
      <p:bldP spid="19" grpId="0" animBg="1"/>
      <p:bldP spid="38" grpId="0" animBg="1"/>
      <p:bldP spid="39" grpId="0" animBg="1"/>
      <p:bldP spid="23" grpId="0" animBg="1"/>
      <p:bldP spid="24" grpId="0" animBg="1"/>
      <p:bldP spid="36" grpId="0" animBg="1"/>
      <p:bldP spid="40" grpId="0" animBg="1"/>
      <p:bldP spid="49" grpId="0" animBg="1"/>
      <p:bldP spid="44" grpId="0" animBg="1"/>
      <p:bldP spid="51" grpId="0" animBg="1"/>
      <p:bldP spid="52" grpId="0" animBg="1"/>
      <p:bldP spid="48" grpId="0" animBg="1"/>
      <p:bldP spid="42" grpId="0" animBg="1"/>
      <p:bldP spid="5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DC94EB-9415-658D-2A02-07F168C12FAA}"/>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400" b="1" dirty="0"/>
              <a:t>Raccourcisseur d’URL (</a:t>
            </a:r>
            <a:r>
              <a:rPr lang="fr-FR" sz="4400" b="1" dirty="0" err="1"/>
              <a:t>TinyURL</a:t>
            </a:r>
            <a:r>
              <a:rPr lang="fr-FR" sz="4400" b="1" dirty="0"/>
              <a:t>)</a:t>
            </a:r>
            <a:endParaRPr lang="en-US" sz="4400" b="1" dirty="0"/>
          </a:p>
        </p:txBody>
      </p:sp>
      <p:sp>
        <p:nvSpPr>
          <p:cNvPr id="10" name="Hexagon 9">
            <a:extLst>
              <a:ext uri="{FF2B5EF4-FFF2-40B4-BE49-F238E27FC236}">
                <a16:creationId xmlns:a16="http://schemas.microsoft.com/office/drawing/2014/main" id="{CDDDA163-8E1D-1061-A442-31C57DC6BE6E}"/>
              </a:ext>
            </a:extLst>
          </p:cNvPr>
          <p:cNvSpPr/>
          <p:nvPr/>
        </p:nvSpPr>
        <p:spPr>
          <a:xfrm rot="1828882">
            <a:off x="212002" y="178377"/>
            <a:ext cx="914400" cy="822960"/>
          </a:xfrm>
          <a:prstGeom prst="hexagon">
            <a:avLst>
              <a:gd name="adj" fmla="val 27586"/>
              <a:gd name="vf" fmla="val 11547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24E0655-DDAE-D434-29F0-B86554774770}"/>
              </a:ext>
            </a:extLst>
          </p:cNvPr>
          <p:cNvSpPr txBox="1"/>
          <p:nvPr/>
        </p:nvSpPr>
        <p:spPr>
          <a:xfrm>
            <a:off x="376493" y="322590"/>
            <a:ext cx="585417" cy="523220"/>
          </a:xfrm>
          <a:prstGeom prst="rect">
            <a:avLst/>
          </a:prstGeom>
          <a:noFill/>
        </p:spPr>
        <p:txBody>
          <a:bodyPr wrap="none" rtlCol="0">
            <a:spAutoFit/>
          </a:bodyPr>
          <a:lstStyle/>
          <a:p>
            <a:r>
              <a:rPr lang="en-US" sz="2800" b="1" dirty="0">
                <a:solidFill>
                  <a:schemeClr val="bg1"/>
                </a:solidFill>
              </a:rPr>
              <a:t>03</a:t>
            </a:r>
          </a:p>
        </p:txBody>
      </p:sp>
      <p:sp>
        <p:nvSpPr>
          <p:cNvPr id="2" name="Hexagon 1">
            <a:extLst>
              <a:ext uri="{FF2B5EF4-FFF2-40B4-BE49-F238E27FC236}">
                <a16:creationId xmlns:a16="http://schemas.microsoft.com/office/drawing/2014/main" id="{37C3CD6E-3711-8614-65EF-99B5D195F80C}"/>
              </a:ext>
            </a:extLst>
          </p:cNvPr>
          <p:cNvSpPr/>
          <p:nvPr/>
        </p:nvSpPr>
        <p:spPr>
          <a:xfrm>
            <a:off x="778797" y="1759400"/>
            <a:ext cx="4462207" cy="599850"/>
          </a:xfrm>
          <a:prstGeom prst="hexagon">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Long URL</a:t>
            </a:r>
          </a:p>
        </p:txBody>
      </p:sp>
      <p:sp>
        <p:nvSpPr>
          <p:cNvPr id="4" name="Hexagon 3">
            <a:extLst>
              <a:ext uri="{FF2B5EF4-FFF2-40B4-BE49-F238E27FC236}">
                <a16:creationId xmlns:a16="http://schemas.microsoft.com/office/drawing/2014/main" id="{8D893FA3-6E03-119B-CB29-D4E7C18932A2}"/>
              </a:ext>
            </a:extLst>
          </p:cNvPr>
          <p:cNvSpPr/>
          <p:nvPr/>
        </p:nvSpPr>
        <p:spPr>
          <a:xfrm>
            <a:off x="6950997" y="1759400"/>
            <a:ext cx="4462207" cy="599850"/>
          </a:xfrm>
          <a:prstGeom prst="hexagon">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Court URL</a:t>
            </a:r>
          </a:p>
        </p:txBody>
      </p:sp>
      <p:cxnSp>
        <p:nvCxnSpPr>
          <p:cNvPr id="9" name="Straight Arrow Connector 8">
            <a:extLst>
              <a:ext uri="{FF2B5EF4-FFF2-40B4-BE49-F238E27FC236}">
                <a16:creationId xmlns:a16="http://schemas.microsoft.com/office/drawing/2014/main" id="{D25E62CA-668D-7646-E8E5-ECCD1FF5A121}"/>
              </a:ext>
            </a:extLst>
          </p:cNvPr>
          <p:cNvCxnSpPr>
            <a:stCxn id="2" idx="0"/>
            <a:endCxn id="4" idx="3"/>
          </p:cNvCxnSpPr>
          <p:nvPr/>
        </p:nvCxnSpPr>
        <p:spPr>
          <a:xfrm>
            <a:off x="5241004" y="2059325"/>
            <a:ext cx="1709993" cy="0"/>
          </a:xfrm>
          <a:prstGeom prst="straightConnector1">
            <a:avLst/>
          </a:prstGeom>
          <a:ln w="38100">
            <a:solidFill>
              <a:schemeClr val="tx1"/>
            </a:solidFill>
            <a:tailEnd type="triangle"/>
          </a:ln>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E4D80F3D-B2E2-08C4-C9D2-70C44D4E0EF7}"/>
              </a:ext>
            </a:extLst>
          </p:cNvPr>
          <p:cNvSpPr txBox="1"/>
          <p:nvPr/>
        </p:nvSpPr>
        <p:spPr>
          <a:xfrm>
            <a:off x="778797" y="2435874"/>
            <a:ext cx="4462207" cy="379303"/>
          </a:xfrm>
          <a:prstGeom prst="rect">
            <a:avLst/>
          </a:prstGeom>
          <a:noFill/>
        </p:spPr>
        <p:txBody>
          <a:bodyPr wrap="square">
            <a:spAutoFit/>
          </a:bodyPr>
          <a:lstStyle/>
          <a:p>
            <a:pPr algn="ctr"/>
            <a:r>
              <a:rPr lang="en-US" dirty="0"/>
              <a:t>https://exemple.com/très-long-chemin</a:t>
            </a:r>
          </a:p>
        </p:txBody>
      </p:sp>
      <p:sp>
        <p:nvSpPr>
          <p:cNvPr id="16" name="TextBox 15">
            <a:extLst>
              <a:ext uri="{FF2B5EF4-FFF2-40B4-BE49-F238E27FC236}">
                <a16:creationId xmlns:a16="http://schemas.microsoft.com/office/drawing/2014/main" id="{345041A7-5BB3-A3F4-6429-E1C409BB3BC5}"/>
              </a:ext>
            </a:extLst>
          </p:cNvPr>
          <p:cNvSpPr txBox="1"/>
          <p:nvPr/>
        </p:nvSpPr>
        <p:spPr>
          <a:xfrm>
            <a:off x="6950998" y="2435874"/>
            <a:ext cx="4462206" cy="369332"/>
          </a:xfrm>
          <a:prstGeom prst="rect">
            <a:avLst/>
          </a:prstGeom>
          <a:noFill/>
        </p:spPr>
        <p:txBody>
          <a:bodyPr wrap="square">
            <a:spAutoFit/>
          </a:bodyPr>
          <a:lstStyle/>
          <a:p>
            <a:pPr algn="ctr"/>
            <a:r>
              <a:rPr lang="en-US" dirty="0"/>
              <a:t>tinyurl.com/abc123</a:t>
            </a:r>
          </a:p>
        </p:txBody>
      </p:sp>
      <p:sp>
        <p:nvSpPr>
          <p:cNvPr id="20" name="Hexagon 19">
            <a:extLst>
              <a:ext uri="{FF2B5EF4-FFF2-40B4-BE49-F238E27FC236}">
                <a16:creationId xmlns:a16="http://schemas.microsoft.com/office/drawing/2014/main" id="{F69E9293-045A-02D8-6551-B3B7ED83FE3F}"/>
              </a:ext>
            </a:extLst>
          </p:cNvPr>
          <p:cNvSpPr/>
          <p:nvPr/>
        </p:nvSpPr>
        <p:spPr>
          <a:xfrm>
            <a:off x="778796" y="4635500"/>
            <a:ext cx="4462207" cy="599850"/>
          </a:xfrm>
          <a:prstGeom prst="hexagon">
            <a:avLst/>
          </a:prstGeom>
          <a:solidFill>
            <a:srgbClr val="C00000"/>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bg1"/>
                </a:solidFill>
              </a:rPr>
              <a:t>Contraintes</a:t>
            </a:r>
            <a:r>
              <a:rPr lang="en-US" b="1" dirty="0">
                <a:solidFill>
                  <a:schemeClr val="bg1"/>
                </a:solidFill>
              </a:rPr>
              <a:t> données</a:t>
            </a:r>
          </a:p>
        </p:txBody>
      </p:sp>
      <p:sp>
        <p:nvSpPr>
          <p:cNvPr id="26" name="TextBox 25">
            <a:extLst>
              <a:ext uri="{FF2B5EF4-FFF2-40B4-BE49-F238E27FC236}">
                <a16:creationId xmlns:a16="http://schemas.microsoft.com/office/drawing/2014/main" id="{A4B2F44B-5FB4-3BBF-B2F1-937F3AAF6DB3}"/>
              </a:ext>
            </a:extLst>
          </p:cNvPr>
          <p:cNvSpPr txBox="1"/>
          <p:nvPr/>
        </p:nvSpPr>
        <p:spPr>
          <a:xfrm>
            <a:off x="6950996" y="3916917"/>
            <a:ext cx="4462206" cy="369331"/>
          </a:xfrm>
          <a:prstGeom prst="rect">
            <a:avLst/>
          </a:prstGeom>
          <a:noFill/>
          <a:ln w="28575">
            <a:solidFill>
              <a:srgbClr val="C00000"/>
            </a:solidFill>
          </a:ln>
        </p:spPr>
        <p:txBody>
          <a:bodyPr wrap="square">
            <a:spAutoFit/>
          </a:bodyPr>
          <a:lstStyle/>
          <a:p>
            <a:pPr marL="285750" indent="-285750">
              <a:buClr>
                <a:srgbClr val="C00000"/>
              </a:buClr>
              <a:buFont typeface="Wingdings" panose="05000000000000000000" pitchFamily="2" charset="2"/>
              <a:buChar char="Ø"/>
            </a:pPr>
            <a:r>
              <a:rPr lang="fr-FR" b="1" dirty="0"/>
              <a:t>1 milliard de créations/mois</a:t>
            </a:r>
            <a:endParaRPr lang="en-US" b="1" dirty="0"/>
          </a:p>
        </p:txBody>
      </p:sp>
      <p:sp>
        <p:nvSpPr>
          <p:cNvPr id="27" name="TextBox 26">
            <a:extLst>
              <a:ext uri="{FF2B5EF4-FFF2-40B4-BE49-F238E27FC236}">
                <a16:creationId xmlns:a16="http://schemas.microsoft.com/office/drawing/2014/main" id="{4DFA2D0B-0AE1-8F85-3676-B4252E3F8567}"/>
              </a:ext>
            </a:extLst>
          </p:cNvPr>
          <p:cNvSpPr txBox="1"/>
          <p:nvPr/>
        </p:nvSpPr>
        <p:spPr>
          <a:xfrm>
            <a:off x="6950996" y="4750759"/>
            <a:ext cx="4462206" cy="369331"/>
          </a:xfrm>
          <a:prstGeom prst="rect">
            <a:avLst/>
          </a:prstGeom>
          <a:noFill/>
          <a:ln w="28575">
            <a:solidFill>
              <a:srgbClr val="C00000"/>
            </a:solidFill>
          </a:ln>
        </p:spPr>
        <p:txBody>
          <a:bodyPr wrap="square">
            <a:spAutoFit/>
          </a:bodyPr>
          <a:lstStyle/>
          <a:p>
            <a:pPr marL="285750" indent="-285750">
              <a:buClr>
                <a:srgbClr val="C00000"/>
              </a:buClr>
              <a:buFont typeface="Wingdings" panose="05000000000000000000" pitchFamily="2" charset="2"/>
              <a:buChar char="Ø"/>
            </a:pPr>
            <a:r>
              <a:rPr lang="fr-FR" b="1" dirty="0"/>
              <a:t>Ratio 100:1 (</a:t>
            </a:r>
            <a:r>
              <a:rPr lang="fr-FR" b="1" dirty="0" err="1"/>
              <a:t>lectures:écritures</a:t>
            </a:r>
            <a:r>
              <a:rPr lang="fr-FR" b="1" dirty="0"/>
              <a:t>)</a:t>
            </a:r>
            <a:endParaRPr lang="en-US" b="1" dirty="0"/>
          </a:p>
        </p:txBody>
      </p:sp>
      <p:sp>
        <p:nvSpPr>
          <p:cNvPr id="30" name="TextBox 29">
            <a:extLst>
              <a:ext uri="{FF2B5EF4-FFF2-40B4-BE49-F238E27FC236}">
                <a16:creationId xmlns:a16="http://schemas.microsoft.com/office/drawing/2014/main" id="{0D2EE3F5-B454-1BB3-FB0D-6E6FA44813A5}"/>
              </a:ext>
            </a:extLst>
          </p:cNvPr>
          <p:cNvSpPr txBox="1"/>
          <p:nvPr/>
        </p:nvSpPr>
        <p:spPr>
          <a:xfrm>
            <a:off x="6950996" y="5584601"/>
            <a:ext cx="4462206" cy="369331"/>
          </a:xfrm>
          <a:prstGeom prst="rect">
            <a:avLst/>
          </a:prstGeom>
          <a:noFill/>
          <a:ln w="28575">
            <a:solidFill>
              <a:srgbClr val="C00000"/>
            </a:solidFill>
          </a:ln>
        </p:spPr>
        <p:txBody>
          <a:bodyPr wrap="square">
            <a:spAutoFit/>
          </a:bodyPr>
          <a:lstStyle/>
          <a:p>
            <a:pPr marL="285750" indent="-285750">
              <a:buClr>
                <a:srgbClr val="C00000"/>
              </a:buClr>
              <a:buFont typeface="Wingdings" panose="05000000000000000000" pitchFamily="2" charset="2"/>
              <a:buChar char="Ø"/>
            </a:pPr>
            <a:r>
              <a:rPr lang="fr-FR" b="1" dirty="0"/>
              <a:t>8 caractères maximum par URL</a:t>
            </a:r>
            <a:endParaRPr lang="en-US" b="1" dirty="0"/>
          </a:p>
        </p:txBody>
      </p:sp>
      <p:cxnSp>
        <p:nvCxnSpPr>
          <p:cNvPr id="33" name="Connector: Elbow 32">
            <a:extLst>
              <a:ext uri="{FF2B5EF4-FFF2-40B4-BE49-F238E27FC236}">
                <a16:creationId xmlns:a16="http://schemas.microsoft.com/office/drawing/2014/main" id="{25F21CD9-1079-BE1B-9009-D47EBB1EC8D7}"/>
              </a:ext>
            </a:extLst>
          </p:cNvPr>
          <p:cNvCxnSpPr>
            <a:stCxn id="20" idx="0"/>
            <a:endCxn id="26" idx="1"/>
          </p:cNvCxnSpPr>
          <p:nvPr/>
        </p:nvCxnSpPr>
        <p:spPr>
          <a:xfrm flipV="1">
            <a:off x="5241003" y="4101583"/>
            <a:ext cx="1709993" cy="833842"/>
          </a:xfrm>
          <a:prstGeom prst="bentConnector3">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a:extLst>
              <a:ext uri="{FF2B5EF4-FFF2-40B4-BE49-F238E27FC236}">
                <a16:creationId xmlns:a16="http://schemas.microsoft.com/office/drawing/2014/main" id="{647E24D4-5CD1-C7DF-FA90-9D64004DDA9C}"/>
              </a:ext>
            </a:extLst>
          </p:cNvPr>
          <p:cNvCxnSpPr>
            <a:stCxn id="20" idx="0"/>
            <a:endCxn id="27" idx="1"/>
          </p:cNvCxnSpPr>
          <p:nvPr/>
        </p:nvCxnSpPr>
        <p:spPr>
          <a:xfrm>
            <a:off x="5241003" y="4935425"/>
            <a:ext cx="1709993" cy="0"/>
          </a:xfrm>
          <a:prstGeom prst="straightConnector1">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cxnSp>
        <p:nvCxnSpPr>
          <p:cNvPr id="45" name="Connector: Elbow 44">
            <a:extLst>
              <a:ext uri="{FF2B5EF4-FFF2-40B4-BE49-F238E27FC236}">
                <a16:creationId xmlns:a16="http://schemas.microsoft.com/office/drawing/2014/main" id="{90531882-9C28-296E-2C23-7E9F309D1EE0}"/>
              </a:ext>
            </a:extLst>
          </p:cNvPr>
          <p:cNvCxnSpPr>
            <a:stCxn id="20" idx="0"/>
            <a:endCxn id="30" idx="1"/>
          </p:cNvCxnSpPr>
          <p:nvPr/>
        </p:nvCxnSpPr>
        <p:spPr>
          <a:xfrm>
            <a:off x="5241003" y="4935425"/>
            <a:ext cx="1709993" cy="833842"/>
          </a:xfrm>
          <a:prstGeom prst="bentConnector3">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spTree>
    <p:custDataLst>
      <p:tags r:id="rId1"/>
    </p:custDataLst>
    <p:extLst>
      <p:ext uri="{BB962C8B-B14F-4D97-AF65-F5344CB8AC3E}">
        <p14:creationId xmlns:p14="http://schemas.microsoft.com/office/powerpoint/2010/main" val="20517244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9104">
        <p159:morph option="byObject"/>
      </p:transition>
    </mc:Choice>
    <mc:Fallback xmlns="">
      <p:transition spd="slow" advTm="29104">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5"/>
                                        </p:tgtEl>
                                        <p:attrNameLst>
                                          <p:attrName>style.visibility</p:attrName>
                                        </p:attrNameLst>
                                      </p:cBhvr>
                                      <p:to>
                                        <p:strVal val="visible"/>
                                      </p:to>
                                    </p:set>
                                    <p:animEffect transition="in" filter="wipe(left)">
                                      <p:cBhvr>
                                        <p:cTn id="10" dur="500"/>
                                        <p:tgtEl>
                                          <p:spTgt spid="15"/>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4" dur="500"/>
                                        <p:tgtEl>
                                          <p:spTgt spid="9"/>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wipe(left)">
                                      <p:cBhvr>
                                        <p:cTn id="21" dur="500"/>
                                        <p:tgtEl>
                                          <p:spTgt spid="16"/>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0"/>
                                        </p:tgtEl>
                                        <p:attrNameLst>
                                          <p:attrName>style.visibility</p:attrName>
                                        </p:attrNameLst>
                                      </p:cBhvr>
                                      <p:to>
                                        <p:strVal val="visible"/>
                                      </p:to>
                                    </p:set>
                                    <p:animEffect transition="in" filter="wipe(left)">
                                      <p:cBhvr>
                                        <p:cTn id="26" dur="500"/>
                                        <p:tgtEl>
                                          <p:spTgt spid="20"/>
                                        </p:tgtEl>
                                      </p:cBhvr>
                                    </p:animEffect>
                                  </p:childTnLst>
                                </p:cTn>
                              </p:par>
                            </p:childTnLst>
                          </p:cTn>
                        </p:par>
                        <p:par>
                          <p:cTn id="27" fill="hold">
                            <p:stCondLst>
                              <p:cond delay="500"/>
                            </p:stCondLst>
                            <p:childTnLst>
                              <p:par>
                                <p:cTn id="28" presetID="22" presetClass="entr" presetSubtype="8" fill="hold" nodeType="after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wipe(left)">
                                      <p:cBhvr>
                                        <p:cTn id="30" dur="500"/>
                                        <p:tgtEl>
                                          <p:spTgt spid="33"/>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26"/>
                                        </p:tgtEl>
                                        <p:attrNameLst>
                                          <p:attrName>style.visibility</p:attrName>
                                        </p:attrNameLst>
                                      </p:cBhvr>
                                      <p:to>
                                        <p:strVal val="visible"/>
                                      </p:to>
                                    </p:set>
                                    <p:animEffect transition="in" filter="wipe(left)">
                                      <p:cBhvr>
                                        <p:cTn id="34" dur="500"/>
                                        <p:tgtEl>
                                          <p:spTgt spid="26"/>
                                        </p:tgtEl>
                                      </p:cBhvr>
                                    </p:animEffect>
                                  </p:childTnLst>
                                </p:cTn>
                              </p:par>
                            </p:childTnLst>
                          </p:cTn>
                        </p:par>
                        <p:par>
                          <p:cTn id="35" fill="hold">
                            <p:stCondLst>
                              <p:cond delay="1500"/>
                            </p:stCondLst>
                            <p:childTnLst>
                              <p:par>
                                <p:cTn id="36" presetID="22" presetClass="entr" presetSubtype="8" fill="hold" nodeType="afterEffect">
                                  <p:stCondLst>
                                    <p:cond delay="0"/>
                                  </p:stCondLst>
                                  <p:childTnLst>
                                    <p:set>
                                      <p:cBhvr>
                                        <p:cTn id="37" dur="1" fill="hold">
                                          <p:stCondLst>
                                            <p:cond delay="0"/>
                                          </p:stCondLst>
                                        </p:cTn>
                                        <p:tgtEl>
                                          <p:spTgt spid="41"/>
                                        </p:tgtEl>
                                        <p:attrNameLst>
                                          <p:attrName>style.visibility</p:attrName>
                                        </p:attrNameLst>
                                      </p:cBhvr>
                                      <p:to>
                                        <p:strVal val="visible"/>
                                      </p:to>
                                    </p:set>
                                    <p:animEffect transition="in" filter="wipe(left)">
                                      <p:cBhvr>
                                        <p:cTn id="38" dur="500"/>
                                        <p:tgtEl>
                                          <p:spTgt spid="41"/>
                                        </p:tgtEl>
                                      </p:cBhvr>
                                    </p:animEffect>
                                  </p:childTnLst>
                                </p:cTn>
                              </p:par>
                            </p:childTnLst>
                          </p:cTn>
                        </p:par>
                        <p:par>
                          <p:cTn id="39" fill="hold">
                            <p:stCondLst>
                              <p:cond delay="2000"/>
                            </p:stCondLst>
                            <p:childTnLst>
                              <p:par>
                                <p:cTn id="40" presetID="22" presetClass="entr" presetSubtype="8" fill="hold" grpId="0" nodeType="after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wipe(left)">
                                      <p:cBhvr>
                                        <p:cTn id="42" dur="500"/>
                                        <p:tgtEl>
                                          <p:spTgt spid="27"/>
                                        </p:tgtEl>
                                      </p:cBhvr>
                                    </p:animEffect>
                                  </p:childTnLst>
                                </p:cTn>
                              </p:par>
                            </p:childTnLst>
                          </p:cTn>
                        </p:par>
                        <p:par>
                          <p:cTn id="43" fill="hold">
                            <p:stCondLst>
                              <p:cond delay="2500"/>
                            </p:stCondLst>
                            <p:childTnLst>
                              <p:par>
                                <p:cTn id="44" presetID="22" presetClass="entr" presetSubtype="8" fill="hold" nodeType="afterEffect">
                                  <p:stCondLst>
                                    <p:cond delay="0"/>
                                  </p:stCondLst>
                                  <p:childTnLst>
                                    <p:set>
                                      <p:cBhvr>
                                        <p:cTn id="45" dur="1" fill="hold">
                                          <p:stCondLst>
                                            <p:cond delay="0"/>
                                          </p:stCondLst>
                                        </p:cTn>
                                        <p:tgtEl>
                                          <p:spTgt spid="45"/>
                                        </p:tgtEl>
                                        <p:attrNameLst>
                                          <p:attrName>style.visibility</p:attrName>
                                        </p:attrNameLst>
                                      </p:cBhvr>
                                      <p:to>
                                        <p:strVal val="visible"/>
                                      </p:to>
                                    </p:set>
                                    <p:animEffect transition="in" filter="wipe(left)">
                                      <p:cBhvr>
                                        <p:cTn id="46" dur="500"/>
                                        <p:tgtEl>
                                          <p:spTgt spid="45"/>
                                        </p:tgtEl>
                                      </p:cBhvr>
                                    </p:animEffect>
                                  </p:childTnLst>
                                </p:cTn>
                              </p:par>
                            </p:childTnLst>
                          </p:cTn>
                        </p:par>
                        <p:par>
                          <p:cTn id="47" fill="hold">
                            <p:stCondLst>
                              <p:cond delay="3000"/>
                            </p:stCondLst>
                            <p:childTnLst>
                              <p:par>
                                <p:cTn id="48" presetID="22" presetClass="entr" presetSubtype="8" fill="hold" grpId="0" nodeType="after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wipe(left)">
                                      <p:cBhvr>
                                        <p:cTn id="50"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15" grpId="0"/>
      <p:bldP spid="16" grpId="0"/>
      <p:bldP spid="20" grpId="0" animBg="1"/>
      <p:bldP spid="26" grpId="0" animBg="1"/>
      <p:bldP spid="27" grpId="0" animBg="1"/>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DC94EB-9415-658D-2A02-07F168C12FAA}"/>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400" b="1" dirty="0"/>
              <a:t>Approche Systématique</a:t>
            </a:r>
            <a:endParaRPr lang="en-US" sz="4400" b="1" dirty="0"/>
          </a:p>
        </p:txBody>
      </p:sp>
      <p:sp>
        <p:nvSpPr>
          <p:cNvPr id="10" name="Hexagon 9">
            <a:extLst>
              <a:ext uri="{FF2B5EF4-FFF2-40B4-BE49-F238E27FC236}">
                <a16:creationId xmlns:a16="http://schemas.microsoft.com/office/drawing/2014/main" id="{CDDDA163-8E1D-1061-A442-31C57DC6BE6E}"/>
              </a:ext>
            </a:extLst>
          </p:cNvPr>
          <p:cNvSpPr/>
          <p:nvPr/>
        </p:nvSpPr>
        <p:spPr>
          <a:xfrm rot="1828882">
            <a:off x="212002" y="178377"/>
            <a:ext cx="914400" cy="822960"/>
          </a:xfrm>
          <a:prstGeom prst="hexagon">
            <a:avLst>
              <a:gd name="adj" fmla="val 27586"/>
              <a:gd name="vf" fmla="val 11547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24E0655-DDAE-D434-29F0-B86554774770}"/>
              </a:ext>
            </a:extLst>
          </p:cNvPr>
          <p:cNvSpPr txBox="1"/>
          <p:nvPr/>
        </p:nvSpPr>
        <p:spPr>
          <a:xfrm>
            <a:off x="376493" y="322590"/>
            <a:ext cx="585417" cy="523220"/>
          </a:xfrm>
          <a:prstGeom prst="rect">
            <a:avLst/>
          </a:prstGeom>
          <a:noFill/>
        </p:spPr>
        <p:txBody>
          <a:bodyPr wrap="none" rtlCol="0">
            <a:spAutoFit/>
          </a:bodyPr>
          <a:lstStyle/>
          <a:p>
            <a:r>
              <a:rPr lang="en-US" sz="2800" b="1" dirty="0">
                <a:solidFill>
                  <a:schemeClr val="bg1"/>
                </a:solidFill>
              </a:rPr>
              <a:t>04</a:t>
            </a:r>
          </a:p>
        </p:txBody>
      </p:sp>
      <p:sp>
        <p:nvSpPr>
          <p:cNvPr id="20" name="Hexagon 19">
            <a:extLst>
              <a:ext uri="{FF2B5EF4-FFF2-40B4-BE49-F238E27FC236}">
                <a16:creationId xmlns:a16="http://schemas.microsoft.com/office/drawing/2014/main" id="{F69E9293-045A-02D8-6551-B3B7ED83FE3F}"/>
              </a:ext>
            </a:extLst>
          </p:cNvPr>
          <p:cNvSpPr/>
          <p:nvPr/>
        </p:nvSpPr>
        <p:spPr>
          <a:xfrm>
            <a:off x="778798" y="3713275"/>
            <a:ext cx="4462207" cy="599850"/>
          </a:xfrm>
          <a:prstGeom prst="hexagon">
            <a:avLst/>
          </a:prstGeom>
          <a:solidFill>
            <a:srgbClr val="C00000"/>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Questions </a:t>
            </a:r>
            <a:r>
              <a:rPr lang="en-US" b="1" dirty="0" err="1">
                <a:solidFill>
                  <a:schemeClr val="bg1"/>
                </a:solidFill>
              </a:rPr>
              <a:t>essentielles</a:t>
            </a:r>
            <a:endParaRPr lang="en-US" b="1" dirty="0">
              <a:solidFill>
                <a:schemeClr val="bg1"/>
              </a:solidFill>
            </a:endParaRPr>
          </a:p>
        </p:txBody>
      </p:sp>
      <p:cxnSp>
        <p:nvCxnSpPr>
          <p:cNvPr id="33" name="Connector: Elbow 32">
            <a:extLst>
              <a:ext uri="{FF2B5EF4-FFF2-40B4-BE49-F238E27FC236}">
                <a16:creationId xmlns:a16="http://schemas.microsoft.com/office/drawing/2014/main" id="{25F21CD9-1079-BE1B-9009-D47EBB1EC8D7}"/>
              </a:ext>
            </a:extLst>
          </p:cNvPr>
          <p:cNvCxnSpPr>
            <a:cxnSpLocks/>
            <a:stCxn id="20" idx="0"/>
            <a:endCxn id="26" idx="1"/>
          </p:cNvCxnSpPr>
          <p:nvPr/>
        </p:nvCxnSpPr>
        <p:spPr>
          <a:xfrm flipV="1">
            <a:off x="5241005" y="1922576"/>
            <a:ext cx="1709991" cy="2090624"/>
          </a:xfrm>
          <a:prstGeom prst="bentConnector3">
            <a:avLst>
              <a:gd name="adj1" fmla="val 50000"/>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cxnSp>
        <p:nvCxnSpPr>
          <p:cNvPr id="45" name="Connector: Elbow 44">
            <a:extLst>
              <a:ext uri="{FF2B5EF4-FFF2-40B4-BE49-F238E27FC236}">
                <a16:creationId xmlns:a16="http://schemas.microsoft.com/office/drawing/2014/main" id="{90531882-9C28-296E-2C23-7E9F309D1EE0}"/>
              </a:ext>
            </a:extLst>
          </p:cNvPr>
          <p:cNvCxnSpPr>
            <a:cxnSpLocks/>
            <a:stCxn id="20" idx="0"/>
            <a:endCxn id="24" idx="1"/>
          </p:cNvCxnSpPr>
          <p:nvPr/>
        </p:nvCxnSpPr>
        <p:spPr>
          <a:xfrm flipV="1">
            <a:off x="5241005" y="2966995"/>
            <a:ext cx="1709991" cy="1046205"/>
          </a:xfrm>
          <a:prstGeom prst="bentConnector3">
            <a:avLst>
              <a:gd name="adj1" fmla="val 50000"/>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sp>
        <p:nvSpPr>
          <p:cNvPr id="5" name="Hexagon 4">
            <a:extLst>
              <a:ext uri="{FF2B5EF4-FFF2-40B4-BE49-F238E27FC236}">
                <a16:creationId xmlns:a16="http://schemas.microsoft.com/office/drawing/2014/main" id="{230F7E39-55B5-293C-9E2F-284059A442B2}"/>
              </a:ext>
            </a:extLst>
          </p:cNvPr>
          <p:cNvSpPr/>
          <p:nvPr/>
        </p:nvSpPr>
        <p:spPr>
          <a:xfrm>
            <a:off x="66462" y="1379727"/>
            <a:ext cx="3702897" cy="448995"/>
          </a:xfrm>
          <a:prstGeom prst="hexag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Clarification et Exigences</a:t>
            </a:r>
          </a:p>
        </p:txBody>
      </p:sp>
      <p:sp>
        <p:nvSpPr>
          <p:cNvPr id="26" name="TextBox 25">
            <a:extLst>
              <a:ext uri="{FF2B5EF4-FFF2-40B4-BE49-F238E27FC236}">
                <a16:creationId xmlns:a16="http://schemas.microsoft.com/office/drawing/2014/main" id="{A4B2F44B-5FB4-3BBF-B2F1-937F3AAF6DB3}"/>
              </a:ext>
            </a:extLst>
          </p:cNvPr>
          <p:cNvSpPr txBox="1"/>
          <p:nvPr/>
        </p:nvSpPr>
        <p:spPr>
          <a:xfrm>
            <a:off x="6950996" y="1737910"/>
            <a:ext cx="4821904" cy="369331"/>
          </a:xfrm>
          <a:prstGeom prst="rect">
            <a:avLst/>
          </a:prstGeom>
          <a:noFill/>
          <a:ln w="28575">
            <a:solidFill>
              <a:srgbClr val="C00000"/>
            </a:solidFill>
          </a:ln>
        </p:spPr>
        <p:txBody>
          <a:bodyPr wrap="square">
            <a:spAutoFit/>
          </a:bodyPr>
          <a:lstStyle/>
          <a:p>
            <a:pPr marL="285750" indent="-285750">
              <a:buClr>
                <a:srgbClr val="C00000"/>
              </a:buClr>
              <a:buFont typeface="Wingdings" panose="05000000000000000000" pitchFamily="2" charset="2"/>
              <a:buChar char="Ø"/>
            </a:pPr>
            <a:r>
              <a:rPr lang="fr-FR" b="1" dirty="0"/>
              <a:t>Quelles fonctionnalités exactes ?</a:t>
            </a:r>
            <a:endParaRPr lang="en-US" b="1" dirty="0"/>
          </a:p>
        </p:txBody>
      </p:sp>
      <p:sp>
        <p:nvSpPr>
          <p:cNvPr id="27" name="TextBox 26">
            <a:extLst>
              <a:ext uri="{FF2B5EF4-FFF2-40B4-BE49-F238E27FC236}">
                <a16:creationId xmlns:a16="http://schemas.microsoft.com/office/drawing/2014/main" id="{4DFA2D0B-0AE1-8F85-3676-B4252E3F8567}"/>
              </a:ext>
            </a:extLst>
          </p:cNvPr>
          <p:cNvSpPr txBox="1"/>
          <p:nvPr/>
        </p:nvSpPr>
        <p:spPr>
          <a:xfrm>
            <a:off x="6950996" y="3826749"/>
            <a:ext cx="4821904" cy="369331"/>
          </a:xfrm>
          <a:prstGeom prst="rect">
            <a:avLst/>
          </a:prstGeom>
          <a:noFill/>
          <a:ln w="28575">
            <a:solidFill>
              <a:srgbClr val="C00000"/>
            </a:solidFill>
          </a:ln>
        </p:spPr>
        <p:txBody>
          <a:bodyPr wrap="square">
            <a:spAutoFit/>
          </a:bodyPr>
          <a:lstStyle/>
          <a:p>
            <a:pPr marL="285750" indent="-285750">
              <a:buClr>
                <a:srgbClr val="C00000"/>
              </a:buClr>
              <a:buFont typeface="Wingdings" panose="05000000000000000000" pitchFamily="2" charset="2"/>
              <a:buChar char="Ø"/>
            </a:pPr>
            <a:r>
              <a:rPr lang="fr-FR" b="1" dirty="0"/>
              <a:t>Quelle disponibilité requise ?</a:t>
            </a:r>
            <a:endParaRPr lang="en-US" b="1" dirty="0"/>
          </a:p>
        </p:txBody>
      </p:sp>
      <p:sp>
        <p:nvSpPr>
          <p:cNvPr id="30" name="TextBox 29">
            <a:extLst>
              <a:ext uri="{FF2B5EF4-FFF2-40B4-BE49-F238E27FC236}">
                <a16:creationId xmlns:a16="http://schemas.microsoft.com/office/drawing/2014/main" id="{0D2EE3F5-B454-1BB3-FB0D-6E6FA44813A5}"/>
              </a:ext>
            </a:extLst>
          </p:cNvPr>
          <p:cNvSpPr txBox="1"/>
          <p:nvPr/>
        </p:nvSpPr>
        <p:spPr>
          <a:xfrm>
            <a:off x="6950996" y="5919160"/>
            <a:ext cx="4821904" cy="369331"/>
          </a:xfrm>
          <a:prstGeom prst="rect">
            <a:avLst/>
          </a:prstGeom>
          <a:noFill/>
          <a:ln w="28575">
            <a:solidFill>
              <a:srgbClr val="C00000"/>
            </a:solidFill>
          </a:ln>
        </p:spPr>
        <p:txBody>
          <a:bodyPr wrap="square">
            <a:spAutoFit/>
          </a:bodyPr>
          <a:lstStyle/>
          <a:p>
            <a:pPr marL="285750" indent="-285750">
              <a:buClr>
                <a:srgbClr val="C00000"/>
              </a:buClr>
              <a:buFont typeface="Wingdings" panose="05000000000000000000" pitchFamily="2" charset="2"/>
              <a:buChar char="Ø"/>
            </a:pPr>
            <a:r>
              <a:rPr lang="fr-FR" b="1" dirty="0"/>
              <a:t>Les URLs expirent-elles ?</a:t>
            </a:r>
            <a:endParaRPr lang="en-US" b="1" dirty="0"/>
          </a:p>
        </p:txBody>
      </p:sp>
      <p:sp>
        <p:nvSpPr>
          <p:cNvPr id="23" name="TextBox 22">
            <a:extLst>
              <a:ext uri="{FF2B5EF4-FFF2-40B4-BE49-F238E27FC236}">
                <a16:creationId xmlns:a16="http://schemas.microsoft.com/office/drawing/2014/main" id="{8800E5F6-6E04-931D-3FCA-83E0AFB57E99}"/>
              </a:ext>
            </a:extLst>
          </p:cNvPr>
          <p:cNvSpPr txBox="1"/>
          <p:nvPr/>
        </p:nvSpPr>
        <p:spPr>
          <a:xfrm>
            <a:off x="6950996" y="4872954"/>
            <a:ext cx="4821904" cy="369331"/>
          </a:xfrm>
          <a:prstGeom prst="rect">
            <a:avLst/>
          </a:prstGeom>
          <a:noFill/>
          <a:ln w="28575">
            <a:solidFill>
              <a:srgbClr val="C00000"/>
            </a:solidFill>
          </a:ln>
        </p:spPr>
        <p:txBody>
          <a:bodyPr wrap="square">
            <a:spAutoFit/>
          </a:bodyPr>
          <a:lstStyle/>
          <a:p>
            <a:pPr marL="285750" indent="-285750">
              <a:buClr>
                <a:srgbClr val="C00000"/>
              </a:buClr>
              <a:buFont typeface="Wingdings" panose="05000000000000000000" pitchFamily="2" charset="2"/>
              <a:buChar char="Ø"/>
            </a:pPr>
            <a:r>
              <a:rPr lang="fr-FR" b="1" dirty="0"/>
              <a:t>Comment gérer les collisions ?</a:t>
            </a:r>
            <a:endParaRPr lang="en-US" b="1" dirty="0"/>
          </a:p>
        </p:txBody>
      </p:sp>
      <p:sp>
        <p:nvSpPr>
          <p:cNvPr id="24" name="TextBox 23">
            <a:extLst>
              <a:ext uri="{FF2B5EF4-FFF2-40B4-BE49-F238E27FC236}">
                <a16:creationId xmlns:a16="http://schemas.microsoft.com/office/drawing/2014/main" id="{CC0F32C4-F91B-D03B-4804-43DBC9F3BF25}"/>
              </a:ext>
            </a:extLst>
          </p:cNvPr>
          <p:cNvSpPr txBox="1"/>
          <p:nvPr/>
        </p:nvSpPr>
        <p:spPr>
          <a:xfrm>
            <a:off x="6950996" y="2784115"/>
            <a:ext cx="4821904" cy="365760"/>
          </a:xfrm>
          <a:prstGeom prst="rect">
            <a:avLst/>
          </a:prstGeom>
          <a:noFill/>
          <a:ln w="28575">
            <a:solidFill>
              <a:srgbClr val="C00000"/>
            </a:solidFill>
          </a:ln>
        </p:spPr>
        <p:txBody>
          <a:bodyPr wrap="square">
            <a:spAutoFit/>
          </a:bodyPr>
          <a:lstStyle/>
          <a:p>
            <a:pPr marL="285750" indent="-285750">
              <a:buClr>
                <a:srgbClr val="C00000"/>
              </a:buClr>
              <a:buFont typeface="Wingdings" panose="05000000000000000000" pitchFamily="2" charset="2"/>
              <a:buChar char="Ø"/>
            </a:pPr>
            <a:r>
              <a:rPr lang="fr-FR" b="1" dirty="0"/>
              <a:t>Quelle latence maximale acceptable ?</a:t>
            </a:r>
            <a:endParaRPr lang="en-US" b="1" dirty="0"/>
          </a:p>
        </p:txBody>
      </p:sp>
      <p:cxnSp>
        <p:nvCxnSpPr>
          <p:cNvPr id="31" name="Connector: Elbow 30">
            <a:extLst>
              <a:ext uri="{FF2B5EF4-FFF2-40B4-BE49-F238E27FC236}">
                <a16:creationId xmlns:a16="http://schemas.microsoft.com/office/drawing/2014/main" id="{67C8340D-67EC-8F81-A594-0C216B5406F5}"/>
              </a:ext>
            </a:extLst>
          </p:cNvPr>
          <p:cNvCxnSpPr>
            <a:cxnSpLocks/>
            <a:stCxn id="20" idx="0"/>
            <a:endCxn id="27" idx="1"/>
          </p:cNvCxnSpPr>
          <p:nvPr/>
        </p:nvCxnSpPr>
        <p:spPr>
          <a:xfrm flipV="1">
            <a:off x="5241005" y="4011415"/>
            <a:ext cx="1709991" cy="1785"/>
          </a:xfrm>
          <a:prstGeom prst="bentConnector3">
            <a:avLst>
              <a:gd name="adj1" fmla="val 50000"/>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cxnSp>
        <p:nvCxnSpPr>
          <p:cNvPr id="35" name="Connector: Elbow 34">
            <a:extLst>
              <a:ext uri="{FF2B5EF4-FFF2-40B4-BE49-F238E27FC236}">
                <a16:creationId xmlns:a16="http://schemas.microsoft.com/office/drawing/2014/main" id="{62BA23AC-3EA1-D68A-FE22-B3DBA8D614DF}"/>
              </a:ext>
            </a:extLst>
          </p:cNvPr>
          <p:cNvCxnSpPr>
            <a:cxnSpLocks/>
            <a:stCxn id="20" idx="0"/>
            <a:endCxn id="23" idx="1"/>
          </p:cNvCxnSpPr>
          <p:nvPr/>
        </p:nvCxnSpPr>
        <p:spPr>
          <a:xfrm>
            <a:off x="5241005" y="4013200"/>
            <a:ext cx="1709991" cy="1044420"/>
          </a:xfrm>
          <a:prstGeom prst="bentConnector3">
            <a:avLst>
              <a:gd name="adj1" fmla="val 50000"/>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cxnSp>
        <p:nvCxnSpPr>
          <p:cNvPr id="38" name="Connector: Elbow 37">
            <a:extLst>
              <a:ext uri="{FF2B5EF4-FFF2-40B4-BE49-F238E27FC236}">
                <a16:creationId xmlns:a16="http://schemas.microsoft.com/office/drawing/2014/main" id="{6F39E533-A303-9C7C-3E35-0A2B41A0AE43}"/>
              </a:ext>
            </a:extLst>
          </p:cNvPr>
          <p:cNvCxnSpPr>
            <a:cxnSpLocks/>
            <a:stCxn id="20" idx="0"/>
            <a:endCxn id="30" idx="1"/>
          </p:cNvCxnSpPr>
          <p:nvPr/>
        </p:nvCxnSpPr>
        <p:spPr>
          <a:xfrm>
            <a:off x="5241005" y="4013200"/>
            <a:ext cx="1709991" cy="2090626"/>
          </a:xfrm>
          <a:prstGeom prst="bentConnector3">
            <a:avLst>
              <a:gd name="adj1" fmla="val 50000"/>
            </a:avLst>
          </a:prstGeom>
          <a:ln>
            <a:solidFill>
              <a:srgbClr val="C00000"/>
            </a:solidFill>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4840422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1163">
        <p159:morph option="byObject"/>
      </p:transition>
    </mc:Choice>
    <mc:Fallback xmlns="">
      <p:transition spd="slow" advTm="21163">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wipe(left)">
                                      <p:cBhvr>
                                        <p:cTn id="7" dur="500"/>
                                        <p:tgtEl>
                                          <p:spTgt spid="20"/>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500"/>
                                        <p:tgtEl>
                                          <p:spTgt spid="33"/>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500"/>
                                        <p:tgtEl>
                                          <p:spTgt spid="26"/>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wipe(left)">
                                      <p:cBhvr>
                                        <p:cTn id="19" dur="500"/>
                                        <p:tgtEl>
                                          <p:spTgt spid="45"/>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wipe(left)">
                                      <p:cBhvr>
                                        <p:cTn id="23" dur="500"/>
                                        <p:tgtEl>
                                          <p:spTgt spid="24"/>
                                        </p:tgtEl>
                                      </p:cBhvr>
                                    </p:animEffect>
                                  </p:childTnLst>
                                </p:cTn>
                              </p:par>
                            </p:childTnLst>
                          </p:cTn>
                        </p:par>
                        <p:par>
                          <p:cTn id="24" fill="hold">
                            <p:stCondLst>
                              <p:cond delay="2500"/>
                            </p:stCondLst>
                            <p:childTnLst>
                              <p:par>
                                <p:cTn id="25" presetID="22" presetClass="entr" presetSubtype="8" fill="hold" nodeType="afterEffect">
                                  <p:stCondLst>
                                    <p:cond delay="0"/>
                                  </p:stCondLst>
                                  <p:childTnLst>
                                    <p:set>
                                      <p:cBhvr>
                                        <p:cTn id="26" dur="1" fill="hold">
                                          <p:stCondLst>
                                            <p:cond delay="0"/>
                                          </p:stCondLst>
                                        </p:cTn>
                                        <p:tgtEl>
                                          <p:spTgt spid="31"/>
                                        </p:tgtEl>
                                        <p:attrNameLst>
                                          <p:attrName>style.visibility</p:attrName>
                                        </p:attrNameLst>
                                      </p:cBhvr>
                                      <p:to>
                                        <p:strVal val="visible"/>
                                      </p:to>
                                    </p:set>
                                    <p:animEffect transition="in" filter="wipe(left)">
                                      <p:cBhvr>
                                        <p:cTn id="27" dur="500"/>
                                        <p:tgtEl>
                                          <p:spTgt spid="31"/>
                                        </p:tgtEl>
                                      </p:cBhvr>
                                    </p:animEffect>
                                  </p:childTnLst>
                                </p:cTn>
                              </p:par>
                            </p:childTnLst>
                          </p:cTn>
                        </p:par>
                        <p:par>
                          <p:cTn id="28" fill="hold">
                            <p:stCondLst>
                              <p:cond delay="3000"/>
                            </p:stCondLst>
                            <p:childTnLst>
                              <p:par>
                                <p:cTn id="29" presetID="22" presetClass="entr" presetSubtype="8"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wipe(left)">
                                      <p:cBhvr>
                                        <p:cTn id="31" dur="500"/>
                                        <p:tgtEl>
                                          <p:spTgt spid="27"/>
                                        </p:tgtEl>
                                      </p:cBhvr>
                                    </p:animEffect>
                                  </p:childTnLst>
                                </p:cTn>
                              </p:par>
                            </p:childTnLst>
                          </p:cTn>
                        </p:par>
                        <p:par>
                          <p:cTn id="32" fill="hold">
                            <p:stCondLst>
                              <p:cond delay="3500"/>
                            </p:stCondLst>
                            <p:childTnLst>
                              <p:par>
                                <p:cTn id="33" presetID="22" presetClass="entr" presetSubtype="8" fill="hold" nodeType="afterEffect">
                                  <p:stCondLst>
                                    <p:cond delay="0"/>
                                  </p:stCondLst>
                                  <p:childTnLst>
                                    <p:set>
                                      <p:cBhvr>
                                        <p:cTn id="34" dur="1" fill="hold">
                                          <p:stCondLst>
                                            <p:cond delay="0"/>
                                          </p:stCondLst>
                                        </p:cTn>
                                        <p:tgtEl>
                                          <p:spTgt spid="35"/>
                                        </p:tgtEl>
                                        <p:attrNameLst>
                                          <p:attrName>style.visibility</p:attrName>
                                        </p:attrNameLst>
                                      </p:cBhvr>
                                      <p:to>
                                        <p:strVal val="visible"/>
                                      </p:to>
                                    </p:set>
                                    <p:animEffect transition="in" filter="wipe(left)">
                                      <p:cBhvr>
                                        <p:cTn id="35" dur="500"/>
                                        <p:tgtEl>
                                          <p:spTgt spid="35"/>
                                        </p:tgtEl>
                                      </p:cBhvr>
                                    </p:animEffect>
                                  </p:childTnLst>
                                </p:cTn>
                              </p:par>
                            </p:childTnLst>
                          </p:cTn>
                        </p:par>
                        <p:par>
                          <p:cTn id="36" fill="hold">
                            <p:stCondLst>
                              <p:cond delay="4000"/>
                            </p:stCondLst>
                            <p:childTnLst>
                              <p:par>
                                <p:cTn id="37" presetID="22" presetClass="entr" presetSubtype="8" fill="hold" grpId="0" nodeType="after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left)">
                                      <p:cBhvr>
                                        <p:cTn id="39" dur="500"/>
                                        <p:tgtEl>
                                          <p:spTgt spid="23"/>
                                        </p:tgtEl>
                                      </p:cBhvr>
                                    </p:animEffect>
                                  </p:childTnLst>
                                </p:cTn>
                              </p:par>
                            </p:childTnLst>
                          </p:cTn>
                        </p:par>
                        <p:par>
                          <p:cTn id="40" fill="hold">
                            <p:stCondLst>
                              <p:cond delay="4500"/>
                            </p:stCondLst>
                            <p:childTnLst>
                              <p:par>
                                <p:cTn id="41" presetID="22" presetClass="entr" presetSubtype="8" fill="hold" nodeType="after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wipe(left)">
                                      <p:cBhvr>
                                        <p:cTn id="43" dur="500"/>
                                        <p:tgtEl>
                                          <p:spTgt spid="38"/>
                                        </p:tgtEl>
                                      </p:cBhvr>
                                    </p:animEffect>
                                  </p:childTnLst>
                                </p:cTn>
                              </p:par>
                            </p:childTnLst>
                          </p:cTn>
                        </p:par>
                        <p:par>
                          <p:cTn id="44" fill="hold">
                            <p:stCondLst>
                              <p:cond delay="5000"/>
                            </p:stCondLst>
                            <p:childTnLst>
                              <p:par>
                                <p:cTn id="45" presetID="22" presetClass="entr" presetSubtype="8"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wipe(left)">
                                      <p:cBhvr>
                                        <p:cTn id="4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6" grpId="0" animBg="1"/>
      <p:bldP spid="27" grpId="0" animBg="1"/>
      <p:bldP spid="30" grpId="0" animBg="1"/>
      <p:bldP spid="23" grpId="0" animBg="1"/>
      <p:bldP spid="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DC94EB-9415-658D-2A02-07F168C12FAA}"/>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400" b="1" dirty="0"/>
              <a:t>Calculs d'Ordre de Grandeur</a:t>
            </a:r>
            <a:endParaRPr lang="en-US" sz="4400" b="1" dirty="0"/>
          </a:p>
        </p:txBody>
      </p:sp>
      <p:sp>
        <p:nvSpPr>
          <p:cNvPr id="10" name="Hexagon 9">
            <a:extLst>
              <a:ext uri="{FF2B5EF4-FFF2-40B4-BE49-F238E27FC236}">
                <a16:creationId xmlns:a16="http://schemas.microsoft.com/office/drawing/2014/main" id="{CDDDA163-8E1D-1061-A442-31C57DC6BE6E}"/>
              </a:ext>
            </a:extLst>
          </p:cNvPr>
          <p:cNvSpPr/>
          <p:nvPr/>
        </p:nvSpPr>
        <p:spPr>
          <a:xfrm rot="1828882">
            <a:off x="212002" y="178377"/>
            <a:ext cx="914400" cy="822960"/>
          </a:xfrm>
          <a:prstGeom prst="hexagon">
            <a:avLst>
              <a:gd name="adj" fmla="val 27586"/>
              <a:gd name="vf" fmla="val 11547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24E0655-DDAE-D434-29F0-B86554774770}"/>
              </a:ext>
            </a:extLst>
          </p:cNvPr>
          <p:cNvSpPr txBox="1"/>
          <p:nvPr/>
        </p:nvSpPr>
        <p:spPr>
          <a:xfrm>
            <a:off x="376493" y="322590"/>
            <a:ext cx="585417" cy="523220"/>
          </a:xfrm>
          <a:prstGeom prst="rect">
            <a:avLst/>
          </a:prstGeom>
          <a:noFill/>
        </p:spPr>
        <p:txBody>
          <a:bodyPr wrap="none" rtlCol="0">
            <a:spAutoFit/>
          </a:bodyPr>
          <a:lstStyle/>
          <a:p>
            <a:r>
              <a:rPr lang="en-US" sz="2800" b="1" dirty="0">
                <a:solidFill>
                  <a:schemeClr val="bg1"/>
                </a:solidFill>
              </a:rPr>
              <a:t>05</a:t>
            </a:r>
          </a:p>
        </p:txBody>
      </p:sp>
      <p:sp>
        <p:nvSpPr>
          <p:cNvPr id="8" name="Hexagon 7">
            <a:extLst>
              <a:ext uri="{FF2B5EF4-FFF2-40B4-BE49-F238E27FC236}">
                <a16:creationId xmlns:a16="http://schemas.microsoft.com/office/drawing/2014/main" id="{29082072-E0DE-8321-08E3-1A3854053DD2}"/>
              </a:ext>
            </a:extLst>
          </p:cNvPr>
          <p:cNvSpPr/>
          <p:nvPr/>
        </p:nvSpPr>
        <p:spPr>
          <a:xfrm>
            <a:off x="3864897" y="1645100"/>
            <a:ext cx="4462207" cy="599850"/>
          </a:xfrm>
          <a:prstGeom prst="hexagon">
            <a:avLst/>
          </a:prstGeom>
          <a:solidFill>
            <a:srgbClr val="00B05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Objectif</a:t>
            </a:r>
          </a:p>
        </p:txBody>
      </p:sp>
      <p:grpSp>
        <p:nvGrpSpPr>
          <p:cNvPr id="3" name="Group 2">
            <a:extLst>
              <a:ext uri="{FF2B5EF4-FFF2-40B4-BE49-F238E27FC236}">
                <a16:creationId xmlns:a16="http://schemas.microsoft.com/office/drawing/2014/main" id="{F1998AB0-6C7B-703C-4D24-27645378F271}"/>
              </a:ext>
            </a:extLst>
          </p:cNvPr>
          <p:cNvGrpSpPr/>
          <p:nvPr/>
        </p:nvGrpSpPr>
        <p:grpSpPr>
          <a:xfrm>
            <a:off x="8328186" y="2458876"/>
            <a:ext cx="3195696" cy="646332"/>
            <a:chOff x="8328186" y="2458876"/>
            <a:chExt cx="3195696" cy="646332"/>
          </a:xfrm>
        </p:grpSpPr>
        <p:sp>
          <p:nvSpPr>
            <p:cNvPr id="15" name="Hexagon 14">
              <a:extLst>
                <a:ext uri="{FF2B5EF4-FFF2-40B4-BE49-F238E27FC236}">
                  <a16:creationId xmlns:a16="http://schemas.microsoft.com/office/drawing/2014/main" id="{A7C47299-89CD-0DB2-3AD1-C590679BE385}"/>
                </a:ext>
              </a:extLst>
            </p:cNvPr>
            <p:cNvSpPr/>
            <p:nvPr/>
          </p:nvSpPr>
          <p:spPr>
            <a:xfrm rot="5400000">
              <a:off x="9602868" y="1184194"/>
              <a:ext cx="646332" cy="3195696"/>
            </a:xfrm>
            <a:prstGeom prst="hexagon">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6" name="TextBox 15">
              <a:extLst>
                <a:ext uri="{FF2B5EF4-FFF2-40B4-BE49-F238E27FC236}">
                  <a16:creationId xmlns:a16="http://schemas.microsoft.com/office/drawing/2014/main" id="{AA3BD536-F1DB-B161-B460-A68EE7AC4972}"/>
                </a:ext>
              </a:extLst>
            </p:cNvPr>
            <p:cNvSpPr txBox="1"/>
            <p:nvPr/>
          </p:nvSpPr>
          <p:spPr>
            <a:xfrm>
              <a:off x="9320740" y="2597376"/>
              <a:ext cx="1210588" cy="369332"/>
            </a:xfrm>
            <a:prstGeom prst="rect">
              <a:avLst/>
            </a:prstGeom>
            <a:noFill/>
          </p:spPr>
          <p:txBody>
            <a:bodyPr wrap="none" rtlCol="0">
              <a:spAutoFit/>
            </a:bodyPr>
            <a:lstStyle/>
            <a:p>
              <a:pPr algn="ctr"/>
              <a:r>
                <a:rPr lang="en-US" b="1" dirty="0"/>
                <a:t>Stockage</a:t>
              </a:r>
            </a:p>
          </p:txBody>
        </p:sp>
      </p:grpSp>
      <p:sp>
        <p:nvSpPr>
          <p:cNvPr id="17" name="TextBox 16">
            <a:extLst>
              <a:ext uri="{FF2B5EF4-FFF2-40B4-BE49-F238E27FC236}">
                <a16:creationId xmlns:a16="http://schemas.microsoft.com/office/drawing/2014/main" id="{68B01A6D-5E44-1827-AEBF-925938DCC6DF}"/>
              </a:ext>
            </a:extLst>
          </p:cNvPr>
          <p:cNvSpPr txBox="1"/>
          <p:nvPr/>
        </p:nvSpPr>
        <p:spPr>
          <a:xfrm>
            <a:off x="8101634" y="3297547"/>
            <a:ext cx="3648800" cy="369332"/>
          </a:xfrm>
          <a:prstGeom prst="rect">
            <a:avLst/>
          </a:prstGeom>
          <a:noFill/>
        </p:spPr>
        <p:txBody>
          <a:bodyPr wrap="square">
            <a:spAutoFit/>
          </a:bodyPr>
          <a:lstStyle/>
          <a:p>
            <a:pPr algn="ctr"/>
            <a:r>
              <a:rPr lang="fr-FR" dirty="0"/>
              <a:t>Nombre d'objets × Taille moyenne</a:t>
            </a:r>
            <a:endParaRPr lang="en-US" dirty="0"/>
          </a:p>
        </p:txBody>
      </p:sp>
      <p:cxnSp>
        <p:nvCxnSpPr>
          <p:cNvPr id="28" name="Connector: Elbow 27">
            <a:extLst>
              <a:ext uri="{FF2B5EF4-FFF2-40B4-BE49-F238E27FC236}">
                <a16:creationId xmlns:a16="http://schemas.microsoft.com/office/drawing/2014/main" id="{E5771237-6B0F-C8CE-86E1-08A7DE7AA992}"/>
              </a:ext>
            </a:extLst>
          </p:cNvPr>
          <p:cNvCxnSpPr>
            <a:stCxn id="8" idx="0"/>
            <a:endCxn id="15" idx="3"/>
          </p:cNvCxnSpPr>
          <p:nvPr/>
        </p:nvCxnSpPr>
        <p:spPr>
          <a:xfrm>
            <a:off x="8327104" y="1945025"/>
            <a:ext cx="1598930" cy="513851"/>
          </a:xfrm>
          <a:prstGeom prst="bentConnector4">
            <a:avLst>
              <a:gd name="adj1" fmla="val 99862"/>
              <a:gd name="adj2" fmla="val 105"/>
            </a:avLst>
          </a:prstGeom>
          <a:ln>
            <a:tailEnd type="triangle"/>
          </a:ln>
        </p:spPr>
        <p:style>
          <a:lnRef idx="3">
            <a:schemeClr val="dk1"/>
          </a:lnRef>
          <a:fillRef idx="0">
            <a:schemeClr val="dk1"/>
          </a:fillRef>
          <a:effectRef idx="2">
            <a:schemeClr val="dk1"/>
          </a:effectRef>
          <a:fontRef idx="minor">
            <a:schemeClr val="tx1"/>
          </a:fontRef>
        </p:style>
      </p:cxnSp>
      <p:grpSp>
        <p:nvGrpSpPr>
          <p:cNvPr id="4" name="Group 3">
            <a:extLst>
              <a:ext uri="{FF2B5EF4-FFF2-40B4-BE49-F238E27FC236}">
                <a16:creationId xmlns:a16="http://schemas.microsoft.com/office/drawing/2014/main" id="{B256ACA2-0B27-7348-DD12-4934EC7F3DF6}"/>
              </a:ext>
            </a:extLst>
          </p:cNvPr>
          <p:cNvGrpSpPr/>
          <p:nvPr/>
        </p:nvGrpSpPr>
        <p:grpSpPr>
          <a:xfrm>
            <a:off x="668119" y="2458876"/>
            <a:ext cx="3195696" cy="646332"/>
            <a:chOff x="668119" y="2458876"/>
            <a:chExt cx="3195696" cy="646332"/>
          </a:xfrm>
        </p:grpSpPr>
        <p:sp>
          <p:nvSpPr>
            <p:cNvPr id="9" name="Hexagon 8">
              <a:extLst>
                <a:ext uri="{FF2B5EF4-FFF2-40B4-BE49-F238E27FC236}">
                  <a16:creationId xmlns:a16="http://schemas.microsoft.com/office/drawing/2014/main" id="{9378EA23-1BB5-5566-4958-1D4D2262B447}"/>
                </a:ext>
              </a:extLst>
            </p:cNvPr>
            <p:cNvSpPr/>
            <p:nvPr/>
          </p:nvSpPr>
          <p:spPr>
            <a:xfrm rot="5400000">
              <a:off x="1942801" y="1184194"/>
              <a:ext cx="646332" cy="3195696"/>
            </a:xfrm>
            <a:prstGeom prst="hexagon">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1" name="TextBox 10">
              <a:extLst>
                <a:ext uri="{FF2B5EF4-FFF2-40B4-BE49-F238E27FC236}">
                  <a16:creationId xmlns:a16="http://schemas.microsoft.com/office/drawing/2014/main" id="{F14CD118-EEDD-687F-CD25-42B78D7EEFA0}"/>
                </a:ext>
              </a:extLst>
            </p:cNvPr>
            <p:cNvSpPr txBox="1"/>
            <p:nvPr/>
          </p:nvSpPr>
          <p:spPr>
            <a:xfrm>
              <a:off x="1397781" y="2597376"/>
              <a:ext cx="1736373" cy="369332"/>
            </a:xfrm>
            <a:prstGeom prst="rect">
              <a:avLst/>
            </a:prstGeom>
            <a:noFill/>
          </p:spPr>
          <p:txBody>
            <a:bodyPr wrap="none" rtlCol="0">
              <a:spAutoFit/>
            </a:bodyPr>
            <a:lstStyle/>
            <a:p>
              <a:pPr algn="ctr"/>
              <a:r>
                <a:rPr lang="en-US" b="1" dirty="0" err="1"/>
                <a:t>Requêtes</a:t>
              </a:r>
              <a:r>
                <a:rPr lang="en-US" b="1" dirty="0"/>
                <a:t>/sec </a:t>
              </a:r>
            </a:p>
          </p:txBody>
        </p:sp>
      </p:grpSp>
      <p:sp>
        <p:nvSpPr>
          <p:cNvPr id="18" name="TextBox 17">
            <a:extLst>
              <a:ext uri="{FF2B5EF4-FFF2-40B4-BE49-F238E27FC236}">
                <a16:creationId xmlns:a16="http://schemas.microsoft.com/office/drawing/2014/main" id="{94CD2036-3788-96C1-6F62-D2E9557FB25E}"/>
              </a:ext>
            </a:extLst>
          </p:cNvPr>
          <p:cNvSpPr txBox="1"/>
          <p:nvPr/>
        </p:nvSpPr>
        <p:spPr>
          <a:xfrm>
            <a:off x="441567" y="3297547"/>
            <a:ext cx="3648800" cy="369332"/>
          </a:xfrm>
          <a:prstGeom prst="rect">
            <a:avLst/>
          </a:prstGeom>
          <a:noFill/>
        </p:spPr>
        <p:txBody>
          <a:bodyPr wrap="square">
            <a:spAutoFit/>
          </a:bodyPr>
          <a:lstStyle/>
          <a:p>
            <a:pPr algn="ctr"/>
            <a:r>
              <a:rPr lang="fr-FR" dirty="0"/>
              <a:t>Actions totales/sec</a:t>
            </a:r>
          </a:p>
        </p:txBody>
      </p:sp>
      <p:cxnSp>
        <p:nvCxnSpPr>
          <p:cNvPr id="43" name="Connector: Elbow 42">
            <a:extLst>
              <a:ext uri="{FF2B5EF4-FFF2-40B4-BE49-F238E27FC236}">
                <a16:creationId xmlns:a16="http://schemas.microsoft.com/office/drawing/2014/main" id="{2F7440E8-44B6-FAFC-49E5-DDB92B4CE134}"/>
              </a:ext>
            </a:extLst>
          </p:cNvPr>
          <p:cNvCxnSpPr>
            <a:cxnSpLocks/>
            <a:stCxn id="8" idx="3"/>
            <a:endCxn id="9" idx="3"/>
          </p:cNvCxnSpPr>
          <p:nvPr/>
        </p:nvCxnSpPr>
        <p:spPr>
          <a:xfrm rot="10800000" flipV="1">
            <a:off x="2265967" y="1945024"/>
            <a:ext cx="1598930" cy="513851"/>
          </a:xfrm>
          <a:prstGeom prst="bentConnector4">
            <a:avLst>
              <a:gd name="adj1" fmla="val 100092"/>
              <a:gd name="adj2" fmla="val -683"/>
            </a:avLst>
          </a:prstGeom>
          <a:ln>
            <a:tailEnd type="triangle"/>
          </a:ln>
        </p:spPr>
        <p:style>
          <a:lnRef idx="3">
            <a:schemeClr val="dk1"/>
          </a:lnRef>
          <a:fillRef idx="0">
            <a:schemeClr val="dk1"/>
          </a:fillRef>
          <a:effectRef idx="2">
            <a:schemeClr val="dk1"/>
          </a:effectRef>
          <a:fontRef idx="minor">
            <a:schemeClr val="tx1"/>
          </a:fontRef>
        </p:style>
      </p:cxnSp>
      <p:sp>
        <p:nvSpPr>
          <p:cNvPr id="50" name="Hexagon 49">
            <a:extLst>
              <a:ext uri="{FF2B5EF4-FFF2-40B4-BE49-F238E27FC236}">
                <a16:creationId xmlns:a16="http://schemas.microsoft.com/office/drawing/2014/main" id="{0C64C089-8F6D-6FAA-5E62-816ECFF72921}"/>
              </a:ext>
            </a:extLst>
          </p:cNvPr>
          <p:cNvSpPr/>
          <p:nvPr/>
        </p:nvSpPr>
        <p:spPr>
          <a:xfrm>
            <a:off x="3864897" y="3919679"/>
            <a:ext cx="4462207" cy="599850"/>
          </a:xfrm>
          <a:prstGeom prst="hexagon">
            <a:avLst/>
          </a:prstGeom>
          <a:solidFill>
            <a:srgbClr val="00B050"/>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bg1"/>
                </a:solidFill>
              </a:rPr>
              <a:t>Exemple</a:t>
            </a:r>
            <a:endParaRPr lang="en-US" b="1" dirty="0">
              <a:solidFill>
                <a:schemeClr val="bg1"/>
              </a:solidFill>
            </a:endParaRPr>
          </a:p>
        </p:txBody>
      </p:sp>
      <p:grpSp>
        <p:nvGrpSpPr>
          <p:cNvPr id="6" name="Group 5">
            <a:extLst>
              <a:ext uri="{FF2B5EF4-FFF2-40B4-BE49-F238E27FC236}">
                <a16:creationId xmlns:a16="http://schemas.microsoft.com/office/drawing/2014/main" id="{E90BF329-F355-6499-3A3A-24F9A503F94A}"/>
              </a:ext>
            </a:extLst>
          </p:cNvPr>
          <p:cNvGrpSpPr/>
          <p:nvPr/>
        </p:nvGrpSpPr>
        <p:grpSpPr>
          <a:xfrm>
            <a:off x="8328186" y="4733455"/>
            <a:ext cx="3195696" cy="646332"/>
            <a:chOff x="8328186" y="4733455"/>
            <a:chExt cx="3195696" cy="646332"/>
          </a:xfrm>
        </p:grpSpPr>
        <p:sp>
          <p:nvSpPr>
            <p:cNvPr id="51" name="Hexagon 50">
              <a:extLst>
                <a:ext uri="{FF2B5EF4-FFF2-40B4-BE49-F238E27FC236}">
                  <a16:creationId xmlns:a16="http://schemas.microsoft.com/office/drawing/2014/main" id="{2D655DF1-ECA3-DAF6-7928-F80715C34667}"/>
                </a:ext>
              </a:extLst>
            </p:cNvPr>
            <p:cNvSpPr/>
            <p:nvPr/>
          </p:nvSpPr>
          <p:spPr>
            <a:xfrm rot="5400000">
              <a:off x="9602868" y="3458773"/>
              <a:ext cx="646332" cy="3195696"/>
            </a:xfrm>
            <a:prstGeom prst="hexagon">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2" name="TextBox 51">
              <a:extLst>
                <a:ext uri="{FF2B5EF4-FFF2-40B4-BE49-F238E27FC236}">
                  <a16:creationId xmlns:a16="http://schemas.microsoft.com/office/drawing/2014/main" id="{212374FA-FDAB-A138-3CB8-EF90B49677D0}"/>
                </a:ext>
              </a:extLst>
            </p:cNvPr>
            <p:cNvSpPr txBox="1"/>
            <p:nvPr/>
          </p:nvSpPr>
          <p:spPr>
            <a:xfrm>
              <a:off x="9391272" y="4871955"/>
              <a:ext cx="1069524" cy="369332"/>
            </a:xfrm>
            <a:prstGeom prst="rect">
              <a:avLst/>
            </a:prstGeom>
            <a:noFill/>
          </p:spPr>
          <p:txBody>
            <a:bodyPr wrap="none" rtlCol="0">
              <a:spAutoFit/>
            </a:bodyPr>
            <a:lstStyle/>
            <a:p>
              <a:pPr algn="ctr"/>
              <a:r>
                <a:rPr lang="en-US" b="1" dirty="0" err="1"/>
                <a:t>Calculs</a:t>
              </a:r>
              <a:r>
                <a:rPr lang="en-US" b="1" dirty="0"/>
                <a:t> </a:t>
              </a:r>
            </a:p>
          </p:txBody>
        </p:sp>
      </p:grpSp>
      <p:cxnSp>
        <p:nvCxnSpPr>
          <p:cNvPr id="55" name="Connector: Elbow 54">
            <a:extLst>
              <a:ext uri="{FF2B5EF4-FFF2-40B4-BE49-F238E27FC236}">
                <a16:creationId xmlns:a16="http://schemas.microsoft.com/office/drawing/2014/main" id="{42438066-B8AF-8848-3308-AA079E3C3E96}"/>
              </a:ext>
            </a:extLst>
          </p:cNvPr>
          <p:cNvCxnSpPr>
            <a:stCxn id="50" idx="0"/>
            <a:endCxn id="51" idx="3"/>
          </p:cNvCxnSpPr>
          <p:nvPr/>
        </p:nvCxnSpPr>
        <p:spPr>
          <a:xfrm>
            <a:off x="8327104" y="4219604"/>
            <a:ext cx="1598930" cy="513851"/>
          </a:xfrm>
          <a:prstGeom prst="bentConnector4">
            <a:avLst>
              <a:gd name="adj1" fmla="val 99862"/>
              <a:gd name="adj2" fmla="val 105"/>
            </a:avLst>
          </a:prstGeom>
          <a:ln>
            <a:tailEnd type="triangle"/>
          </a:ln>
        </p:spPr>
        <p:style>
          <a:lnRef idx="3">
            <a:schemeClr val="dk1"/>
          </a:lnRef>
          <a:fillRef idx="0">
            <a:schemeClr val="dk1"/>
          </a:fillRef>
          <a:effectRef idx="2">
            <a:schemeClr val="dk1"/>
          </a:effectRef>
          <a:fontRef idx="minor">
            <a:schemeClr val="tx1"/>
          </a:fontRef>
        </p:style>
      </p:cxnSp>
      <p:grpSp>
        <p:nvGrpSpPr>
          <p:cNvPr id="5" name="Group 4">
            <a:extLst>
              <a:ext uri="{FF2B5EF4-FFF2-40B4-BE49-F238E27FC236}">
                <a16:creationId xmlns:a16="http://schemas.microsoft.com/office/drawing/2014/main" id="{FC5BFD72-65EA-BAB0-0CE4-F21669D465C6}"/>
              </a:ext>
            </a:extLst>
          </p:cNvPr>
          <p:cNvGrpSpPr/>
          <p:nvPr/>
        </p:nvGrpSpPr>
        <p:grpSpPr>
          <a:xfrm>
            <a:off x="668119" y="4733455"/>
            <a:ext cx="3195696" cy="646332"/>
            <a:chOff x="668119" y="4733455"/>
            <a:chExt cx="3195696" cy="646332"/>
          </a:xfrm>
        </p:grpSpPr>
        <p:sp>
          <p:nvSpPr>
            <p:cNvPr id="53" name="Hexagon 52">
              <a:extLst>
                <a:ext uri="{FF2B5EF4-FFF2-40B4-BE49-F238E27FC236}">
                  <a16:creationId xmlns:a16="http://schemas.microsoft.com/office/drawing/2014/main" id="{5E0288F1-366E-9100-9EDF-9A0CB66A299A}"/>
                </a:ext>
              </a:extLst>
            </p:cNvPr>
            <p:cNvSpPr/>
            <p:nvPr/>
          </p:nvSpPr>
          <p:spPr>
            <a:xfrm rot="5400000">
              <a:off x="1942801" y="3458773"/>
              <a:ext cx="646332" cy="3195696"/>
            </a:xfrm>
            <a:prstGeom prst="hexagon">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54" name="TextBox 53">
              <a:extLst>
                <a:ext uri="{FF2B5EF4-FFF2-40B4-BE49-F238E27FC236}">
                  <a16:creationId xmlns:a16="http://schemas.microsoft.com/office/drawing/2014/main" id="{90E69DE9-F286-5439-635E-97A83B35DADE}"/>
                </a:ext>
              </a:extLst>
            </p:cNvPr>
            <p:cNvSpPr txBox="1"/>
            <p:nvPr/>
          </p:nvSpPr>
          <p:spPr>
            <a:xfrm>
              <a:off x="1634993" y="4871955"/>
              <a:ext cx="1261949" cy="369332"/>
            </a:xfrm>
            <a:prstGeom prst="rect">
              <a:avLst/>
            </a:prstGeom>
            <a:noFill/>
          </p:spPr>
          <p:txBody>
            <a:bodyPr wrap="none" rtlCol="0">
              <a:spAutoFit/>
            </a:bodyPr>
            <a:lstStyle/>
            <a:p>
              <a:pPr algn="ctr"/>
              <a:r>
                <a:rPr lang="en-US" b="1" dirty="0"/>
                <a:t>Données </a:t>
              </a:r>
            </a:p>
          </p:txBody>
        </p:sp>
      </p:grpSp>
      <p:cxnSp>
        <p:nvCxnSpPr>
          <p:cNvPr id="56" name="Connector: Elbow 55">
            <a:extLst>
              <a:ext uri="{FF2B5EF4-FFF2-40B4-BE49-F238E27FC236}">
                <a16:creationId xmlns:a16="http://schemas.microsoft.com/office/drawing/2014/main" id="{F2208C6F-9C76-DB44-F5D6-898B0D41F827}"/>
              </a:ext>
            </a:extLst>
          </p:cNvPr>
          <p:cNvCxnSpPr>
            <a:cxnSpLocks/>
            <a:stCxn id="50" idx="3"/>
            <a:endCxn id="53" idx="3"/>
          </p:cNvCxnSpPr>
          <p:nvPr/>
        </p:nvCxnSpPr>
        <p:spPr>
          <a:xfrm rot="10800000" flipV="1">
            <a:off x="2265967" y="4219603"/>
            <a:ext cx="1598930" cy="513851"/>
          </a:xfrm>
          <a:prstGeom prst="bentConnector4">
            <a:avLst>
              <a:gd name="adj1" fmla="val 100092"/>
              <a:gd name="adj2" fmla="val -683"/>
            </a:avLst>
          </a:prstGeom>
          <a:ln>
            <a:tailEnd type="triangle"/>
          </a:ln>
        </p:spPr>
        <p:style>
          <a:lnRef idx="3">
            <a:schemeClr val="dk1"/>
          </a:lnRef>
          <a:fillRef idx="0">
            <a:schemeClr val="dk1"/>
          </a:fillRef>
          <a:effectRef idx="2">
            <a:schemeClr val="dk1"/>
          </a:effectRef>
          <a:fontRef idx="minor">
            <a:schemeClr val="tx1"/>
          </a:fontRef>
        </p:style>
      </p:cxnSp>
      <p:sp>
        <p:nvSpPr>
          <p:cNvPr id="62" name="TextBox 61">
            <a:extLst>
              <a:ext uri="{FF2B5EF4-FFF2-40B4-BE49-F238E27FC236}">
                <a16:creationId xmlns:a16="http://schemas.microsoft.com/office/drawing/2014/main" id="{DD8920AE-410D-2779-4689-D015811AB542}"/>
              </a:ext>
            </a:extLst>
          </p:cNvPr>
          <p:cNvSpPr txBox="1"/>
          <p:nvPr/>
        </p:nvSpPr>
        <p:spPr>
          <a:xfrm>
            <a:off x="441566" y="5440688"/>
            <a:ext cx="3648800" cy="923330"/>
          </a:xfrm>
          <a:prstGeom prst="rect">
            <a:avLst/>
          </a:prstGeom>
          <a:noFill/>
        </p:spPr>
        <p:txBody>
          <a:bodyPr wrap="square">
            <a:spAutoFit/>
          </a:bodyPr>
          <a:lstStyle/>
          <a:p>
            <a:pPr marL="285750" indent="-285750">
              <a:buFont typeface="Wingdings" panose="05000000000000000000" pitchFamily="2" charset="2"/>
              <a:buChar char="Ø"/>
            </a:pPr>
            <a:r>
              <a:rPr lang="fr-FR" dirty="0"/>
              <a:t>Écritures/mois = 1 milliard</a:t>
            </a:r>
          </a:p>
          <a:p>
            <a:pPr marL="285750" indent="-285750">
              <a:buFont typeface="Wingdings" panose="05000000000000000000" pitchFamily="2" charset="2"/>
              <a:buChar char="Ø"/>
            </a:pPr>
            <a:r>
              <a:rPr lang="fr-FR" dirty="0"/>
              <a:t>Ratio lecture/écriture = 100:1</a:t>
            </a:r>
          </a:p>
          <a:p>
            <a:pPr marL="285750" indent="-285750">
              <a:buFont typeface="Wingdings" panose="05000000000000000000" pitchFamily="2" charset="2"/>
              <a:buChar char="Ø"/>
            </a:pPr>
            <a:r>
              <a:rPr lang="fr-FR" dirty="0"/>
              <a:t>Secondes/jour ≈ 100,000</a:t>
            </a:r>
          </a:p>
        </p:txBody>
      </p:sp>
      <p:sp>
        <p:nvSpPr>
          <p:cNvPr id="64" name="TextBox 63">
            <a:extLst>
              <a:ext uri="{FF2B5EF4-FFF2-40B4-BE49-F238E27FC236}">
                <a16:creationId xmlns:a16="http://schemas.microsoft.com/office/drawing/2014/main" id="{263EEE3F-3CA1-82D7-B3B7-C16E8B6387E7}"/>
              </a:ext>
            </a:extLst>
          </p:cNvPr>
          <p:cNvSpPr txBox="1"/>
          <p:nvPr/>
        </p:nvSpPr>
        <p:spPr>
          <a:xfrm>
            <a:off x="6793534" y="5440688"/>
            <a:ext cx="5627066" cy="923330"/>
          </a:xfrm>
          <a:prstGeom prst="rect">
            <a:avLst/>
          </a:prstGeom>
          <a:noFill/>
        </p:spPr>
        <p:txBody>
          <a:bodyPr wrap="square">
            <a:spAutoFit/>
          </a:bodyPr>
          <a:lstStyle/>
          <a:p>
            <a:pPr marL="285750" indent="-285750">
              <a:buFont typeface="Wingdings" panose="05000000000000000000" pitchFamily="2" charset="2"/>
              <a:buChar char="Ø"/>
            </a:pPr>
            <a:r>
              <a:rPr lang="fr-FR" dirty="0"/>
              <a:t>Écritures/sec = 1B ÷ 30 ÷ 100K ≈ 333/sec</a:t>
            </a:r>
          </a:p>
          <a:p>
            <a:pPr marL="285750" indent="-285750">
              <a:buFont typeface="Wingdings" panose="05000000000000000000" pitchFamily="2" charset="2"/>
              <a:buChar char="Ø"/>
            </a:pPr>
            <a:r>
              <a:rPr lang="fr-FR" dirty="0"/>
              <a:t>Lectures/sec = 333 × 100 = 33,300/sec</a:t>
            </a:r>
          </a:p>
          <a:p>
            <a:pPr marL="285750" indent="-285750">
              <a:buFont typeface="Wingdings" panose="05000000000000000000" pitchFamily="2" charset="2"/>
              <a:buChar char="Ø"/>
            </a:pPr>
            <a:r>
              <a:rPr lang="fr-FR" dirty="0"/>
              <a:t>Stockage/mois = 1B URLs × 500B ≈ 500GB/mois</a:t>
            </a:r>
          </a:p>
        </p:txBody>
      </p:sp>
      <p:sp>
        <p:nvSpPr>
          <p:cNvPr id="71" name="Hexagon 70">
            <a:extLst>
              <a:ext uri="{FF2B5EF4-FFF2-40B4-BE49-F238E27FC236}">
                <a16:creationId xmlns:a16="http://schemas.microsoft.com/office/drawing/2014/main" id="{B695F452-12C7-F877-B614-D1E22B8A925E}"/>
              </a:ext>
            </a:extLst>
          </p:cNvPr>
          <p:cNvSpPr/>
          <p:nvPr/>
        </p:nvSpPr>
        <p:spPr>
          <a:xfrm>
            <a:off x="66462" y="1379727"/>
            <a:ext cx="3702897" cy="448995"/>
          </a:xfrm>
          <a:prstGeom prst="hexag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bg1"/>
                </a:solidFill>
              </a:rPr>
              <a:t>Calculs</a:t>
            </a:r>
            <a:endParaRPr lang="en-US" b="1" dirty="0">
              <a:solidFill>
                <a:schemeClr val="bg1"/>
              </a:solidFill>
            </a:endParaRPr>
          </a:p>
        </p:txBody>
      </p:sp>
    </p:spTree>
    <p:custDataLst>
      <p:tags r:id="rId1"/>
    </p:custDataLst>
    <p:extLst>
      <p:ext uri="{BB962C8B-B14F-4D97-AF65-F5344CB8AC3E}">
        <p14:creationId xmlns:p14="http://schemas.microsoft.com/office/powerpoint/2010/main" val="3288073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72270">
        <p159:morph option="byObject"/>
      </p:transition>
    </mc:Choice>
    <mc:Fallback xmlns="">
      <p:transition spd="slow" advTm="72270">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up)">
                                      <p:cBhvr>
                                        <p:cTn id="7" dur="500"/>
                                        <p:tgtEl>
                                          <p:spTgt spid="8"/>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43"/>
                                        </p:tgtEl>
                                        <p:attrNameLst>
                                          <p:attrName>style.visibility</p:attrName>
                                        </p:attrNameLst>
                                      </p:cBhvr>
                                      <p:to>
                                        <p:strVal val="visible"/>
                                      </p:to>
                                    </p:set>
                                    <p:animEffect transition="in" filter="wipe(right)">
                                      <p:cBhvr>
                                        <p:cTn id="11" dur="500"/>
                                        <p:tgtEl>
                                          <p:spTgt spid="43"/>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up)">
                                      <p:cBhvr>
                                        <p:cTn id="15" dur="500"/>
                                        <p:tgtEl>
                                          <p:spTgt spid="4"/>
                                        </p:tgtEl>
                                      </p:cBhvr>
                                    </p:animEffect>
                                  </p:childTnLst>
                                </p:cTn>
                              </p:par>
                            </p:childTnLst>
                          </p:cTn>
                        </p:par>
                        <p:par>
                          <p:cTn id="16" fill="hold">
                            <p:stCondLst>
                              <p:cond delay="1500"/>
                            </p:stCondLst>
                            <p:childTnLst>
                              <p:par>
                                <p:cTn id="17" presetID="22" presetClass="entr" presetSubtype="1"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wipe(up)">
                                      <p:cBhvr>
                                        <p:cTn id="19" dur="500"/>
                                        <p:tgtEl>
                                          <p:spTgt spid="18"/>
                                        </p:tgtEl>
                                      </p:cBhvr>
                                    </p:animEffect>
                                  </p:childTnLst>
                                </p:cTn>
                              </p:par>
                            </p:childTnLst>
                          </p:cTn>
                        </p:par>
                        <p:par>
                          <p:cTn id="20" fill="hold">
                            <p:stCondLst>
                              <p:cond delay="2000"/>
                            </p:stCondLst>
                            <p:childTnLst>
                              <p:par>
                                <p:cTn id="21" presetID="22" presetClass="entr" presetSubtype="8" fill="hold"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500"/>
                                        <p:tgtEl>
                                          <p:spTgt spid="28"/>
                                        </p:tgtEl>
                                      </p:cBhvr>
                                    </p:animEffect>
                                  </p:childTnLst>
                                </p:cTn>
                              </p:par>
                            </p:childTnLst>
                          </p:cTn>
                        </p:par>
                        <p:par>
                          <p:cTn id="24" fill="hold">
                            <p:stCondLst>
                              <p:cond delay="2500"/>
                            </p:stCondLst>
                            <p:childTnLst>
                              <p:par>
                                <p:cTn id="25" presetID="22" presetClass="entr" presetSubtype="1"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up)">
                                      <p:cBhvr>
                                        <p:cTn id="27" dur="500"/>
                                        <p:tgtEl>
                                          <p:spTgt spid="3"/>
                                        </p:tgtEl>
                                      </p:cBhvr>
                                    </p:animEffect>
                                  </p:childTnLst>
                                </p:cTn>
                              </p:par>
                            </p:childTnLst>
                          </p:cTn>
                        </p:par>
                        <p:par>
                          <p:cTn id="28" fill="hold">
                            <p:stCondLst>
                              <p:cond delay="3000"/>
                            </p:stCondLst>
                            <p:childTnLst>
                              <p:par>
                                <p:cTn id="29" presetID="22" presetClass="entr" presetSubtype="1" fill="hold" grpId="0" nodeType="after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wipe(up)">
                                      <p:cBhvr>
                                        <p:cTn id="31" dur="500"/>
                                        <p:tgtEl>
                                          <p:spTgt spid="1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50"/>
                                        </p:tgtEl>
                                        <p:attrNameLst>
                                          <p:attrName>style.visibility</p:attrName>
                                        </p:attrNameLst>
                                      </p:cBhvr>
                                      <p:to>
                                        <p:strVal val="visible"/>
                                      </p:to>
                                    </p:set>
                                    <p:animEffect transition="in" filter="wipe(up)">
                                      <p:cBhvr>
                                        <p:cTn id="36" dur="500"/>
                                        <p:tgtEl>
                                          <p:spTgt spid="50"/>
                                        </p:tgtEl>
                                      </p:cBhvr>
                                    </p:animEffect>
                                  </p:childTnLst>
                                </p:cTn>
                              </p:par>
                            </p:childTnLst>
                          </p:cTn>
                        </p:par>
                        <p:par>
                          <p:cTn id="37" fill="hold">
                            <p:stCondLst>
                              <p:cond delay="500"/>
                            </p:stCondLst>
                            <p:childTnLst>
                              <p:par>
                                <p:cTn id="38" presetID="22" presetClass="entr" presetSubtype="2" fill="hold" nodeType="afterEffect">
                                  <p:stCondLst>
                                    <p:cond delay="0"/>
                                  </p:stCondLst>
                                  <p:childTnLst>
                                    <p:set>
                                      <p:cBhvr>
                                        <p:cTn id="39" dur="1" fill="hold">
                                          <p:stCondLst>
                                            <p:cond delay="0"/>
                                          </p:stCondLst>
                                        </p:cTn>
                                        <p:tgtEl>
                                          <p:spTgt spid="56"/>
                                        </p:tgtEl>
                                        <p:attrNameLst>
                                          <p:attrName>style.visibility</p:attrName>
                                        </p:attrNameLst>
                                      </p:cBhvr>
                                      <p:to>
                                        <p:strVal val="visible"/>
                                      </p:to>
                                    </p:set>
                                    <p:animEffect transition="in" filter="wipe(right)">
                                      <p:cBhvr>
                                        <p:cTn id="40" dur="500"/>
                                        <p:tgtEl>
                                          <p:spTgt spid="56"/>
                                        </p:tgtEl>
                                      </p:cBhvr>
                                    </p:animEffect>
                                  </p:childTnLst>
                                </p:cTn>
                              </p:par>
                            </p:childTnLst>
                          </p:cTn>
                        </p:par>
                        <p:par>
                          <p:cTn id="41" fill="hold">
                            <p:stCondLst>
                              <p:cond delay="1000"/>
                            </p:stCondLst>
                            <p:childTnLst>
                              <p:par>
                                <p:cTn id="42" presetID="22" presetClass="entr" presetSubtype="1" fill="hold" nodeType="afterEffect">
                                  <p:stCondLst>
                                    <p:cond delay="0"/>
                                  </p:stCondLst>
                                  <p:childTnLst>
                                    <p:set>
                                      <p:cBhvr>
                                        <p:cTn id="43" dur="1" fill="hold">
                                          <p:stCondLst>
                                            <p:cond delay="0"/>
                                          </p:stCondLst>
                                        </p:cTn>
                                        <p:tgtEl>
                                          <p:spTgt spid="5"/>
                                        </p:tgtEl>
                                        <p:attrNameLst>
                                          <p:attrName>style.visibility</p:attrName>
                                        </p:attrNameLst>
                                      </p:cBhvr>
                                      <p:to>
                                        <p:strVal val="visible"/>
                                      </p:to>
                                    </p:set>
                                    <p:animEffect transition="in" filter="wipe(up)">
                                      <p:cBhvr>
                                        <p:cTn id="44" dur="500"/>
                                        <p:tgtEl>
                                          <p:spTgt spid="5"/>
                                        </p:tgtEl>
                                      </p:cBhvr>
                                    </p:animEffect>
                                  </p:childTnLst>
                                </p:cTn>
                              </p:par>
                            </p:childTnLst>
                          </p:cTn>
                        </p:par>
                        <p:par>
                          <p:cTn id="45" fill="hold">
                            <p:stCondLst>
                              <p:cond delay="1500"/>
                            </p:stCondLst>
                            <p:childTnLst>
                              <p:par>
                                <p:cTn id="46" presetID="22" presetClass="entr" presetSubtype="1" fill="hold" grpId="0" nodeType="after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wipe(up)">
                                      <p:cBhvr>
                                        <p:cTn id="48" dur="500"/>
                                        <p:tgtEl>
                                          <p:spTgt spid="62"/>
                                        </p:tgtEl>
                                      </p:cBhvr>
                                    </p:animEffect>
                                  </p:childTnLst>
                                </p:cTn>
                              </p:par>
                            </p:childTnLst>
                          </p:cTn>
                        </p:par>
                        <p:par>
                          <p:cTn id="49" fill="hold">
                            <p:stCondLst>
                              <p:cond delay="2000"/>
                            </p:stCondLst>
                            <p:childTnLst>
                              <p:par>
                                <p:cTn id="50" presetID="22" presetClass="entr" presetSubtype="8" fill="hold" nodeType="after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wipe(left)">
                                      <p:cBhvr>
                                        <p:cTn id="52" dur="500"/>
                                        <p:tgtEl>
                                          <p:spTgt spid="55"/>
                                        </p:tgtEl>
                                      </p:cBhvr>
                                    </p:animEffect>
                                  </p:childTnLst>
                                </p:cTn>
                              </p:par>
                            </p:childTnLst>
                          </p:cTn>
                        </p:par>
                        <p:par>
                          <p:cTn id="53" fill="hold">
                            <p:stCondLst>
                              <p:cond delay="2500"/>
                            </p:stCondLst>
                            <p:childTnLst>
                              <p:par>
                                <p:cTn id="54" presetID="22" presetClass="entr" presetSubtype="1" fill="hold" nodeType="after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wipe(up)">
                                      <p:cBhvr>
                                        <p:cTn id="56" dur="500"/>
                                        <p:tgtEl>
                                          <p:spTgt spid="6"/>
                                        </p:tgtEl>
                                      </p:cBhvr>
                                    </p:animEffect>
                                  </p:childTnLst>
                                </p:cTn>
                              </p:par>
                            </p:childTnLst>
                          </p:cTn>
                        </p:par>
                        <p:par>
                          <p:cTn id="57" fill="hold">
                            <p:stCondLst>
                              <p:cond delay="3000"/>
                            </p:stCondLst>
                            <p:childTnLst>
                              <p:par>
                                <p:cTn id="58" presetID="22" presetClass="entr" presetSubtype="1" fill="hold" grpId="0" nodeType="afterEffect">
                                  <p:stCondLst>
                                    <p:cond delay="0"/>
                                  </p:stCondLst>
                                  <p:childTnLst>
                                    <p:set>
                                      <p:cBhvr>
                                        <p:cTn id="59" dur="1" fill="hold">
                                          <p:stCondLst>
                                            <p:cond delay="0"/>
                                          </p:stCondLst>
                                        </p:cTn>
                                        <p:tgtEl>
                                          <p:spTgt spid="64"/>
                                        </p:tgtEl>
                                        <p:attrNameLst>
                                          <p:attrName>style.visibility</p:attrName>
                                        </p:attrNameLst>
                                      </p:cBhvr>
                                      <p:to>
                                        <p:strVal val="visible"/>
                                      </p:to>
                                    </p:set>
                                    <p:animEffect transition="in" filter="wipe(up)">
                                      <p:cBhvr>
                                        <p:cTn id="60"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7" grpId="0"/>
      <p:bldP spid="18" grpId="0"/>
      <p:bldP spid="50" grpId="0" animBg="1"/>
      <p:bldP spid="62" grpId="0"/>
      <p:bldP spid="6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DC94EB-9415-658D-2A02-07F168C12FAA}"/>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400" b="1" dirty="0"/>
              <a:t>Architecture Proposée</a:t>
            </a:r>
            <a:endParaRPr lang="en-US" sz="4400" b="1" dirty="0"/>
          </a:p>
        </p:txBody>
      </p:sp>
      <p:sp>
        <p:nvSpPr>
          <p:cNvPr id="10" name="Hexagon 9">
            <a:extLst>
              <a:ext uri="{FF2B5EF4-FFF2-40B4-BE49-F238E27FC236}">
                <a16:creationId xmlns:a16="http://schemas.microsoft.com/office/drawing/2014/main" id="{CDDDA163-8E1D-1061-A442-31C57DC6BE6E}"/>
              </a:ext>
            </a:extLst>
          </p:cNvPr>
          <p:cNvSpPr/>
          <p:nvPr/>
        </p:nvSpPr>
        <p:spPr>
          <a:xfrm rot="1828882">
            <a:off x="212002" y="178377"/>
            <a:ext cx="914400" cy="822960"/>
          </a:xfrm>
          <a:prstGeom prst="hexagon">
            <a:avLst>
              <a:gd name="adj" fmla="val 27586"/>
              <a:gd name="vf" fmla="val 11547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24E0655-DDAE-D434-29F0-B86554774770}"/>
              </a:ext>
            </a:extLst>
          </p:cNvPr>
          <p:cNvSpPr txBox="1"/>
          <p:nvPr/>
        </p:nvSpPr>
        <p:spPr>
          <a:xfrm>
            <a:off x="376493" y="322590"/>
            <a:ext cx="585417" cy="523220"/>
          </a:xfrm>
          <a:prstGeom prst="rect">
            <a:avLst/>
          </a:prstGeom>
          <a:noFill/>
        </p:spPr>
        <p:txBody>
          <a:bodyPr wrap="none" rtlCol="0">
            <a:spAutoFit/>
          </a:bodyPr>
          <a:lstStyle/>
          <a:p>
            <a:r>
              <a:rPr lang="en-US" sz="2800" b="1" dirty="0">
                <a:solidFill>
                  <a:schemeClr val="bg1"/>
                </a:solidFill>
              </a:rPr>
              <a:t>06</a:t>
            </a:r>
          </a:p>
        </p:txBody>
      </p:sp>
      <p:sp>
        <p:nvSpPr>
          <p:cNvPr id="2" name="Hexagon 1">
            <a:extLst>
              <a:ext uri="{FF2B5EF4-FFF2-40B4-BE49-F238E27FC236}">
                <a16:creationId xmlns:a16="http://schemas.microsoft.com/office/drawing/2014/main" id="{D4CCBAAF-0885-9016-88E9-59D2ECE24DCA}"/>
              </a:ext>
            </a:extLst>
          </p:cNvPr>
          <p:cNvSpPr/>
          <p:nvPr/>
        </p:nvSpPr>
        <p:spPr>
          <a:xfrm>
            <a:off x="66462" y="1379727"/>
            <a:ext cx="3835687" cy="448995"/>
          </a:xfrm>
          <a:prstGeom prst="hexag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Architecture (</a:t>
            </a:r>
            <a:r>
              <a:rPr lang="en-US" b="1" dirty="0">
                <a:solidFill>
                  <a:srgbClr val="FFFFFF"/>
                </a:solidFill>
                <a:latin typeface="Arial" panose="020B0604020202020204" pitchFamily="34" charset="0"/>
              </a:rPr>
              <a:t>ÉCRITURES</a:t>
            </a:r>
            <a:r>
              <a:rPr lang="en-US" b="1" dirty="0">
                <a:solidFill>
                  <a:schemeClr val="bg1"/>
                </a:solidFill>
              </a:rPr>
              <a:t>)</a:t>
            </a:r>
          </a:p>
        </p:txBody>
      </p:sp>
      <p:grpSp>
        <p:nvGrpSpPr>
          <p:cNvPr id="76" name="Group 75">
            <a:extLst>
              <a:ext uri="{FF2B5EF4-FFF2-40B4-BE49-F238E27FC236}">
                <a16:creationId xmlns:a16="http://schemas.microsoft.com/office/drawing/2014/main" id="{F4632DB7-53D0-0C66-29ED-90CE592B5219}"/>
              </a:ext>
            </a:extLst>
          </p:cNvPr>
          <p:cNvGrpSpPr/>
          <p:nvPr/>
        </p:nvGrpSpPr>
        <p:grpSpPr>
          <a:xfrm>
            <a:off x="4587958" y="1958910"/>
            <a:ext cx="914400" cy="1060704"/>
            <a:chOff x="4559259" y="1958910"/>
            <a:chExt cx="914400" cy="1060704"/>
          </a:xfrm>
        </p:grpSpPr>
        <p:sp>
          <p:nvSpPr>
            <p:cNvPr id="14" name="Hexagon 13">
              <a:extLst>
                <a:ext uri="{FF2B5EF4-FFF2-40B4-BE49-F238E27FC236}">
                  <a16:creationId xmlns:a16="http://schemas.microsoft.com/office/drawing/2014/main" id="{29E98E23-157F-ECE3-7808-83A8AE177170}"/>
                </a:ext>
              </a:extLst>
            </p:cNvPr>
            <p:cNvSpPr/>
            <p:nvPr/>
          </p:nvSpPr>
          <p:spPr>
            <a:xfrm rot="5400000">
              <a:off x="4486107" y="2032062"/>
              <a:ext cx="1060704" cy="914400"/>
            </a:xfrm>
            <a:prstGeom prst="hexagon">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19" name="Picture 18">
              <a:extLst>
                <a:ext uri="{FF2B5EF4-FFF2-40B4-BE49-F238E27FC236}">
                  <a16:creationId xmlns:a16="http://schemas.microsoft.com/office/drawing/2014/main" id="{E007DCC9-6551-0F28-FEB0-FCF5AFEDFA5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682890" y="2155693"/>
              <a:ext cx="667138" cy="667138"/>
            </a:xfrm>
            <a:prstGeom prst="rect">
              <a:avLst/>
            </a:prstGeom>
          </p:spPr>
        </p:pic>
      </p:grpSp>
      <p:grpSp>
        <p:nvGrpSpPr>
          <p:cNvPr id="60" name="Group 59">
            <a:extLst>
              <a:ext uri="{FF2B5EF4-FFF2-40B4-BE49-F238E27FC236}">
                <a16:creationId xmlns:a16="http://schemas.microsoft.com/office/drawing/2014/main" id="{3827CB37-1040-F60E-43F6-200913B5C0F1}"/>
              </a:ext>
            </a:extLst>
          </p:cNvPr>
          <p:cNvGrpSpPr/>
          <p:nvPr/>
        </p:nvGrpSpPr>
        <p:grpSpPr>
          <a:xfrm>
            <a:off x="1959857" y="3308480"/>
            <a:ext cx="914400" cy="1060704"/>
            <a:chOff x="1867320" y="3133986"/>
            <a:chExt cx="914400" cy="1060704"/>
          </a:xfrm>
        </p:grpSpPr>
        <p:sp>
          <p:nvSpPr>
            <p:cNvPr id="21" name="Hexagon 20">
              <a:extLst>
                <a:ext uri="{FF2B5EF4-FFF2-40B4-BE49-F238E27FC236}">
                  <a16:creationId xmlns:a16="http://schemas.microsoft.com/office/drawing/2014/main" id="{77EB2FCD-9D08-5129-389A-64243482DF42}"/>
                </a:ext>
              </a:extLst>
            </p:cNvPr>
            <p:cNvSpPr/>
            <p:nvPr/>
          </p:nvSpPr>
          <p:spPr>
            <a:xfrm rot="5400000">
              <a:off x="1794168" y="3207138"/>
              <a:ext cx="1060704" cy="914400"/>
            </a:xfrm>
            <a:prstGeom prst="hexagon">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22" name="Picture 21">
              <a:extLst>
                <a:ext uri="{FF2B5EF4-FFF2-40B4-BE49-F238E27FC236}">
                  <a16:creationId xmlns:a16="http://schemas.microsoft.com/office/drawing/2014/main" id="{48675DD7-AD19-7268-FD88-668F8327ACD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990951" y="3330769"/>
              <a:ext cx="667138" cy="667138"/>
            </a:xfrm>
            <a:prstGeom prst="rect">
              <a:avLst/>
            </a:prstGeom>
          </p:spPr>
        </p:pic>
      </p:grpSp>
      <p:grpSp>
        <p:nvGrpSpPr>
          <p:cNvPr id="75" name="Group 74">
            <a:extLst>
              <a:ext uri="{FF2B5EF4-FFF2-40B4-BE49-F238E27FC236}">
                <a16:creationId xmlns:a16="http://schemas.microsoft.com/office/drawing/2014/main" id="{942A9FBF-493A-CCCB-16FD-4BA66C5DF64B}"/>
              </a:ext>
            </a:extLst>
          </p:cNvPr>
          <p:cNvGrpSpPr/>
          <p:nvPr/>
        </p:nvGrpSpPr>
        <p:grpSpPr>
          <a:xfrm>
            <a:off x="9317743" y="1958910"/>
            <a:ext cx="914400" cy="1060704"/>
            <a:chOff x="9275796" y="1958910"/>
            <a:chExt cx="914400" cy="1060704"/>
          </a:xfrm>
        </p:grpSpPr>
        <p:sp>
          <p:nvSpPr>
            <p:cNvPr id="24" name="Hexagon 23">
              <a:extLst>
                <a:ext uri="{FF2B5EF4-FFF2-40B4-BE49-F238E27FC236}">
                  <a16:creationId xmlns:a16="http://schemas.microsoft.com/office/drawing/2014/main" id="{BC3E4A16-8ADE-2771-6A30-3793D3642DC5}"/>
                </a:ext>
              </a:extLst>
            </p:cNvPr>
            <p:cNvSpPr/>
            <p:nvPr/>
          </p:nvSpPr>
          <p:spPr>
            <a:xfrm rot="5400000">
              <a:off x="9202644" y="2032062"/>
              <a:ext cx="1060704" cy="914400"/>
            </a:xfrm>
            <a:prstGeom prst="hexagon">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25" name="Picture 24">
              <a:extLst>
                <a:ext uri="{FF2B5EF4-FFF2-40B4-BE49-F238E27FC236}">
                  <a16:creationId xmlns:a16="http://schemas.microsoft.com/office/drawing/2014/main" id="{95C2C341-5DA9-0887-D3F9-EE914D45D90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399427" y="2155693"/>
              <a:ext cx="667138" cy="667138"/>
            </a:xfrm>
            <a:prstGeom prst="rect">
              <a:avLst/>
            </a:prstGeom>
          </p:spPr>
        </p:pic>
      </p:grpSp>
      <p:grpSp>
        <p:nvGrpSpPr>
          <p:cNvPr id="78" name="Group 77">
            <a:extLst>
              <a:ext uri="{FF2B5EF4-FFF2-40B4-BE49-F238E27FC236}">
                <a16:creationId xmlns:a16="http://schemas.microsoft.com/office/drawing/2014/main" id="{C50BB46E-973B-F41B-3B2E-D3EA875D8081}"/>
              </a:ext>
            </a:extLst>
          </p:cNvPr>
          <p:cNvGrpSpPr/>
          <p:nvPr/>
        </p:nvGrpSpPr>
        <p:grpSpPr>
          <a:xfrm>
            <a:off x="9317743" y="4842715"/>
            <a:ext cx="914400" cy="1060704"/>
            <a:chOff x="4559259" y="4658049"/>
            <a:chExt cx="914400" cy="1060704"/>
          </a:xfrm>
        </p:grpSpPr>
        <p:sp>
          <p:nvSpPr>
            <p:cNvPr id="27" name="Hexagon 26">
              <a:extLst>
                <a:ext uri="{FF2B5EF4-FFF2-40B4-BE49-F238E27FC236}">
                  <a16:creationId xmlns:a16="http://schemas.microsoft.com/office/drawing/2014/main" id="{C2683967-F50C-D945-C3E7-F9980F7E7C8A}"/>
                </a:ext>
              </a:extLst>
            </p:cNvPr>
            <p:cNvSpPr/>
            <p:nvPr/>
          </p:nvSpPr>
          <p:spPr>
            <a:xfrm rot="5400000">
              <a:off x="4486107" y="4731201"/>
              <a:ext cx="1060704" cy="914400"/>
            </a:xfrm>
            <a:prstGeom prst="hexagon">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29" name="Picture 28">
              <a:extLst>
                <a:ext uri="{FF2B5EF4-FFF2-40B4-BE49-F238E27FC236}">
                  <a16:creationId xmlns:a16="http://schemas.microsoft.com/office/drawing/2014/main" id="{7FA9BA8A-9A8C-F727-BAEC-440A846C06A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682890" y="4854832"/>
              <a:ext cx="667138" cy="667138"/>
            </a:xfrm>
            <a:prstGeom prst="rect">
              <a:avLst/>
            </a:prstGeom>
          </p:spPr>
        </p:pic>
      </p:grpSp>
      <p:cxnSp>
        <p:nvCxnSpPr>
          <p:cNvPr id="34" name="Connector: Elbow 33">
            <a:extLst>
              <a:ext uri="{FF2B5EF4-FFF2-40B4-BE49-F238E27FC236}">
                <a16:creationId xmlns:a16="http://schemas.microsoft.com/office/drawing/2014/main" id="{81289A2C-57FE-4AF6-E8FA-61B1411799D8}"/>
              </a:ext>
            </a:extLst>
          </p:cNvPr>
          <p:cNvCxnSpPr>
            <a:cxnSpLocks/>
            <a:stCxn id="21" idx="3"/>
          </p:cNvCxnSpPr>
          <p:nvPr/>
        </p:nvCxnSpPr>
        <p:spPr>
          <a:xfrm rot="5400000" flipH="1" flipV="1">
            <a:off x="3099301" y="1806574"/>
            <a:ext cx="819662" cy="2184151"/>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cxnSp>
        <p:nvCxnSpPr>
          <p:cNvPr id="87" name="Straight Arrow Connector 86">
            <a:extLst>
              <a:ext uri="{FF2B5EF4-FFF2-40B4-BE49-F238E27FC236}">
                <a16:creationId xmlns:a16="http://schemas.microsoft.com/office/drawing/2014/main" id="{13212089-45A4-798C-0BEB-1A08C1D70742}"/>
              </a:ext>
            </a:extLst>
          </p:cNvPr>
          <p:cNvCxnSpPr>
            <a:cxnSpLocks/>
          </p:cNvCxnSpPr>
          <p:nvPr/>
        </p:nvCxnSpPr>
        <p:spPr>
          <a:xfrm>
            <a:off x="5515604" y="2488816"/>
            <a:ext cx="3802139"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 name="TextBox 3">
            <a:extLst>
              <a:ext uri="{FF2B5EF4-FFF2-40B4-BE49-F238E27FC236}">
                <a16:creationId xmlns:a16="http://schemas.microsoft.com/office/drawing/2014/main" id="{B85474DD-B240-D5BB-39CB-80F38BB45F43}"/>
              </a:ext>
            </a:extLst>
          </p:cNvPr>
          <p:cNvSpPr txBox="1"/>
          <p:nvPr/>
        </p:nvSpPr>
        <p:spPr>
          <a:xfrm>
            <a:off x="4192249" y="1530214"/>
            <a:ext cx="1774846" cy="369332"/>
          </a:xfrm>
          <a:prstGeom prst="rect">
            <a:avLst/>
          </a:prstGeom>
          <a:noFill/>
        </p:spPr>
        <p:txBody>
          <a:bodyPr wrap="none" rtlCol="0">
            <a:spAutoFit/>
          </a:bodyPr>
          <a:lstStyle/>
          <a:p>
            <a:pPr algn="ctr"/>
            <a:r>
              <a:rPr lang="en-US" b="1" dirty="0"/>
              <a:t>Load Balancer</a:t>
            </a:r>
          </a:p>
        </p:txBody>
      </p:sp>
      <p:sp>
        <p:nvSpPr>
          <p:cNvPr id="6" name="TextBox 5">
            <a:extLst>
              <a:ext uri="{FF2B5EF4-FFF2-40B4-BE49-F238E27FC236}">
                <a16:creationId xmlns:a16="http://schemas.microsoft.com/office/drawing/2014/main" id="{8D6DF330-5CEA-405F-2725-0D8A74DD00EE}"/>
              </a:ext>
            </a:extLst>
          </p:cNvPr>
          <p:cNvSpPr txBox="1"/>
          <p:nvPr/>
        </p:nvSpPr>
        <p:spPr>
          <a:xfrm>
            <a:off x="9253003" y="1484933"/>
            <a:ext cx="1043877" cy="369332"/>
          </a:xfrm>
          <a:prstGeom prst="rect">
            <a:avLst/>
          </a:prstGeom>
          <a:noFill/>
        </p:spPr>
        <p:txBody>
          <a:bodyPr wrap="none" rtlCol="0">
            <a:spAutoFit/>
          </a:bodyPr>
          <a:lstStyle/>
          <a:p>
            <a:pPr algn="ctr"/>
            <a:r>
              <a:rPr lang="en-US" b="1" dirty="0" err="1"/>
              <a:t>Serveur</a:t>
            </a:r>
            <a:endParaRPr lang="en-US" b="1" dirty="0"/>
          </a:p>
        </p:txBody>
      </p:sp>
      <p:sp>
        <p:nvSpPr>
          <p:cNvPr id="8" name="TextBox 7">
            <a:extLst>
              <a:ext uri="{FF2B5EF4-FFF2-40B4-BE49-F238E27FC236}">
                <a16:creationId xmlns:a16="http://schemas.microsoft.com/office/drawing/2014/main" id="{2E2D32A3-BDAE-EA70-FB73-40B9CD0558EC}"/>
              </a:ext>
            </a:extLst>
          </p:cNvPr>
          <p:cNvSpPr txBox="1"/>
          <p:nvPr/>
        </p:nvSpPr>
        <p:spPr>
          <a:xfrm rot="16200000">
            <a:off x="1343123" y="3671075"/>
            <a:ext cx="761747" cy="369332"/>
          </a:xfrm>
          <a:prstGeom prst="rect">
            <a:avLst/>
          </a:prstGeom>
          <a:noFill/>
        </p:spPr>
        <p:txBody>
          <a:bodyPr wrap="none" rtlCol="0">
            <a:spAutoFit/>
          </a:bodyPr>
          <a:lstStyle/>
          <a:p>
            <a:pPr algn="ctr"/>
            <a:r>
              <a:rPr lang="en-US" b="1" dirty="0"/>
              <a:t>User </a:t>
            </a:r>
          </a:p>
        </p:txBody>
      </p:sp>
      <p:sp>
        <p:nvSpPr>
          <p:cNvPr id="9" name="TextBox 8">
            <a:extLst>
              <a:ext uri="{FF2B5EF4-FFF2-40B4-BE49-F238E27FC236}">
                <a16:creationId xmlns:a16="http://schemas.microsoft.com/office/drawing/2014/main" id="{A3D2B6C8-4BA8-BA1E-064D-2C24F6D2DE1A}"/>
              </a:ext>
            </a:extLst>
          </p:cNvPr>
          <p:cNvSpPr txBox="1"/>
          <p:nvPr/>
        </p:nvSpPr>
        <p:spPr>
          <a:xfrm rot="5400000">
            <a:off x="9928830" y="5188401"/>
            <a:ext cx="1274708" cy="369332"/>
          </a:xfrm>
          <a:prstGeom prst="rect">
            <a:avLst/>
          </a:prstGeom>
          <a:noFill/>
        </p:spPr>
        <p:txBody>
          <a:bodyPr wrap="none" rtlCol="0">
            <a:spAutoFit/>
          </a:bodyPr>
          <a:lstStyle/>
          <a:p>
            <a:pPr algn="ctr"/>
            <a:r>
              <a:rPr lang="en-US" b="1" dirty="0"/>
              <a:t>Base SQL</a:t>
            </a:r>
          </a:p>
        </p:txBody>
      </p:sp>
      <p:sp>
        <p:nvSpPr>
          <p:cNvPr id="13" name="TextBox 12">
            <a:extLst>
              <a:ext uri="{FF2B5EF4-FFF2-40B4-BE49-F238E27FC236}">
                <a16:creationId xmlns:a16="http://schemas.microsoft.com/office/drawing/2014/main" id="{6209CCD7-0B8A-FE96-26B3-9C9A4B423CF6}"/>
              </a:ext>
            </a:extLst>
          </p:cNvPr>
          <p:cNvSpPr txBox="1"/>
          <p:nvPr/>
        </p:nvSpPr>
        <p:spPr>
          <a:xfrm>
            <a:off x="10270241" y="3547232"/>
            <a:ext cx="1890261" cy="646331"/>
          </a:xfrm>
          <a:prstGeom prst="rect">
            <a:avLst/>
          </a:prstGeom>
          <a:noFill/>
        </p:spPr>
        <p:txBody>
          <a:bodyPr wrap="none" rtlCol="0">
            <a:spAutoFit/>
          </a:bodyPr>
          <a:lstStyle/>
          <a:p>
            <a:pPr algn="ctr"/>
            <a:r>
              <a:rPr lang="en-US" b="1" dirty="0" err="1"/>
              <a:t>Génération</a:t>
            </a:r>
            <a:endParaRPr lang="en-US" b="1" dirty="0"/>
          </a:p>
          <a:p>
            <a:pPr algn="ctr"/>
            <a:r>
              <a:rPr lang="en-US" b="1" dirty="0"/>
              <a:t>de </a:t>
            </a:r>
            <a:r>
              <a:rPr lang="en-US" b="1" dirty="0" err="1"/>
              <a:t>Clés</a:t>
            </a:r>
            <a:r>
              <a:rPr lang="en-US" b="1" dirty="0"/>
              <a:t> unique </a:t>
            </a:r>
          </a:p>
        </p:txBody>
      </p:sp>
      <p:grpSp>
        <p:nvGrpSpPr>
          <p:cNvPr id="26" name="Group 25">
            <a:extLst>
              <a:ext uri="{FF2B5EF4-FFF2-40B4-BE49-F238E27FC236}">
                <a16:creationId xmlns:a16="http://schemas.microsoft.com/office/drawing/2014/main" id="{7130494E-9A6D-255B-3BD9-5820C4F214A3}"/>
              </a:ext>
            </a:extLst>
          </p:cNvPr>
          <p:cNvGrpSpPr/>
          <p:nvPr/>
        </p:nvGrpSpPr>
        <p:grpSpPr>
          <a:xfrm>
            <a:off x="4566692" y="3400813"/>
            <a:ext cx="914400" cy="1060704"/>
            <a:chOff x="4559259" y="1958910"/>
            <a:chExt cx="914400" cy="1060704"/>
          </a:xfrm>
        </p:grpSpPr>
        <p:sp>
          <p:nvSpPr>
            <p:cNvPr id="28" name="Hexagon 27">
              <a:extLst>
                <a:ext uri="{FF2B5EF4-FFF2-40B4-BE49-F238E27FC236}">
                  <a16:creationId xmlns:a16="http://schemas.microsoft.com/office/drawing/2014/main" id="{ED08D11B-B3BB-AF7B-17A6-6DB372D3DD47}"/>
                </a:ext>
              </a:extLst>
            </p:cNvPr>
            <p:cNvSpPr/>
            <p:nvPr/>
          </p:nvSpPr>
          <p:spPr>
            <a:xfrm rot="5400000">
              <a:off x="4486107" y="2032062"/>
              <a:ext cx="1060704" cy="914400"/>
            </a:xfrm>
            <a:prstGeom prst="hexagon">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30" name="Picture 29">
              <a:extLst>
                <a:ext uri="{FF2B5EF4-FFF2-40B4-BE49-F238E27FC236}">
                  <a16:creationId xmlns:a16="http://schemas.microsoft.com/office/drawing/2014/main" id="{FF59FD2F-4441-22F1-DA22-C6D935CB06F5}"/>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4682890" y="2155693"/>
              <a:ext cx="667138" cy="667138"/>
            </a:xfrm>
            <a:prstGeom prst="rect">
              <a:avLst/>
            </a:prstGeom>
          </p:spPr>
        </p:pic>
      </p:grpSp>
      <p:grpSp>
        <p:nvGrpSpPr>
          <p:cNvPr id="33" name="Group 32">
            <a:extLst>
              <a:ext uri="{FF2B5EF4-FFF2-40B4-BE49-F238E27FC236}">
                <a16:creationId xmlns:a16="http://schemas.microsoft.com/office/drawing/2014/main" id="{0D6B1141-8D6B-FF07-75F1-80A4D98E80A4}"/>
              </a:ext>
            </a:extLst>
          </p:cNvPr>
          <p:cNvGrpSpPr/>
          <p:nvPr/>
        </p:nvGrpSpPr>
        <p:grpSpPr>
          <a:xfrm>
            <a:off x="4566692" y="4842715"/>
            <a:ext cx="914400" cy="1060704"/>
            <a:chOff x="4559259" y="1958910"/>
            <a:chExt cx="914400" cy="1060704"/>
          </a:xfrm>
        </p:grpSpPr>
        <p:sp>
          <p:nvSpPr>
            <p:cNvPr id="35" name="Hexagon 34">
              <a:extLst>
                <a:ext uri="{FF2B5EF4-FFF2-40B4-BE49-F238E27FC236}">
                  <a16:creationId xmlns:a16="http://schemas.microsoft.com/office/drawing/2014/main" id="{3F1A1AC7-8238-2FA3-E8E4-A69BF3EE2448}"/>
                </a:ext>
              </a:extLst>
            </p:cNvPr>
            <p:cNvSpPr/>
            <p:nvPr/>
          </p:nvSpPr>
          <p:spPr>
            <a:xfrm rot="5400000">
              <a:off x="4486107" y="2032062"/>
              <a:ext cx="1060704" cy="914400"/>
            </a:xfrm>
            <a:prstGeom prst="hexagon">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36" name="Picture 35">
              <a:extLst>
                <a:ext uri="{FF2B5EF4-FFF2-40B4-BE49-F238E27FC236}">
                  <a16:creationId xmlns:a16="http://schemas.microsoft.com/office/drawing/2014/main" id="{F6D26667-00F4-6ABB-10E9-8A3DD06AD441}"/>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682890" y="2155693"/>
              <a:ext cx="667138" cy="667138"/>
            </a:xfrm>
            <a:prstGeom prst="rect">
              <a:avLst/>
            </a:prstGeom>
          </p:spPr>
        </p:pic>
      </p:grpSp>
      <p:sp>
        <p:nvSpPr>
          <p:cNvPr id="37" name="TextBox 36">
            <a:extLst>
              <a:ext uri="{FF2B5EF4-FFF2-40B4-BE49-F238E27FC236}">
                <a16:creationId xmlns:a16="http://schemas.microsoft.com/office/drawing/2014/main" id="{BB466BA1-2186-334B-F0A4-5C8F0794F95F}"/>
              </a:ext>
            </a:extLst>
          </p:cNvPr>
          <p:cNvSpPr txBox="1"/>
          <p:nvPr/>
        </p:nvSpPr>
        <p:spPr>
          <a:xfrm>
            <a:off x="4232650" y="5958555"/>
            <a:ext cx="1582484" cy="369332"/>
          </a:xfrm>
          <a:prstGeom prst="rect">
            <a:avLst/>
          </a:prstGeom>
          <a:noFill/>
        </p:spPr>
        <p:txBody>
          <a:bodyPr wrap="none" rtlCol="0">
            <a:spAutoFit/>
          </a:bodyPr>
          <a:lstStyle/>
          <a:p>
            <a:pPr algn="ctr"/>
            <a:r>
              <a:rPr lang="en-US" b="1" dirty="0"/>
              <a:t>Base NoSQL</a:t>
            </a:r>
          </a:p>
        </p:txBody>
      </p:sp>
      <p:sp>
        <p:nvSpPr>
          <p:cNvPr id="38" name="TextBox 37">
            <a:extLst>
              <a:ext uri="{FF2B5EF4-FFF2-40B4-BE49-F238E27FC236}">
                <a16:creationId xmlns:a16="http://schemas.microsoft.com/office/drawing/2014/main" id="{E906F94C-1666-8C74-18E9-F4B98C07C12A}"/>
              </a:ext>
            </a:extLst>
          </p:cNvPr>
          <p:cNvSpPr txBox="1"/>
          <p:nvPr/>
        </p:nvSpPr>
        <p:spPr>
          <a:xfrm>
            <a:off x="4553250" y="4418247"/>
            <a:ext cx="941283" cy="369332"/>
          </a:xfrm>
          <a:prstGeom prst="rect">
            <a:avLst/>
          </a:prstGeom>
          <a:noFill/>
        </p:spPr>
        <p:txBody>
          <a:bodyPr wrap="none" rtlCol="0">
            <a:spAutoFit/>
          </a:bodyPr>
          <a:lstStyle/>
          <a:p>
            <a:pPr algn="ctr"/>
            <a:r>
              <a:rPr lang="en-US" b="1" dirty="0"/>
              <a:t>Cache </a:t>
            </a:r>
          </a:p>
        </p:txBody>
      </p:sp>
      <p:cxnSp>
        <p:nvCxnSpPr>
          <p:cNvPr id="40" name="Straight Arrow Connector 39">
            <a:extLst>
              <a:ext uri="{FF2B5EF4-FFF2-40B4-BE49-F238E27FC236}">
                <a16:creationId xmlns:a16="http://schemas.microsoft.com/office/drawing/2014/main" id="{F4BA68A4-A79D-DB17-2B3C-EDF711CD41EA}"/>
              </a:ext>
            </a:extLst>
          </p:cNvPr>
          <p:cNvCxnSpPr>
            <a:cxnSpLocks/>
            <a:stCxn id="24" idx="5"/>
            <a:endCxn id="27" idx="4"/>
          </p:cNvCxnSpPr>
          <p:nvPr/>
        </p:nvCxnSpPr>
        <p:spPr>
          <a:xfrm>
            <a:off x="10232143" y="2791014"/>
            <a:ext cx="0" cy="2280301"/>
          </a:xfrm>
          <a:prstGeom prst="straightConnector1">
            <a:avLst/>
          </a:prstGeom>
          <a:ln w="38100">
            <a:headEnd type="triangle"/>
            <a:tailEnd type="triangle"/>
          </a:ln>
        </p:spPr>
        <p:style>
          <a:lnRef idx="3">
            <a:schemeClr val="dk1"/>
          </a:lnRef>
          <a:fillRef idx="0">
            <a:schemeClr val="dk1"/>
          </a:fillRef>
          <a:effectRef idx="2">
            <a:schemeClr val="dk1"/>
          </a:effectRef>
          <a:fontRef idx="minor">
            <a:schemeClr val="tx1"/>
          </a:fontRef>
        </p:style>
      </p:cxnSp>
      <p:cxnSp>
        <p:nvCxnSpPr>
          <p:cNvPr id="50" name="Straight Arrow Connector 49">
            <a:extLst>
              <a:ext uri="{FF2B5EF4-FFF2-40B4-BE49-F238E27FC236}">
                <a16:creationId xmlns:a16="http://schemas.microsoft.com/office/drawing/2014/main" id="{B875C4E1-D7CD-7D94-956C-6486CCB3B92B}"/>
              </a:ext>
            </a:extLst>
          </p:cNvPr>
          <p:cNvCxnSpPr>
            <a:cxnSpLocks/>
            <a:endCxn id="28" idx="4"/>
          </p:cNvCxnSpPr>
          <p:nvPr/>
        </p:nvCxnSpPr>
        <p:spPr>
          <a:xfrm flipH="1">
            <a:off x="5481092" y="2791014"/>
            <a:ext cx="3810908" cy="838399"/>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4" name="Straight Arrow Connector 53">
            <a:extLst>
              <a:ext uri="{FF2B5EF4-FFF2-40B4-BE49-F238E27FC236}">
                <a16:creationId xmlns:a16="http://schemas.microsoft.com/office/drawing/2014/main" id="{DA945239-4EA2-E901-E715-A0096811EF45}"/>
              </a:ext>
            </a:extLst>
          </p:cNvPr>
          <p:cNvCxnSpPr>
            <a:cxnSpLocks/>
            <a:stCxn id="24" idx="0"/>
            <a:endCxn id="35" idx="4"/>
          </p:cNvCxnSpPr>
          <p:nvPr/>
        </p:nvCxnSpPr>
        <p:spPr>
          <a:xfrm flipH="1">
            <a:off x="5481092" y="3019614"/>
            <a:ext cx="4293851" cy="2051701"/>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Tree>
    <p:custDataLst>
      <p:tags r:id="rId1"/>
    </p:custDataLst>
    <p:extLst>
      <p:ext uri="{BB962C8B-B14F-4D97-AF65-F5344CB8AC3E}">
        <p14:creationId xmlns:p14="http://schemas.microsoft.com/office/powerpoint/2010/main" val="3636087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1558">
        <p159:morph option="byObject"/>
      </p:transition>
    </mc:Choice>
    <mc:Fallback xmlns="">
      <p:transition spd="slow" advTm="21558">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barn(inVertical)">
                                      <p:cBhvr>
                                        <p:cTn id="7" dur="500"/>
                                        <p:tgtEl>
                                          <p:spTgt spid="6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wipe(left)">
                                      <p:cBhvr>
                                        <p:cTn id="14" dur="500"/>
                                        <p:tgtEl>
                                          <p:spTgt spid="34"/>
                                        </p:tgtEl>
                                      </p:cBhvr>
                                    </p:animEffect>
                                  </p:childTnLst>
                                </p:cTn>
                              </p:par>
                            </p:childTnLst>
                          </p:cTn>
                        </p:par>
                        <p:par>
                          <p:cTn id="15" fill="hold">
                            <p:stCondLst>
                              <p:cond delay="1000"/>
                            </p:stCondLst>
                            <p:childTnLst>
                              <p:par>
                                <p:cTn id="16" presetID="16" presetClass="entr" presetSubtype="21" fill="hold" nodeType="afterEffect">
                                  <p:stCondLst>
                                    <p:cond delay="0"/>
                                  </p:stCondLst>
                                  <p:childTnLst>
                                    <p:set>
                                      <p:cBhvr>
                                        <p:cTn id="17" dur="1" fill="hold">
                                          <p:stCondLst>
                                            <p:cond delay="0"/>
                                          </p:stCondLst>
                                        </p:cTn>
                                        <p:tgtEl>
                                          <p:spTgt spid="76"/>
                                        </p:tgtEl>
                                        <p:attrNameLst>
                                          <p:attrName>style.visibility</p:attrName>
                                        </p:attrNameLst>
                                      </p:cBhvr>
                                      <p:to>
                                        <p:strVal val="visible"/>
                                      </p:to>
                                    </p:set>
                                    <p:animEffect transition="in" filter="barn(inVertical)">
                                      <p:cBhvr>
                                        <p:cTn id="18" dur="500"/>
                                        <p:tgtEl>
                                          <p:spTgt spid="76"/>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87"/>
                                        </p:tgtEl>
                                        <p:attrNameLst>
                                          <p:attrName>style.visibility</p:attrName>
                                        </p:attrNameLst>
                                      </p:cBhvr>
                                      <p:to>
                                        <p:strVal val="visible"/>
                                      </p:to>
                                    </p:set>
                                    <p:animEffect transition="in" filter="wipe(left)">
                                      <p:cBhvr>
                                        <p:cTn id="25" dur="500"/>
                                        <p:tgtEl>
                                          <p:spTgt spid="87"/>
                                        </p:tgtEl>
                                      </p:cBhvr>
                                    </p:animEffect>
                                  </p:childTnLst>
                                </p:cTn>
                              </p:par>
                            </p:childTnLst>
                          </p:cTn>
                        </p:par>
                        <p:par>
                          <p:cTn id="26" fill="hold">
                            <p:stCondLst>
                              <p:cond delay="2000"/>
                            </p:stCondLst>
                            <p:childTnLst>
                              <p:par>
                                <p:cTn id="27" presetID="16" presetClass="entr" presetSubtype="21" fill="hold" nodeType="afterEffect">
                                  <p:stCondLst>
                                    <p:cond delay="0"/>
                                  </p:stCondLst>
                                  <p:childTnLst>
                                    <p:set>
                                      <p:cBhvr>
                                        <p:cTn id="28" dur="1" fill="hold">
                                          <p:stCondLst>
                                            <p:cond delay="0"/>
                                          </p:stCondLst>
                                        </p:cTn>
                                        <p:tgtEl>
                                          <p:spTgt spid="75"/>
                                        </p:tgtEl>
                                        <p:attrNameLst>
                                          <p:attrName>style.visibility</p:attrName>
                                        </p:attrNameLst>
                                      </p:cBhvr>
                                      <p:to>
                                        <p:strVal val="visible"/>
                                      </p:to>
                                    </p:set>
                                    <p:animEffect transition="in" filter="barn(inVertical)">
                                      <p:cBhvr>
                                        <p:cTn id="29" dur="500"/>
                                        <p:tgtEl>
                                          <p:spTgt spid="7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par>
                          <p:cTn id="33" fill="hold">
                            <p:stCondLst>
                              <p:cond delay="2500"/>
                            </p:stCondLst>
                            <p:childTnLst>
                              <p:par>
                                <p:cTn id="34" presetID="16" presetClass="entr" presetSubtype="42" fill="hold" nodeType="afterEffect">
                                  <p:stCondLst>
                                    <p:cond delay="0"/>
                                  </p:stCondLst>
                                  <p:childTnLst>
                                    <p:set>
                                      <p:cBhvr>
                                        <p:cTn id="35" dur="1" fill="hold">
                                          <p:stCondLst>
                                            <p:cond delay="0"/>
                                          </p:stCondLst>
                                        </p:cTn>
                                        <p:tgtEl>
                                          <p:spTgt spid="40"/>
                                        </p:tgtEl>
                                        <p:attrNameLst>
                                          <p:attrName>style.visibility</p:attrName>
                                        </p:attrNameLst>
                                      </p:cBhvr>
                                      <p:to>
                                        <p:strVal val="visible"/>
                                      </p:to>
                                    </p:set>
                                    <p:animEffect transition="in" filter="barn(outHorizontal)">
                                      <p:cBhvr>
                                        <p:cTn id="36" dur="500"/>
                                        <p:tgtEl>
                                          <p:spTgt spid="40"/>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500"/>
                                        <p:tgtEl>
                                          <p:spTgt spid="13"/>
                                        </p:tgtEl>
                                      </p:cBhvr>
                                    </p:animEffect>
                                  </p:childTnLst>
                                </p:cTn>
                              </p:par>
                            </p:childTnLst>
                          </p:cTn>
                        </p:par>
                        <p:par>
                          <p:cTn id="40" fill="hold">
                            <p:stCondLst>
                              <p:cond delay="3000"/>
                            </p:stCondLst>
                            <p:childTnLst>
                              <p:par>
                                <p:cTn id="41" presetID="16" presetClass="entr" presetSubtype="21" fill="hold" nodeType="afterEffect">
                                  <p:stCondLst>
                                    <p:cond delay="0"/>
                                  </p:stCondLst>
                                  <p:childTnLst>
                                    <p:set>
                                      <p:cBhvr>
                                        <p:cTn id="42" dur="1" fill="hold">
                                          <p:stCondLst>
                                            <p:cond delay="0"/>
                                          </p:stCondLst>
                                        </p:cTn>
                                        <p:tgtEl>
                                          <p:spTgt spid="78"/>
                                        </p:tgtEl>
                                        <p:attrNameLst>
                                          <p:attrName>style.visibility</p:attrName>
                                        </p:attrNameLst>
                                      </p:cBhvr>
                                      <p:to>
                                        <p:strVal val="visible"/>
                                      </p:to>
                                    </p:set>
                                    <p:animEffect transition="in" filter="barn(inVertical)">
                                      <p:cBhvr>
                                        <p:cTn id="43" dur="500"/>
                                        <p:tgtEl>
                                          <p:spTgt spid="78"/>
                                        </p:tgtEl>
                                      </p:cBhvr>
                                    </p:animEffect>
                                  </p:childTnLst>
                                </p:cTn>
                              </p:par>
                              <p:par>
                                <p:cTn id="44" presetID="22" presetClass="entr" presetSubtype="1" fill="hold" grpId="0" nodeType="with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wipe(up)">
                                      <p:cBhvr>
                                        <p:cTn id="46" dur="500"/>
                                        <p:tgtEl>
                                          <p:spTgt spid="9"/>
                                        </p:tgtEl>
                                      </p:cBhvr>
                                    </p:animEffect>
                                  </p:childTnLst>
                                </p:cTn>
                              </p:par>
                            </p:childTnLst>
                          </p:cTn>
                        </p:par>
                        <p:par>
                          <p:cTn id="47" fill="hold">
                            <p:stCondLst>
                              <p:cond delay="3500"/>
                            </p:stCondLst>
                            <p:childTnLst>
                              <p:par>
                                <p:cTn id="48" presetID="22" presetClass="entr" presetSubtype="2" fill="hold" nodeType="afterEffect">
                                  <p:stCondLst>
                                    <p:cond delay="0"/>
                                  </p:stCondLst>
                                  <p:childTnLst>
                                    <p:set>
                                      <p:cBhvr>
                                        <p:cTn id="49" dur="1" fill="hold">
                                          <p:stCondLst>
                                            <p:cond delay="0"/>
                                          </p:stCondLst>
                                        </p:cTn>
                                        <p:tgtEl>
                                          <p:spTgt spid="50"/>
                                        </p:tgtEl>
                                        <p:attrNameLst>
                                          <p:attrName>style.visibility</p:attrName>
                                        </p:attrNameLst>
                                      </p:cBhvr>
                                      <p:to>
                                        <p:strVal val="visible"/>
                                      </p:to>
                                    </p:set>
                                    <p:animEffect transition="in" filter="wipe(right)">
                                      <p:cBhvr>
                                        <p:cTn id="50" dur="500"/>
                                        <p:tgtEl>
                                          <p:spTgt spid="50"/>
                                        </p:tgtEl>
                                      </p:cBhvr>
                                    </p:animEffect>
                                  </p:childTnLst>
                                </p:cTn>
                              </p:par>
                            </p:childTnLst>
                          </p:cTn>
                        </p:par>
                        <p:par>
                          <p:cTn id="51" fill="hold">
                            <p:stCondLst>
                              <p:cond delay="4000"/>
                            </p:stCondLst>
                            <p:childTnLst>
                              <p:par>
                                <p:cTn id="52" presetID="16" presetClass="entr" presetSubtype="21" fill="hold" nodeType="after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barn(inVertical)">
                                      <p:cBhvr>
                                        <p:cTn id="54" dur="500"/>
                                        <p:tgtEl>
                                          <p:spTgt spid="26"/>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wipe(left)">
                                      <p:cBhvr>
                                        <p:cTn id="57" dur="500"/>
                                        <p:tgtEl>
                                          <p:spTgt spid="38"/>
                                        </p:tgtEl>
                                      </p:cBhvr>
                                    </p:animEffect>
                                  </p:childTnLst>
                                </p:cTn>
                              </p:par>
                            </p:childTnLst>
                          </p:cTn>
                        </p:par>
                        <p:par>
                          <p:cTn id="58" fill="hold">
                            <p:stCondLst>
                              <p:cond delay="4500"/>
                            </p:stCondLst>
                            <p:childTnLst>
                              <p:par>
                                <p:cTn id="59" presetID="22" presetClass="entr" presetSubtype="2" fill="hold" nodeType="afterEffect">
                                  <p:stCondLst>
                                    <p:cond delay="0"/>
                                  </p:stCondLst>
                                  <p:childTnLst>
                                    <p:set>
                                      <p:cBhvr>
                                        <p:cTn id="60" dur="1" fill="hold">
                                          <p:stCondLst>
                                            <p:cond delay="0"/>
                                          </p:stCondLst>
                                        </p:cTn>
                                        <p:tgtEl>
                                          <p:spTgt spid="54"/>
                                        </p:tgtEl>
                                        <p:attrNameLst>
                                          <p:attrName>style.visibility</p:attrName>
                                        </p:attrNameLst>
                                      </p:cBhvr>
                                      <p:to>
                                        <p:strVal val="visible"/>
                                      </p:to>
                                    </p:set>
                                    <p:animEffect transition="in" filter="wipe(right)">
                                      <p:cBhvr>
                                        <p:cTn id="61" dur="500"/>
                                        <p:tgtEl>
                                          <p:spTgt spid="54"/>
                                        </p:tgtEl>
                                      </p:cBhvr>
                                    </p:animEffect>
                                  </p:childTnLst>
                                </p:cTn>
                              </p:par>
                            </p:childTnLst>
                          </p:cTn>
                        </p:par>
                        <p:par>
                          <p:cTn id="62" fill="hold">
                            <p:stCondLst>
                              <p:cond delay="5000"/>
                            </p:stCondLst>
                            <p:childTnLst>
                              <p:par>
                                <p:cTn id="63" presetID="16" presetClass="entr" presetSubtype="21" fill="hold" nodeType="afterEffect">
                                  <p:stCondLst>
                                    <p:cond delay="0"/>
                                  </p:stCondLst>
                                  <p:childTnLst>
                                    <p:set>
                                      <p:cBhvr>
                                        <p:cTn id="64" dur="1" fill="hold">
                                          <p:stCondLst>
                                            <p:cond delay="0"/>
                                          </p:stCondLst>
                                        </p:cTn>
                                        <p:tgtEl>
                                          <p:spTgt spid="33"/>
                                        </p:tgtEl>
                                        <p:attrNameLst>
                                          <p:attrName>style.visibility</p:attrName>
                                        </p:attrNameLst>
                                      </p:cBhvr>
                                      <p:to>
                                        <p:strVal val="visible"/>
                                      </p:to>
                                    </p:set>
                                    <p:animEffect transition="in" filter="barn(inVertical)">
                                      <p:cBhvr>
                                        <p:cTn id="65" dur="500"/>
                                        <p:tgtEl>
                                          <p:spTgt spid="33"/>
                                        </p:tgtEl>
                                      </p:cBhvr>
                                    </p:animEffect>
                                  </p:childTnLst>
                                </p:cTn>
                              </p:par>
                              <p:par>
                                <p:cTn id="66" presetID="22" presetClass="entr" presetSubtype="8" fill="hold" grpId="0" nodeType="with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wipe(left)">
                                      <p:cBhvr>
                                        <p:cTn id="6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3" grpId="0"/>
      <p:bldP spid="37" grpId="0"/>
      <p:bldP spid="3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DC94EB-9415-658D-2A02-07F168C12FAA}"/>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400" b="1" dirty="0"/>
              <a:t>Architecture Proposée</a:t>
            </a:r>
            <a:endParaRPr lang="en-US" sz="4400" b="1" dirty="0"/>
          </a:p>
        </p:txBody>
      </p:sp>
      <p:sp>
        <p:nvSpPr>
          <p:cNvPr id="10" name="Hexagon 9">
            <a:extLst>
              <a:ext uri="{FF2B5EF4-FFF2-40B4-BE49-F238E27FC236}">
                <a16:creationId xmlns:a16="http://schemas.microsoft.com/office/drawing/2014/main" id="{CDDDA163-8E1D-1061-A442-31C57DC6BE6E}"/>
              </a:ext>
            </a:extLst>
          </p:cNvPr>
          <p:cNvSpPr/>
          <p:nvPr/>
        </p:nvSpPr>
        <p:spPr>
          <a:xfrm rot="1828882">
            <a:off x="212002" y="178377"/>
            <a:ext cx="914400" cy="822960"/>
          </a:xfrm>
          <a:prstGeom prst="hexagon">
            <a:avLst>
              <a:gd name="adj" fmla="val 27586"/>
              <a:gd name="vf" fmla="val 11547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24E0655-DDAE-D434-29F0-B86554774770}"/>
              </a:ext>
            </a:extLst>
          </p:cNvPr>
          <p:cNvSpPr txBox="1"/>
          <p:nvPr/>
        </p:nvSpPr>
        <p:spPr>
          <a:xfrm>
            <a:off x="376493" y="322590"/>
            <a:ext cx="585417" cy="523220"/>
          </a:xfrm>
          <a:prstGeom prst="rect">
            <a:avLst/>
          </a:prstGeom>
          <a:noFill/>
        </p:spPr>
        <p:txBody>
          <a:bodyPr wrap="none" rtlCol="0">
            <a:spAutoFit/>
          </a:bodyPr>
          <a:lstStyle/>
          <a:p>
            <a:r>
              <a:rPr lang="en-US" sz="2800" b="1" dirty="0">
                <a:solidFill>
                  <a:schemeClr val="bg1"/>
                </a:solidFill>
              </a:rPr>
              <a:t>07</a:t>
            </a:r>
          </a:p>
        </p:txBody>
      </p:sp>
      <p:sp>
        <p:nvSpPr>
          <p:cNvPr id="2" name="Hexagon 1">
            <a:extLst>
              <a:ext uri="{FF2B5EF4-FFF2-40B4-BE49-F238E27FC236}">
                <a16:creationId xmlns:a16="http://schemas.microsoft.com/office/drawing/2014/main" id="{D4CCBAAF-0885-9016-88E9-59D2ECE24DCA}"/>
              </a:ext>
            </a:extLst>
          </p:cNvPr>
          <p:cNvSpPr/>
          <p:nvPr/>
        </p:nvSpPr>
        <p:spPr>
          <a:xfrm>
            <a:off x="66462" y="1379727"/>
            <a:ext cx="3702897" cy="448995"/>
          </a:xfrm>
          <a:prstGeom prst="hexag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Architecture (</a:t>
            </a:r>
            <a:r>
              <a:rPr lang="en-US" sz="1800" b="1" kern="1200" dirty="0">
                <a:solidFill>
                  <a:srgbClr val="FFFFFF"/>
                </a:solidFill>
                <a:effectLst/>
                <a:latin typeface="Arial" panose="020B0604020202020204" pitchFamily="34" charset="0"/>
                <a:ea typeface="Arial Unicode MS"/>
                <a:cs typeface="+mn-cs"/>
              </a:rPr>
              <a:t>LECTURE</a:t>
            </a:r>
            <a:r>
              <a:rPr lang="en-US" b="1" dirty="0">
                <a:solidFill>
                  <a:schemeClr val="bg1"/>
                </a:solidFill>
              </a:rPr>
              <a:t>)</a:t>
            </a:r>
          </a:p>
        </p:txBody>
      </p:sp>
      <p:grpSp>
        <p:nvGrpSpPr>
          <p:cNvPr id="76" name="Group 75">
            <a:extLst>
              <a:ext uri="{FF2B5EF4-FFF2-40B4-BE49-F238E27FC236}">
                <a16:creationId xmlns:a16="http://schemas.microsoft.com/office/drawing/2014/main" id="{F4632DB7-53D0-0C66-29ED-90CE592B5219}"/>
              </a:ext>
            </a:extLst>
          </p:cNvPr>
          <p:cNvGrpSpPr/>
          <p:nvPr/>
        </p:nvGrpSpPr>
        <p:grpSpPr>
          <a:xfrm>
            <a:off x="4601206" y="1958910"/>
            <a:ext cx="914400" cy="1060704"/>
            <a:chOff x="4559259" y="1958910"/>
            <a:chExt cx="914400" cy="1060704"/>
          </a:xfrm>
        </p:grpSpPr>
        <p:sp>
          <p:nvSpPr>
            <p:cNvPr id="14" name="Hexagon 13">
              <a:extLst>
                <a:ext uri="{FF2B5EF4-FFF2-40B4-BE49-F238E27FC236}">
                  <a16:creationId xmlns:a16="http://schemas.microsoft.com/office/drawing/2014/main" id="{29E98E23-157F-ECE3-7808-83A8AE177170}"/>
                </a:ext>
              </a:extLst>
            </p:cNvPr>
            <p:cNvSpPr/>
            <p:nvPr/>
          </p:nvSpPr>
          <p:spPr>
            <a:xfrm rot="5400000">
              <a:off x="4486107" y="2032062"/>
              <a:ext cx="1060704" cy="914400"/>
            </a:xfrm>
            <a:prstGeom prst="hexagon">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19" name="Picture 18">
              <a:extLst>
                <a:ext uri="{FF2B5EF4-FFF2-40B4-BE49-F238E27FC236}">
                  <a16:creationId xmlns:a16="http://schemas.microsoft.com/office/drawing/2014/main" id="{E007DCC9-6551-0F28-FEB0-FCF5AFEDFA5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682890" y="2155693"/>
              <a:ext cx="667138" cy="667138"/>
            </a:xfrm>
            <a:prstGeom prst="rect">
              <a:avLst/>
            </a:prstGeom>
          </p:spPr>
        </p:pic>
      </p:grpSp>
      <p:grpSp>
        <p:nvGrpSpPr>
          <p:cNvPr id="60" name="Group 59">
            <a:extLst>
              <a:ext uri="{FF2B5EF4-FFF2-40B4-BE49-F238E27FC236}">
                <a16:creationId xmlns:a16="http://schemas.microsoft.com/office/drawing/2014/main" id="{3827CB37-1040-F60E-43F6-200913B5C0F1}"/>
              </a:ext>
            </a:extLst>
          </p:cNvPr>
          <p:cNvGrpSpPr/>
          <p:nvPr/>
        </p:nvGrpSpPr>
        <p:grpSpPr>
          <a:xfrm>
            <a:off x="1959857" y="3308480"/>
            <a:ext cx="914400" cy="1060704"/>
            <a:chOff x="1867320" y="3133986"/>
            <a:chExt cx="914400" cy="1060704"/>
          </a:xfrm>
        </p:grpSpPr>
        <p:sp>
          <p:nvSpPr>
            <p:cNvPr id="21" name="Hexagon 20">
              <a:extLst>
                <a:ext uri="{FF2B5EF4-FFF2-40B4-BE49-F238E27FC236}">
                  <a16:creationId xmlns:a16="http://schemas.microsoft.com/office/drawing/2014/main" id="{77EB2FCD-9D08-5129-389A-64243482DF42}"/>
                </a:ext>
              </a:extLst>
            </p:cNvPr>
            <p:cNvSpPr/>
            <p:nvPr/>
          </p:nvSpPr>
          <p:spPr>
            <a:xfrm rot="5400000">
              <a:off x="1794168" y="3207138"/>
              <a:ext cx="1060704" cy="914400"/>
            </a:xfrm>
            <a:prstGeom prst="hexagon">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22" name="Picture 21">
              <a:extLst>
                <a:ext uri="{FF2B5EF4-FFF2-40B4-BE49-F238E27FC236}">
                  <a16:creationId xmlns:a16="http://schemas.microsoft.com/office/drawing/2014/main" id="{48675DD7-AD19-7268-FD88-668F8327ACD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990951" y="3330769"/>
              <a:ext cx="667138" cy="667138"/>
            </a:xfrm>
            <a:prstGeom prst="rect">
              <a:avLst/>
            </a:prstGeom>
          </p:spPr>
        </p:pic>
      </p:grpSp>
      <p:grpSp>
        <p:nvGrpSpPr>
          <p:cNvPr id="75" name="Group 74">
            <a:extLst>
              <a:ext uri="{FF2B5EF4-FFF2-40B4-BE49-F238E27FC236}">
                <a16:creationId xmlns:a16="http://schemas.microsoft.com/office/drawing/2014/main" id="{942A9FBF-493A-CCCB-16FD-4BA66C5DF64B}"/>
              </a:ext>
            </a:extLst>
          </p:cNvPr>
          <p:cNvGrpSpPr/>
          <p:nvPr/>
        </p:nvGrpSpPr>
        <p:grpSpPr>
          <a:xfrm>
            <a:off x="9317743" y="1958910"/>
            <a:ext cx="914400" cy="1060704"/>
            <a:chOff x="9275796" y="1958910"/>
            <a:chExt cx="914400" cy="1060704"/>
          </a:xfrm>
        </p:grpSpPr>
        <p:sp>
          <p:nvSpPr>
            <p:cNvPr id="24" name="Hexagon 23">
              <a:extLst>
                <a:ext uri="{FF2B5EF4-FFF2-40B4-BE49-F238E27FC236}">
                  <a16:creationId xmlns:a16="http://schemas.microsoft.com/office/drawing/2014/main" id="{BC3E4A16-8ADE-2771-6A30-3793D3642DC5}"/>
                </a:ext>
              </a:extLst>
            </p:cNvPr>
            <p:cNvSpPr/>
            <p:nvPr/>
          </p:nvSpPr>
          <p:spPr>
            <a:xfrm rot="5400000">
              <a:off x="9202644" y="2032062"/>
              <a:ext cx="1060704" cy="914400"/>
            </a:xfrm>
            <a:prstGeom prst="hexagon">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25" name="Picture 24">
              <a:extLst>
                <a:ext uri="{FF2B5EF4-FFF2-40B4-BE49-F238E27FC236}">
                  <a16:creationId xmlns:a16="http://schemas.microsoft.com/office/drawing/2014/main" id="{95C2C341-5DA9-0887-D3F9-EE914D45D908}"/>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399427" y="2155693"/>
              <a:ext cx="667138" cy="667138"/>
            </a:xfrm>
            <a:prstGeom prst="rect">
              <a:avLst/>
            </a:prstGeom>
          </p:spPr>
        </p:pic>
      </p:grpSp>
      <p:grpSp>
        <p:nvGrpSpPr>
          <p:cNvPr id="78" name="Group 77">
            <a:extLst>
              <a:ext uri="{FF2B5EF4-FFF2-40B4-BE49-F238E27FC236}">
                <a16:creationId xmlns:a16="http://schemas.microsoft.com/office/drawing/2014/main" id="{C50BB46E-973B-F41B-3B2E-D3EA875D8081}"/>
              </a:ext>
            </a:extLst>
          </p:cNvPr>
          <p:cNvGrpSpPr/>
          <p:nvPr/>
        </p:nvGrpSpPr>
        <p:grpSpPr>
          <a:xfrm>
            <a:off x="4601206" y="4658049"/>
            <a:ext cx="914400" cy="1060704"/>
            <a:chOff x="4559259" y="4658049"/>
            <a:chExt cx="914400" cy="1060704"/>
          </a:xfrm>
        </p:grpSpPr>
        <p:sp>
          <p:nvSpPr>
            <p:cNvPr id="27" name="Hexagon 26">
              <a:extLst>
                <a:ext uri="{FF2B5EF4-FFF2-40B4-BE49-F238E27FC236}">
                  <a16:creationId xmlns:a16="http://schemas.microsoft.com/office/drawing/2014/main" id="{C2683967-F50C-D945-C3E7-F9980F7E7C8A}"/>
                </a:ext>
              </a:extLst>
            </p:cNvPr>
            <p:cNvSpPr/>
            <p:nvPr/>
          </p:nvSpPr>
          <p:spPr>
            <a:xfrm rot="5400000">
              <a:off x="4486107" y="4731201"/>
              <a:ext cx="1060704" cy="914400"/>
            </a:xfrm>
            <a:prstGeom prst="hexagon">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29" name="Picture 28">
              <a:extLst>
                <a:ext uri="{FF2B5EF4-FFF2-40B4-BE49-F238E27FC236}">
                  <a16:creationId xmlns:a16="http://schemas.microsoft.com/office/drawing/2014/main" id="{7FA9BA8A-9A8C-F727-BAEC-440A846C06AD}"/>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4682890" y="4854832"/>
              <a:ext cx="667138" cy="667138"/>
            </a:xfrm>
            <a:prstGeom prst="rect">
              <a:avLst/>
            </a:prstGeom>
          </p:spPr>
        </p:pic>
      </p:grpSp>
      <p:grpSp>
        <p:nvGrpSpPr>
          <p:cNvPr id="77" name="Group 76">
            <a:extLst>
              <a:ext uri="{FF2B5EF4-FFF2-40B4-BE49-F238E27FC236}">
                <a16:creationId xmlns:a16="http://schemas.microsoft.com/office/drawing/2014/main" id="{670D1AAC-DC8A-C403-3B9C-3747B9274465}"/>
              </a:ext>
            </a:extLst>
          </p:cNvPr>
          <p:cNvGrpSpPr/>
          <p:nvPr/>
        </p:nvGrpSpPr>
        <p:grpSpPr>
          <a:xfrm>
            <a:off x="9317743" y="4658049"/>
            <a:ext cx="914400" cy="1060704"/>
            <a:chOff x="9275796" y="4658049"/>
            <a:chExt cx="914400" cy="1060704"/>
          </a:xfrm>
        </p:grpSpPr>
        <p:sp>
          <p:nvSpPr>
            <p:cNvPr id="31" name="Hexagon 30">
              <a:extLst>
                <a:ext uri="{FF2B5EF4-FFF2-40B4-BE49-F238E27FC236}">
                  <a16:creationId xmlns:a16="http://schemas.microsoft.com/office/drawing/2014/main" id="{BC75502C-F604-9E5A-8CBE-0FBEBA7DCA5F}"/>
                </a:ext>
              </a:extLst>
            </p:cNvPr>
            <p:cNvSpPr/>
            <p:nvPr/>
          </p:nvSpPr>
          <p:spPr>
            <a:xfrm rot="16200000">
              <a:off x="9202644" y="4731201"/>
              <a:ext cx="1060704" cy="914400"/>
            </a:xfrm>
            <a:prstGeom prst="hexagon">
              <a:avLst/>
            </a:prstGeom>
            <a:solidFill>
              <a:schemeClr val="bg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p>
          </p:txBody>
        </p:sp>
        <p:pic>
          <p:nvPicPr>
            <p:cNvPr id="32" name="Picture 31">
              <a:extLst>
                <a:ext uri="{FF2B5EF4-FFF2-40B4-BE49-F238E27FC236}">
                  <a16:creationId xmlns:a16="http://schemas.microsoft.com/office/drawing/2014/main" id="{69136552-20D6-7B54-A4B3-C150319C9C73}"/>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9399427" y="4854832"/>
              <a:ext cx="667138" cy="667138"/>
            </a:xfrm>
            <a:prstGeom prst="rect">
              <a:avLst/>
            </a:prstGeom>
          </p:spPr>
        </p:pic>
      </p:grpSp>
      <p:cxnSp>
        <p:nvCxnSpPr>
          <p:cNvPr id="34" name="Connector: Elbow 33">
            <a:extLst>
              <a:ext uri="{FF2B5EF4-FFF2-40B4-BE49-F238E27FC236}">
                <a16:creationId xmlns:a16="http://schemas.microsoft.com/office/drawing/2014/main" id="{81289A2C-57FE-4AF6-E8FA-61B1411799D8}"/>
              </a:ext>
            </a:extLst>
          </p:cNvPr>
          <p:cNvCxnSpPr>
            <a:cxnSpLocks/>
            <a:stCxn id="21" idx="3"/>
          </p:cNvCxnSpPr>
          <p:nvPr/>
        </p:nvCxnSpPr>
        <p:spPr>
          <a:xfrm rot="5400000" flipH="1" flipV="1">
            <a:off x="3099301" y="1806574"/>
            <a:ext cx="819662" cy="2184151"/>
          </a:xfrm>
          <a:prstGeom prst="bentConnector2">
            <a:avLst/>
          </a:prstGeom>
          <a:ln w="38100">
            <a:tailEnd type="triangle"/>
          </a:ln>
        </p:spPr>
        <p:style>
          <a:lnRef idx="3">
            <a:schemeClr val="dk1"/>
          </a:lnRef>
          <a:fillRef idx="0">
            <a:schemeClr val="dk1"/>
          </a:fillRef>
          <a:effectRef idx="2">
            <a:schemeClr val="dk1"/>
          </a:effectRef>
          <a:fontRef idx="minor">
            <a:schemeClr val="tx1"/>
          </a:fontRef>
        </p:style>
      </p:cxnSp>
      <p:cxnSp>
        <p:nvCxnSpPr>
          <p:cNvPr id="45" name="Connector: Elbow 44">
            <a:extLst>
              <a:ext uri="{FF2B5EF4-FFF2-40B4-BE49-F238E27FC236}">
                <a16:creationId xmlns:a16="http://schemas.microsoft.com/office/drawing/2014/main" id="{019ADEF9-5BF2-382E-D677-FD72582D5D93}"/>
              </a:ext>
            </a:extLst>
          </p:cNvPr>
          <p:cNvCxnSpPr>
            <a:cxnSpLocks/>
            <a:stCxn id="31" idx="3"/>
            <a:endCxn id="21" idx="0"/>
          </p:cNvCxnSpPr>
          <p:nvPr/>
        </p:nvCxnSpPr>
        <p:spPr>
          <a:xfrm rot="5400000" flipH="1">
            <a:off x="5421215" y="1365026"/>
            <a:ext cx="1349569" cy="7357886"/>
          </a:xfrm>
          <a:prstGeom prst="bentConnector3">
            <a:avLst>
              <a:gd name="adj1" fmla="val -34103"/>
            </a:avLst>
          </a:prstGeom>
          <a:ln w="38100">
            <a:tailEnd type="triangle"/>
          </a:ln>
        </p:spPr>
        <p:style>
          <a:lnRef idx="3">
            <a:schemeClr val="dk1"/>
          </a:lnRef>
          <a:fillRef idx="0">
            <a:schemeClr val="dk1"/>
          </a:fillRef>
          <a:effectRef idx="2">
            <a:schemeClr val="dk1"/>
          </a:effectRef>
          <a:fontRef idx="minor">
            <a:schemeClr val="tx1"/>
          </a:fontRef>
        </p:style>
      </p:cxnSp>
      <p:cxnSp>
        <p:nvCxnSpPr>
          <p:cNvPr id="68" name="Straight Arrow Connector 67">
            <a:extLst>
              <a:ext uri="{FF2B5EF4-FFF2-40B4-BE49-F238E27FC236}">
                <a16:creationId xmlns:a16="http://schemas.microsoft.com/office/drawing/2014/main" id="{C1E6039F-00B6-66FF-003D-C4250E6AC44F}"/>
              </a:ext>
            </a:extLst>
          </p:cNvPr>
          <p:cNvCxnSpPr>
            <a:cxnSpLocks/>
          </p:cNvCxnSpPr>
          <p:nvPr/>
        </p:nvCxnSpPr>
        <p:spPr>
          <a:xfrm>
            <a:off x="5515604" y="5178392"/>
            <a:ext cx="3802139" cy="0"/>
          </a:xfrm>
          <a:prstGeom prst="straightConnector1">
            <a:avLst/>
          </a:prstGeom>
          <a:ln w="38100">
            <a:headEnd type="triangle"/>
            <a:tailEnd type="triangle"/>
          </a:ln>
        </p:spPr>
        <p:style>
          <a:lnRef idx="3">
            <a:schemeClr val="dk1"/>
          </a:lnRef>
          <a:fillRef idx="0">
            <a:schemeClr val="dk1"/>
          </a:fillRef>
          <a:effectRef idx="2">
            <a:schemeClr val="dk1"/>
          </a:effectRef>
          <a:fontRef idx="minor">
            <a:schemeClr val="tx1"/>
          </a:fontRef>
        </p:style>
      </p:cxnSp>
      <p:cxnSp>
        <p:nvCxnSpPr>
          <p:cNvPr id="87" name="Straight Arrow Connector 86">
            <a:extLst>
              <a:ext uri="{FF2B5EF4-FFF2-40B4-BE49-F238E27FC236}">
                <a16:creationId xmlns:a16="http://schemas.microsoft.com/office/drawing/2014/main" id="{13212089-45A4-798C-0BEB-1A08C1D70742}"/>
              </a:ext>
            </a:extLst>
          </p:cNvPr>
          <p:cNvCxnSpPr>
            <a:cxnSpLocks/>
          </p:cNvCxnSpPr>
          <p:nvPr/>
        </p:nvCxnSpPr>
        <p:spPr>
          <a:xfrm>
            <a:off x="5515604" y="2488816"/>
            <a:ext cx="3802139" cy="0"/>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89" name="Straight Arrow Connector 88">
            <a:extLst>
              <a:ext uri="{FF2B5EF4-FFF2-40B4-BE49-F238E27FC236}">
                <a16:creationId xmlns:a16="http://schemas.microsoft.com/office/drawing/2014/main" id="{7EFA0B6B-9D78-2AD9-67C7-B476CD693C7E}"/>
              </a:ext>
            </a:extLst>
          </p:cNvPr>
          <p:cNvCxnSpPr>
            <a:stCxn id="24" idx="0"/>
            <a:endCxn id="31" idx="0"/>
          </p:cNvCxnSpPr>
          <p:nvPr/>
        </p:nvCxnSpPr>
        <p:spPr>
          <a:xfrm>
            <a:off x="9774943" y="3019614"/>
            <a:ext cx="0" cy="1638435"/>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4" name="TextBox 3">
            <a:extLst>
              <a:ext uri="{FF2B5EF4-FFF2-40B4-BE49-F238E27FC236}">
                <a16:creationId xmlns:a16="http://schemas.microsoft.com/office/drawing/2014/main" id="{B85474DD-B240-D5BB-39CB-80F38BB45F43}"/>
              </a:ext>
            </a:extLst>
          </p:cNvPr>
          <p:cNvSpPr txBox="1"/>
          <p:nvPr/>
        </p:nvSpPr>
        <p:spPr>
          <a:xfrm>
            <a:off x="4170983" y="1530214"/>
            <a:ext cx="1774846" cy="369332"/>
          </a:xfrm>
          <a:prstGeom prst="rect">
            <a:avLst/>
          </a:prstGeom>
          <a:noFill/>
        </p:spPr>
        <p:txBody>
          <a:bodyPr wrap="none" rtlCol="0">
            <a:spAutoFit/>
          </a:bodyPr>
          <a:lstStyle/>
          <a:p>
            <a:pPr algn="ctr"/>
            <a:r>
              <a:rPr lang="en-US" b="1" dirty="0"/>
              <a:t>Load Balancer</a:t>
            </a:r>
          </a:p>
        </p:txBody>
      </p:sp>
      <p:sp>
        <p:nvSpPr>
          <p:cNvPr id="6" name="TextBox 5">
            <a:extLst>
              <a:ext uri="{FF2B5EF4-FFF2-40B4-BE49-F238E27FC236}">
                <a16:creationId xmlns:a16="http://schemas.microsoft.com/office/drawing/2014/main" id="{8D6DF330-5CEA-405F-2725-0D8A74DD00EE}"/>
              </a:ext>
            </a:extLst>
          </p:cNvPr>
          <p:cNvSpPr txBox="1"/>
          <p:nvPr/>
        </p:nvSpPr>
        <p:spPr>
          <a:xfrm>
            <a:off x="9253003" y="1484933"/>
            <a:ext cx="1043877" cy="369332"/>
          </a:xfrm>
          <a:prstGeom prst="rect">
            <a:avLst/>
          </a:prstGeom>
          <a:noFill/>
        </p:spPr>
        <p:txBody>
          <a:bodyPr wrap="none" rtlCol="0">
            <a:spAutoFit/>
          </a:bodyPr>
          <a:lstStyle/>
          <a:p>
            <a:pPr algn="ctr"/>
            <a:r>
              <a:rPr lang="en-US" b="1" dirty="0" err="1"/>
              <a:t>Serveur</a:t>
            </a:r>
            <a:endParaRPr lang="en-US" b="1" dirty="0"/>
          </a:p>
        </p:txBody>
      </p:sp>
      <p:sp>
        <p:nvSpPr>
          <p:cNvPr id="8" name="TextBox 7">
            <a:extLst>
              <a:ext uri="{FF2B5EF4-FFF2-40B4-BE49-F238E27FC236}">
                <a16:creationId xmlns:a16="http://schemas.microsoft.com/office/drawing/2014/main" id="{2E2D32A3-BDAE-EA70-FB73-40B9CD0558EC}"/>
              </a:ext>
            </a:extLst>
          </p:cNvPr>
          <p:cNvSpPr txBox="1"/>
          <p:nvPr/>
        </p:nvSpPr>
        <p:spPr>
          <a:xfrm rot="16200000">
            <a:off x="1343123" y="3671075"/>
            <a:ext cx="761747" cy="369332"/>
          </a:xfrm>
          <a:prstGeom prst="rect">
            <a:avLst/>
          </a:prstGeom>
          <a:noFill/>
        </p:spPr>
        <p:txBody>
          <a:bodyPr wrap="none" rtlCol="0">
            <a:spAutoFit/>
          </a:bodyPr>
          <a:lstStyle/>
          <a:p>
            <a:pPr algn="ctr"/>
            <a:r>
              <a:rPr lang="en-US" b="1" dirty="0"/>
              <a:t>User </a:t>
            </a:r>
          </a:p>
        </p:txBody>
      </p:sp>
      <p:sp>
        <p:nvSpPr>
          <p:cNvPr id="9" name="TextBox 8">
            <a:extLst>
              <a:ext uri="{FF2B5EF4-FFF2-40B4-BE49-F238E27FC236}">
                <a16:creationId xmlns:a16="http://schemas.microsoft.com/office/drawing/2014/main" id="{A3D2B6C8-4BA8-BA1E-064D-2C24F6D2DE1A}"/>
              </a:ext>
            </a:extLst>
          </p:cNvPr>
          <p:cNvSpPr txBox="1"/>
          <p:nvPr/>
        </p:nvSpPr>
        <p:spPr>
          <a:xfrm>
            <a:off x="4267162" y="4195008"/>
            <a:ext cx="1582486" cy="369332"/>
          </a:xfrm>
          <a:prstGeom prst="rect">
            <a:avLst/>
          </a:prstGeom>
          <a:noFill/>
        </p:spPr>
        <p:txBody>
          <a:bodyPr wrap="none" rtlCol="0">
            <a:spAutoFit/>
          </a:bodyPr>
          <a:lstStyle/>
          <a:p>
            <a:pPr algn="ctr"/>
            <a:r>
              <a:rPr lang="en-US" b="1" dirty="0"/>
              <a:t>Base NoSQL</a:t>
            </a:r>
          </a:p>
        </p:txBody>
      </p:sp>
      <p:sp>
        <p:nvSpPr>
          <p:cNvPr id="11" name="TextBox 10">
            <a:extLst>
              <a:ext uri="{FF2B5EF4-FFF2-40B4-BE49-F238E27FC236}">
                <a16:creationId xmlns:a16="http://schemas.microsoft.com/office/drawing/2014/main" id="{84914FC8-5668-37A3-934F-E61279BA6339}"/>
              </a:ext>
            </a:extLst>
          </p:cNvPr>
          <p:cNvSpPr txBox="1"/>
          <p:nvPr/>
        </p:nvSpPr>
        <p:spPr>
          <a:xfrm rot="5400000">
            <a:off x="10030099" y="4993726"/>
            <a:ext cx="941284" cy="369332"/>
          </a:xfrm>
          <a:prstGeom prst="rect">
            <a:avLst/>
          </a:prstGeom>
          <a:noFill/>
        </p:spPr>
        <p:txBody>
          <a:bodyPr wrap="none" rtlCol="0">
            <a:spAutoFit/>
          </a:bodyPr>
          <a:lstStyle/>
          <a:p>
            <a:pPr algn="ctr"/>
            <a:r>
              <a:rPr lang="en-US" b="1" dirty="0"/>
              <a:t>Cache </a:t>
            </a:r>
          </a:p>
        </p:txBody>
      </p:sp>
      <p:sp>
        <p:nvSpPr>
          <p:cNvPr id="18" name="TextBox 17">
            <a:extLst>
              <a:ext uri="{FF2B5EF4-FFF2-40B4-BE49-F238E27FC236}">
                <a16:creationId xmlns:a16="http://schemas.microsoft.com/office/drawing/2014/main" id="{3AB9DF6D-B2F3-9FB2-82F7-5DC32177C343}"/>
              </a:ext>
            </a:extLst>
          </p:cNvPr>
          <p:cNvSpPr txBox="1"/>
          <p:nvPr/>
        </p:nvSpPr>
        <p:spPr>
          <a:xfrm>
            <a:off x="7042214" y="4802708"/>
            <a:ext cx="748923" cy="369332"/>
          </a:xfrm>
          <a:prstGeom prst="rect">
            <a:avLst/>
          </a:prstGeom>
          <a:noFill/>
        </p:spPr>
        <p:txBody>
          <a:bodyPr wrap="none" rtlCol="0">
            <a:spAutoFit/>
          </a:bodyPr>
          <a:lstStyle/>
          <a:p>
            <a:pPr algn="ctr"/>
            <a:r>
              <a:rPr lang="en-US" b="1" dirty="0"/>
              <a:t>MISS</a:t>
            </a:r>
          </a:p>
        </p:txBody>
      </p:sp>
      <p:sp>
        <p:nvSpPr>
          <p:cNvPr id="20" name="TextBox 19">
            <a:extLst>
              <a:ext uri="{FF2B5EF4-FFF2-40B4-BE49-F238E27FC236}">
                <a16:creationId xmlns:a16="http://schemas.microsoft.com/office/drawing/2014/main" id="{AC343381-1902-3BF3-F1DF-69C4B2BEEF60}"/>
              </a:ext>
            </a:extLst>
          </p:cNvPr>
          <p:cNvSpPr txBox="1"/>
          <p:nvPr/>
        </p:nvSpPr>
        <p:spPr>
          <a:xfrm>
            <a:off x="7138393" y="5725106"/>
            <a:ext cx="556564" cy="369332"/>
          </a:xfrm>
          <a:prstGeom prst="rect">
            <a:avLst/>
          </a:prstGeom>
          <a:noFill/>
        </p:spPr>
        <p:txBody>
          <a:bodyPr wrap="none" rtlCol="0">
            <a:spAutoFit/>
          </a:bodyPr>
          <a:lstStyle/>
          <a:p>
            <a:pPr algn="ctr"/>
            <a:r>
              <a:rPr lang="en-US" b="1" dirty="0"/>
              <a:t>HIT</a:t>
            </a:r>
          </a:p>
        </p:txBody>
      </p:sp>
    </p:spTree>
    <p:custDataLst>
      <p:tags r:id="rId1"/>
    </p:custDataLst>
    <p:extLst>
      <p:ext uri="{BB962C8B-B14F-4D97-AF65-F5344CB8AC3E}">
        <p14:creationId xmlns:p14="http://schemas.microsoft.com/office/powerpoint/2010/main" val="90574762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22486">
        <p159:morph option="byObject"/>
      </p:transition>
    </mc:Choice>
    <mc:Fallback xmlns="">
      <p:transition spd="slow" advTm="22486">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barn(inVertical)">
                                      <p:cBhvr>
                                        <p:cTn id="7" dur="500"/>
                                        <p:tgtEl>
                                          <p:spTgt spid="60"/>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down)">
                                      <p:cBhvr>
                                        <p:cTn id="10" dur="500"/>
                                        <p:tgtEl>
                                          <p:spTgt spid="8"/>
                                        </p:tgtEl>
                                      </p:cBhvr>
                                    </p:animEffect>
                                  </p:childTnLst>
                                </p:cTn>
                              </p:par>
                            </p:childTnLst>
                          </p:cTn>
                        </p:par>
                        <p:par>
                          <p:cTn id="11" fill="hold">
                            <p:stCondLst>
                              <p:cond delay="500"/>
                            </p:stCondLst>
                            <p:childTnLst>
                              <p:par>
                                <p:cTn id="12" presetID="22" presetClass="entr" presetSubtype="8" fill="hold" nodeType="afterEffect">
                                  <p:stCondLst>
                                    <p:cond delay="0"/>
                                  </p:stCondLst>
                                  <p:childTnLst>
                                    <p:set>
                                      <p:cBhvr>
                                        <p:cTn id="13" dur="1" fill="hold">
                                          <p:stCondLst>
                                            <p:cond delay="0"/>
                                          </p:stCondLst>
                                        </p:cTn>
                                        <p:tgtEl>
                                          <p:spTgt spid="34"/>
                                        </p:tgtEl>
                                        <p:attrNameLst>
                                          <p:attrName>style.visibility</p:attrName>
                                        </p:attrNameLst>
                                      </p:cBhvr>
                                      <p:to>
                                        <p:strVal val="visible"/>
                                      </p:to>
                                    </p:set>
                                    <p:animEffect transition="in" filter="wipe(left)">
                                      <p:cBhvr>
                                        <p:cTn id="14" dur="500"/>
                                        <p:tgtEl>
                                          <p:spTgt spid="34"/>
                                        </p:tgtEl>
                                      </p:cBhvr>
                                    </p:animEffect>
                                  </p:childTnLst>
                                </p:cTn>
                              </p:par>
                            </p:childTnLst>
                          </p:cTn>
                        </p:par>
                        <p:par>
                          <p:cTn id="15" fill="hold">
                            <p:stCondLst>
                              <p:cond delay="1000"/>
                            </p:stCondLst>
                            <p:childTnLst>
                              <p:par>
                                <p:cTn id="16" presetID="16" presetClass="entr" presetSubtype="37" fill="hold" nodeType="afterEffect">
                                  <p:stCondLst>
                                    <p:cond delay="0"/>
                                  </p:stCondLst>
                                  <p:childTnLst>
                                    <p:set>
                                      <p:cBhvr>
                                        <p:cTn id="17" dur="1" fill="hold">
                                          <p:stCondLst>
                                            <p:cond delay="0"/>
                                          </p:stCondLst>
                                        </p:cTn>
                                        <p:tgtEl>
                                          <p:spTgt spid="76"/>
                                        </p:tgtEl>
                                        <p:attrNameLst>
                                          <p:attrName>style.visibility</p:attrName>
                                        </p:attrNameLst>
                                      </p:cBhvr>
                                      <p:to>
                                        <p:strVal val="visible"/>
                                      </p:to>
                                    </p:set>
                                    <p:animEffect transition="in" filter="barn(outVertical)">
                                      <p:cBhvr>
                                        <p:cTn id="18" dur="500"/>
                                        <p:tgtEl>
                                          <p:spTgt spid="76"/>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par>
                          <p:cTn id="22" fill="hold">
                            <p:stCondLst>
                              <p:cond delay="1500"/>
                            </p:stCondLst>
                            <p:childTnLst>
                              <p:par>
                                <p:cTn id="23" presetID="22" presetClass="entr" presetSubtype="8" fill="hold" nodeType="afterEffect">
                                  <p:stCondLst>
                                    <p:cond delay="0"/>
                                  </p:stCondLst>
                                  <p:childTnLst>
                                    <p:set>
                                      <p:cBhvr>
                                        <p:cTn id="24" dur="1" fill="hold">
                                          <p:stCondLst>
                                            <p:cond delay="0"/>
                                          </p:stCondLst>
                                        </p:cTn>
                                        <p:tgtEl>
                                          <p:spTgt spid="87"/>
                                        </p:tgtEl>
                                        <p:attrNameLst>
                                          <p:attrName>style.visibility</p:attrName>
                                        </p:attrNameLst>
                                      </p:cBhvr>
                                      <p:to>
                                        <p:strVal val="visible"/>
                                      </p:to>
                                    </p:set>
                                    <p:animEffect transition="in" filter="wipe(left)">
                                      <p:cBhvr>
                                        <p:cTn id="25" dur="500"/>
                                        <p:tgtEl>
                                          <p:spTgt spid="87"/>
                                        </p:tgtEl>
                                      </p:cBhvr>
                                    </p:animEffect>
                                  </p:childTnLst>
                                </p:cTn>
                              </p:par>
                            </p:childTnLst>
                          </p:cTn>
                        </p:par>
                        <p:par>
                          <p:cTn id="26" fill="hold">
                            <p:stCondLst>
                              <p:cond delay="2000"/>
                            </p:stCondLst>
                            <p:childTnLst>
                              <p:par>
                                <p:cTn id="27" presetID="16" presetClass="entr" presetSubtype="37" fill="hold" nodeType="afterEffect">
                                  <p:stCondLst>
                                    <p:cond delay="0"/>
                                  </p:stCondLst>
                                  <p:childTnLst>
                                    <p:set>
                                      <p:cBhvr>
                                        <p:cTn id="28" dur="1" fill="hold">
                                          <p:stCondLst>
                                            <p:cond delay="0"/>
                                          </p:stCondLst>
                                        </p:cTn>
                                        <p:tgtEl>
                                          <p:spTgt spid="75"/>
                                        </p:tgtEl>
                                        <p:attrNameLst>
                                          <p:attrName>style.visibility</p:attrName>
                                        </p:attrNameLst>
                                      </p:cBhvr>
                                      <p:to>
                                        <p:strVal val="visible"/>
                                      </p:to>
                                    </p:set>
                                    <p:animEffect transition="in" filter="barn(outVertical)">
                                      <p:cBhvr>
                                        <p:cTn id="29" dur="500"/>
                                        <p:tgtEl>
                                          <p:spTgt spid="75"/>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par>
                          <p:cTn id="33" fill="hold">
                            <p:stCondLst>
                              <p:cond delay="2500"/>
                            </p:stCondLst>
                            <p:childTnLst>
                              <p:par>
                                <p:cTn id="34" presetID="22" presetClass="entr" presetSubtype="1" fill="hold" nodeType="afterEffect">
                                  <p:stCondLst>
                                    <p:cond delay="0"/>
                                  </p:stCondLst>
                                  <p:childTnLst>
                                    <p:set>
                                      <p:cBhvr>
                                        <p:cTn id="35" dur="1" fill="hold">
                                          <p:stCondLst>
                                            <p:cond delay="0"/>
                                          </p:stCondLst>
                                        </p:cTn>
                                        <p:tgtEl>
                                          <p:spTgt spid="89"/>
                                        </p:tgtEl>
                                        <p:attrNameLst>
                                          <p:attrName>style.visibility</p:attrName>
                                        </p:attrNameLst>
                                      </p:cBhvr>
                                      <p:to>
                                        <p:strVal val="visible"/>
                                      </p:to>
                                    </p:set>
                                    <p:animEffect transition="in" filter="wipe(up)">
                                      <p:cBhvr>
                                        <p:cTn id="36" dur="500"/>
                                        <p:tgtEl>
                                          <p:spTgt spid="89"/>
                                        </p:tgtEl>
                                      </p:cBhvr>
                                    </p:animEffect>
                                  </p:childTnLst>
                                </p:cTn>
                              </p:par>
                            </p:childTnLst>
                          </p:cTn>
                        </p:par>
                        <p:par>
                          <p:cTn id="37" fill="hold">
                            <p:stCondLst>
                              <p:cond delay="3000"/>
                            </p:stCondLst>
                            <p:childTnLst>
                              <p:par>
                                <p:cTn id="38" presetID="16" presetClass="entr" presetSubtype="37" fill="hold" nodeType="afterEffect">
                                  <p:stCondLst>
                                    <p:cond delay="0"/>
                                  </p:stCondLst>
                                  <p:childTnLst>
                                    <p:set>
                                      <p:cBhvr>
                                        <p:cTn id="39" dur="1" fill="hold">
                                          <p:stCondLst>
                                            <p:cond delay="0"/>
                                          </p:stCondLst>
                                        </p:cTn>
                                        <p:tgtEl>
                                          <p:spTgt spid="77"/>
                                        </p:tgtEl>
                                        <p:attrNameLst>
                                          <p:attrName>style.visibility</p:attrName>
                                        </p:attrNameLst>
                                      </p:cBhvr>
                                      <p:to>
                                        <p:strVal val="visible"/>
                                      </p:to>
                                    </p:set>
                                    <p:animEffect transition="in" filter="barn(outVertical)">
                                      <p:cBhvr>
                                        <p:cTn id="40" dur="500"/>
                                        <p:tgtEl>
                                          <p:spTgt spid="77"/>
                                        </p:tgtEl>
                                      </p:cBhvr>
                                    </p:animEffect>
                                  </p:childTnLst>
                                </p:cTn>
                              </p:par>
                              <p:par>
                                <p:cTn id="41" presetID="22" presetClass="entr" presetSubtype="1" fill="hold" grpId="0" nodeType="with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up)">
                                      <p:cBhvr>
                                        <p:cTn id="43" dur="500"/>
                                        <p:tgtEl>
                                          <p:spTgt spid="11"/>
                                        </p:tgtEl>
                                      </p:cBhvr>
                                    </p:animEffect>
                                  </p:childTnLst>
                                </p:cTn>
                              </p:par>
                            </p:childTnLst>
                          </p:cTn>
                        </p:par>
                        <p:par>
                          <p:cTn id="44" fill="hold">
                            <p:stCondLst>
                              <p:cond delay="3500"/>
                            </p:stCondLst>
                            <p:childTnLst>
                              <p:par>
                                <p:cTn id="45" presetID="22" presetClass="entr" presetSubtype="2" fill="hold" nodeType="afterEffect">
                                  <p:stCondLst>
                                    <p:cond delay="0"/>
                                  </p:stCondLst>
                                  <p:childTnLst>
                                    <p:set>
                                      <p:cBhvr>
                                        <p:cTn id="46" dur="1" fill="hold">
                                          <p:stCondLst>
                                            <p:cond delay="0"/>
                                          </p:stCondLst>
                                        </p:cTn>
                                        <p:tgtEl>
                                          <p:spTgt spid="45"/>
                                        </p:tgtEl>
                                        <p:attrNameLst>
                                          <p:attrName>style.visibility</p:attrName>
                                        </p:attrNameLst>
                                      </p:cBhvr>
                                      <p:to>
                                        <p:strVal val="visible"/>
                                      </p:to>
                                    </p:set>
                                    <p:animEffect transition="in" filter="wipe(right)">
                                      <p:cBhvr>
                                        <p:cTn id="47" dur="500"/>
                                        <p:tgtEl>
                                          <p:spTgt spid="45"/>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wipe(left)">
                                      <p:cBhvr>
                                        <p:cTn id="50" dur="500"/>
                                        <p:tgtEl>
                                          <p:spTgt spid="20"/>
                                        </p:tgtEl>
                                      </p:cBhvr>
                                    </p:animEffect>
                                  </p:childTnLst>
                                </p:cTn>
                              </p:par>
                            </p:childTnLst>
                          </p:cTn>
                        </p:par>
                        <p:par>
                          <p:cTn id="51" fill="hold">
                            <p:stCondLst>
                              <p:cond delay="4000"/>
                            </p:stCondLst>
                            <p:childTnLst>
                              <p:par>
                                <p:cTn id="52" presetID="16" presetClass="entr" presetSubtype="37" fill="hold" nodeType="afterEffect">
                                  <p:stCondLst>
                                    <p:cond delay="0"/>
                                  </p:stCondLst>
                                  <p:childTnLst>
                                    <p:set>
                                      <p:cBhvr>
                                        <p:cTn id="53" dur="1" fill="hold">
                                          <p:stCondLst>
                                            <p:cond delay="0"/>
                                          </p:stCondLst>
                                        </p:cTn>
                                        <p:tgtEl>
                                          <p:spTgt spid="68"/>
                                        </p:tgtEl>
                                        <p:attrNameLst>
                                          <p:attrName>style.visibility</p:attrName>
                                        </p:attrNameLst>
                                      </p:cBhvr>
                                      <p:to>
                                        <p:strVal val="visible"/>
                                      </p:to>
                                    </p:set>
                                    <p:animEffect transition="in" filter="barn(outVertical)">
                                      <p:cBhvr>
                                        <p:cTn id="54" dur="500"/>
                                        <p:tgtEl>
                                          <p:spTgt spid="68"/>
                                        </p:tgtEl>
                                      </p:cBhvr>
                                    </p:animEffect>
                                  </p:childTnLst>
                                </p:cTn>
                              </p:par>
                              <p:par>
                                <p:cTn id="55" presetID="16" presetClass="entr" presetSubtype="37" fill="hold" grpId="0"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barn(outVertical)">
                                      <p:cBhvr>
                                        <p:cTn id="57" dur="500"/>
                                        <p:tgtEl>
                                          <p:spTgt spid="18"/>
                                        </p:tgtEl>
                                      </p:cBhvr>
                                    </p:animEffect>
                                  </p:childTnLst>
                                </p:cTn>
                              </p:par>
                            </p:childTnLst>
                          </p:cTn>
                        </p:par>
                        <p:par>
                          <p:cTn id="58" fill="hold">
                            <p:stCondLst>
                              <p:cond delay="4500"/>
                            </p:stCondLst>
                            <p:childTnLst>
                              <p:par>
                                <p:cTn id="59" presetID="16" presetClass="entr" presetSubtype="37" fill="hold" nodeType="afterEffect">
                                  <p:stCondLst>
                                    <p:cond delay="0"/>
                                  </p:stCondLst>
                                  <p:childTnLst>
                                    <p:set>
                                      <p:cBhvr>
                                        <p:cTn id="60" dur="1" fill="hold">
                                          <p:stCondLst>
                                            <p:cond delay="0"/>
                                          </p:stCondLst>
                                        </p:cTn>
                                        <p:tgtEl>
                                          <p:spTgt spid="78"/>
                                        </p:tgtEl>
                                        <p:attrNameLst>
                                          <p:attrName>style.visibility</p:attrName>
                                        </p:attrNameLst>
                                      </p:cBhvr>
                                      <p:to>
                                        <p:strVal val="visible"/>
                                      </p:to>
                                    </p:set>
                                    <p:animEffect transition="in" filter="barn(outVertical)">
                                      <p:cBhvr>
                                        <p:cTn id="61" dur="500"/>
                                        <p:tgtEl>
                                          <p:spTgt spid="78"/>
                                        </p:tgtEl>
                                      </p:cBhvr>
                                    </p:animEffect>
                                  </p:childTnLst>
                                </p:cTn>
                              </p:par>
                              <p:par>
                                <p:cTn id="62" presetID="16" presetClass="entr" presetSubtype="37" fill="hold" grpId="0" nodeType="with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barn(outVertical)">
                                      <p:cBhvr>
                                        <p:cTn id="6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P spid="11" grpId="0"/>
      <p:bldP spid="18"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DC94EB-9415-658D-2A02-07F168C12FAA}"/>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400" b="1" dirty="0"/>
              <a:t>Algorithmes de Génération</a:t>
            </a:r>
            <a:endParaRPr lang="en-US" sz="4400" b="1" dirty="0"/>
          </a:p>
        </p:txBody>
      </p:sp>
      <p:sp>
        <p:nvSpPr>
          <p:cNvPr id="10" name="Hexagon 9">
            <a:extLst>
              <a:ext uri="{FF2B5EF4-FFF2-40B4-BE49-F238E27FC236}">
                <a16:creationId xmlns:a16="http://schemas.microsoft.com/office/drawing/2014/main" id="{CDDDA163-8E1D-1061-A442-31C57DC6BE6E}"/>
              </a:ext>
            </a:extLst>
          </p:cNvPr>
          <p:cNvSpPr/>
          <p:nvPr/>
        </p:nvSpPr>
        <p:spPr>
          <a:xfrm rot="1828882">
            <a:off x="212002" y="178377"/>
            <a:ext cx="914400" cy="822960"/>
          </a:xfrm>
          <a:prstGeom prst="hexagon">
            <a:avLst>
              <a:gd name="adj" fmla="val 27586"/>
              <a:gd name="vf" fmla="val 11547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24E0655-DDAE-D434-29F0-B86554774770}"/>
              </a:ext>
            </a:extLst>
          </p:cNvPr>
          <p:cNvSpPr txBox="1"/>
          <p:nvPr/>
        </p:nvSpPr>
        <p:spPr>
          <a:xfrm>
            <a:off x="376493" y="322590"/>
            <a:ext cx="585417" cy="523220"/>
          </a:xfrm>
          <a:prstGeom prst="rect">
            <a:avLst/>
          </a:prstGeom>
          <a:noFill/>
        </p:spPr>
        <p:txBody>
          <a:bodyPr wrap="none" rtlCol="0">
            <a:spAutoFit/>
          </a:bodyPr>
          <a:lstStyle/>
          <a:p>
            <a:r>
              <a:rPr lang="en-US" sz="2800" b="1" dirty="0">
                <a:solidFill>
                  <a:schemeClr val="bg1"/>
                </a:solidFill>
              </a:rPr>
              <a:t>08</a:t>
            </a:r>
          </a:p>
        </p:txBody>
      </p:sp>
      <p:sp>
        <p:nvSpPr>
          <p:cNvPr id="2" name="Hexagon 1">
            <a:extLst>
              <a:ext uri="{FF2B5EF4-FFF2-40B4-BE49-F238E27FC236}">
                <a16:creationId xmlns:a16="http://schemas.microsoft.com/office/drawing/2014/main" id="{D4CCBAAF-0885-9016-88E9-59D2ECE24DCA}"/>
              </a:ext>
            </a:extLst>
          </p:cNvPr>
          <p:cNvSpPr/>
          <p:nvPr/>
        </p:nvSpPr>
        <p:spPr>
          <a:xfrm>
            <a:off x="66462" y="1379727"/>
            <a:ext cx="2926080" cy="448995"/>
          </a:xfrm>
          <a:prstGeom prst="hexag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bg1"/>
                </a:solidFill>
              </a:rPr>
              <a:t>Approfondissement</a:t>
            </a:r>
            <a:endParaRPr lang="en-US" b="1" dirty="0">
              <a:solidFill>
                <a:schemeClr val="bg1"/>
              </a:solidFill>
            </a:endParaRPr>
          </a:p>
        </p:txBody>
      </p:sp>
      <p:sp>
        <p:nvSpPr>
          <p:cNvPr id="3" name="Hexagon 2">
            <a:extLst>
              <a:ext uri="{FF2B5EF4-FFF2-40B4-BE49-F238E27FC236}">
                <a16:creationId xmlns:a16="http://schemas.microsoft.com/office/drawing/2014/main" id="{767562F6-EC00-2BDD-98B3-DD26ADD07C0B}"/>
              </a:ext>
            </a:extLst>
          </p:cNvPr>
          <p:cNvSpPr/>
          <p:nvPr/>
        </p:nvSpPr>
        <p:spPr>
          <a:xfrm>
            <a:off x="3864897" y="1645100"/>
            <a:ext cx="4462207" cy="599850"/>
          </a:xfrm>
          <a:prstGeom prst="hexagon">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tx1"/>
                </a:solidFill>
              </a:rPr>
              <a:t>Éviter</a:t>
            </a:r>
            <a:r>
              <a:rPr lang="en-US" b="1" dirty="0">
                <a:solidFill>
                  <a:schemeClr val="tx1"/>
                </a:solidFill>
              </a:rPr>
              <a:t> les Collisions</a:t>
            </a:r>
          </a:p>
        </p:txBody>
      </p:sp>
      <p:grpSp>
        <p:nvGrpSpPr>
          <p:cNvPr id="15" name="Group 14">
            <a:extLst>
              <a:ext uri="{FF2B5EF4-FFF2-40B4-BE49-F238E27FC236}">
                <a16:creationId xmlns:a16="http://schemas.microsoft.com/office/drawing/2014/main" id="{D43D4286-88A8-02D6-333C-B32B45A328FA}"/>
              </a:ext>
            </a:extLst>
          </p:cNvPr>
          <p:cNvGrpSpPr/>
          <p:nvPr/>
        </p:nvGrpSpPr>
        <p:grpSpPr>
          <a:xfrm>
            <a:off x="8473999" y="2674776"/>
            <a:ext cx="3195696" cy="646332"/>
            <a:chOff x="8328186" y="2458876"/>
            <a:chExt cx="3195696" cy="646332"/>
          </a:xfrm>
        </p:grpSpPr>
        <p:sp>
          <p:nvSpPr>
            <p:cNvPr id="5" name="Hexagon 4">
              <a:extLst>
                <a:ext uri="{FF2B5EF4-FFF2-40B4-BE49-F238E27FC236}">
                  <a16:creationId xmlns:a16="http://schemas.microsoft.com/office/drawing/2014/main" id="{63CCD430-780B-6C78-0FF0-2E99F9A86430}"/>
                </a:ext>
              </a:extLst>
            </p:cNvPr>
            <p:cNvSpPr/>
            <p:nvPr/>
          </p:nvSpPr>
          <p:spPr>
            <a:xfrm rot="5400000">
              <a:off x="9602868" y="1184194"/>
              <a:ext cx="646332" cy="3195696"/>
            </a:xfrm>
            <a:prstGeom prst="hexagon">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1" name="TextBox 10">
              <a:extLst>
                <a:ext uri="{FF2B5EF4-FFF2-40B4-BE49-F238E27FC236}">
                  <a16:creationId xmlns:a16="http://schemas.microsoft.com/office/drawing/2014/main" id="{2764C16B-C008-5CF7-0C12-0CC1DAE95F9F}"/>
                </a:ext>
              </a:extLst>
            </p:cNvPr>
            <p:cNvSpPr txBox="1"/>
            <p:nvPr/>
          </p:nvSpPr>
          <p:spPr>
            <a:xfrm>
              <a:off x="8718011" y="2597376"/>
              <a:ext cx="2416046" cy="369332"/>
            </a:xfrm>
            <a:prstGeom prst="rect">
              <a:avLst/>
            </a:prstGeom>
            <a:noFill/>
          </p:spPr>
          <p:txBody>
            <a:bodyPr wrap="none" rtlCol="0">
              <a:spAutoFit/>
            </a:bodyPr>
            <a:lstStyle/>
            <a:p>
              <a:pPr algn="ctr"/>
              <a:r>
                <a:rPr lang="en-US" b="1" dirty="0" err="1"/>
                <a:t>Génération</a:t>
              </a:r>
              <a:r>
                <a:rPr lang="en-US" b="1" dirty="0"/>
                <a:t> </a:t>
              </a:r>
              <a:r>
                <a:rPr lang="en-US" b="1" dirty="0" err="1"/>
                <a:t>aléatoire</a:t>
              </a:r>
              <a:endParaRPr lang="en-US" b="1" dirty="0"/>
            </a:p>
          </p:txBody>
        </p:sp>
      </p:grpSp>
      <p:grpSp>
        <p:nvGrpSpPr>
          <p:cNvPr id="16" name="Group 15">
            <a:extLst>
              <a:ext uri="{FF2B5EF4-FFF2-40B4-BE49-F238E27FC236}">
                <a16:creationId xmlns:a16="http://schemas.microsoft.com/office/drawing/2014/main" id="{6A047398-418E-A065-B70C-7D32E8E1D053}"/>
              </a:ext>
            </a:extLst>
          </p:cNvPr>
          <p:cNvGrpSpPr/>
          <p:nvPr/>
        </p:nvGrpSpPr>
        <p:grpSpPr>
          <a:xfrm>
            <a:off x="4498153" y="2674776"/>
            <a:ext cx="3195696" cy="646332"/>
            <a:chOff x="8328186" y="2458876"/>
            <a:chExt cx="3195696" cy="646332"/>
          </a:xfrm>
        </p:grpSpPr>
        <p:sp>
          <p:nvSpPr>
            <p:cNvPr id="17" name="Hexagon 16">
              <a:extLst>
                <a:ext uri="{FF2B5EF4-FFF2-40B4-BE49-F238E27FC236}">
                  <a16:creationId xmlns:a16="http://schemas.microsoft.com/office/drawing/2014/main" id="{97B52D97-5B15-C030-0919-BFAD9E4D9774}"/>
                </a:ext>
              </a:extLst>
            </p:cNvPr>
            <p:cNvSpPr/>
            <p:nvPr/>
          </p:nvSpPr>
          <p:spPr>
            <a:xfrm rot="5400000">
              <a:off x="9602868" y="1184194"/>
              <a:ext cx="646332" cy="3195696"/>
            </a:xfrm>
            <a:prstGeom prst="hexagon">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8" name="TextBox 17">
              <a:extLst>
                <a:ext uri="{FF2B5EF4-FFF2-40B4-BE49-F238E27FC236}">
                  <a16:creationId xmlns:a16="http://schemas.microsoft.com/office/drawing/2014/main" id="{ABBD7C18-2182-DF9E-E160-C555CDF3B678}"/>
                </a:ext>
              </a:extLst>
            </p:cNvPr>
            <p:cNvSpPr txBox="1"/>
            <p:nvPr/>
          </p:nvSpPr>
          <p:spPr>
            <a:xfrm>
              <a:off x="8685951" y="2597376"/>
              <a:ext cx="2480166" cy="369332"/>
            </a:xfrm>
            <a:prstGeom prst="rect">
              <a:avLst/>
            </a:prstGeom>
            <a:noFill/>
          </p:spPr>
          <p:txBody>
            <a:bodyPr wrap="none" rtlCol="0">
              <a:spAutoFit/>
            </a:bodyPr>
            <a:lstStyle/>
            <a:p>
              <a:pPr algn="ctr"/>
              <a:r>
                <a:rPr lang="en-US" b="1" dirty="0" err="1"/>
                <a:t>Compteur</a:t>
              </a:r>
              <a:r>
                <a:rPr lang="en-US" b="1" dirty="0"/>
                <a:t> </a:t>
              </a:r>
              <a:r>
                <a:rPr lang="en-US" b="1" dirty="0" err="1"/>
                <a:t>séquentiel</a:t>
              </a:r>
              <a:endParaRPr lang="en-US" b="1" dirty="0"/>
            </a:p>
          </p:txBody>
        </p:sp>
      </p:grpSp>
      <p:grpSp>
        <p:nvGrpSpPr>
          <p:cNvPr id="20" name="Group 19">
            <a:extLst>
              <a:ext uri="{FF2B5EF4-FFF2-40B4-BE49-F238E27FC236}">
                <a16:creationId xmlns:a16="http://schemas.microsoft.com/office/drawing/2014/main" id="{6503784E-BCBD-CA77-B48A-AE3DE42E94F0}"/>
              </a:ext>
            </a:extLst>
          </p:cNvPr>
          <p:cNvGrpSpPr/>
          <p:nvPr/>
        </p:nvGrpSpPr>
        <p:grpSpPr>
          <a:xfrm>
            <a:off x="522306" y="2674776"/>
            <a:ext cx="3195696" cy="646332"/>
            <a:chOff x="8328186" y="2458876"/>
            <a:chExt cx="3195696" cy="646332"/>
          </a:xfrm>
        </p:grpSpPr>
        <p:sp>
          <p:nvSpPr>
            <p:cNvPr id="23" name="Hexagon 22">
              <a:extLst>
                <a:ext uri="{FF2B5EF4-FFF2-40B4-BE49-F238E27FC236}">
                  <a16:creationId xmlns:a16="http://schemas.microsoft.com/office/drawing/2014/main" id="{15A53345-5D03-AAA0-6A13-CD1A0D217449}"/>
                </a:ext>
              </a:extLst>
            </p:cNvPr>
            <p:cNvSpPr/>
            <p:nvPr/>
          </p:nvSpPr>
          <p:spPr>
            <a:xfrm rot="5400000">
              <a:off x="9602868" y="1184194"/>
              <a:ext cx="646332" cy="3195696"/>
            </a:xfrm>
            <a:prstGeom prst="hexagon">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31" name="TextBox 30">
              <a:extLst>
                <a:ext uri="{FF2B5EF4-FFF2-40B4-BE49-F238E27FC236}">
                  <a16:creationId xmlns:a16="http://schemas.microsoft.com/office/drawing/2014/main" id="{11E8B74C-1414-9BE8-20C0-E3D7858732EB}"/>
                </a:ext>
              </a:extLst>
            </p:cNvPr>
            <p:cNvSpPr txBox="1"/>
            <p:nvPr/>
          </p:nvSpPr>
          <p:spPr>
            <a:xfrm>
              <a:off x="8857472" y="2597376"/>
              <a:ext cx="2137125" cy="369332"/>
            </a:xfrm>
            <a:prstGeom prst="rect">
              <a:avLst/>
            </a:prstGeom>
            <a:noFill/>
          </p:spPr>
          <p:txBody>
            <a:bodyPr wrap="none" rtlCol="0">
              <a:spAutoFit/>
            </a:bodyPr>
            <a:lstStyle/>
            <a:p>
              <a:pPr algn="ctr"/>
              <a:r>
                <a:rPr lang="en-US" b="1" dirty="0" err="1"/>
                <a:t>Hachage</a:t>
              </a:r>
              <a:r>
                <a:rPr lang="en-US" b="1" dirty="0"/>
                <a:t> de </a:t>
              </a:r>
              <a:r>
                <a:rPr lang="en-US" b="1" dirty="0" err="1"/>
                <a:t>l'URL</a:t>
              </a:r>
              <a:endParaRPr lang="en-US" b="1" dirty="0"/>
            </a:p>
          </p:txBody>
        </p:sp>
      </p:grpSp>
      <p:cxnSp>
        <p:nvCxnSpPr>
          <p:cNvPr id="41" name="Connector: Elbow 40">
            <a:extLst>
              <a:ext uri="{FF2B5EF4-FFF2-40B4-BE49-F238E27FC236}">
                <a16:creationId xmlns:a16="http://schemas.microsoft.com/office/drawing/2014/main" id="{96669388-A00F-B016-8C4B-483E99A9FBA7}"/>
              </a:ext>
            </a:extLst>
          </p:cNvPr>
          <p:cNvCxnSpPr>
            <a:stCxn id="3" idx="3"/>
            <a:endCxn id="23" idx="3"/>
          </p:cNvCxnSpPr>
          <p:nvPr/>
        </p:nvCxnSpPr>
        <p:spPr>
          <a:xfrm rot="10800000" flipV="1">
            <a:off x="2120155" y="1945024"/>
            <a:ext cx="1744743" cy="729751"/>
          </a:xfrm>
          <a:prstGeom prst="bentConnector4">
            <a:avLst>
              <a:gd name="adj1" fmla="val 98242"/>
              <a:gd name="adj2" fmla="val 802"/>
            </a:avLst>
          </a:prstGeom>
          <a:ln w="38100">
            <a:tailEnd type="triangle"/>
          </a:ln>
        </p:spPr>
        <p:style>
          <a:lnRef idx="3">
            <a:schemeClr val="dk1"/>
          </a:lnRef>
          <a:fillRef idx="0">
            <a:schemeClr val="dk1"/>
          </a:fillRef>
          <a:effectRef idx="2">
            <a:schemeClr val="dk1"/>
          </a:effectRef>
          <a:fontRef idx="minor">
            <a:schemeClr val="tx1"/>
          </a:fontRef>
        </p:style>
      </p:cxnSp>
      <p:cxnSp>
        <p:nvCxnSpPr>
          <p:cNvPr id="45" name="Connector: Elbow 44">
            <a:extLst>
              <a:ext uri="{FF2B5EF4-FFF2-40B4-BE49-F238E27FC236}">
                <a16:creationId xmlns:a16="http://schemas.microsoft.com/office/drawing/2014/main" id="{93D02988-A58B-358E-D698-69A600F80760}"/>
              </a:ext>
            </a:extLst>
          </p:cNvPr>
          <p:cNvCxnSpPr>
            <a:cxnSpLocks/>
            <a:stCxn id="3" idx="0"/>
            <a:endCxn id="5" idx="3"/>
          </p:cNvCxnSpPr>
          <p:nvPr/>
        </p:nvCxnSpPr>
        <p:spPr>
          <a:xfrm>
            <a:off x="8327104" y="1945025"/>
            <a:ext cx="1744743" cy="729751"/>
          </a:xfrm>
          <a:prstGeom prst="bentConnector4">
            <a:avLst>
              <a:gd name="adj1" fmla="val 40739"/>
              <a:gd name="adj2" fmla="val 160"/>
            </a:avLst>
          </a:prstGeom>
          <a:ln w="38100">
            <a:tailEnd type="triangle"/>
          </a:ln>
        </p:spPr>
        <p:style>
          <a:lnRef idx="3">
            <a:schemeClr val="dk1"/>
          </a:lnRef>
          <a:fillRef idx="0">
            <a:schemeClr val="dk1"/>
          </a:fillRef>
          <a:effectRef idx="2">
            <a:schemeClr val="dk1"/>
          </a:effectRef>
          <a:fontRef idx="minor">
            <a:schemeClr val="tx1"/>
          </a:fontRef>
        </p:style>
      </p:cxnSp>
      <p:cxnSp>
        <p:nvCxnSpPr>
          <p:cNvPr id="51" name="Straight Arrow Connector 50">
            <a:extLst>
              <a:ext uri="{FF2B5EF4-FFF2-40B4-BE49-F238E27FC236}">
                <a16:creationId xmlns:a16="http://schemas.microsoft.com/office/drawing/2014/main" id="{46E15DB9-88A3-182E-A710-74E1175923AD}"/>
              </a:ext>
            </a:extLst>
          </p:cNvPr>
          <p:cNvCxnSpPr>
            <a:cxnSpLocks/>
            <a:endCxn id="17" idx="3"/>
          </p:cNvCxnSpPr>
          <p:nvPr/>
        </p:nvCxnSpPr>
        <p:spPr>
          <a:xfrm>
            <a:off x="6096001" y="2244950"/>
            <a:ext cx="0" cy="429826"/>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
        <p:nvSpPr>
          <p:cNvPr id="53" name="TextBox 52">
            <a:extLst>
              <a:ext uri="{FF2B5EF4-FFF2-40B4-BE49-F238E27FC236}">
                <a16:creationId xmlns:a16="http://schemas.microsoft.com/office/drawing/2014/main" id="{251FE3E0-41AF-6DB0-A1AC-30988812FFD6}"/>
              </a:ext>
            </a:extLst>
          </p:cNvPr>
          <p:cNvSpPr txBox="1"/>
          <p:nvPr/>
        </p:nvSpPr>
        <p:spPr>
          <a:xfrm>
            <a:off x="295754" y="3697190"/>
            <a:ext cx="3648800" cy="2308324"/>
          </a:xfrm>
          <a:prstGeom prst="rect">
            <a:avLst/>
          </a:prstGeom>
          <a:noFill/>
          <a:ln w="38100">
            <a:solidFill>
              <a:schemeClr val="accent1"/>
            </a:solidFill>
          </a:ln>
        </p:spPr>
        <p:txBody>
          <a:bodyPr wrap="square">
            <a:spAutoFit/>
          </a:bodyPr>
          <a:lstStyle/>
          <a:p>
            <a:pPr marL="285750" indent="-285750">
              <a:buClr>
                <a:srgbClr val="02ECEC"/>
              </a:buClr>
              <a:buFont typeface="Wingdings" panose="05000000000000000000" pitchFamily="2" charset="2"/>
              <a:buChar char="Ø"/>
            </a:pPr>
            <a:r>
              <a:rPr lang="fr-FR" dirty="0"/>
              <a:t>Appliquer une fonction de hachage à l'URL longue</a:t>
            </a:r>
          </a:p>
          <a:p>
            <a:pPr marL="285750" indent="-285750">
              <a:buClr>
                <a:srgbClr val="02ECEC"/>
              </a:buClr>
              <a:buFont typeface="Wingdings" panose="05000000000000000000" pitchFamily="2" charset="2"/>
              <a:buChar char="Ø"/>
            </a:pPr>
            <a:endParaRPr lang="fr-FR" dirty="0"/>
          </a:p>
          <a:p>
            <a:pPr marL="285750" indent="-285750">
              <a:buClr>
                <a:srgbClr val="02ECEC"/>
              </a:buClr>
              <a:buFont typeface="Wingdings" panose="05000000000000000000" pitchFamily="2" charset="2"/>
              <a:buChar char="Ø"/>
            </a:pPr>
            <a:r>
              <a:rPr lang="fr-FR" dirty="0"/>
              <a:t>Prendre les 8 premiers caractères</a:t>
            </a:r>
          </a:p>
          <a:p>
            <a:pPr marL="285750" indent="-285750">
              <a:buClr>
                <a:srgbClr val="02ECEC"/>
              </a:buClr>
              <a:buFont typeface="Wingdings" panose="05000000000000000000" pitchFamily="2" charset="2"/>
              <a:buChar char="Ø"/>
            </a:pPr>
            <a:endParaRPr lang="fr-FR" dirty="0"/>
          </a:p>
          <a:p>
            <a:pPr marL="285750" indent="-285750">
              <a:buClr>
                <a:srgbClr val="02ECEC"/>
              </a:buClr>
              <a:buFont typeface="Wingdings" panose="05000000000000000000" pitchFamily="2" charset="2"/>
              <a:buChar char="Ø"/>
            </a:pPr>
            <a:r>
              <a:rPr lang="fr-FR" b="1" u="sng" dirty="0"/>
              <a:t>Problème</a:t>
            </a:r>
            <a:r>
              <a:rPr lang="fr-FR" dirty="0"/>
              <a:t> : Risque de collisions</a:t>
            </a:r>
          </a:p>
        </p:txBody>
      </p:sp>
      <p:sp>
        <p:nvSpPr>
          <p:cNvPr id="55" name="TextBox 54">
            <a:extLst>
              <a:ext uri="{FF2B5EF4-FFF2-40B4-BE49-F238E27FC236}">
                <a16:creationId xmlns:a16="http://schemas.microsoft.com/office/drawing/2014/main" id="{F188B2AF-335E-D43F-1F82-56D9D9C6CD1F}"/>
              </a:ext>
            </a:extLst>
          </p:cNvPr>
          <p:cNvSpPr txBox="1"/>
          <p:nvPr/>
        </p:nvSpPr>
        <p:spPr>
          <a:xfrm>
            <a:off x="4271600" y="3697190"/>
            <a:ext cx="3648800" cy="2308324"/>
          </a:xfrm>
          <a:prstGeom prst="rect">
            <a:avLst/>
          </a:prstGeom>
          <a:noFill/>
          <a:ln w="38100">
            <a:solidFill>
              <a:schemeClr val="accent1"/>
            </a:solidFill>
          </a:ln>
        </p:spPr>
        <p:txBody>
          <a:bodyPr wrap="square">
            <a:spAutoFit/>
          </a:bodyPr>
          <a:lstStyle/>
          <a:p>
            <a:pPr marL="285750" indent="-285750">
              <a:buClr>
                <a:srgbClr val="02ECEC"/>
              </a:buClr>
              <a:buFont typeface="Wingdings" panose="05000000000000000000" pitchFamily="2" charset="2"/>
              <a:buChar char="Ø"/>
            </a:pPr>
            <a:r>
              <a:rPr lang="fr-FR" dirty="0"/>
              <a:t>Incrémenter un compteur pour chaque nouvelle URL</a:t>
            </a:r>
          </a:p>
          <a:p>
            <a:pPr marL="285750" indent="-285750">
              <a:buClr>
                <a:srgbClr val="02ECEC"/>
              </a:buClr>
              <a:buFont typeface="Wingdings" panose="05000000000000000000" pitchFamily="2" charset="2"/>
              <a:buChar char="Ø"/>
            </a:pPr>
            <a:endParaRPr lang="fr-FR" dirty="0"/>
          </a:p>
          <a:p>
            <a:pPr marL="285750" indent="-285750">
              <a:buClr>
                <a:srgbClr val="02ECEC"/>
              </a:buClr>
              <a:buFont typeface="Wingdings" panose="05000000000000000000" pitchFamily="2" charset="2"/>
              <a:buChar char="Ø"/>
            </a:pPr>
            <a:r>
              <a:rPr lang="fr-FR" dirty="0"/>
              <a:t>Convertir en base 62 pour obtenir 8 caractères</a:t>
            </a:r>
          </a:p>
          <a:p>
            <a:pPr marL="285750" indent="-285750">
              <a:buClr>
                <a:srgbClr val="02ECEC"/>
              </a:buClr>
              <a:buFont typeface="Wingdings" panose="05000000000000000000" pitchFamily="2" charset="2"/>
              <a:buChar char="Ø"/>
            </a:pPr>
            <a:endParaRPr lang="fr-FR" dirty="0"/>
          </a:p>
          <a:p>
            <a:pPr marL="285750" indent="-285750">
              <a:buClr>
                <a:srgbClr val="02ECEC"/>
              </a:buClr>
              <a:buFont typeface="Wingdings" panose="05000000000000000000" pitchFamily="2" charset="2"/>
              <a:buChar char="Ø"/>
            </a:pPr>
            <a:r>
              <a:rPr lang="fr-FR" b="1" u="sng" dirty="0"/>
              <a:t>Problème</a:t>
            </a:r>
            <a:r>
              <a:rPr lang="fr-FR" dirty="0"/>
              <a:t> : Prévisible, révèle le volume</a:t>
            </a:r>
          </a:p>
        </p:txBody>
      </p:sp>
      <p:sp>
        <p:nvSpPr>
          <p:cNvPr id="56" name="TextBox 55">
            <a:extLst>
              <a:ext uri="{FF2B5EF4-FFF2-40B4-BE49-F238E27FC236}">
                <a16:creationId xmlns:a16="http://schemas.microsoft.com/office/drawing/2014/main" id="{95037957-7CF8-9C12-E5E5-42E4D510DC73}"/>
              </a:ext>
            </a:extLst>
          </p:cNvPr>
          <p:cNvSpPr txBox="1"/>
          <p:nvPr/>
        </p:nvSpPr>
        <p:spPr>
          <a:xfrm>
            <a:off x="8247447" y="3697190"/>
            <a:ext cx="3648800" cy="2308324"/>
          </a:xfrm>
          <a:prstGeom prst="rect">
            <a:avLst/>
          </a:prstGeom>
          <a:noFill/>
          <a:ln w="38100">
            <a:solidFill>
              <a:schemeClr val="accent1"/>
            </a:solidFill>
          </a:ln>
        </p:spPr>
        <p:txBody>
          <a:bodyPr wrap="square">
            <a:spAutoFit/>
          </a:bodyPr>
          <a:lstStyle/>
          <a:p>
            <a:pPr marL="285750" indent="-285750">
              <a:buClr>
                <a:srgbClr val="02ECEC"/>
              </a:buClr>
              <a:buFont typeface="Wingdings" panose="05000000000000000000" pitchFamily="2" charset="2"/>
              <a:buChar char="Ø"/>
            </a:pPr>
            <a:r>
              <a:rPr lang="fr-FR" dirty="0"/>
              <a:t>Générer 8 caractères aléatoires en base 62</a:t>
            </a:r>
          </a:p>
          <a:p>
            <a:pPr marL="285750" indent="-285750">
              <a:buClr>
                <a:srgbClr val="02ECEC"/>
              </a:buClr>
              <a:buFont typeface="Wingdings" panose="05000000000000000000" pitchFamily="2" charset="2"/>
              <a:buChar char="Ø"/>
            </a:pPr>
            <a:endParaRPr lang="fr-FR" dirty="0"/>
          </a:p>
          <a:p>
            <a:pPr marL="285750" indent="-285750">
              <a:buClr>
                <a:srgbClr val="02ECEC"/>
              </a:buClr>
              <a:buFont typeface="Wingdings" panose="05000000000000000000" pitchFamily="2" charset="2"/>
              <a:buChar char="Ø"/>
            </a:pPr>
            <a:r>
              <a:rPr lang="fr-FR" dirty="0"/>
              <a:t>Vérifier l'unicité dans la base de données</a:t>
            </a:r>
          </a:p>
          <a:p>
            <a:pPr marL="285750" indent="-285750">
              <a:buClr>
                <a:srgbClr val="02ECEC"/>
              </a:buClr>
              <a:buFont typeface="Wingdings" panose="05000000000000000000" pitchFamily="2" charset="2"/>
              <a:buChar char="Ø"/>
            </a:pPr>
            <a:endParaRPr lang="fr-FR" dirty="0"/>
          </a:p>
          <a:p>
            <a:pPr marL="285750" indent="-285750">
              <a:buClr>
                <a:srgbClr val="02ECEC"/>
              </a:buClr>
              <a:buFont typeface="Wingdings" panose="05000000000000000000" pitchFamily="2" charset="2"/>
              <a:buChar char="Ø"/>
            </a:pPr>
            <a:r>
              <a:rPr lang="fr-FR" b="1" u="sng" dirty="0"/>
              <a:t>Solution choisie </a:t>
            </a:r>
            <a:r>
              <a:rPr lang="fr-FR" dirty="0"/>
              <a:t>: Optimisée pour distribution</a:t>
            </a:r>
          </a:p>
        </p:txBody>
      </p:sp>
      <p:cxnSp>
        <p:nvCxnSpPr>
          <p:cNvPr id="58" name="Straight Arrow Connector 57">
            <a:extLst>
              <a:ext uri="{FF2B5EF4-FFF2-40B4-BE49-F238E27FC236}">
                <a16:creationId xmlns:a16="http://schemas.microsoft.com/office/drawing/2014/main" id="{AFA4DA50-1B82-55C5-5D99-1B357C082833}"/>
              </a:ext>
            </a:extLst>
          </p:cNvPr>
          <p:cNvCxnSpPr>
            <a:stCxn id="23" idx="0"/>
            <a:endCxn id="53" idx="0"/>
          </p:cNvCxnSpPr>
          <p:nvPr/>
        </p:nvCxnSpPr>
        <p:spPr>
          <a:xfrm>
            <a:off x="2120154" y="3321108"/>
            <a:ext cx="0" cy="376082"/>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59" name="Straight Arrow Connector 58">
            <a:extLst>
              <a:ext uri="{FF2B5EF4-FFF2-40B4-BE49-F238E27FC236}">
                <a16:creationId xmlns:a16="http://schemas.microsoft.com/office/drawing/2014/main" id="{94383CE9-D068-A61D-0306-C3E4CDD8D1C5}"/>
              </a:ext>
            </a:extLst>
          </p:cNvPr>
          <p:cNvCxnSpPr>
            <a:cxnSpLocks/>
            <a:stCxn id="17" idx="0"/>
            <a:endCxn id="55" idx="0"/>
          </p:cNvCxnSpPr>
          <p:nvPr/>
        </p:nvCxnSpPr>
        <p:spPr>
          <a:xfrm flipH="1">
            <a:off x="6096000" y="3321108"/>
            <a:ext cx="1" cy="376082"/>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cxnSp>
        <p:nvCxnSpPr>
          <p:cNvPr id="63" name="Straight Arrow Connector 62">
            <a:extLst>
              <a:ext uri="{FF2B5EF4-FFF2-40B4-BE49-F238E27FC236}">
                <a16:creationId xmlns:a16="http://schemas.microsoft.com/office/drawing/2014/main" id="{22F49813-C673-8307-0579-8153083C5D5B}"/>
              </a:ext>
            </a:extLst>
          </p:cNvPr>
          <p:cNvCxnSpPr>
            <a:cxnSpLocks/>
            <a:stCxn id="5" idx="0"/>
            <a:endCxn id="56" idx="0"/>
          </p:cNvCxnSpPr>
          <p:nvPr/>
        </p:nvCxnSpPr>
        <p:spPr>
          <a:xfrm>
            <a:off x="10071847" y="3321108"/>
            <a:ext cx="0" cy="376082"/>
          </a:xfrm>
          <a:prstGeom prst="straightConnector1">
            <a:avLst/>
          </a:prstGeom>
          <a:ln w="38100">
            <a:tailEnd type="triangle"/>
          </a:ln>
        </p:spPr>
        <p:style>
          <a:lnRef idx="3">
            <a:schemeClr val="dk1"/>
          </a:lnRef>
          <a:fillRef idx="0">
            <a:schemeClr val="dk1"/>
          </a:fillRef>
          <a:effectRef idx="2">
            <a:schemeClr val="dk1"/>
          </a:effectRef>
          <a:fontRef idx="minor">
            <a:schemeClr val="tx1"/>
          </a:fontRef>
        </p:style>
      </p:cxnSp>
    </p:spTree>
    <p:custDataLst>
      <p:tags r:id="rId1"/>
    </p:custDataLst>
    <p:extLst>
      <p:ext uri="{BB962C8B-B14F-4D97-AF65-F5344CB8AC3E}">
        <p14:creationId xmlns:p14="http://schemas.microsoft.com/office/powerpoint/2010/main" val="18325067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7904">
        <p159:morph option="byObject"/>
      </p:transition>
    </mc:Choice>
    <mc:Fallback xmlns="">
      <p:transition spd="slow" advTm="37904">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41"/>
                                        </p:tgtEl>
                                        <p:attrNameLst>
                                          <p:attrName>style.visibility</p:attrName>
                                        </p:attrNameLst>
                                      </p:cBhvr>
                                      <p:to>
                                        <p:strVal val="visible"/>
                                      </p:to>
                                    </p:set>
                                    <p:animEffect transition="in" filter="wipe(right)">
                                      <p:cBhvr>
                                        <p:cTn id="12" dur="500"/>
                                        <p:tgtEl>
                                          <p:spTgt spid="41"/>
                                        </p:tgtEl>
                                      </p:cBhvr>
                                    </p:animEffect>
                                  </p:childTnLst>
                                </p:cTn>
                              </p:par>
                            </p:childTnLst>
                          </p:cTn>
                        </p:par>
                        <p:par>
                          <p:cTn id="13" fill="hold">
                            <p:stCondLst>
                              <p:cond delay="500"/>
                            </p:stCondLst>
                            <p:childTnLst>
                              <p:par>
                                <p:cTn id="14" presetID="16" presetClass="entr" presetSubtype="37" fill="hold" nodeType="afterEffect">
                                  <p:stCondLst>
                                    <p:cond delay="0"/>
                                  </p:stCondLst>
                                  <p:childTnLst>
                                    <p:set>
                                      <p:cBhvr>
                                        <p:cTn id="15" dur="1" fill="hold">
                                          <p:stCondLst>
                                            <p:cond delay="0"/>
                                          </p:stCondLst>
                                        </p:cTn>
                                        <p:tgtEl>
                                          <p:spTgt spid="20"/>
                                        </p:tgtEl>
                                        <p:attrNameLst>
                                          <p:attrName>style.visibility</p:attrName>
                                        </p:attrNameLst>
                                      </p:cBhvr>
                                      <p:to>
                                        <p:strVal val="visible"/>
                                      </p:to>
                                    </p:set>
                                    <p:animEffect transition="in" filter="barn(outVertical)">
                                      <p:cBhvr>
                                        <p:cTn id="16" dur="500"/>
                                        <p:tgtEl>
                                          <p:spTgt spid="20"/>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51"/>
                                        </p:tgtEl>
                                        <p:attrNameLst>
                                          <p:attrName>style.visibility</p:attrName>
                                        </p:attrNameLst>
                                      </p:cBhvr>
                                      <p:to>
                                        <p:strVal val="visible"/>
                                      </p:to>
                                    </p:set>
                                    <p:animEffect transition="in" filter="wipe(up)">
                                      <p:cBhvr>
                                        <p:cTn id="20" dur="500"/>
                                        <p:tgtEl>
                                          <p:spTgt spid="51"/>
                                        </p:tgtEl>
                                      </p:cBhvr>
                                    </p:animEffect>
                                  </p:childTnLst>
                                </p:cTn>
                              </p:par>
                            </p:childTnLst>
                          </p:cTn>
                        </p:par>
                        <p:par>
                          <p:cTn id="21" fill="hold">
                            <p:stCondLst>
                              <p:cond delay="1500"/>
                            </p:stCondLst>
                            <p:childTnLst>
                              <p:par>
                                <p:cTn id="22" presetID="16" presetClass="entr" presetSubtype="37" fill="hold" nodeType="after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barn(outVertical)">
                                      <p:cBhvr>
                                        <p:cTn id="24" dur="500"/>
                                        <p:tgtEl>
                                          <p:spTgt spid="16"/>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45"/>
                                        </p:tgtEl>
                                        <p:attrNameLst>
                                          <p:attrName>style.visibility</p:attrName>
                                        </p:attrNameLst>
                                      </p:cBhvr>
                                      <p:to>
                                        <p:strVal val="visible"/>
                                      </p:to>
                                    </p:set>
                                    <p:animEffect transition="in" filter="wipe(left)">
                                      <p:cBhvr>
                                        <p:cTn id="28" dur="500"/>
                                        <p:tgtEl>
                                          <p:spTgt spid="45"/>
                                        </p:tgtEl>
                                      </p:cBhvr>
                                    </p:animEffect>
                                  </p:childTnLst>
                                </p:cTn>
                              </p:par>
                            </p:childTnLst>
                          </p:cTn>
                        </p:par>
                        <p:par>
                          <p:cTn id="29" fill="hold">
                            <p:stCondLst>
                              <p:cond delay="2500"/>
                            </p:stCondLst>
                            <p:childTnLst>
                              <p:par>
                                <p:cTn id="30" presetID="16" presetClass="entr" presetSubtype="37" fill="hold" nodeType="after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barn(outVertical)">
                                      <p:cBhvr>
                                        <p:cTn id="32" dur="5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58"/>
                                        </p:tgtEl>
                                        <p:attrNameLst>
                                          <p:attrName>style.visibility</p:attrName>
                                        </p:attrNameLst>
                                      </p:cBhvr>
                                      <p:to>
                                        <p:strVal val="visible"/>
                                      </p:to>
                                    </p:set>
                                    <p:animEffect transition="in" filter="wipe(up)">
                                      <p:cBhvr>
                                        <p:cTn id="37" dur="500"/>
                                        <p:tgtEl>
                                          <p:spTgt spid="58"/>
                                        </p:tgtEl>
                                      </p:cBhvr>
                                    </p:animEffect>
                                  </p:childTnLst>
                                </p:cTn>
                              </p:par>
                            </p:childTnLst>
                          </p:cTn>
                        </p:par>
                        <p:par>
                          <p:cTn id="38" fill="hold">
                            <p:stCondLst>
                              <p:cond delay="500"/>
                            </p:stCondLst>
                            <p:childTnLst>
                              <p:par>
                                <p:cTn id="39" presetID="22" presetClass="entr" presetSubtype="1" fill="hold" grpId="0" nodeType="afterEffect">
                                  <p:stCondLst>
                                    <p:cond delay="0"/>
                                  </p:stCondLst>
                                  <p:childTnLst>
                                    <p:set>
                                      <p:cBhvr>
                                        <p:cTn id="40" dur="1" fill="hold">
                                          <p:stCondLst>
                                            <p:cond delay="0"/>
                                          </p:stCondLst>
                                        </p:cTn>
                                        <p:tgtEl>
                                          <p:spTgt spid="53"/>
                                        </p:tgtEl>
                                        <p:attrNameLst>
                                          <p:attrName>style.visibility</p:attrName>
                                        </p:attrNameLst>
                                      </p:cBhvr>
                                      <p:to>
                                        <p:strVal val="visible"/>
                                      </p:to>
                                    </p:set>
                                    <p:animEffect transition="in" filter="wipe(up)">
                                      <p:cBhvr>
                                        <p:cTn id="41" dur="500"/>
                                        <p:tgtEl>
                                          <p:spTgt spid="53"/>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nodeType="clickEffect">
                                  <p:stCondLst>
                                    <p:cond delay="0"/>
                                  </p:stCondLst>
                                  <p:childTnLst>
                                    <p:set>
                                      <p:cBhvr>
                                        <p:cTn id="45" dur="1" fill="hold">
                                          <p:stCondLst>
                                            <p:cond delay="0"/>
                                          </p:stCondLst>
                                        </p:cTn>
                                        <p:tgtEl>
                                          <p:spTgt spid="59"/>
                                        </p:tgtEl>
                                        <p:attrNameLst>
                                          <p:attrName>style.visibility</p:attrName>
                                        </p:attrNameLst>
                                      </p:cBhvr>
                                      <p:to>
                                        <p:strVal val="visible"/>
                                      </p:to>
                                    </p:set>
                                    <p:animEffect transition="in" filter="wipe(up)">
                                      <p:cBhvr>
                                        <p:cTn id="46" dur="500"/>
                                        <p:tgtEl>
                                          <p:spTgt spid="59"/>
                                        </p:tgtEl>
                                      </p:cBhvr>
                                    </p:animEffect>
                                  </p:childTnLst>
                                </p:cTn>
                              </p:par>
                            </p:childTnLst>
                          </p:cTn>
                        </p:par>
                        <p:par>
                          <p:cTn id="47" fill="hold">
                            <p:stCondLst>
                              <p:cond delay="500"/>
                            </p:stCondLst>
                            <p:childTnLst>
                              <p:par>
                                <p:cTn id="48" presetID="22" presetClass="entr" presetSubtype="1" fill="hold" grpId="0" nodeType="afterEffect">
                                  <p:stCondLst>
                                    <p:cond delay="0"/>
                                  </p:stCondLst>
                                  <p:childTnLst>
                                    <p:set>
                                      <p:cBhvr>
                                        <p:cTn id="49" dur="1" fill="hold">
                                          <p:stCondLst>
                                            <p:cond delay="0"/>
                                          </p:stCondLst>
                                        </p:cTn>
                                        <p:tgtEl>
                                          <p:spTgt spid="55"/>
                                        </p:tgtEl>
                                        <p:attrNameLst>
                                          <p:attrName>style.visibility</p:attrName>
                                        </p:attrNameLst>
                                      </p:cBhvr>
                                      <p:to>
                                        <p:strVal val="visible"/>
                                      </p:to>
                                    </p:set>
                                    <p:animEffect transition="in" filter="wipe(up)">
                                      <p:cBhvr>
                                        <p:cTn id="50" dur="500"/>
                                        <p:tgtEl>
                                          <p:spTgt spid="5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63"/>
                                        </p:tgtEl>
                                        <p:attrNameLst>
                                          <p:attrName>style.visibility</p:attrName>
                                        </p:attrNameLst>
                                      </p:cBhvr>
                                      <p:to>
                                        <p:strVal val="visible"/>
                                      </p:to>
                                    </p:set>
                                    <p:animEffect transition="in" filter="wipe(up)">
                                      <p:cBhvr>
                                        <p:cTn id="55" dur="500"/>
                                        <p:tgtEl>
                                          <p:spTgt spid="63"/>
                                        </p:tgtEl>
                                      </p:cBhvr>
                                    </p:animEffect>
                                  </p:childTnLst>
                                </p:cTn>
                              </p:par>
                            </p:childTnLst>
                          </p:cTn>
                        </p:par>
                        <p:par>
                          <p:cTn id="56" fill="hold">
                            <p:stCondLst>
                              <p:cond delay="500"/>
                            </p:stCondLst>
                            <p:childTnLst>
                              <p:par>
                                <p:cTn id="57" presetID="22" presetClass="entr" presetSubtype="1" fill="hold" grpId="0" nodeType="afterEffect">
                                  <p:stCondLst>
                                    <p:cond delay="0"/>
                                  </p:stCondLst>
                                  <p:childTnLst>
                                    <p:set>
                                      <p:cBhvr>
                                        <p:cTn id="58" dur="1" fill="hold">
                                          <p:stCondLst>
                                            <p:cond delay="0"/>
                                          </p:stCondLst>
                                        </p:cTn>
                                        <p:tgtEl>
                                          <p:spTgt spid="56"/>
                                        </p:tgtEl>
                                        <p:attrNameLst>
                                          <p:attrName>style.visibility</p:attrName>
                                        </p:attrNameLst>
                                      </p:cBhvr>
                                      <p:to>
                                        <p:strVal val="visible"/>
                                      </p:to>
                                    </p:set>
                                    <p:animEffect transition="in" filter="wipe(up)">
                                      <p:cBhvr>
                                        <p:cTn id="59" dur="5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3" grpId="0" animBg="1"/>
      <p:bldP spid="55" grpId="0" animBg="1"/>
      <p:bldP spid="5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DC94EB-9415-658D-2A02-07F168C12FAA}"/>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400" b="1" dirty="0"/>
              <a:t>Gestion de la Charge</a:t>
            </a:r>
            <a:endParaRPr lang="en-US" sz="4400" b="1" dirty="0"/>
          </a:p>
        </p:txBody>
      </p:sp>
      <p:sp>
        <p:nvSpPr>
          <p:cNvPr id="10" name="Hexagon 9">
            <a:extLst>
              <a:ext uri="{FF2B5EF4-FFF2-40B4-BE49-F238E27FC236}">
                <a16:creationId xmlns:a16="http://schemas.microsoft.com/office/drawing/2014/main" id="{CDDDA163-8E1D-1061-A442-31C57DC6BE6E}"/>
              </a:ext>
            </a:extLst>
          </p:cNvPr>
          <p:cNvSpPr/>
          <p:nvPr/>
        </p:nvSpPr>
        <p:spPr>
          <a:xfrm rot="1828882">
            <a:off x="212002" y="178377"/>
            <a:ext cx="914400" cy="822960"/>
          </a:xfrm>
          <a:prstGeom prst="hexagon">
            <a:avLst>
              <a:gd name="adj" fmla="val 27586"/>
              <a:gd name="vf" fmla="val 11547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24E0655-DDAE-D434-29F0-B86554774770}"/>
              </a:ext>
            </a:extLst>
          </p:cNvPr>
          <p:cNvSpPr txBox="1"/>
          <p:nvPr/>
        </p:nvSpPr>
        <p:spPr>
          <a:xfrm>
            <a:off x="376493" y="322590"/>
            <a:ext cx="585417" cy="523220"/>
          </a:xfrm>
          <a:prstGeom prst="rect">
            <a:avLst/>
          </a:prstGeom>
          <a:noFill/>
        </p:spPr>
        <p:txBody>
          <a:bodyPr wrap="none" rtlCol="0">
            <a:spAutoFit/>
          </a:bodyPr>
          <a:lstStyle/>
          <a:p>
            <a:r>
              <a:rPr lang="en-US" sz="2800" b="1" dirty="0">
                <a:solidFill>
                  <a:schemeClr val="bg1"/>
                </a:solidFill>
              </a:rPr>
              <a:t>09</a:t>
            </a:r>
          </a:p>
        </p:txBody>
      </p:sp>
      <p:sp>
        <p:nvSpPr>
          <p:cNvPr id="2" name="Hexagon 1">
            <a:extLst>
              <a:ext uri="{FF2B5EF4-FFF2-40B4-BE49-F238E27FC236}">
                <a16:creationId xmlns:a16="http://schemas.microsoft.com/office/drawing/2014/main" id="{D4CCBAAF-0885-9016-88E9-59D2ECE24DCA}"/>
              </a:ext>
            </a:extLst>
          </p:cNvPr>
          <p:cNvSpPr/>
          <p:nvPr/>
        </p:nvSpPr>
        <p:spPr>
          <a:xfrm>
            <a:off x="66462" y="1379727"/>
            <a:ext cx="2926080" cy="448995"/>
          </a:xfrm>
          <a:prstGeom prst="hexag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err="1">
                <a:solidFill>
                  <a:schemeClr val="bg1"/>
                </a:solidFill>
              </a:rPr>
              <a:t>Compromis</a:t>
            </a:r>
            <a:endParaRPr lang="en-US" b="1" dirty="0">
              <a:solidFill>
                <a:schemeClr val="bg1"/>
              </a:solidFill>
            </a:endParaRPr>
          </a:p>
        </p:txBody>
      </p:sp>
      <p:sp>
        <p:nvSpPr>
          <p:cNvPr id="3" name="Hexagon 2">
            <a:extLst>
              <a:ext uri="{FF2B5EF4-FFF2-40B4-BE49-F238E27FC236}">
                <a16:creationId xmlns:a16="http://schemas.microsoft.com/office/drawing/2014/main" id="{767562F6-EC00-2BDD-98B3-DD26ADD07C0B}"/>
              </a:ext>
            </a:extLst>
          </p:cNvPr>
          <p:cNvSpPr/>
          <p:nvPr/>
        </p:nvSpPr>
        <p:spPr>
          <a:xfrm>
            <a:off x="3864897" y="2623000"/>
            <a:ext cx="4462207" cy="599850"/>
          </a:xfrm>
          <a:prstGeom prst="hexagon">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Scaling Horizontal</a:t>
            </a:r>
          </a:p>
        </p:txBody>
      </p:sp>
      <p:sp>
        <p:nvSpPr>
          <p:cNvPr id="4" name="TextBox 3">
            <a:extLst>
              <a:ext uri="{FF2B5EF4-FFF2-40B4-BE49-F238E27FC236}">
                <a16:creationId xmlns:a16="http://schemas.microsoft.com/office/drawing/2014/main" id="{53C26BC5-2BEC-9B3C-D4D9-E6E69E78644B}"/>
              </a:ext>
            </a:extLst>
          </p:cNvPr>
          <p:cNvSpPr txBox="1"/>
          <p:nvPr/>
        </p:nvSpPr>
        <p:spPr>
          <a:xfrm>
            <a:off x="333373" y="4022467"/>
            <a:ext cx="5486400" cy="365760"/>
          </a:xfrm>
          <a:prstGeom prst="rect">
            <a:avLst/>
          </a:prstGeom>
          <a:noFill/>
          <a:ln w="38100">
            <a:solidFill>
              <a:schemeClr val="accent1"/>
            </a:solidFill>
          </a:ln>
        </p:spPr>
        <p:txBody>
          <a:bodyPr wrap="square">
            <a:spAutoFit/>
          </a:bodyPr>
          <a:lstStyle/>
          <a:p>
            <a:pPr marL="285750" indent="-285750" algn="ctr">
              <a:buClr>
                <a:schemeClr val="accent1"/>
              </a:buClr>
              <a:buFont typeface="Wingdings" panose="05000000000000000000" pitchFamily="2" charset="2"/>
              <a:buChar char="Ø"/>
            </a:pPr>
            <a:r>
              <a:rPr lang="fr-FR" b="1" dirty="0"/>
              <a:t>Diviser les données entre plusieurs machines</a:t>
            </a:r>
          </a:p>
        </p:txBody>
      </p:sp>
      <p:sp>
        <p:nvSpPr>
          <p:cNvPr id="8" name="TextBox 7">
            <a:extLst>
              <a:ext uri="{FF2B5EF4-FFF2-40B4-BE49-F238E27FC236}">
                <a16:creationId xmlns:a16="http://schemas.microsoft.com/office/drawing/2014/main" id="{63C77646-F9B0-920F-8334-C1D2F8D6BC57}"/>
              </a:ext>
            </a:extLst>
          </p:cNvPr>
          <p:cNvSpPr txBox="1"/>
          <p:nvPr/>
        </p:nvSpPr>
        <p:spPr>
          <a:xfrm>
            <a:off x="6372227" y="4022467"/>
            <a:ext cx="5486400" cy="365760"/>
          </a:xfrm>
          <a:prstGeom prst="rect">
            <a:avLst/>
          </a:prstGeom>
          <a:noFill/>
          <a:ln w="38100">
            <a:solidFill>
              <a:schemeClr val="accent1"/>
            </a:solidFill>
          </a:ln>
        </p:spPr>
        <p:txBody>
          <a:bodyPr wrap="square">
            <a:spAutoFit/>
          </a:bodyPr>
          <a:lstStyle/>
          <a:p>
            <a:pPr marL="285750" indent="-285750" algn="ctr">
              <a:buClr>
                <a:schemeClr val="accent1"/>
              </a:buClr>
              <a:buFont typeface="Wingdings" panose="05000000000000000000" pitchFamily="2" charset="2"/>
              <a:buChar char="Ø"/>
            </a:pPr>
            <a:r>
              <a:rPr lang="fr-FR" b="1" dirty="0"/>
              <a:t>Chaque machine gère une partie des URLs</a:t>
            </a:r>
          </a:p>
        </p:txBody>
      </p:sp>
      <p:cxnSp>
        <p:nvCxnSpPr>
          <p:cNvPr id="14" name="Connector: Elbow 13">
            <a:extLst>
              <a:ext uri="{FF2B5EF4-FFF2-40B4-BE49-F238E27FC236}">
                <a16:creationId xmlns:a16="http://schemas.microsoft.com/office/drawing/2014/main" id="{8204F7BF-DE05-CC2F-4B9B-B9E92ACEF531}"/>
              </a:ext>
            </a:extLst>
          </p:cNvPr>
          <p:cNvCxnSpPr>
            <a:cxnSpLocks/>
            <a:stCxn id="3" idx="0"/>
            <a:endCxn id="8" idx="0"/>
          </p:cNvCxnSpPr>
          <p:nvPr/>
        </p:nvCxnSpPr>
        <p:spPr>
          <a:xfrm>
            <a:off x="8327104" y="2922925"/>
            <a:ext cx="788323" cy="1099542"/>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5D4BEDD9-EB1E-DE35-8F83-1733D995F2C9}"/>
              </a:ext>
            </a:extLst>
          </p:cNvPr>
          <p:cNvCxnSpPr>
            <a:cxnSpLocks/>
            <a:stCxn id="3" idx="3"/>
            <a:endCxn id="4" idx="0"/>
          </p:cNvCxnSpPr>
          <p:nvPr/>
        </p:nvCxnSpPr>
        <p:spPr>
          <a:xfrm rot="10800000" flipV="1">
            <a:off x="3076573" y="2922925"/>
            <a:ext cx="788324" cy="1099542"/>
          </a:xfrm>
          <a:prstGeom prst="bentConnector2">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5596024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9352">
        <p159:morph option="byObject"/>
      </p:transition>
    </mc:Choice>
    <mc:Fallback xmlns="">
      <p:transition spd="slow" advTm="19352">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par>
                                <p:cTn id="12" presetID="22" presetClass="entr" presetSubtype="1"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up)">
                                      <p:cBhvr>
                                        <p:cTn id="14" dur="500"/>
                                        <p:tgtEl>
                                          <p:spTgt spid="14"/>
                                        </p:tgtEl>
                                      </p:cBhvr>
                                    </p:animEffect>
                                  </p:childTnLst>
                                </p:cTn>
                              </p:par>
                            </p:childTnLst>
                          </p:cTn>
                        </p:par>
                        <p:par>
                          <p:cTn id="15" fill="hold">
                            <p:stCondLst>
                              <p:cond delay="1000"/>
                            </p:stCondLst>
                            <p:childTnLst>
                              <p:par>
                                <p:cTn id="16" presetID="16" presetClass="entr" presetSubtype="37" fill="hold" grpId="0" nodeType="after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arn(outVertical)">
                                      <p:cBhvr>
                                        <p:cTn id="18" dur="500"/>
                                        <p:tgtEl>
                                          <p:spTgt spid="4"/>
                                        </p:tgtEl>
                                      </p:cBhvr>
                                    </p:animEffect>
                                  </p:childTnLst>
                                </p:cTn>
                              </p:par>
                              <p:par>
                                <p:cTn id="19" presetID="16" presetClass="entr" presetSubtype="37"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arn(outVertical)">
                                      <p:cBhvr>
                                        <p:cTn id="2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DC94EB-9415-658D-2A02-07F168C12FAA}"/>
              </a:ext>
            </a:extLst>
          </p:cNvPr>
          <p:cNvSpPr/>
          <p:nvPr/>
        </p:nvSpPr>
        <p:spPr>
          <a:xfrm>
            <a:off x="0" y="0"/>
            <a:ext cx="12192000" cy="116840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4400" b="1" dirty="0"/>
              <a:t> Métriques de Performance</a:t>
            </a:r>
            <a:endParaRPr lang="en-US" sz="4400" b="1" dirty="0"/>
          </a:p>
        </p:txBody>
      </p:sp>
      <p:sp>
        <p:nvSpPr>
          <p:cNvPr id="10" name="Hexagon 9">
            <a:extLst>
              <a:ext uri="{FF2B5EF4-FFF2-40B4-BE49-F238E27FC236}">
                <a16:creationId xmlns:a16="http://schemas.microsoft.com/office/drawing/2014/main" id="{CDDDA163-8E1D-1061-A442-31C57DC6BE6E}"/>
              </a:ext>
            </a:extLst>
          </p:cNvPr>
          <p:cNvSpPr/>
          <p:nvPr/>
        </p:nvSpPr>
        <p:spPr>
          <a:xfrm rot="1828882">
            <a:off x="212002" y="178377"/>
            <a:ext cx="914400" cy="822960"/>
          </a:xfrm>
          <a:prstGeom prst="hexagon">
            <a:avLst>
              <a:gd name="adj" fmla="val 27586"/>
              <a:gd name="vf" fmla="val 11547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224E0655-DDAE-D434-29F0-B86554774770}"/>
              </a:ext>
            </a:extLst>
          </p:cNvPr>
          <p:cNvSpPr txBox="1"/>
          <p:nvPr/>
        </p:nvSpPr>
        <p:spPr>
          <a:xfrm>
            <a:off x="376493" y="322590"/>
            <a:ext cx="585417" cy="523220"/>
          </a:xfrm>
          <a:prstGeom prst="rect">
            <a:avLst/>
          </a:prstGeom>
          <a:noFill/>
        </p:spPr>
        <p:txBody>
          <a:bodyPr wrap="none" rtlCol="0">
            <a:spAutoFit/>
          </a:bodyPr>
          <a:lstStyle/>
          <a:p>
            <a:r>
              <a:rPr lang="en-US" sz="2800" b="1" dirty="0">
                <a:solidFill>
                  <a:schemeClr val="bg1"/>
                </a:solidFill>
              </a:rPr>
              <a:t>10</a:t>
            </a:r>
          </a:p>
        </p:txBody>
      </p:sp>
      <p:sp>
        <p:nvSpPr>
          <p:cNvPr id="2" name="Hexagon 1">
            <a:extLst>
              <a:ext uri="{FF2B5EF4-FFF2-40B4-BE49-F238E27FC236}">
                <a16:creationId xmlns:a16="http://schemas.microsoft.com/office/drawing/2014/main" id="{D4CCBAAF-0885-9016-88E9-59D2ECE24DCA}"/>
              </a:ext>
            </a:extLst>
          </p:cNvPr>
          <p:cNvSpPr/>
          <p:nvPr/>
        </p:nvSpPr>
        <p:spPr>
          <a:xfrm>
            <a:off x="66462" y="1379727"/>
            <a:ext cx="2926080" cy="448995"/>
          </a:xfrm>
          <a:prstGeom prst="hexagon">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Validation</a:t>
            </a:r>
          </a:p>
        </p:txBody>
      </p:sp>
      <p:sp>
        <p:nvSpPr>
          <p:cNvPr id="3" name="Hexagon 2">
            <a:extLst>
              <a:ext uri="{FF2B5EF4-FFF2-40B4-BE49-F238E27FC236}">
                <a16:creationId xmlns:a16="http://schemas.microsoft.com/office/drawing/2014/main" id="{767562F6-EC00-2BDD-98B3-DD26ADD07C0B}"/>
              </a:ext>
            </a:extLst>
          </p:cNvPr>
          <p:cNvSpPr/>
          <p:nvPr/>
        </p:nvSpPr>
        <p:spPr>
          <a:xfrm>
            <a:off x="3864897" y="1695900"/>
            <a:ext cx="4462207" cy="599850"/>
          </a:xfrm>
          <a:prstGeom prst="hexagon">
            <a:avLst/>
          </a:prstGeom>
          <a:solidFill>
            <a:schemeClr val="accent1"/>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tx1"/>
                </a:solidFill>
              </a:rPr>
              <a:t>Que Mesurer pour Assurer la Qualité ?</a:t>
            </a:r>
            <a:endParaRPr lang="en-US" b="1" dirty="0">
              <a:solidFill>
                <a:schemeClr val="tx1"/>
              </a:solidFill>
            </a:endParaRPr>
          </a:p>
        </p:txBody>
      </p:sp>
      <p:cxnSp>
        <p:nvCxnSpPr>
          <p:cNvPr id="14" name="Connector: Elbow 13">
            <a:extLst>
              <a:ext uri="{FF2B5EF4-FFF2-40B4-BE49-F238E27FC236}">
                <a16:creationId xmlns:a16="http://schemas.microsoft.com/office/drawing/2014/main" id="{8204F7BF-DE05-CC2F-4B9B-B9E92ACEF531}"/>
              </a:ext>
            </a:extLst>
          </p:cNvPr>
          <p:cNvCxnSpPr>
            <a:cxnSpLocks/>
            <a:stCxn id="3" idx="0"/>
            <a:endCxn id="6" idx="3"/>
          </p:cNvCxnSpPr>
          <p:nvPr/>
        </p:nvCxnSpPr>
        <p:spPr>
          <a:xfrm>
            <a:off x="8327104" y="1995825"/>
            <a:ext cx="693858" cy="1085351"/>
          </a:xfrm>
          <a:prstGeom prst="bentConnector4">
            <a:avLst>
              <a:gd name="adj1" fmla="val 99926"/>
              <a:gd name="adj2" fmla="val -72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Connector: Elbow 18">
            <a:extLst>
              <a:ext uri="{FF2B5EF4-FFF2-40B4-BE49-F238E27FC236}">
                <a16:creationId xmlns:a16="http://schemas.microsoft.com/office/drawing/2014/main" id="{5D4BEDD9-EB1E-DE35-8F83-1733D995F2C9}"/>
              </a:ext>
            </a:extLst>
          </p:cNvPr>
          <p:cNvCxnSpPr>
            <a:cxnSpLocks/>
            <a:stCxn id="3" idx="3"/>
            <a:endCxn id="13" idx="3"/>
          </p:cNvCxnSpPr>
          <p:nvPr/>
        </p:nvCxnSpPr>
        <p:spPr>
          <a:xfrm rot="10800000" flipV="1">
            <a:off x="3171041" y="1995824"/>
            <a:ext cx="693857" cy="1085351"/>
          </a:xfrm>
          <a:prstGeom prst="bentConnector4">
            <a:avLst>
              <a:gd name="adj1" fmla="val 99926"/>
              <a:gd name="adj2" fmla="val 78938"/>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7B26BA14-0A3F-E550-C7BD-9475C3CAC56F}"/>
              </a:ext>
            </a:extLst>
          </p:cNvPr>
          <p:cNvGrpSpPr/>
          <p:nvPr/>
        </p:nvGrpSpPr>
        <p:grpSpPr>
          <a:xfrm>
            <a:off x="7423114" y="3081176"/>
            <a:ext cx="3195696" cy="646332"/>
            <a:chOff x="8328186" y="2458876"/>
            <a:chExt cx="3195696" cy="646332"/>
          </a:xfrm>
        </p:grpSpPr>
        <p:sp>
          <p:nvSpPr>
            <p:cNvPr id="6" name="Hexagon 5">
              <a:extLst>
                <a:ext uri="{FF2B5EF4-FFF2-40B4-BE49-F238E27FC236}">
                  <a16:creationId xmlns:a16="http://schemas.microsoft.com/office/drawing/2014/main" id="{6877824F-25AB-8C16-F996-1D934FAE359F}"/>
                </a:ext>
              </a:extLst>
            </p:cNvPr>
            <p:cNvSpPr/>
            <p:nvPr/>
          </p:nvSpPr>
          <p:spPr>
            <a:xfrm rot="5400000">
              <a:off x="9602868" y="1184194"/>
              <a:ext cx="646332" cy="3195696"/>
            </a:xfrm>
            <a:prstGeom prst="hexagon">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9" name="TextBox 8">
              <a:extLst>
                <a:ext uri="{FF2B5EF4-FFF2-40B4-BE49-F238E27FC236}">
                  <a16:creationId xmlns:a16="http://schemas.microsoft.com/office/drawing/2014/main" id="{C0237561-E2B8-586A-48D0-50789CA40A4B}"/>
                </a:ext>
              </a:extLst>
            </p:cNvPr>
            <p:cNvSpPr txBox="1"/>
            <p:nvPr/>
          </p:nvSpPr>
          <p:spPr>
            <a:xfrm>
              <a:off x="8916783" y="2597376"/>
              <a:ext cx="2018501" cy="369332"/>
            </a:xfrm>
            <a:prstGeom prst="rect">
              <a:avLst/>
            </a:prstGeom>
            <a:noFill/>
          </p:spPr>
          <p:txBody>
            <a:bodyPr wrap="none" rtlCol="0">
              <a:spAutoFit/>
            </a:bodyPr>
            <a:lstStyle/>
            <a:p>
              <a:pPr algn="ctr"/>
              <a:r>
                <a:rPr lang="en-US" b="1" dirty="0" err="1"/>
                <a:t>Métriques</a:t>
              </a:r>
              <a:r>
                <a:rPr lang="en-US" b="1" dirty="0"/>
                <a:t> Métier</a:t>
              </a:r>
            </a:p>
          </p:txBody>
        </p:sp>
      </p:grpSp>
      <p:grpSp>
        <p:nvGrpSpPr>
          <p:cNvPr id="11" name="Group 10">
            <a:extLst>
              <a:ext uri="{FF2B5EF4-FFF2-40B4-BE49-F238E27FC236}">
                <a16:creationId xmlns:a16="http://schemas.microsoft.com/office/drawing/2014/main" id="{060D124A-0E0F-F4B5-61B1-1AA15FED0914}"/>
              </a:ext>
            </a:extLst>
          </p:cNvPr>
          <p:cNvGrpSpPr/>
          <p:nvPr/>
        </p:nvGrpSpPr>
        <p:grpSpPr>
          <a:xfrm>
            <a:off x="1573192" y="3081176"/>
            <a:ext cx="3195696" cy="646332"/>
            <a:chOff x="8328186" y="2458876"/>
            <a:chExt cx="3195696" cy="646332"/>
          </a:xfrm>
        </p:grpSpPr>
        <p:sp>
          <p:nvSpPr>
            <p:cNvPr id="13" name="Hexagon 12">
              <a:extLst>
                <a:ext uri="{FF2B5EF4-FFF2-40B4-BE49-F238E27FC236}">
                  <a16:creationId xmlns:a16="http://schemas.microsoft.com/office/drawing/2014/main" id="{ACC69412-8A79-DC70-AFB1-1FE874E76E4A}"/>
                </a:ext>
              </a:extLst>
            </p:cNvPr>
            <p:cNvSpPr/>
            <p:nvPr/>
          </p:nvSpPr>
          <p:spPr>
            <a:xfrm rot="5400000">
              <a:off x="9602868" y="1184194"/>
              <a:ext cx="646332" cy="3195696"/>
            </a:xfrm>
            <a:prstGeom prst="hexagon">
              <a:avLst/>
            </a:prstGeom>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tx1"/>
                </a:solidFill>
              </a:endParaRPr>
            </a:p>
          </p:txBody>
        </p:sp>
        <p:sp>
          <p:nvSpPr>
            <p:cNvPr id="15" name="TextBox 14">
              <a:extLst>
                <a:ext uri="{FF2B5EF4-FFF2-40B4-BE49-F238E27FC236}">
                  <a16:creationId xmlns:a16="http://schemas.microsoft.com/office/drawing/2014/main" id="{C3BCF2D8-2B6E-7C5F-3DBF-0E4F30D2F5BE}"/>
                </a:ext>
              </a:extLst>
            </p:cNvPr>
            <p:cNvSpPr txBox="1"/>
            <p:nvPr/>
          </p:nvSpPr>
          <p:spPr>
            <a:xfrm>
              <a:off x="8623979" y="2597376"/>
              <a:ext cx="2604111" cy="369332"/>
            </a:xfrm>
            <a:prstGeom prst="rect">
              <a:avLst/>
            </a:prstGeom>
            <a:noFill/>
          </p:spPr>
          <p:txBody>
            <a:bodyPr wrap="none" rtlCol="0">
              <a:spAutoFit/>
            </a:bodyPr>
            <a:lstStyle/>
            <a:p>
              <a:pPr algn="ctr"/>
              <a:r>
                <a:rPr lang="en-US" b="1" dirty="0" err="1"/>
                <a:t>Métriques</a:t>
              </a:r>
              <a:r>
                <a:rPr lang="en-US" b="1" dirty="0"/>
                <a:t> Techniques</a:t>
              </a:r>
            </a:p>
          </p:txBody>
        </p:sp>
      </p:grpSp>
      <p:sp>
        <p:nvSpPr>
          <p:cNvPr id="4" name="TextBox 3">
            <a:extLst>
              <a:ext uri="{FF2B5EF4-FFF2-40B4-BE49-F238E27FC236}">
                <a16:creationId xmlns:a16="http://schemas.microsoft.com/office/drawing/2014/main" id="{53C26BC5-2BEC-9B3C-D4D9-E6E69E78644B}"/>
              </a:ext>
            </a:extLst>
          </p:cNvPr>
          <p:cNvSpPr txBox="1"/>
          <p:nvPr/>
        </p:nvSpPr>
        <p:spPr>
          <a:xfrm>
            <a:off x="72240" y="4116789"/>
            <a:ext cx="5943600" cy="1200329"/>
          </a:xfrm>
          <a:prstGeom prst="rect">
            <a:avLst/>
          </a:prstGeom>
          <a:noFill/>
          <a:ln w="38100">
            <a:solidFill>
              <a:schemeClr val="accent1"/>
            </a:solidFill>
          </a:ln>
        </p:spPr>
        <p:txBody>
          <a:bodyPr wrap="square">
            <a:spAutoFit/>
          </a:bodyPr>
          <a:lstStyle/>
          <a:p>
            <a:pPr marL="285750" indent="-285750">
              <a:buClr>
                <a:schemeClr val="accent1"/>
              </a:buClr>
              <a:buFont typeface="Wingdings" panose="05000000000000000000" pitchFamily="2" charset="2"/>
              <a:buChar char="Ø"/>
            </a:pPr>
            <a:r>
              <a:rPr lang="fr-FR" b="1" dirty="0"/>
              <a:t>Latence : temps de réponse (objectif &lt; 100ms)</a:t>
            </a:r>
          </a:p>
          <a:p>
            <a:pPr marL="285750" indent="-285750">
              <a:buClr>
                <a:schemeClr val="accent1"/>
              </a:buClr>
              <a:buFont typeface="Wingdings" panose="05000000000000000000" pitchFamily="2" charset="2"/>
              <a:buChar char="Ø"/>
            </a:pPr>
            <a:r>
              <a:rPr lang="fr-FR" b="1" dirty="0"/>
              <a:t>Débit : nombre de requêtes par seconde</a:t>
            </a:r>
          </a:p>
          <a:p>
            <a:pPr marL="285750" indent="-285750">
              <a:buClr>
                <a:schemeClr val="accent1"/>
              </a:buClr>
              <a:buFont typeface="Wingdings" panose="05000000000000000000" pitchFamily="2" charset="2"/>
              <a:buChar char="Ø"/>
            </a:pPr>
            <a:r>
              <a:rPr lang="fr-FR" b="1" dirty="0"/>
              <a:t>Disponibilité : pourcentage de temps opérationnel</a:t>
            </a:r>
          </a:p>
          <a:p>
            <a:pPr marL="285750" indent="-285750">
              <a:buClr>
                <a:schemeClr val="accent1"/>
              </a:buClr>
              <a:buFont typeface="Wingdings" panose="05000000000000000000" pitchFamily="2" charset="2"/>
              <a:buChar char="Ø"/>
            </a:pPr>
            <a:r>
              <a:rPr lang="fr-FR" b="1" dirty="0"/>
              <a:t>Taux de succès du cache</a:t>
            </a:r>
          </a:p>
        </p:txBody>
      </p:sp>
      <p:sp>
        <p:nvSpPr>
          <p:cNvPr id="24" name="TextBox 23">
            <a:extLst>
              <a:ext uri="{FF2B5EF4-FFF2-40B4-BE49-F238E27FC236}">
                <a16:creationId xmlns:a16="http://schemas.microsoft.com/office/drawing/2014/main" id="{99B45342-696F-8A19-47C4-F70D578D113E}"/>
              </a:ext>
            </a:extLst>
          </p:cNvPr>
          <p:cNvSpPr txBox="1"/>
          <p:nvPr/>
        </p:nvSpPr>
        <p:spPr>
          <a:xfrm>
            <a:off x="6176160" y="4116788"/>
            <a:ext cx="5943600" cy="1200329"/>
          </a:xfrm>
          <a:prstGeom prst="rect">
            <a:avLst/>
          </a:prstGeom>
          <a:noFill/>
          <a:ln w="38100">
            <a:solidFill>
              <a:schemeClr val="accent1"/>
            </a:solidFill>
          </a:ln>
        </p:spPr>
        <p:txBody>
          <a:bodyPr wrap="square">
            <a:spAutoFit/>
          </a:bodyPr>
          <a:lstStyle/>
          <a:p>
            <a:pPr marL="285750" indent="-285750">
              <a:buClr>
                <a:schemeClr val="accent1"/>
              </a:buClr>
              <a:buFont typeface="Wingdings" panose="05000000000000000000" pitchFamily="2" charset="2"/>
              <a:buChar char="Ø"/>
            </a:pPr>
            <a:r>
              <a:rPr lang="fr-FR" b="1" dirty="0"/>
              <a:t>Nombre d'URLs créées quotidiennement</a:t>
            </a:r>
          </a:p>
          <a:p>
            <a:pPr marL="285750" indent="-285750">
              <a:buClr>
                <a:schemeClr val="accent1"/>
              </a:buClr>
              <a:buFont typeface="Wingdings" panose="05000000000000000000" pitchFamily="2" charset="2"/>
              <a:buChar char="Ø"/>
            </a:pPr>
            <a:r>
              <a:rPr lang="fr-FR" b="1" dirty="0"/>
              <a:t>Nombre de redirections réussies</a:t>
            </a:r>
          </a:p>
          <a:p>
            <a:pPr marL="285750" indent="-285750">
              <a:buClr>
                <a:schemeClr val="accent1"/>
              </a:buClr>
              <a:buFont typeface="Wingdings" panose="05000000000000000000" pitchFamily="2" charset="2"/>
              <a:buChar char="Ø"/>
            </a:pPr>
            <a:r>
              <a:rPr lang="fr-FR" b="1" dirty="0"/>
              <a:t>Utilisateurs actifs</a:t>
            </a:r>
          </a:p>
          <a:p>
            <a:pPr marL="285750" indent="-285750">
              <a:buClr>
                <a:schemeClr val="accent1"/>
              </a:buClr>
              <a:buFont typeface="Wingdings" panose="05000000000000000000" pitchFamily="2" charset="2"/>
              <a:buChar char="Ø"/>
            </a:pPr>
            <a:r>
              <a:rPr lang="fr-FR" b="1" dirty="0"/>
              <a:t>Taux de croissance</a:t>
            </a:r>
          </a:p>
        </p:txBody>
      </p:sp>
    </p:spTree>
    <p:custDataLst>
      <p:tags r:id="rId1"/>
    </p:custDataLst>
    <p:extLst>
      <p:ext uri="{BB962C8B-B14F-4D97-AF65-F5344CB8AC3E}">
        <p14:creationId xmlns:p14="http://schemas.microsoft.com/office/powerpoint/2010/main" val="3273529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8578">
        <p159:morph option="byObject"/>
      </p:transition>
    </mc:Choice>
    <mc:Fallback xmlns="">
      <p:transition spd="slow" advTm="38578">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37"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outVertical)">
                                      <p:cBhvr>
                                        <p:cTn id="7" dur="500"/>
                                        <p:tgtEl>
                                          <p:spTgt spid="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par>
                                <p:cTn id="12" presetID="22" presetClass="entr" presetSubtype="1" fill="hold" nodeType="with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wipe(up)">
                                      <p:cBhvr>
                                        <p:cTn id="14" dur="500"/>
                                        <p:tgtEl>
                                          <p:spTgt spid="14"/>
                                        </p:tgtEl>
                                      </p:cBhvr>
                                    </p:animEffect>
                                  </p:childTnLst>
                                </p:cTn>
                              </p:par>
                            </p:childTnLst>
                          </p:cTn>
                        </p:par>
                        <p:par>
                          <p:cTn id="15" fill="hold">
                            <p:stCondLst>
                              <p:cond delay="1000"/>
                            </p:stCondLst>
                            <p:childTnLst>
                              <p:par>
                                <p:cTn id="16" presetID="16" presetClass="entr" presetSubtype="37" fill="hold" nodeType="after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barn(outVertical)">
                                      <p:cBhvr>
                                        <p:cTn id="18" dur="500"/>
                                        <p:tgtEl>
                                          <p:spTgt spid="11"/>
                                        </p:tgtEl>
                                      </p:cBhvr>
                                    </p:animEffect>
                                  </p:childTnLst>
                                </p:cTn>
                              </p:par>
                              <p:par>
                                <p:cTn id="19" presetID="16" presetClass="entr" presetSubtype="37" fill="hold" nodeType="with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barn(outVertical)">
                                      <p:cBhvr>
                                        <p:cTn id="21" dur="500"/>
                                        <p:tgtEl>
                                          <p:spTgt spid="5"/>
                                        </p:tgtEl>
                                      </p:cBhvr>
                                    </p:animEffect>
                                  </p:childTnLst>
                                </p:cTn>
                              </p:par>
                            </p:childTnLst>
                          </p:cTn>
                        </p:par>
                        <p:par>
                          <p:cTn id="22" fill="hold">
                            <p:stCondLst>
                              <p:cond delay="1500"/>
                            </p:stCondLst>
                            <p:childTnLst>
                              <p:par>
                                <p:cTn id="23" presetID="22" presetClass="entr" presetSubtype="8" fill="hold" grpId="0"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ipe(left)">
                                      <p:cBhvr>
                                        <p:cTn id="25" dur="500"/>
                                        <p:tgtEl>
                                          <p:spTgt spid="4"/>
                                        </p:tgtEl>
                                      </p:cBhvr>
                                    </p:animEffect>
                                  </p:childTnLst>
                                </p:cTn>
                              </p:par>
                            </p:childTnLst>
                          </p:cTn>
                        </p:par>
                        <p:par>
                          <p:cTn id="26" fill="hold">
                            <p:stCondLst>
                              <p:cond delay="2000"/>
                            </p:stCondLst>
                            <p:childTnLst>
                              <p:par>
                                <p:cTn id="27" presetID="22" presetClass="entr" presetSubtype="8"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left)">
                                      <p:cBhvr>
                                        <p:cTn id="2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2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169889-6F04-4B43-0279-A06CC698907F}"/>
              </a:ext>
            </a:extLst>
          </p:cNvPr>
          <p:cNvSpPr txBox="1"/>
          <p:nvPr/>
        </p:nvSpPr>
        <p:spPr>
          <a:xfrm>
            <a:off x="1891965" y="670545"/>
            <a:ext cx="8408071" cy="3154710"/>
          </a:xfrm>
          <a:prstGeom prst="rect">
            <a:avLst/>
          </a:prstGeom>
          <a:noFill/>
        </p:spPr>
        <p:txBody>
          <a:bodyPr wrap="none" rtlCol="0">
            <a:spAutoFit/>
          </a:bodyPr>
          <a:lstStyle/>
          <a:p>
            <a:r>
              <a:rPr lang="en-US" sz="19900" b="1" spc="50" dirty="0">
                <a:ln w="9525" cmpd="sng">
                  <a:solidFill>
                    <a:schemeClr val="accent1"/>
                  </a:solidFill>
                  <a:prstDash val="solid"/>
                </a:ln>
                <a:solidFill>
                  <a:srgbClr val="70AD47">
                    <a:tint val="1000"/>
                  </a:srgbClr>
                </a:solidFill>
                <a:effectLst>
                  <a:glow rad="38100">
                    <a:schemeClr val="accent1">
                      <a:alpha val="40000"/>
                    </a:schemeClr>
                  </a:glow>
                  <a:reflection blurRad="6350" stA="50000" endA="300" endPos="50000" dist="60007" dir="5400000" sy="-100000" algn="bl" rotWithShape="0"/>
                </a:effectLst>
              </a:rPr>
              <a:t>Merci !</a:t>
            </a:r>
          </a:p>
        </p:txBody>
      </p:sp>
    </p:spTree>
    <p:extLst>
      <p:ext uri="{BB962C8B-B14F-4D97-AF65-F5344CB8AC3E}">
        <p14:creationId xmlns:p14="http://schemas.microsoft.com/office/powerpoint/2010/main" val="12637648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3917">
        <p159:morph option="byObject"/>
      </p:transition>
    </mc:Choice>
    <mc:Fallback xmlns="">
      <p:transition spd="slow" advTm="3917">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IMING" val="|6.9|13.1|10.5"/>
</p:tagLst>
</file>

<file path=ppt/tags/tag2.xml><?xml version="1.0" encoding="utf-8"?>
<p:tagLst xmlns:a="http://schemas.openxmlformats.org/drawingml/2006/main" xmlns:r="http://schemas.openxmlformats.org/officeDocument/2006/relationships" xmlns:p="http://schemas.openxmlformats.org/presentationml/2006/main">
  <p:tag name="TIMING" val="|15.5"/>
</p:tagLst>
</file>

<file path=ppt/tags/tag3.xml><?xml version="1.0" encoding="utf-8"?>
<p:tagLst xmlns:a="http://schemas.openxmlformats.org/drawingml/2006/main" xmlns:r="http://schemas.openxmlformats.org/officeDocument/2006/relationships" xmlns:p="http://schemas.openxmlformats.org/presentationml/2006/main">
  <p:tag name="TIMING" val="|4|3.2|18.2|9.7|4.1|8.2"/>
</p:tagLst>
</file>

<file path=ppt/tags/tag4.xml><?xml version="1.0" encoding="utf-8"?>
<p:tagLst xmlns:a="http://schemas.openxmlformats.org/drawingml/2006/main" xmlns:r="http://schemas.openxmlformats.org/officeDocument/2006/relationships" xmlns:p="http://schemas.openxmlformats.org/presentationml/2006/main">
  <p:tag name="TIMING" val="|9.9|8.8|8.3|25.3"/>
</p:tagLst>
</file>

<file path=ppt/tags/tag5.xml><?xml version="1.0" encoding="utf-8"?>
<p:tagLst xmlns:a="http://schemas.openxmlformats.org/drawingml/2006/main" xmlns:r="http://schemas.openxmlformats.org/officeDocument/2006/relationships" xmlns:p="http://schemas.openxmlformats.org/presentationml/2006/main">
  <p:tag name="TIMING" val="|24.8"/>
</p:tagLst>
</file>

<file path=ppt/tags/tag6.xml><?xml version="1.0" encoding="utf-8"?>
<p:tagLst xmlns:a="http://schemas.openxmlformats.org/drawingml/2006/main" xmlns:r="http://schemas.openxmlformats.org/officeDocument/2006/relationships" xmlns:p="http://schemas.openxmlformats.org/presentationml/2006/main">
  <p:tag name="TIMING" val="|6.7|3.3|5.2|3.8|6.7"/>
</p:tagLst>
</file>

<file path=ppt/tags/tag7.xml><?xml version="1.0" encoding="utf-8"?>
<p:tagLst xmlns:a="http://schemas.openxmlformats.org/drawingml/2006/main" xmlns:r="http://schemas.openxmlformats.org/officeDocument/2006/relationships" xmlns:p="http://schemas.openxmlformats.org/presentationml/2006/main">
  <p:tag name="TIMING" val="|2.9"/>
</p:tagLst>
</file>

<file path=ppt/tags/tag8.xml><?xml version="1.0" encoding="utf-8"?>
<p:tagLst xmlns:a="http://schemas.openxmlformats.org/drawingml/2006/main" xmlns:r="http://schemas.openxmlformats.org/officeDocument/2006/relationships" xmlns:p="http://schemas.openxmlformats.org/presentationml/2006/main">
  <p:tag name="TIMING" val="|2.5"/>
</p:tagLst>
</file>

<file path=ppt/theme/theme1.xml><?xml version="1.0" encoding="utf-8"?>
<a:theme xmlns:a="http://schemas.openxmlformats.org/drawingml/2006/main" name="Cover and End Slide Master">
  <a:themeElements>
    <a:clrScheme name="ALLPPT-607">
      <a:dk1>
        <a:sysClr val="windowText" lastClr="000000"/>
      </a:dk1>
      <a:lt1>
        <a:sysClr val="window" lastClr="FFFFFF"/>
      </a:lt1>
      <a:dk2>
        <a:srgbClr val="44546A"/>
      </a:dk2>
      <a:lt2>
        <a:srgbClr val="E7E6E6"/>
      </a:lt2>
      <a:accent1>
        <a:srgbClr val="1FFBFD"/>
      </a:accent1>
      <a:accent2>
        <a:srgbClr val="0AA6ED"/>
      </a:accent2>
      <a:accent3>
        <a:srgbClr val="0085F2"/>
      </a:accent3>
      <a:accent4>
        <a:srgbClr val="125AC4"/>
      </a:accent4>
      <a:accent5>
        <a:srgbClr val="00307E"/>
      </a:accent5>
      <a:accent6>
        <a:srgbClr val="00001F"/>
      </a:accent6>
      <a:hlink>
        <a:srgbClr val="FFFFFF"/>
      </a:hlink>
      <a:folHlink>
        <a:srgbClr val="262626"/>
      </a:folHlink>
    </a:clrScheme>
    <a:fontScheme name="ALLPPT PONTS">
      <a:majorFont>
        <a:latin typeface="Arial"/>
        <a:ea typeface="Malgun Gothic"/>
        <a:cs typeface=""/>
      </a:majorFont>
      <a:minorFont>
        <a:latin typeface="Arial"/>
        <a:ea typeface="맑은 고딕"/>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607">
      <a:dk1>
        <a:sysClr val="windowText" lastClr="000000"/>
      </a:dk1>
      <a:lt1>
        <a:sysClr val="window" lastClr="FFFFFF"/>
      </a:lt1>
      <a:dk2>
        <a:srgbClr val="44546A"/>
      </a:dk2>
      <a:lt2>
        <a:srgbClr val="E7E6E6"/>
      </a:lt2>
      <a:accent1>
        <a:srgbClr val="02ECEC"/>
      </a:accent1>
      <a:accent2>
        <a:srgbClr val="0AA6ED"/>
      </a:accent2>
      <a:accent3>
        <a:srgbClr val="0085F2"/>
      </a:accent3>
      <a:accent4>
        <a:srgbClr val="125AC4"/>
      </a:accent4>
      <a:accent5>
        <a:srgbClr val="00307E"/>
      </a:accent5>
      <a:accent6>
        <a:srgbClr val="000096"/>
      </a:accent6>
      <a:hlink>
        <a:srgbClr val="FFFFFF"/>
      </a:hlink>
      <a:folHlink>
        <a:srgbClr val="262626"/>
      </a:folHlink>
    </a:clrScheme>
    <a:fontScheme name="Allpp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607">
      <a:dk1>
        <a:sysClr val="windowText" lastClr="000000"/>
      </a:dk1>
      <a:lt1>
        <a:sysClr val="window" lastClr="FFFFFF"/>
      </a:lt1>
      <a:dk2>
        <a:srgbClr val="44546A"/>
      </a:dk2>
      <a:lt2>
        <a:srgbClr val="E7E6E6"/>
      </a:lt2>
      <a:accent1>
        <a:srgbClr val="1FFBFD"/>
      </a:accent1>
      <a:accent2>
        <a:srgbClr val="0AA6ED"/>
      </a:accent2>
      <a:accent3>
        <a:srgbClr val="0085F2"/>
      </a:accent3>
      <a:accent4>
        <a:srgbClr val="125AC4"/>
      </a:accent4>
      <a:accent5>
        <a:srgbClr val="00307E"/>
      </a:accent5>
      <a:accent6>
        <a:srgbClr val="00001F"/>
      </a:accent6>
      <a:hlink>
        <a:srgbClr val="FFFFFF"/>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5812</TotalTime>
  <Words>1174</Words>
  <Application>Microsoft Office PowerPoint</Application>
  <PresentationFormat>Widescreen</PresentationFormat>
  <Paragraphs>171</Paragraphs>
  <Slides>14</Slides>
  <Notes>14</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14</vt:i4>
      </vt:variant>
    </vt:vector>
  </HeadingPairs>
  <TitlesOfParts>
    <vt:vector size="22" baseType="lpstr">
      <vt:lpstr>Arial</vt:lpstr>
      <vt:lpstr>Calibri</vt:lpstr>
      <vt:lpstr>quote-cjk-patch</vt:lpstr>
      <vt:lpstr>system-ui</vt:lpstr>
      <vt:lpstr>Wingdings</vt:lpstr>
      <vt:lpstr>Cover and End Slide Master</vt:lpstr>
      <vt:lpstr>Contents Slide Master</vt:lpstr>
      <vt:lpstr>Section Break Slide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BELKADI HAMZA</cp:lastModifiedBy>
  <cp:revision>72</cp:revision>
  <dcterms:created xsi:type="dcterms:W3CDTF">2020-01-20T05:08:25Z</dcterms:created>
  <dcterms:modified xsi:type="dcterms:W3CDTF">2026-01-08T11:22:50Z</dcterms:modified>
</cp:coreProperties>
</file>