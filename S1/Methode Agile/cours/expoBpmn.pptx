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y="6858000" cx="12192000"/>
  <p:notesSz cx="6858000" cy="9144000"/>
  <p:embeddedFontLst>
    <p:embeddedFont>
      <p:font typeface="Corben"/>
      <p:bold r:id="rId65"/>
    </p:embeddedFont>
    <p:embeddedFont>
      <p:font typeface="Quintessential"/>
      <p:regular r:id="rId66"/>
    </p:embeddedFont>
    <p:embeddedFont>
      <p:font typeface="Century Gothic"/>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71" roundtripDataSignature="AMtx7mjs8lpg2AR1w+yYCfxV4PxYOc6z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B6627D9-4488-47AB-A009-2705E3C24D6C}">
  <a:tblStyle styleId="{AB6627D9-4488-47AB-A009-2705E3C24D6C}"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0E7E6"/>
          </a:solidFill>
        </a:fill>
      </a:tcStyle>
    </a:wholeTbl>
    <a:band1H>
      <a:tcTxStyle/>
      <a:tcStyle>
        <a:fill>
          <a:solidFill>
            <a:srgbClr val="E0CCCA"/>
          </a:solidFill>
        </a:fill>
      </a:tcStyle>
    </a:band1H>
    <a:band2H>
      <a:tcTxStyle/>
    </a:band2H>
    <a:band1V>
      <a:tcTxStyle/>
      <a:tcStyle>
        <a:fill>
          <a:solidFill>
            <a:srgbClr val="E0CCCA"/>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customschemas.google.com/relationships/presentationmetadata" Target="metadata"/><Relationship Id="rId70" Type="http://schemas.openxmlformats.org/officeDocument/2006/relationships/font" Target="fonts/CenturyGothic-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Quintessential-regular.fntdata"/><Relationship Id="rId21" Type="http://schemas.openxmlformats.org/officeDocument/2006/relationships/slide" Target="slides/slide15.xml"/><Relationship Id="rId65" Type="http://schemas.openxmlformats.org/officeDocument/2006/relationships/font" Target="fonts/Corben-bold.fntdata"/><Relationship Id="rId24" Type="http://schemas.openxmlformats.org/officeDocument/2006/relationships/slide" Target="slides/slide18.xml"/><Relationship Id="rId68" Type="http://schemas.openxmlformats.org/officeDocument/2006/relationships/font" Target="fonts/CenturyGothic-bold.fntdata"/><Relationship Id="rId23" Type="http://schemas.openxmlformats.org/officeDocument/2006/relationships/slide" Target="slides/slide17.xml"/><Relationship Id="rId67" Type="http://schemas.openxmlformats.org/officeDocument/2006/relationships/font" Target="fonts/CenturyGothic-regular.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CenturyGothic-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2" name="Google Shape;27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Une tache Utilisateur:</a:t>
            </a:r>
            <a:endParaRPr/>
          </a:p>
          <a:p>
            <a:pPr indent="0" lvl="0" marL="0" rtl="0" algn="l">
              <a:spcBef>
                <a:spcPts val="0"/>
              </a:spcBef>
              <a:spcAft>
                <a:spcPts val="0"/>
              </a:spcAft>
              <a:buNone/>
            </a:pPr>
            <a:r>
              <a:rPr lang="fr-FR"/>
              <a:t>Implique qu’un humain accomplisse une tache à l’aide d’une application informatique.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Tache système (ou service)</a:t>
            </a:r>
            <a:endParaRPr/>
          </a:p>
          <a:p>
            <a:pPr indent="0" lvl="0" marL="0" rtl="0" algn="l">
              <a:spcBef>
                <a:spcPts val="0"/>
              </a:spcBef>
              <a:spcAft>
                <a:spcPts val="0"/>
              </a:spcAft>
              <a:buNone/>
            </a:pPr>
            <a:r>
              <a:rPr lang="fr-FR"/>
              <a:t>Se réalise automatiquement avec une application quelconque sans aucune intervention humaine</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Une tache manuelle doit être effectué sans l’aide d’un logiciel ou d’une application quelconque.</a:t>
            </a:r>
            <a:endParaRPr/>
          </a:p>
        </p:txBody>
      </p:sp>
      <p:sp>
        <p:nvSpPr>
          <p:cNvPr id="462" name="Google Shape;462;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Une tache Utilisateur:</a:t>
            </a:r>
            <a:endParaRPr/>
          </a:p>
          <a:p>
            <a:pPr indent="0" lvl="0" marL="0" rtl="0" algn="l">
              <a:spcBef>
                <a:spcPts val="0"/>
              </a:spcBef>
              <a:spcAft>
                <a:spcPts val="0"/>
              </a:spcAft>
              <a:buNone/>
            </a:pPr>
            <a:r>
              <a:rPr lang="fr-FR"/>
              <a:t>Implique qu’un humain accomplisse une tache à l’aide d’une application informatique.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Tache système (ou service)</a:t>
            </a:r>
            <a:endParaRPr/>
          </a:p>
          <a:p>
            <a:pPr indent="0" lvl="0" marL="0" rtl="0" algn="l">
              <a:spcBef>
                <a:spcPts val="0"/>
              </a:spcBef>
              <a:spcAft>
                <a:spcPts val="0"/>
              </a:spcAft>
              <a:buNone/>
            </a:pPr>
            <a:r>
              <a:rPr lang="fr-FR"/>
              <a:t>Se réalise automatiquement avec une application quelconque sans aucune intervention humaine</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Une tache manuelle doit être effectué sans l’aide d’un logiciel ou d’une application quelconque.</a:t>
            </a:r>
            <a:endParaRPr/>
          </a:p>
        </p:txBody>
      </p:sp>
      <p:sp>
        <p:nvSpPr>
          <p:cNvPr id="469" name="Google Shape;469;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Une tache Utilisateur:</a:t>
            </a:r>
            <a:endParaRPr/>
          </a:p>
          <a:p>
            <a:pPr indent="0" lvl="0" marL="0" rtl="0" algn="l">
              <a:spcBef>
                <a:spcPts val="0"/>
              </a:spcBef>
              <a:spcAft>
                <a:spcPts val="0"/>
              </a:spcAft>
              <a:buNone/>
            </a:pPr>
            <a:r>
              <a:rPr lang="fr-FR"/>
              <a:t>Implique qu’un humain accomplisse une tache à l’aide d’une application informatique.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Tache système (ou service)</a:t>
            </a:r>
            <a:endParaRPr/>
          </a:p>
          <a:p>
            <a:pPr indent="0" lvl="0" marL="0" rtl="0" algn="l">
              <a:spcBef>
                <a:spcPts val="0"/>
              </a:spcBef>
              <a:spcAft>
                <a:spcPts val="0"/>
              </a:spcAft>
              <a:buNone/>
            </a:pPr>
            <a:r>
              <a:rPr lang="fr-FR"/>
              <a:t>Se réalise automatiquement avec une application quelconque sans aucune intervention humaine</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Une tache manuelle doit être effectué sans l’aide d’un logiciel ou d’une application quelconque.</a:t>
            </a:r>
            <a:endParaRPr/>
          </a:p>
        </p:txBody>
      </p:sp>
      <p:sp>
        <p:nvSpPr>
          <p:cNvPr id="477" name="Google Shape;477;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Une tache Utilisateur:</a:t>
            </a:r>
            <a:endParaRPr/>
          </a:p>
          <a:p>
            <a:pPr indent="0" lvl="0" marL="0" rtl="0" algn="l">
              <a:spcBef>
                <a:spcPts val="0"/>
              </a:spcBef>
              <a:spcAft>
                <a:spcPts val="0"/>
              </a:spcAft>
              <a:buNone/>
            </a:pPr>
            <a:r>
              <a:rPr lang="fr-FR"/>
              <a:t>Implique qu’un humain accomplisse une tache à l’aide d’une application informatique.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Tache système (ou service)</a:t>
            </a:r>
            <a:endParaRPr/>
          </a:p>
          <a:p>
            <a:pPr indent="0" lvl="0" marL="0" rtl="0" algn="l">
              <a:spcBef>
                <a:spcPts val="0"/>
              </a:spcBef>
              <a:spcAft>
                <a:spcPts val="0"/>
              </a:spcAft>
              <a:buNone/>
            </a:pPr>
            <a:r>
              <a:rPr lang="fr-FR"/>
              <a:t>Se réalise automatiquement avec une application quelconque sans aucune intervention humaine</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Une tache manuelle doit être effectué sans l’aide d’un logiciel ou d’une application quelconque.</a:t>
            </a:r>
            <a:endParaRPr/>
          </a:p>
        </p:txBody>
      </p:sp>
      <p:sp>
        <p:nvSpPr>
          <p:cNvPr id="485" name="Google Shape;485;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Une tache Utilisateur:</a:t>
            </a:r>
            <a:endParaRPr/>
          </a:p>
          <a:p>
            <a:pPr indent="0" lvl="0" marL="0" rtl="0" algn="l">
              <a:spcBef>
                <a:spcPts val="0"/>
              </a:spcBef>
              <a:spcAft>
                <a:spcPts val="0"/>
              </a:spcAft>
              <a:buNone/>
            </a:pPr>
            <a:r>
              <a:rPr lang="fr-FR"/>
              <a:t>Implique qu’un humain accomplisse une tache à l’aide d’une application informatique.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Tache système (ou service)</a:t>
            </a:r>
            <a:endParaRPr/>
          </a:p>
          <a:p>
            <a:pPr indent="0" lvl="0" marL="0" rtl="0" algn="l">
              <a:spcBef>
                <a:spcPts val="0"/>
              </a:spcBef>
              <a:spcAft>
                <a:spcPts val="0"/>
              </a:spcAft>
              <a:buNone/>
            </a:pPr>
            <a:r>
              <a:rPr lang="fr-FR"/>
              <a:t>Se réalise automatiquement avec une application quelconque sans aucune intervention humaine</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Une tache manuelle doit être effectué sans l’aide d’un logiciel ou d’une application quelconque.</a:t>
            </a:r>
            <a:endParaRPr/>
          </a:p>
        </p:txBody>
      </p:sp>
      <p:sp>
        <p:nvSpPr>
          <p:cNvPr id="493" name="Google Shape;493;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Une tache Utilisateur:</a:t>
            </a:r>
            <a:endParaRPr/>
          </a:p>
          <a:p>
            <a:pPr indent="0" lvl="0" marL="0" rtl="0" algn="l">
              <a:spcBef>
                <a:spcPts val="0"/>
              </a:spcBef>
              <a:spcAft>
                <a:spcPts val="0"/>
              </a:spcAft>
              <a:buNone/>
            </a:pPr>
            <a:r>
              <a:rPr lang="fr-FR"/>
              <a:t>Implique qu’un humain accomplisse une tache à l’aide d’une application informatique.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Tache système (ou service)</a:t>
            </a:r>
            <a:endParaRPr/>
          </a:p>
          <a:p>
            <a:pPr indent="0" lvl="0" marL="0" rtl="0" algn="l">
              <a:spcBef>
                <a:spcPts val="0"/>
              </a:spcBef>
              <a:spcAft>
                <a:spcPts val="0"/>
              </a:spcAft>
              <a:buNone/>
            </a:pPr>
            <a:r>
              <a:rPr lang="fr-FR"/>
              <a:t>Se réalise automatiquement avec une application quelconque sans aucune intervention humaine</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Une tache manuelle doit être effectué sans l’aide d’un logiciel ou d’une application quelconque.</a:t>
            </a:r>
            <a:endParaRPr/>
          </a:p>
        </p:txBody>
      </p:sp>
      <p:sp>
        <p:nvSpPr>
          <p:cNvPr id="501" name="Google Shape;501;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Une tache Utilisateur:</a:t>
            </a:r>
            <a:endParaRPr/>
          </a:p>
          <a:p>
            <a:pPr indent="0" lvl="0" marL="0" rtl="0" algn="l">
              <a:spcBef>
                <a:spcPts val="0"/>
              </a:spcBef>
              <a:spcAft>
                <a:spcPts val="0"/>
              </a:spcAft>
              <a:buNone/>
            </a:pPr>
            <a:r>
              <a:rPr lang="fr-FR"/>
              <a:t>Implique qu’un humain accomplisse une tache à l’aide d’une application informatique.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Tache système (ou service)</a:t>
            </a:r>
            <a:endParaRPr/>
          </a:p>
          <a:p>
            <a:pPr indent="0" lvl="0" marL="0" rtl="0" algn="l">
              <a:spcBef>
                <a:spcPts val="0"/>
              </a:spcBef>
              <a:spcAft>
                <a:spcPts val="0"/>
              </a:spcAft>
              <a:buNone/>
            </a:pPr>
            <a:r>
              <a:rPr lang="fr-FR"/>
              <a:t>Se réalise automatiquement avec une application quelconque sans aucune intervention humaine</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Une tache manuelle doit être effectué sans l’aide d’un logiciel ou d’une application quelconque.</a:t>
            </a:r>
            <a:endParaRPr/>
          </a:p>
        </p:txBody>
      </p:sp>
      <p:sp>
        <p:nvSpPr>
          <p:cNvPr id="509" name="Google Shape;509;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Une tache Utilisateur:</a:t>
            </a:r>
            <a:endParaRPr/>
          </a:p>
          <a:p>
            <a:pPr indent="0" lvl="0" marL="0" rtl="0" algn="l">
              <a:spcBef>
                <a:spcPts val="0"/>
              </a:spcBef>
              <a:spcAft>
                <a:spcPts val="0"/>
              </a:spcAft>
              <a:buNone/>
            </a:pPr>
            <a:r>
              <a:rPr lang="fr-FR"/>
              <a:t>Implique qu’un humain accomplisse une tache à l’aide d’une application informatique.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Tache système (ou service)</a:t>
            </a:r>
            <a:endParaRPr/>
          </a:p>
          <a:p>
            <a:pPr indent="0" lvl="0" marL="0" rtl="0" algn="l">
              <a:spcBef>
                <a:spcPts val="0"/>
              </a:spcBef>
              <a:spcAft>
                <a:spcPts val="0"/>
              </a:spcAft>
              <a:buNone/>
            </a:pPr>
            <a:r>
              <a:rPr lang="fr-FR"/>
              <a:t>Se réalise automatiquement avec une application quelconque sans aucune intervention humaine</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Une tache manuelle doit être effectué sans l’aide d’un logiciel ou d’une application quelconque.</a:t>
            </a:r>
            <a:endParaRPr/>
          </a:p>
        </p:txBody>
      </p:sp>
      <p:sp>
        <p:nvSpPr>
          <p:cNvPr id="517" name="Google Shape;517;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Une tache Utilisateur:</a:t>
            </a:r>
            <a:endParaRPr/>
          </a:p>
          <a:p>
            <a:pPr indent="0" lvl="0" marL="0" rtl="0" algn="l">
              <a:spcBef>
                <a:spcPts val="0"/>
              </a:spcBef>
              <a:spcAft>
                <a:spcPts val="0"/>
              </a:spcAft>
              <a:buNone/>
            </a:pPr>
            <a:r>
              <a:rPr lang="fr-FR"/>
              <a:t>Implique qu’un humain accomplisse une tache à l’aide d’une application informatique.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Tache système (ou service)</a:t>
            </a:r>
            <a:endParaRPr/>
          </a:p>
          <a:p>
            <a:pPr indent="0" lvl="0" marL="0" rtl="0" algn="l">
              <a:spcBef>
                <a:spcPts val="0"/>
              </a:spcBef>
              <a:spcAft>
                <a:spcPts val="0"/>
              </a:spcAft>
              <a:buNone/>
            </a:pPr>
            <a:r>
              <a:rPr lang="fr-FR"/>
              <a:t>Se réalise automatiquement avec une application quelconque sans aucune intervention humaine</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Une tache manuelle doit être effectué sans l’aide d’un logiciel ou d’une application quelconque.</a:t>
            </a:r>
            <a:endParaRPr/>
          </a:p>
        </p:txBody>
      </p:sp>
      <p:sp>
        <p:nvSpPr>
          <p:cNvPr id="525" name="Google Shape;525;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Une tache Utilisateur:</a:t>
            </a:r>
            <a:endParaRPr/>
          </a:p>
          <a:p>
            <a:pPr indent="0" lvl="0" marL="0" rtl="0" algn="l">
              <a:spcBef>
                <a:spcPts val="0"/>
              </a:spcBef>
              <a:spcAft>
                <a:spcPts val="0"/>
              </a:spcAft>
              <a:buNone/>
            </a:pPr>
            <a:r>
              <a:rPr lang="fr-FR"/>
              <a:t>Implique qu’un humain accomplisse une tache à l’aide d’une application informatique.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Tache système (ou service)</a:t>
            </a:r>
            <a:endParaRPr/>
          </a:p>
          <a:p>
            <a:pPr indent="0" lvl="0" marL="0" rtl="0" algn="l">
              <a:spcBef>
                <a:spcPts val="0"/>
              </a:spcBef>
              <a:spcAft>
                <a:spcPts val="0"/>
              </a:spcAft>
              <a:buNone/>
            </a:pPr>
            <a:r>
              <a:rPr lang="fr-FR"/>
              <a:t>Se réalise automatiquement avec une application quelconque sans aucune intervention humaine</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Une tache manuelle doit être effectué sans l’aide d’un logiciel ou d’une application quelconque.</a:t>
            </a:r>
            <a:endParaRPr/>
          </a:p>
        </p:txBody>
      </p:sp>
      <p:sp>
        <p:nvSpPr>
          <p:cNvPr id="533" name="Google Shape;533;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9" name="Google Shape;559;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7" name="Google Shape;577;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7" name="Google Shape;587;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42" name="Shape 42"/>
        <p:cNvGrpSpPr/>
        <p:nvPr/>
      </p:nvGrpSpPr>
      <p:grpSpPr>
        <a:xfrm>
          <a:off x="0" y="0"/>
          <a:ext cx="0" cy="0"/>
          <a:chOff x="0" y="0"/>
          <a:chExt cx="0" cy="0"/>
        </a:xfrm>
      </p:grpSpPr>
      <p:sp>
        <p:nvSpPr>
          <p:cNvPr id="43" name="Google Shape;43;p60"/>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0"/>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p:txBody>
      </p:sp>
      <p:sp>
        <p:nvSpPr>
          <p:cNvPr id="45" name="Google Shape;45;p6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0"/>
          <p:cNvSpPr/>
          <p:nvPr/>
        </p:nvSpPr>
        <p:spPr>
          <a:xfrm>
            <a:off x="0" y="4323810"/>
            <a:ext cx="1744652" cy="778589"/>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0"/>
          <p:cNvSpPr txBox="1"/>
          <p:nvPr>
            <p:ph idx="12" type="sldNum"/>
          </p:nvPr>
        </p:nvSpPr>
        <p:spPr>
          <a:xfrm>
            <a:off x="531812" y="4529540"/>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49" name="Shape 49"/>
        <p:cNvGrpSpPr/>
        <p:nvPr/>
      </p:nvGrpSpPr>
      <p:grpSpPr>
        <a:xfrm>
          <a:off x="0" y="0"/>
          <a:ext cx="0" cy="0"/>
          <a:chOff x="0" y="0"/>
          <a:chExt cx="0" cy="0"/>
        </a:xfrm>
      </p:grpSpPr>
      <p:sp>
        <p:nvSpPr>
          <p:cNvPr id="50" name="Google Shape;50;p61"/>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1"/>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52" name="Google Shape;52;p6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1"/>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1"/>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56" name="Shape 56"/>
        <p:cNvGrpSpPr/>
        <p:nvPr/>
      </p:nvGrpSpPr>
      <p:grpSpPr>
        <a:xfrm>
          <a:off x="0" y="0"/>
          <a:ext cx="0" cy="0"/>
          <a:chOff x="0" y="0"/>
          <a:chExt cx="0" cy="0"/>
        </a:xfrm>
      </p:grpSpPr>
      <p:sp>
        <p:nvSpPr>
          <p:cNvPr id="57" name="Google Shape;57;p62"/>
          <p:cNvSpPr txBox="1"/>
          <p:nvPr>
            <p:ph type="title"/>
          </p:nvPr>
        </p:nvSpPr>
        <p:spPr>
          <a:xfrm>
            <a:off x="2589212" y="2058750"/>
            <a:ext cx="8915399"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62"/>
          <p:cNvSpPr txBox="1"/>
          <p:nvPr>
            <p:ph idx="1" type="body"/>
          </p:nvPr>
        </p:nvSpPr>
        <p:spPr>
          <a:xfrm>
            <a:off x="2589212" y="3530129"/>
            <a:ext cx="891539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2000"/>
              <a:buNone/>
              <a:defRPr sz="20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59" name="Google Shape;59;p6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62"/>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2"/>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63" name="Shape 63"/>
        <p:cNvGrpSpPr/>
        <p:nvPr/>
      </p:nvGrpSpPr>
      <p:grpSpPr>
        <a:xfrm>
          <a:off x="0" y="0"/>
          <a:ext cx="0" cy="0"/>
          <a:chOff x="0" y="0"/>
          <a:chExt cx="0" cy="0"/>
        </a:xfrm>
      </p:grpSpPr>
      <p:sp>
        <p:nvSpPr>
          <p:cNvPr id="64" name="Google Shape;64;p63"/>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63"/>
          <p:cNvSpPr txBox="1"/>
          <p:nvPr>
            <p:ph idx="1" type="body"/>
          </p:nvPr>
        </p:nvSpPr>
        <p:spPr>
          <a:xfrm>
            <a:off x="2589212" y="2133600"/>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6" name="Google Shape;66;p63"/>
          <p:cNvSpPr txBox="1"/>
          <p:nvPr>
            <p:ph idx="2" type="body"/>
          </p:nvPr>
        </p:nvSpPr>
        <p:spPr>
          <a:xfrm>
            <a:off x="7190747" y="2126222"/>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7" name="Google Shape;67;p6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6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3"/>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63"/>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71" name="Shape 71"/>
        <p:cNvGrpSpPr/>
        <p:nvPr/>
      </p:nvGrpSpPr>
      <p:grpSpPr>
        <a:xfrm>
          <a:off x="0" y="0"/>
          <a:ext cx="0" cy="0"/>
          <a:chOff x="0" y="0"/>
          <a:chExt cx="0" cy="0"/>
        </a:xfrm>
      </p:grpSpPr>
      <p:sp>
        <p:nvSpPr>
          <p:cNvPr id="72" name="Google Shape;72;p64"/>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4"/>
          <p:cNvSpPr txBox="1"/>
          <p:nvPr>
            <p:ph idx="1" type="body"/>
          </p:nvPr>
        </p:nvSpPr>
        <p:spPr>
          <a:xfrm>
            <a:off x="2939373" y="1972703"/>
            <a:ext cx="399273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4" name="Google Shape;74;p64"/>
          <p:cNvSpPr txBox="1"/>
          <p:nvPr>
            <p:ph idx="2" type="body"/>
          </p:nvPr>
        </p:nvSpPr>
        <p:spPr>
          <a:xfrm>
            <a:off x="2589212" y="2548966"/>
            <a:ext cx="4342893"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5" name="Google Shape;75;p64"/>
          <p:cNvSpPr txBox="1"/>
          <p:nvPr>
            <p:ph idx="3" type="body"/>
          </p:nvPr>
        </p:nvSpPr>
        <p:spPr>
          <a:xfrm>
            <a:off x="7506629" y="1969475"/>
            <a:ext cx="399900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6" name="Google Shape;76;p64"/>
          <p:cNvSpPr txBox="1"/>
          <p:nvPr>
            <p:ph idx="4" type="body"/>
          </p:nvPr>
        </p:nvSpPr>
        <p:spPr>
          <a:xfrm>
            <a:off x="7166957" y="2545738"/>
            <a:ext cx="4338674"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7" name="Google Shape;77;p6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81" name="Shape 81"/>
        <p:cNvGrpSpPr/>
        <p:nvPr/>
      </p:nvGrpSpPr>
      <p:grpSpPr>
        <a:xfrm>
          <a:off x="0" y="0"/>
          <a:ext cx="0" cy="0"/>
          <a:chOff x="0" y="0"/>
          <a:chExt cx="0" cy="0"/>
        </a:xfrm>
      </p:grpSpPr>
      <p:sp>
        <p:nvSpPr>
          <p:cNvPr id="82" name="Google Shape;82;p65"/>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6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87" name="Shape 87"/>
        <p:cNvGrpSpPr/>
        <p:nvPr/>
      </p:nvGrpSpPr>
      <p:grpSpPr>
        <a:xfrm>
          <a:off x="0" y="0"/>
          <a:ext cx="0" cy="0"/>
          <a:chOff x="0" y="0"/>
          <a:chExt cx="0" cy="0"/>
        </a:xfrm>
      </p:grpSpPr>
      <p:sp>
        <p:nvSpPr>
          <p:cNvPr id="88" name="Google Shape;88;p6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6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6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92" name="Shape 92"/>
        <p:cNvGrpSpPr/>
        <p:nvPr/>
      </p:nvGrpSpPr>
      <p:grpSpPr>
        <a:xfrm>
          <a:off x="0" y="0"/>
          <a:ext cx="0" cy="0"/>
          <a:chOff x="0" y="0"/>
          <a:chExt cx="0" cy="0"/>
        </a:xfrm>
      </p:grpSpPr>
      <p:sp>
        <p:nvSpPr>
          <p:cNvPr id="93" name="Google Shape;93;p67"/>
          <p:cNvSpPr txBox="1"/>
          <p:nvPr>
            <p:ph type="title"/>
          </p:nvPr>
        </p:nvSpPr>
        <p:spPr>
          <a:xfrm>
            <a:off x="2589212" y="446088"/>
            <a:ext cx="3505199" cy="97631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000"/>
              <a:buFont typeface="Century Gothic"/>
              <a:buNone/>
              <a:defRPr b="0"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67"/>
          <p:cNvSpPr txBox="1"/>
          <p:nvPr>
            <p:ph idx="1" type="body"/>
          </p:nvPr>
        </p:nvSpPr>
        <p:spPr>
          <a:xfrm>
            <a:off x="6323012" y="446088"/>
            <a:ext cx="5181600" cy="5414963"/>
          </a:xfrm>
          <a:prstGeom prst="rect">
            <a:avLst/>
          </a:prstGeom>
          <a:noFill/>
          <a:ln>
            <a:noFill/>
          </a:ln>
        </p:spPr>
        <p:txBody>
          <a:bodyPr anchorCtr="0" anchor="ctr"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95" name="Google Shape;95;p67"/>
          <p:cNvSpPr txBox="1"/>
          <p:nvPr>
            <p:ph idx="2" type="body"/>
          </p:nvPr>
        </p:nvSpPr>
        <p:spPr>
          <a:xfrm>
            <a:off x="2589212" y="1598613"/>
            <a:ext cx="3505199" cy="4262436"/>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00"/>
              <a:buNone/>
              <a:defRPr sz="14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96" name="Google Shape;96;p6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6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6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100" name="Shape 100"/>
        <p:cNvGrpSpPr/>
        <p:nvPr/>
      </p:nvGrpSpPr>
      <p:grpSpPr>
        <a:xfrm>
          <a:off x="0" y="0"/>
          <a:ext cx="0" cy="0"/>
          <a:chOff x="0" y="0"/>
          <a:chExt cx="0" cy="0"/>
        </a:xfrm>
      </p:grpSpPr>
      <p:sp>
        <p:nvSpPr>
          <p:cNvPr id="101" name="Google Shape;101;p68"/>
          <p:cNvSpPr txBox="1"/>
          <p:nvPr>
            <p:ph type="title"/>
          </p:nvPr>
        </p:nvSpPr>
        <p:spPr>
          <a:xfrm>
            <a:off x="2589213" y="4800600"/>
            <a:ext cx="8915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68"/>
          <p:cNvSpPr/>
          <p:nvPr>
            <p:ph idx="2" type="pic"/>
          </p:nvPr>
        </p:nvSpPr>
        <p:spPr>
          <a:xfrm>
            <a:off x="2589212" y="634965"/>
            <a:ext cx="8915400" cy="3854970"/>
          </a:xfrm>
          <a:prstGeom prst="rect">
            <a:avLst/>
          </a:prstGeom>
          <a:noFill/>
          <a:ln>
            <a:noFill/>
          </a:ln>
        </p:spPr>
      </p:sp>
      <p:sp>
        <p:nvSpPr>
          <p:cNvPr id="103" name="Google Shape;103;p68"/>
          <p:cNvSpPr txBox="1"/>
          <p:nvPr>
            <p:ph idx="1" type="body"/>
          </p:nvPr>
        </p:nvSpPr>
        <p:spPr>
          <a:xfrm>
            <a:off x="2589213" y="5367338"/>
            <a:ext cx="8915400"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200"/>
              <a:buNone/>
              <a:defRPr sz="12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04" name="Google Shape;104;p6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6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68"/>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8"/>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légende">
  <p:cSld name="Titre et légende">
    <p:spTree>
      <p:nvGrpSpPr>
        <p:cNvPr id="108" name="Shape 108"/>
        <p:cNvGrpSpPr/>
        <p:nvPr/>
      </p:nvGrpSpPr>
      <p:grpSpPr>
        <a:xfrm>
          <a:off x="0" y="0"/>
          <a:ext cx="0" cy="0"/>
          <a:chOff x="0" y="0"/>
          <a:chExt cx="0" cy="0"/>
        </a:xfrm>
      </p:grpSpPr>
      <p:sp>
        <p:nvSpPr>
          <p:cNvPr id="109" name="Google Shape;109;p69"/>
          <p:cNvSpPr txBox="1"/>
          <p:nvPr>
            <p:ph type="title"/>
          </p:nvPr>
        </p:nvSpPr>
        <p:spPr>
          <a:xfrm>
            <a:off x="2589212" y="609600"/>
            <a:ext cx="8915399" cy="311704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69"/>
          <p:cNvSpPr txBox="1"/>
          <p:nvPr>
            <p:ph idx="1"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11" name="Google Shape;111;p6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6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69"/>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9"/>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tion avec légende">
  <p:cSld name="Citation avec légende">
    <p:spTree>
      <p:nvGrpSpPr>
        <p:cNvPr id="115" name="Shape 115"/>
        <p:cNvGrpSpPr/>
        <p:nvPr/>
      </p:nvGrpSpPr>
      <p:grpSpPr>
        <a:xfrm>
          <a:off x="0" y="0"/>
          <a:ext cx="0" cy="0"/>
          <a:chOff x="0" y="0"/>
          <a:chExt cx="0" cy="0"/>
        </a:xfrm>
      </p:grpSpPr>
      <p:sp>
        <p:nvSpPr>
          <p:cNvPr id="116" name="Google Shape;116;p70"/>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70"/>
          <p:cNvSpPr txBox="1"/>
          <p:nvPr>
            <p:ph idx="1" type="body"/>
          </p:nvPr>
        </p:nvSpPr>
        <p:spPr>
          <a:xfrm>
            <a:off x="3275012" y="3505200"/>
            <a:ext cx="753655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600"/>
              <a:buFont typeface="Century Gothic"/>
              <a:buNone/>
              <a:defRPr sz="1600">
                <a:solidFill>
                  <a:srgbClr val="7F7F7F"/>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18" name="Google Shape;118;p70"/>
          <p:cNvSpPr txBox="1"/>
          <p:nvPr>
            <p:ph idx="2"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19" name="Google Shape;119;p7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7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70"/>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0"/>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123" name="Google Shape;123;p70"/>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fr-FR" sz="8000">
                <a:solidFill>
                  <a:schemeClr val="accent1"/>
                </a:solidFill>
                <a:latin typeface="Arial"/>
                <a:ea typeface="Arial"/>
                <a:cs typeface="Arial"/>
                <a:sym typeface="Arial"/>
              </a:rPr>
              <a:t>“</a:t>
            </a:r>
            <a:endParaRPr/>
          </a:p>
        </p:txBody>
      </p:sp>
      <p:sp>
        <p:nvSpPr>
          <p:cNvPr id="124" name="Google Shape;124;p70"/>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fr-FR" sz="8000">
                <a:solidFill>
                  <a:schemeClr val="accent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te nom">
  <p:cSld name="Carte nom">
    <p:spTree>
      <p:nvGrpSpPr>
        <p:cNvPr id="125" name="Shape 125"/>
        <p:cNvGrpSpPr/>
        <p:nvPr/>
      </p:nvGrpSpPr>
      <p:grpSpPr>
        <a:xfrm>
          <a:off x="0" y="0"/>
          <a:ext cx="0" cy="0"/>
          <a:chOff x="0" y="0"/>
          <a:chExt cx="0" cy="0"/>
        </a:xfrm>
      </p:grpSpPr>
      <p:sp>
        <p:nvSpPr>
          <p:cNvPr id="126" name="Google Shape;126;p71"/>
          <p:cNvSpPr txBox="1"/>
          <p:nvPr>
            <p:ph type="title"/>
          </p:nvPr>
        </p:nvSpPr>
        <p:spPr>
          <a:xfrm>
            <a:off x="2589213" y="2438400"/>
            <a:ext cx="8915400" cy="272484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71"/>
          <p:cNvSpPr txBox="1"/>
          <p:nvPr>
            <p:ph idx="1"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28" name="Google Shape;128;p7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7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71"/>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1"/>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te nom citation">
  <p:cSld name="Carte nom citation">
    <p:spTree>
      <p:nvGrpSpPr>
        <p:cNvPr id="132" name="Shape 132"/>
        <p:cNvGrpSpPr/>
        <p:nvPr/>
      </p:nvGrpSpPr>
      <p:grpSpPr>
        <a:xfrm>
          <a:off x="0" y="0"/>
          <a:ext cx="0" cy="0"/>
          <a:chOff x="0" y="0"/>
          <a:chExt cx="0" cy="0"/>
        </a:xfrm>
      </p:grpSpPr>
      <p:sp>
        <p:nvSpPr>
          <p:cNvPr id="133" name="Google Shape;133;p72"/>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72"/>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5" name="Google Shape;135;p72"/>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6" name="Google Shape;136;p7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7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72"/>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2"/>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140" name="Google Shape;140;p72"/>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fr-FR" sz="8000">
                <a:solidFill>
                  <a:schemeClr val="accent1"/>
                </a:solidFill>
                <a:latin typeface="Arial"/>
                <a:ea typeface="Arial"/>
                <a:cs typeface="Arial"/>
                <a:sym typeface="Arial"/>
              </a:rPr>
              <a:t>“</a:t>
            </a:r>
            <a:endParaRPr/>
          </a:p>
        </p:txBody>
      </p:sp>
      <p:sp>
        <p:nvSpPr>
          <p:cNvPr id="141" name="Google Shape;141;p72"/>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fr-FR" sz="8000">
                <a:solidFill>
                  <a:schemeClr val="accent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rai ou faux">
  <p:cSld name="Vrai ou faux">
    <p:spTree>
      <p:nvGrpSpPr>
        <p:cNvPr id="142" name="Shape 142"/>
        <p:cNvGrpSpPr/>
        <p:nvPr/>
      </p:nvGrpSpPr>
      <p:grpSpPr>
        <a:xfrm>
          <a:off x="0" y="0"/>
          <a:ext cx="0" cy="0"/>
          <a:chOff x="0" y="0"/>
          <a:chExt cx="0" cy="0"/>
        </a:xfrm>
      </p:grpSpPr>
      <p:sp>
        <p:nvSpPr>
          <p:cNvPr id="143" name="Google Shape;143;p73"/>
          <p:cNvSpPr txBox="1"/>
          <p:nvPr>
            <p:ph type="title"/>
          </p:nvPr>
        </p:nvSpPr>
        <p:spPr>
          <a:xfrm>
            <a:off x="2589212" y="627407"/>
            <a:ext cx="8915399" cy="288002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73"/>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5" name="Google Shape;145;p73"/>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6" name="Google Shape;146;p7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7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73"/>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3"/>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150" name="Shape 150"/>
        <p:cNvGrpSpPr/>
        <p:nvPr/>
      </p:nvGrpSpPr>
      <p:grpSpPr>
        <a:xfrm>
          <a:off x="0" y="0"/>
          <a:ext cx="0" cy="0"/>
          <a:chOff x="0" y="0"/>
          <a:chExt cx="0" cy="0"/>
        </a:xfrm>
      </p:grpSpPr>
      <p:sp>
        <p:nvSpPr>
          <p:cNvPr id="151" name="Google Shape;151;p74"/>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74"/>
          <p:cNvSpPr txBox="1"/>
          <p:nvPr>
            <p:ph idx="1" type="body"/>
          </p:nvPr>
        </p:nvSpPr>
        <p:spPr>
          <a:xfrm rot="5400000">
            <a:off x="5103812" y="-381000"/>
            <a:ext cx="3886200" cy="89154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3" name="Google Shape;153;p7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7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7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157" name="Shape 157"/>
        <p:cNvGrpSpPr/>
        <p:nvPr/>
      </p:nvGrpSpPr>
      <p:grpSpPr>
        <a:xfrm>
          <a:off x="0" y="0"/>
          <a:ext cx="0" cy="0"/>
          <a:chOff x="0" y="0"/>
          <a:chExt cx="0" cy="0"/>
        </a:xfrm>
      </p:grpSpPr>
      <p:sp>
        <p:nvSpPr>
          <p:cNvPr id="158" name="Google Shape;158;p75"/>
          <p:cNvSpPr txBox="1"/>
          <p:nvPr>
            <p:ph type="title"/>
          </p:nvPr>
        </p:nvSpPr>
        <p:spPr>
          <a:xfrm rot="5400000">
            <a:off x="7756704" y="2165513"/>
            <a:ext cx="5283817" cy="2207601"/>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75"/>
          <p:cNvSpPr txBox="1"/>
          <p:nvPr>
            <p:ph idx="1" type="body"/>
          </p:nvPr>
        </p:nvSpPr>
        <p:spPr>
          <a:xfrm rot="5400000">
            <a:off x="3185803" y="30814"/>
            <a:ext cx="5283817" cy="64770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60" name="Google Shape;160;p7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7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7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l="0%" r="100%" t="0%"/>
          </a:path>
          <a:tileRect b="0%" l="-100%" r="0%" t="-100%"/>
        </a:gradFill>
      </p:bgPr>
    </p:bg>
    <p:spTree>
      <p:nvGrpSpPr>
        <p:cNvPr id="9" name="Shape 9"/>
        <p:cNvGrpSpPr/>
        <p:nvPr/>
      </p:nvGrpSpPr>
      <p:grpSpPr>
        <a:xfrm>
          <a:off x="0" y="0"/>
          <a:ext cx="0" cy="0"/>
          <a:chOff x="0" y="0"/>
          <a:chExt cx="0" cy="0"/>
        </a:xfrm>
      </p:grpSpPr>
      <p:grpSp>
        <p:nvGrpSpPr>
          <p:cNvPr id="10" name="Google Shape;10;p59"/>
          <p:cNvGrpSpPr/>
          <p:nvPr/>
        </p:nvGrpSpPr>
        <p:grpSpPr>
          <a:xfrm>
            <a:off x="1" y="228600"/>
            <a:ext cx="2851516" cy="6638628"/>
            <a:chOff x="2487613" y="285750"/>
            <a:chExt cx="2428875" cy="5654676"/>
          </a:xfrm>
        </p:grpSpPr>
        <p:sp>
          <p:nvSpPr>
            <p:cNvPr id="11" name="Google Shape;11;p59"/>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59"/>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59"/>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59"/>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59"/>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59"/>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59"/>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59"/>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59"/>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59"/>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59"/>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59"/>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59"/>
          <p:cNvGrpSpPr/>
          <p:nvPr/>
        </p:nvGrpSpPr>
        <p:grpSpPr>
          <a:xfrm>
            <a:off x="27221" y="-786"/>
            <a:ext cx="2356674" cy="6854039"/>
            <a:chOff x="6627813" y="194833"/>
            <a:chExt cx="1952625" cy="5678918"/>
          </a:xfrm>
        </p:grpSpPr>
        <p:sp>
          <p:nvSpPr>
            <p:cNvPr id="24" name="Google Shape;24;p59"/>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9"/>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9"/>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9"/>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9"/>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9"/>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59"/>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9"/>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9"/>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9"/>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59"/>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9"/>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9"/>
          <p:cNvSpPr/>
          <p:nvPr/>
        </p:nvSpPr>
        <p:spPr>
          <a:xfrm>
            <a:off x="0" y="0"/>
            <a:ext cx="18288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9"/>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262626"/>
              </a:buClr>
              <a:buSzPts val="3600"/>
              <a:buFont typeface="Century Gothic"/>
              <a:buNone/>
              <a:defRPr b="0" i="0" sz="3600" u="none" cap="none" strike="noStrike">
                <a:solidFill>
                  <a:srgbClr val="262626"/>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8" name="Google Shape;38;p59"/>
          <p:cNvSpPr txBox="1"/>
          <p:nvPr>
            <p:ph idx="1" type="body"/>
          </p:nvPr>
        </p:nvSpPr>
        <p:spPr>
          <a:xfrm>
            <a:off x="2589212" y="2133600"/>
            <a:ext cx="8915400" cy="38862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1000"/>
              </a:spcBef>
              <a:spcAft>
                <a:spcPts val="0"/>
              </a:spcAft>
              <a:buClr>
                <a:schemeClr val="accent1"/>
              </a:buClr>
              <a:buSzPts val="180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30200" lvl="1" marL="914400" marR="0" rtl="0" algn="l">
              <a:spcBef>
                <a:spcPts val="1000"/>
              </a:spcBef>
              <a:spcAft>
                <a:spcPts val="0"/>
              </a:spcAft>
              <a:buClr>
                <a:schemeClr val="accent1"/>
              </a:buClr>
              <a:buSzPts val="160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317500" lvl="2" marL="1371600" marR="0" rtl="0" algn="l">
              <a:spcBef>
                <a:spcPts val="1000"/>
              </a:spcBef>
              <a:spcAft>
                <a:spcPts val="0"/>
              </a:spcAft>
              <a:buClr>
                <a:schemeClr val="accent1"/>
              </a:buClr>
              <a:buSzPts val="140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304800" lvl="3" marL="1828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304800" lvl="4" marL="22860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304800" lvl="5" marL="27432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304800" lvl="6" marL="32004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304800" lvl="7" marL="36576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304800" lvl="8" marL="4114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39" name="Google Shape;39;p5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0" name="Google Shape;40;p5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1" name="Google Shape;41;p59"/>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2000" u="none" cap="none" strike="noStrike">
                <a:solidFill>
                  <a:srgbClr val="FEFFFF"/>
                </a:solidFill>
                <a:latin typeface="Century Gothic"/>
                <a:ea typeface="Century Gothic"/>
                <a:cs typeface="Century Gothic"/>
                <a:sym typeface="Century Gothic"/>
              </a:defRPr>
            </a:lvl1pPr>
            <a:lvl2pPr indent="0" lvl="1" marL="0" marR="0" rtl="0" algn="r">
              <a:spcBef>
                <a:spcPts val="0"/>
              </a:spcBef>
              <a:buNone/>
              <a:defRPr b="0" i="0" sz="2000" u="none" cap="none" strike="noStrike">
                <a:solidFill>
                  <a:srgbClr val="FEFFFF"/>
                </a:solidFill>
                <a:latin typeface="Century Gothic"/>
                <a:ea typeface="Century Gothic"/>
                <a:cs typeface="Century Gothic"/>
                <a:sym typeface="Century Gothic"/>
              </a:defRPr>
            </a:lvl2pPr>
            <a:lvl3pPr indent="0" lvl="2" marL="0" marR="0" rtl="0" algn="r">
              <a:spcBef>
                <a:spcPts val="0"/>
              </a:spcBef>
              <a:buNone/>
              <a:defRPr b="0" i="0" sz="2000" u="none" cap="none" strike="noStrike">
                <a:solidFill>
                  <a:srgbClr val="FEFFFF"/>
                </a:solidFill>
                <a:latin typeface="Century Gothic"/>
                <a:ea typeface="Century Gothic"/>
                <a:cs typeface="Century Gothic"/>
                <a:sym typeface="Century Gothic"/>
              </a:defRPr>
            </a:lvl3pPr>
            <a:lvl4pPr indent="0" lvl="3" marL="0" marR="0" rtl="0" algn="r">
              <a:spcBef>
                <a:spcPts val="0"/>
              </a:spcBef>
              <a:buNone/>
              <a:defRPr b="0" i="0" sz="2000" u="none" cap="none" strike="noStrike">
                <a:solidFill>
                  <a:srgbClr val="FEFFFF"/>
                </a:solidFill>
                <a:latin typeface="Century Gothic"/>
                <a:ea typeface="Century Gothic"/>
                <a:cs typeface="Century Gothic"/>
                <a:sym typeface="Century Gothic"/>
              </a:defRPr>
            </a:lvl4pPr>
            <a:lvl5pPr indent="0" lvl="4" marL="0" marR="0" rtl="0" algn="r">
              <a:spcBef>
                <a:spcPts val="0"/>
              </a:spcBef>
              <a:buNone/>
              <a:defRPr b="0" i="0" sz="2000" u="none" cap="none" strike="noStrike">
                <a:solidFill>
                  <a:srgbClr val="FEFFFF"/>
                </a:solidFill>
                <a:latin typeface="Century Gothic"/>
                <a:ea typeface="Century Gothic"/>
                <a:cs typeface="Century Gothic"/>
                <a:sym typeface="Century Gothic"/>
              </a:defRPr>
            </a:lvl5pPr>
            <a:lvl6pPr indent="0" lvl="5" marL="0" marR="0" rtl="0" algn="r">
              <a:spcBef>
                <a:spcPts val="0"/>
              </a:spcBef>
              <a:buNone/>
              <a:defRPr b="0" i="0" sz="2000" u="none" cap="none" strike="noStrike">
                <a:solidFill>
                  <a:srgbClr val="FEFFFF"/>
                </a:solidFill>
                <a:latin typeface="Century Gothic"/>
                <a:ea typeface="Century Gothic"/>
                <a:cs typeface="Century Gothic"/>
                <a:sym typeface="Century Gothic"/>
              </a:defRPr>
            </a:lvl6pPr>
            <a:lvl7pPr indent="0" lvl="6" marL="0" marR="0" rtl="0" algn="r">
              <a:spcBef>
                <a:spcPts val="0"/>
              </a:spcBef>
              <a:buNone/>
              <a:defRPr b="0" i="0" sz="2000" u="none" cap="none" strike="noStrike">
                <a:solidFill>
                  <a:srgbClr val="FEFFFF"/>
                </a:solidFill>
                <a:latin typeface="Century Gothic"/>
                <a:ea typeface="Century Gothic"/>
                <a:cs typeface="Century Gothic"/>
                <a:sym typeface="Century Gothic"/>
              </a:defRPr>
            </a:lvl7pPr>
            <a:lvl8pPr indent="0" lvl="7" marL="0" marR="0" rtl="0" algn="r">
              <a:spcBef>
                <a:spcPts val="0"/>
              </a:spcBef>
              <a:buNone/>
              <a:defRPr b="0" i="0" sz="2000" u="none" cap="none" strike="noStrike">
                <a:solidFill>
                  <a:srgbClr val="FEFFFF"/>
                </a:solidFill>
                <a:latin typeface="Century Gothic"/>
                <a:ea typeface="Century Gothic"/>
                <a:cs typeface="Century Gothic"/>
                <a:sym typeface="Century Gothic"/>
              </a:defRPr>
            </a:lvl8pPr>
            <a:lvl9pPr indent="0" lvl="8" marL="0" marR="0" rtl="0" algn="r">
              <a:spcBef>
                <a:spcPts val="0"/>
              </a:spcBef>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12.jpg"/><Relationship Id="rId5" Type="http://schemas.openxmlformats.org/officeDocument/2006/relationships/image" Target="../media/image16.jpg"/><Relationship Id="rId6"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jpg"/><Relationship Id="rId4" Type="http://schemas.openxmlformats.org/officeDocument/2006/relationships/image" Target="../media/image2.jpg"/><Relationship Id="rId5"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jpg"/><Relationship Id="rId4"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0.jpg"/><Relationship Id="rId4" Type="http://schemas.openxmlformats.org/officeDocument/2006/relationships/image" Target="../media/image2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3.jpg"/><Relationship Id="rId4"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jpg"/><Relationship Id="rId4" Type="http://schemas.openxmlformats.org/officeDocument/2006/relationships/image" Target="../media/image1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17.png"/><Relationship Id="rId5" Type="http://schemas.openxmlformats.org/officeDocument/2006/relationships/image" Target="../media/image25.png"/><Relationship Id="rId6"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1.png"/><Relationship Id="rId4" Type="http://schemas.openxmlformats.org/officeDocument/2006/relationships/image" Target="../media/image24.png"/><Relationship Id="rId5"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4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6.png"/><Relationship Id="rId4" Type="http://schemas.openxmlformats.org/officeDocument/2006/relationships/image" Target="../media/image34.png"/><Relationship Id="rId5"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image" Target="../media/image50.png"/><Relationship Id="rId5" Type="http://schemas.openxmlformats.org/officeDocument/2006/relationships/image" Target="../media/image45.png"/><Relationship Id="rId6" Type="http://schemas.openxmlformats.org/officeDocument/2006/relationships/image" Target="../media/image5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3.png"/><Relationship Id="rId4" Type="http://schemas.openxmlformats.org/officeDocument/2006/relationships/image" Target="../media/image52.png"/><Relationship Id="rId5" Type="http://schemas.openxmlformats.org/officeDocument/2006/relationships/image" Target="../media/image5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63.png"/><Relationship Id="rId4" Type="http://schemas.openxmlformats.org/officeDocument/2006/relationships/image" Target="../media/image44.png"/><Relationship Id="rId5" Type="http://schemas.openxmlformats.org/officeDocument/2006/relationships/image" Target="../media/image49.png"/><Relationship Id="rId6" Type="http://schemas.openxmlformats.org/officeDocument/2006/relationships/image" Target="../media/image58.png"/><Relationship Id="rId7" Type="http://schemas.openxmlformats.org/officeDocument/2006/relationships/image" Target="../media/image4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7.png"/><Relationship Id="rId4" Type="http://schemas.openxmlformats.org/officeDocument/2006/relationships/image" Target="../media/image54.png"/><Relationship Id="rId5" Type="http://schemas.openxmlformats.org/officeDocument/2006/relationships/image" Target="../media/image48.png"/><Relationship Id="rId6" Type="http://schemas.openxmlformats.org/officeDocument/2006/relationships/image" Target="../media/image5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6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61.png"/><Relationship Id="rId4" Type="http://schemas.openxmlformats.org/officeDocument/2006/relationships/image" Target="../media/image53.png"/><Relationship Id="rId9" Type="http://schemas.openxmlformats.org/officeDocument/2006/relationships/image" Target="../media/image65.png"/><Relationship Id="rId5" Type="http://schemas.openxmlformats.org/officeDocument/2006/relationships/image" Target="../media/image64.png"/><Relationship Id="rId6" Type="http://schemas.openxmlformats.org/officeDocument/2006/relationships/image" Target="../media/image62.png"/><Relationship Id="rId7" Type="http://schemas.openxmlformats.org/officeDocument/2006/relationships/image" Target="../media/image59.png"/><Relationship Id="rId8" Type="http://schemas.openxmlformats.org/officeDocument/2006/relationships/image" Target="../media/image6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6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8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6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6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7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7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7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7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7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7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8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7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8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7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7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
          <p:cNvSpPr txBox="1"/>
          <p:nvPr>
            <p:ph type="ctrTitle"/>
          </p:nvPr>
        </p:nvSpPr>
        <p:spPr>
          <a:xfrm>
            <a:off x="2137601" y="1215088"/>
            <a:ext cx="10472966" cy="140853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7B230B"/>
              </a:buClr>
              <a:buSzPts val="8800"/>
              <a:buFont typeface="Quintessential"/>
              <a:buNone/>
            </a:pPr>
            <a:r>
              <a:rPr b="1" lang="fr-FR" sz="8800">
                <a:solidFill>
                  <a:srgbClr val="7B230B"/>
                </a:solidFill>
                <a:latin typeface="Quintessential"/>
                <a:ea typeface="Quintessential"/>
                <a:cs typeface="Quintessential"/>
                <a:sym typeface="Quintessential"/>
              </a:rPr>
              <a:t>BPMN</a:t>
            </a:r>
            <a:endParaRPr/>
          </a:p>
        </p:txBody>
      </p:sp>
      <p:sp>
        <p:nvSpPr>
          <p:cNvPr id="170" name="Google Shape;170;p1"/>
          <p:cNvSpPr txBox="1"/>
          <p:nvPr/>
        </p:nvSpPr>
        <p:spPr>
          <a:xfrm>
            <a:off x="2101516" y="3737811"/>
            <a:ext cx="8919409" cy="2697651"/>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2800"/>
              <a:buFont typeface="Noto Sans Symbols"/>
              <a:buNone/>
            </a:pPr>
            <a:r>
              <a:rPr b="0" i="0" lang="fr-FR" sz="2800" u="none" cap="none" strike="noStrike">
                <a:solidFill>
                  <a:schemeClr val="accent1"/>
                </a:solidFill>
                <a:latin typeface="Corben"/>
                <a:ea typeface="Corben"/>
                <a:cs typeface="Corben"/>
                <a:sym typeface="Corben"/>
              </a:rPr>
              <a:t>Réalisé par:</a:t>
            </a:r>
            <a:endParaRPr/>
          </a:p>
        </p:txBody>
      </p:sp>
      <p:sp>
        <p:nvSpPr>
          <p:cNvPr id="171" name="Google Shape;171;p1"/>
          <p:cNvSpPr txBox="1"/>
          <p:nvPr/>
        </p:nvSpPr>
        <p:spPr>
          <a:xfrm>
            <a:off x="4278702" y="4278702"/>
            <a:ext cx="552991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fr-FR" sz="2800" u="none" cap="none" strike="noStrike">
                <a:solidFill>
                  <a:schemeClr val="accent1"/>
                </a:solidFill>
                <a:latin typeface="Corben"/>
                <a:ea typeface="Corben"/>
                <a:cs typeface="Corben"/>
                <a:sym typeface="Corben"/>
              </a:rPr>
              <a:t>Rachida AIT ABDELOUAHID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
          <p:cNvSpPr txBox="1"/>
          <p:nvPr>
            <p:ph type="title"/>
          </p:nvPr>
        </p:nvSpPr>
        <p:spPr>
          <a:xfrm>
            <a:off x="2592925" y="371446"/>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6600"/>
              <a:buFont typeface="Corben"/>
              <a:buNone/>
            </a:pPr>
            <a:r>
              <a:rPr lang="fr-FR" sz="6600">
                <a:solidFill>
                  <a:schemeClr val="accent1"/>
                </a:solidFill>
                <a:latin typeface="Corben"/>
                <a:ea typeface="Corben"/>
                <a:cs typeface="Corben"/>
                <a:sym typeface="Corben"/>
              </a:rPr>
              <a:t>PLAN</a:t>
            </a:r>
            <a:endParaRPr/>
          </a:p>
        </p:txBody>
      </p:sp>
      <p:sp>
        <p:nvSpPr>
          <p:cNvPr id="177" name="Google Shape;177;p2"/>
          <p:cNvSpPr txBox="1"/>
          <p:nvPr>
            <p:ph idx="1" type="body"/>
          </p:nvPr>
        </p:nvSpPr>
        <p:spPr>
          <a:xfrm>
            <a:off x="721895" y="1652336"/>
            <a:ext cx="10782717" cy="377762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00"/>
              <a:buNone/>
            </a:pPr>
            <a:r>
              <a:rPr lang="fr-FR" sz="2000">
                <a:latin typeface="Corben"/>
                <a:ea typeface="Corben"/>
                <a:cs typeface="Corben"/>
                <a:sym typeface="Corben"/>
              </a:rPr>
              <a:t>I-Introduction</a:t>
            </a:r>
            <a:endParaRPr/>
          </a:p>
          <a:p>
            <a:pPr indent="-342900" lvl="0" marL="342900" rtl="0" algn="l">
              <a:spcBef>
                <a:spcPts val="1000"/>
              </a:spcBef>
              <a:spcAft>
                <a:spcPts val="0"/>
              </a:spcAft>
              <a:buSzPts val="2000"/>
              <a:buNone/>
            </a:pPr>
            <a:r>
              <a:rPr lang="fr-FR" sz="2000">
                <a:latin typeface="Corben"/>
                <a:ea typeface="Corben"/>
                <a:cs typeface="Corben"/>
                <a:sym typeface="Corben"/>
              </a:rPr>
              <a:t>Processus métier</a:t>
            </a:r>
            <a:endParaRPr/>
          </a:p>
          <a:p>
            <a:pPr indent="-342900" lvl="0" marL="342900" rtl="0" algn="l">
              <a:spcBef>
                <a:spcPts val="1000"/>
              </a:spcBef>
              <a:spcAft>
                <a:spcPts val="0"/>
              </a:spcAft>
              <a:buSzPts val="2000"/>
              <a:buNone/>
            </a:pPr>
            <a:r>
              <a:rPr lang="fr-FR" sz="2000">
                <a:latin typeface="Corben"/>
                <a:ea typeface="Corben"/>
                <a:cs typeface="Corben"/>
                <a:sym typeface="Corben"/>
              </a:rPr>
              <a:t>II-BPMN </a:t>
            </a:r>
            <a:endParaRPr/>
          </a:p>
          <a:p>
            <a:pPr indent="-342900" lvl="0" marL="342900" rtl="0" algn="l">
              <a:spcBef>
                <a:spcPts val="1000"/>
              </a:spcBef>
              <a:spcAft>
                <a:spcPts val="0"/>
              </a:spcAft>
              <a:buSzPts val="2000"/>
              <a:buNone/>
            </a:pPr>
            <a:r>
              <a:rPr lang="fr-FR" sz="2000">
                <a:latin typeface="Corben"/>
                <a:ea typeface="Corben"/>
                <a:cs typeface="Corben"/>
                <a:sym typeface="Corben"/>
              </a:rPr>
              <a:t>    1-Définition BPMN</a:t>
            </a:r>
            <a:endParaRPr/>
          </a:p>
          <a:p>
            <a:pPr indent="-342900" lvl="0" marL="342900" rtl="0" algn="l">
              <a:spcBef>
                <a:spcPts val="1000"/>
              </a:spcBef>
              <a:spcAft>
                <a:spcPts val="0"/>
              </a:spcAft>
              <a:buSzPts val="2000"/>
              <a:buNone/>
            </a:pPr>
            <a:r>
              <a:rPr lang="fr-FR" sz="2000">
                <a:latin typeface="Corben"/>
                <a:ea typeface="Corben"/>
                <a:cs typeface="Corben"/>
                <a:sym typeface="Corben"/>
              </a:rPr>
              <a:t>    2-Objectif</a:t>
            </a:r>
            <a:endParaRPr/>
          </a:p>
          <a:p>
            <a:pPr indent="-342900" lvl="0" marL="342900" rtl="0" algn="l">
              <a:spcBef>
                <a:spcPts val="1000"/>
              </a:spcBef>
              <a:spcAft>
                <a:spcPts val="0"/>
              </a:spcAft>
              <a:buSzPts val="2000"/>
              <a:buNone/>
            </a:pPr>
            <a:r>
              <a:rPr lang="fr-FR" sz="2000">
                <a:latin typeface="Corben"/>
                <a:ea typeface="Corben"/>
                <a:cs typeface="Corben"/>
                <a:sym typeface="Corben"/>
              </a:rPr>
              <a:t>    3-Notations</a:t>
            </a:r>
            <a:endParaRPr/>
          </a:p>
          <a:p>
            <a:pPr indent="-342900" lvl="0" marL="342900" rtl="0" algn="l">
              <a:spcBef>
                <a:spcPts val="1000"/>
              </a:spcBef>
              <a:spcAft>
                <a:spcPts val="0"/>
              </a:spcAft>
              <a:buSzPts val="2000"/>
              <a:buNone/>
            </a:pPr>
            <a:r>
              <a:rPr lang="fr-FR" sz="2000">
                <a:latin typeface="Corben"/>
                <a:ea typeface="Corben"/>
                <a:cs typeface="Corben"/>
                <a:sym typeface="Corben"/>
              </a:rPr>
              <a:t>    4-Meta-Model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
          <p:cNvSpPr txBox="1"/>
          <p:nvPr>
            <p:ph type="title"/>
          </p:nvPr>
        </p:nvSpPr>
        <p:spPr>
          <a:xfrm>
            <a:off x="2394143" y="557848"/>
            <a:ext cx="8911687" cy="107095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4800"/>
              <a:buFont typeface="Comic Sans MS"/>
              <a:buNone/>
            </a:pPr>
            <a:r>
              <a:rPr b="1" lang="fr-FR" sz="4800">
                <a:solidFill>
                  <a:schemeClr val="accent1"/>
                </a:solidFill>
                <a:latin typeface="Comic Sans MS"/>
                <a:ea typeface="Comic Sans MS"/>
                <a:cs typeface="Comic Sans MS"/>
                <a:sym typeface="Comic Sans MS"/>
              </a:rPr>
              <a:t>Introduction</a:t>
            </a:r>
            <a:endParaRPr/>
          </a:p>
        </p:txBody>
      </p:sp>
      <p:pic>
        <p:nvPicPr>
          <p:cNvPr descr="C:\Users\E6430\Desktop\images.jpg" id="183" name="Google Shape;183;p3"/>
          <p:cNvPicPr preferRelativeResize="0"/>
          <p:nvPr>
            <p:ph idx="1" type="body"/>
          </p:nvPr>
        </p:nvPicPr>
        <p:blipFill rotWithShape="1">
          <a:blip r:embed="rId3">
            <a:alphaModFix/>
          </a:blip>
          <a:srcRect b="0" l="0" r="0" t="0"/>
          <a:stretch/>
        </p:blipFill>
        <p:spPr>
          <a:xfrm>
            <a:off x="7632171" y="2132856"/>
            <a:ext cx="3328304" cy="1257300"/>
          </a:xfrm>
          <a:prstGeom prst="rect">
            <a:avLst/>
          </a:prstGeom>
          <a:noFill/>
          <a:ln>
            <a:noFill/>
          </a:ln>
        </p:spPr>
      </p:pic>
      <p:pic>
        <p:nvPicPr>
          <p:cNvPr descr="C:\Users\E6430\Desktop\images (1).jpg" id="184" name="Google Shape;184;p3"/>
          <p:cNvPicPr preferRelativeResize="0"/>
          <p:nvPr/>
        </p:nvPicPr>
        <p:blipFill rotWithShape="1">
          <a:blip r:embed="rId4">
            <a:alphaModFix/>
          </a:blip>
          <a:srcRect b="0" l="0" r="0" t="0"/>
          <a:stretch/>
        </p:blipFill>
        <p:spPr>
          <a:xfrm>
            <a:off x="7248128" y="4149081"/>
            <a:ext cx="3824632" cy="1223497"/>
          </a:xfrm>
          <a:prstGeom prst="rect">
            <a:avLst/>
          </a:prstGeom>
          <a:noFill/>
          <a:ln>
            <a:noFill/>
          </a:ln>
        </p:spPr>
      </p:pic>
      <p:pic>
        <p:nvPicPr>
          <p:cNvPr descr="C:\Users\E6430\Desktop\téléchargement.jpg" id="185" name="Google Shape;185;p3"/>
          <p:cNvPicPr preferRelativeResize="0"/>
          <p:nvPr/>
        </p:nvPicPr>
        <p:blipFill rotWithShape="1">
          <a:blip r:embed="rId5">
            <a:alphaModFix/>
          </a:blip>
          <a:srcRect b="0" l="0" r="0" t="0"/>
          <a:stretch/>
        </p:blipFill>
        <p:spPr>
          <a:xfrm>
            <a:off x="2447595" y="1700809"/>
            <a:ext cx="3744416" cy="1685925"/>
          </a:xfrm>
          <a:prstGeom prst="rect">
            <a:avLst/>
          </a:prstGeom>
          <a:noFill/>
          <a:ln>
            <a:noFill/>
          </a:ln>
        </p:spPr>
      </p:pic>
      <p:pic>
        <p:nvPicPr>
          <p:cNvPr descr="C:\Users\E6430\Desktop\world20of20bpmn.png" id="186" name="Google Shape;186;p3"/>
          <p:cNvPicPr preferRelativeResize="0"/>
          <p:nvPr/>
        </p:nvPicPr>
        <p:blipFill rotWithShape="1">
          <a:blip r:embed="rId6">
            <a:alphaModFix/>
          </a:blip>
          <a:srcRect b="0" l="0" r="0" t="0"/>
          <a:stretch/>
        </p:blipFill>
        <p:spPr>
          <a:xfrm>
            <a:off x="2159563" y="3861048"/>
            <a:ext cx="3552395" cy="248666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4"/>
          <p:cNvSpPr txBox="1"/>
          <p:nvPr/>
        </p:nvSpPr>
        <p:spPr>
          <a:xfrm>
            <a:off x="962526" y="1556792"/>
            <a:ext cx="10924674" cy="14465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Century Gothic"/>
              <a:buNone/>
            </a:pPr>
            <a:r>
              <a:t/>
            </a:r>
            <a:endParaRPr sz="2000">
              <a:solidFill>
                <a:schemeClr val="dk1"/>
              </a:solidFill>
              <a:latin typeface="Century Gothic"/>
              <a:ea typeface="Century Gothic"/>
              <a:cs typeface="Century Gothic"/>
              <a:sym typeface="Century Gothic"/>
            </a:endParaRPr>
          </a:p>
          <a:p>
            <a:pPr indent="-152400" lvl="1" marL="457200" marR="0" rtl="0" algn="l">
              <a:spcBef>
                <a:spcPts val="0"/>
              </a:spcBef>
              <a:spcAft>
                <a:spcPts val="0"/>
              </a:spcAft>
              <a:buClr>
                <a:schemeClr val="dk1"/>
              </a:buClr>
              <a:buSzPts val="2400"/>
              <a:buFont typeface="Comic Sans MS"/>
              <a:buChar char="•"/>
            </a:pPr>
            <a:r>
              <a:rPr b="0" i="0" lang="fr-FR" sz="2400" u="none" cap="none" strike="noStrike">
                <a:solidFill>
                  <a:schemeClr val="dk1"/>
                </a:solidFill>
                <a:latin typeface="Comic Sans MS"/>
                <a:ea typeface="Comic Sans MS"/>
                <a:cs typeface="Comic Sans MS"/>
                <a:sym typeface="Comic Sans MS"/>
              </a:rPr>
              <a:t> Un processus représente un flux séquentiel d’activités ou de taches   réalisé dans une organisation afin de produire un ou plusieurs extrants.</a:t>
            </a:r>
            <a:endParaRPr/>
          </a:p>
          <a:p>
            <a:pPr indent="0" lvl="0" marL="0" marR="0" rtl="0" algn="l">
              <a:spcBef>
                <a:spcPts val="0"/>
              </a:spcBef>
              <a:spcAft>
                <a:spcPts val="0"/>
              </a:spcAft>
              <a:buNone/>
            </a:pPr>
            <a:r>
              <a:t/>
            </a:r>
            <a:endParaRPr sz="2000">
              <a:solidFill>
                <a:schemeClr val="dk1"/>
              </a:solidFill>
              <a:latin typeface="Century Gothic"/>
              <a:ea typeface="Century Gothic"/>
              <a:cs typeface="Century Gothic"/>
              <a:sym typeface="Century Gothic"/>
            </a:endParaRPr>
          </a:p>
        </p:txBody>
      </p:sp>
      <p:pic>
        <p:nvPicPr>
          <p:cNvPr descr="C:\Users\E6430\Desktop\processus.jpg" id="192" name="Google Shape;192;p4"/>
          <p:cNvPicPr preferRelativeResize="0"/>
          <p:nvPr/>
        </p:nvPicPr>
        <p:blipFill rotWithShape="1">
          <a:blip r:embed="rId3">
            <a:alphaModFix/>
          </a:blip>
          <a:srcRect b="0" l="0" r="0" t="0"/>
          <a:stretch/>
        </p:blipFill>
        <p:spPr>
          <a:xfrm>
            <a:off x="1991544" y="3490030"/>
            <a:ext cx="8208912" cy="3133774"/>
          </a:xfrm>
          <a:prstGeom prst="rect">
            <a:avLst/>
          </a:prstGeom>
          <a:noFill/>
          <a:ln>
            <a:noFill/>
          </a:ln>
        </p:spPr>
      </p:pic>
      <p:sp>
        <p:nvSpPr>
          <p:cNvPr id="193" name="Google Shape;193;p4"/>
          <p:cNvSpPr txBox="1"/>
          <p:nvPr/>
        </p:nvSpPr>
        <p:spPr>
          <a:xfrm>
            <a:off x="2063551" y="497305"/>
            <a:ext cx="5957043" cy="75746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1"/>
              </a:buClr>
              <a:buSzPts val="4000"/>
              <a:buFont typeface="Corben"/>
              <a:buNone/>
            </a:pPr>
            <a:r>
              <a:rPr lang="fr-FR" sz="4000">
                <a:solidFill>
                  <a:schemeClr val="accent1"/>
                </a:solidFill>
                <a:latin typeface="Corben"/>
                <a:ea typeface="Corben"/>
                <a:cs typeface="Corben"/>
                <a:sym typeface="Corben"/>
              </a:rPr>
              <a:t>Processus métiers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5"/>
          <p:cNvSpPr txBox="1"/>
          <p:nvPr/>
        </p:nvSpPr>
        <p:spPr>
          <a:xfrm>
            <a:off x="994611" y="1772816"/>
            <a:ext cx="10475493" cy="224676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000">
                <a:solidFill>
                  <a:srgbClr val="C00000"/>
                </a:solidFill>
                <a:latin typeface="Comic Sans MS"/>
                <a:ea typeface="Comic Sans MS"/>
                <a:cs typeface="Comic Sans MS"/>
                <a:sym typeface="Comic Sans MS"/>
              </a:rPr>
              <a:t>La modélisation des processus métiers ?</a:t>
            </a:r>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127000" lvl="0" marL="0" marR="0" rtl="0" algn="l">
              <a:spcBef>
                <a:spcPts val="0"/>
              </a:spcBef>
              <a:spcAft>
                <a:spcPts val="0"/>
              </a:spcAft>
              <a:buClr>
                <a:schemeClr val="dk1"/>
              </a:buClr>
              <a:buSzPts val="2000"/>
              <a:buFont typeface="Comic Sans MS"/>
              <a:buChar char="•"/>
            </a:pPr>
            <a:r>
              <a:rPr lang="fr-FR" sz="2000">
                <a:solidFill>
                  <a:schemeClr val="dk1"/>
                </a:solidFill>
                <a:latin typeface="Comic Sans MS"/>
                <a:ea typeface="Comic Sans MS"/>
                <a:cs typeface="Comic Sans MS"/>
                <a:sym typeface="Comic Sans MS"/>
              </a:rPr>
              <a:t> La représentation d’un processus se fait en rédigeant un modèle selon une notation plus ou moins formelle. Les méthodes et formalismes adoptés se sont imposés au gré de la démocratisation de l’utilisation des processus, et le terme ‘modélisation’ ou création d’un ‘modèle’ sera adopté pour exprimer la représentation d’un processus selon un formalisme spécifique</a:t>
            </a:r>
            <a:endParaRPr/>
          </a:p>
        </p:txBody>
      </p:sp>
      <p:sp>
        <p:nvSpPr>
          <p:cNvPr id="199" name="Google Shape;199;p5"/>
          <p:cNvSpPr txBox="1"/>
          <p:nvPr/>
        </p:nvSpPr>
        <p:spPr>
          <a:xfrm>
            <a:off x="994611" y="4495619"/>
            <a:ext cx="10475493" cy="16004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000">
                <a:solidFill>
                  <a:srgbClr val="C00000"/>
                </a:solidFill>
                <a:latin typeface="Comic Sans MS"/>
                <a:ea typeface="Comic Sans MS"/>
                <a:cs typeface="Comic Sans MS"/>
                <a:sym typeface="Comic Sans MS"/>
              </a:rPr>
              <a:t>La cartographie des processus métiers?</a:t>
            </a:r>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127000" lvl="0" marL="0" marR="0" rtl="0" algn="l">
              <a:spcBef>
                <a:spcPts val="0"/>
              </a:spcBef>
              <a:spcAft>
                <a:spcPts val="0"/>
              </a:spcAft>
              <a:buClr>
                <a:schemeClr val="dk1"/>
              </a:buClr>
              <a:buSzPts val="2000"/>
              <a:buFont typeface="Comic Sans MS"/>
              <a:buChar char="•"/>
            </a:pPr>
            <a:r>
              <a:rPr lang="fr-FR" sz="2000">
                <a:solidFill>
                  <a:schemeClr val="dk1"/>
                </a:solidFill>
                <a:latin typeface="Comic Sans MS"/>
                <a:ea typeface="Comic Sans MS"/>
                <a:cs typeface="Comic Sans MS"/>
                <a:sym typeface="Comic Sans MS"/>
              </a:rPr>
              <a:t> Représentation graphique de chacun des étapes de l’ensemble des activités d’un processus et les liens entre elles, de manière à faciliter la visualisation de l’ensemble</a:t>
            </a:r>
            <a:r>
              <a:rPr lang="fr-FR" sz="18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00" name="Google Shape;200;p5"/>
          <p:cNvSpPr txBox="1"/>
          <p:nvPr/>
        </p:nvSpPr>
        <p:spPr>
          <a:xfrm>
            <a:off x="2063551" y="497305"/>
            <a:ext cx="5957043" cy="75746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1"/>
              </a:buClr>
              <a:buSzPts val="4000"/>
              <a:buFont typeface="Corben"/>
              <a:buNone/>
            </a:pPr>
            <a:r>
              <a:rPr lang="fr-FR" sz="4000">
                <a:solidFill>
                  <a:schemeClr val="accent1"/>
                </a:solidFill>
                <a:latin typeface="Corben"/>
                <a:ea typeface="Corben"/>
                <a:cs typeface="Corben"/>
                <a:sym typeface="Corben"/>
              </a:rPr>
              <a:t>Processus métiers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6"/>
          <p:cNvSpPr txBox="1"/>
          <p:nvPr/>
        </p:nvSpPr>
        <p:spPr>
          <a:xfrm>
            <a:off x="1223097" y="2020159"/>
            <a:ext cx="10804356" cy="409342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000">
                <a:solidFill>
                  <a:schemeClr val="dk1"/>
                </a:solidFill>
                <a:latin typeface="Century Gothic"/>
                <a:ea typeface="Century Gothic"/>
                <a:cs typeface="Century Gothic"/>
                <a:sym typeface="Century Gothic"/>
              </a:rPr>
              <a:t>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b="1" lang="fr-FR" sz="2000">
                <a:solidFill>
                  <a:srgbClr val="C00000"/>
                </a:solidFill>
                <a:latin typeface="Comic Sans MS"/>
                <a:ea typeface="Comic Sans MS"/>
                <a:cs typeface="Comic Sans MS"/>
                <a:sym typeface="Comic Sans MS"/>
              </a:rPr>
              <a:t>Les standards (formalismes) de la modélisation des processus métiers</a:t>
            </a:r>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Les composantes de la modélisation qui sont ‘échange’ et ‘représentation’ ont conduit à définir des langages communs, ou notations communes, qui deviendront des standards.</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Les principales méthodes ou langages retenues en raison de leur diffusion, ouverture, et officialisation sont :</a:t>
            </a:r>
            <a:endParaRPr/>
          </a:p>
          <a:p>
            <a:pPr indent="-342900" lvl="0" marL="342900" marR="0" rtl="0" algn="l">
              <a:spcBef>
                <a:spcPts val="0"/>
              </a:spcBef>
              <a:spcAft>
                <a:spcPts val="0"/>
              </a:spcAft>
              <a:buClr>
                <a:schemeClr val="dk1"/>
              </a:buClr>
              <a:buSzPts val="2000"/>
              <a:buFont typeface="Arial"/>
              <a:buChar char="•"/>
            </a:pPr>
            <a:r>
              <a:rPr b="1" lang="fr-FR" sz="2000">
                <a:solidFill>
                  <a:schemeClr val="dk1"/>
                </a:solidFill>
                <a:latin typeface="Comic Sans MS"/>
                <a:ea typeface="Comic Sans MS"/>
                <a:cs typeface="Comic Sans MS"/>
                <a:sym typeface="Comic Sans MS"/>
              </a:rPr>
              <a:t>IDEF</a:t>
            </a:r>
            <a:endParaRPr/>
          </a:p>
          <a:p>
            <a:pPr indent="-342900" lvl="0" marL="342900" marR="0" rtl="0" algn="l">
              <a:spcBef>
                <a:spcPts val="0"/>
              </a:spcBef>
              <a:spcAft>
                <a:spcPts val="0"/>
              </a:spcAft>
              <a:buClr>
                <a:schemeClr val="dk1"/>
              </a:buClr>
              <a:buSzPts val="2000"/>
              <a:buFont typeface="Arial"/>
              <a:buChar char="•"/>
            </a:pPr>
            <a:r>
              <a:rPr b="1" lang="fr-FR" sz="2000">
                <a:solidFill>
                  <a:schemeClr val="dk1"/>
                </a:solidFill>
                <a:latin typeface="Comic Sans MS"/>
                <a:ea typeface="Comic Sans MS"/>
                <a:cs typeface="Comic Sans MS"/>
                <a:sym typeface="Comic Sans MS"/>
              </a:rPr>
              <a:t>OSSAF</a:t>
            </a:r>
            <a:endParaRPr/>
          </a:p>
          <a:p>
            <a:pPr indent="-342900" lvl="0" marL="342900" marR="0" rtl="0" algn="l">
              <a:spcBef>
                <a:spcPts val="0"/>
              </a:spcBef>
              <a:spcAft>
                <a:spcPts val="0"/>
              </a:spcAft>
              <a:buClr>
                <a:schemeClr val="dk1"/>
              </a:buClr>
              <a:buSzPts val="2000"/>
              <a:buFont typeface="Arial"/>
              <a:buChar char="•"/>
            </a:pPr>
            <a:r>
              <a:rPr b="1" lang="fr-FR" sz="2000">
                <a:solidFill>
                  <a:schemeClr val="dk1"/>
                </a:solidFill>
                <a:latin typeface="Comic Sans MS"/>
                <a:ea typeface="Comic Sans MS"/>
                <a:cs typeface="Comic Sans MS"/>
                <a:sym typeface="Comic Sans MS"/>
              </a:rPr>
              <a:t>MERISE </a:t>
            </a:r>
            <a:endParaRPr sz="2000">
              <a:solidFill>
                <a:schemeClr val="dk1"/>
              </a:solidFill>
              <a:latin typeface="Comic Sans MS"/>
              <a:ea typeface="Comic Sans MS"/>
              <a:cs typeface="Comic Sans MS"/>
              <a:sym typeface="Comic Sans MS"/>
            </a:endParaRPr>
          </a:p>
          <a:p>
            <a:pPr indent="-342900" lvl="0" marL="342900" marR="0" rtl="0" algn="l">
              <a:spcBef>
                <a:spcPts val="0"/>
              </a:spcBef>
              <a:spcAft>
                <a:spcPts val="0"/>
              </a:spcAft>
              <a:buClr>
                <a:schemeClr val="dk1"/>
              </a:buClr>
              <a:buSzPts val="2000"/>
              <a:buFont typeface="Arial"/>
              <a:buChar char="•"/>
            </a:pPr>
            <a:r>
              <a:rPr b="1" lang="fr-FR" sz="2000">
                <a:solidFill>
                  <a:schemeClr val="dk1"/>
                </a:solidFill>
                <a:latin typeface="Comic Sans MS"/>
                <a:ea typeface="Comic Sans MS"/>
                <a:cs typeface="Comic Sans MS"/>
                <a:sym typeface="Comic Sans MS"/>
              </a:rPr>
              <a:t>UML </a:t>
            </a:r>
            <a:r>
              <a:rPr b="1" i="1" lang="fr-FR" sz="2000">
                <a:solidFill>
                  <a:schemeClr val="dk1"/>
                </a:solidFill>
                <a:latin typeface="Comic Sans MS"/>
                <a:ea typeface="Comic Sans MS"/>
                <a:cs typeface="Comic Sans MS"/>
                <a:sym typeface="Comic Sans MS"/>
              </a:rPr>
              <a:t>(Unified Modeling Language</a:t>
            </a:r>
            <a:r>
              <a:rPr b="1" lang="fr-FR" sz="2000">
                <a:solidFill>
                  <a:schemeClr val="dk1"/>
                </a:solidFill>
                <a:latin typeface="Comic Sans MS"/>
                <a:ea typeface="Comic Sans MS"/>
                <a:cs typeface="Comic Sans MS"/>
                <a:sym typeface="Comic Sans MS"/>
              </a:rPr>
              <a:t>)</a:t>
            </a:r>
            <a:r>
              <a:rPr lang="fr-FR" sz="2000">
                <a:solidFill>
                  <a:schemeClr val="dk1"/>
                </a:solidFill>
                <a:latin typeface="Comic Sans MS"/>
                <a:ea typeface="Comic Sans MS"/>
                <a:cs typeface="Comic Sans MS"/>
                <a:sym typeface="Comic Sans MS"/>
              </a:rPr>
              <a:t> </a:t>
            </a:r>
            <a:endParaRPr/>
          </a:p>
          <a:p>
            <a:pPr indent="-342900" lvl="0" marL="342900" marR="0" rtl="0" algn="l">
              <a:spcBef>
                <a:spcPts val="0"/>
              </a:spcBef>
              <a:spcAft>
                <a:spcPts val="0"/>
              </a:spcAft>
              <a:buClr>
                <a:schemeClr val="dk1"/>
              </a:buClr>
              <a:buSzPts val="2000"/>
              <a:buFont typeface="Arial"/>
              <a:buChar char="•"/>
            </a:pPr>
            <a:r>
              <a:rPr b="1" lang="fr-FR" sz="2000">
                <a:solidFill>
                  <a:schemeClr val="dk1"/>
                </a:solidFill>
                <a:latin typeface="Comic Sans MS"/>
                <a:ea typeface="Comic Sans MS"/>
                <a:cs typeface="Comic Sans MS"/>
                <a:sym typeface="Comic Sans MS"/>
              </a:rPr>
              <a:t>BPMN (</a:t>
            </a:r>
            <a:r>
              <a:rPr b="1" i="1" lang="fr-FR" sz="2000">
                <a:solidFill>
                  <a:schemeClr val="dk1"/>
                </a:solidFill>
                <a:latin typeface="Comic Sans MS"/>
                <a:ea typeface="Comic Sans MS"/>
                <a:cs typeface="Comic Sans MS"/>
                <a:sym typeface="Comic Sans MS"/>
              </a:rPr>
              <a:t>Business Process Model and Notation</a:t>
            </a:r>
            <a:r>
              <a:rPr b="1" lang="fr-FR" sz="2000">
                <a:solidFill>
                  <a:schemeClr val="dk1"/>
                </a:solidFill>
                <a:latin typeface="Comic Sans MS"/>
                <a:ea typeface="Comic Sans MS"/>
                <a:cs typeface="Comic Sans MS"/>
                <a:sym typeface="Comic Sans MS"/>
              </a:rPr>
              <a:t>)</a:t>
            </a:r>
            <a:r>
              <a:rPr lang="fr-FR" sz="2000">
                <a:solidFill>
                  <a:schemeClr val="dk1"/>
                </a:solidFill>
                <a:latin typeface="Comic Sans MS"/>
                <a:ea typeface="Comic Sans MS"/>
                <a:cs typeface="Comic Sans MS"/>
                <a:sym typeface="Comic Sans MS"/>
              </a:rPr>
              <a:t> </a:t>
            </a:r>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p:txBody>
      </p:sp>
      <p:sp>
        <p:nvSpPr>
          <p:cNvPr id="206" name="Google Shape;206;p6"/>
          <p:cNvSpPr txBox="1"/>
          <p:nvPr/>
        </p:nvSpPr>
        <p:spPr>
          <a:xfrm>
            <a:off x="2063551" y="497305"/>
            <a:ext cx="5957043" cy="75746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1"/>
              </a:buClr>
              <a:buSzPts val="4000"/>
              <a:buFont typeface="Corben"/>
              <a:buNone/>
            </a:pPr>
            <a:r>
              <a:rPr lang="fr-FR" sz="4000">
                <a:solidFill>
                  <a:schemeClr val="accent1"/>
                </a:solidFill>
                <a:latin typeface="Corben"/>
                <a:ea typeface="Corben"/>
                <a:cs typeface="Corben"/>
                <a:sym typeface="Corben"/>
              </a:rPr>
              <a:t>Processus métiers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7"/>
          <p:cNvSpPr txBox="1"/>
          <p:nvPr>
            <p:ph type="title"/>
          </p:nvPr>
        </p:nvSpPr>
        <p:spPr>
          <a:xfrm>
            <a:off x="3280313" y="2292489"/>
            <a:ext cx="8911687" cy="128089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9600"/>
              <a:buFont typeface="Corben"/>
              <a:buNone/>
            </a:pPr>
            <a:r>
              <a:rPr lang="fr-FR" sz="9600">
                <a:solidFill>
                  <a:schemeClr val="accent1"/>
                </a:solidFill>
                <a:latin typeface="Corben"/>
                <a:ea typeface="Corben"/>
                <a:cs typeface="Corben"/>
                <a:sym typeface="Corben"/>
              </a:rPr>
              <a:t>BPMN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8"/>
          <p:cNvSpPr txBox="1"/>
          <p:nvPr>
            <p:ph type="title"/>
          </p:nvPr>
        </p:nvSpPr>
        <p:spPr>
          <a:xfrm>
            <a:off x="2063552" y="692696"/>
            <a:ext cx="3034680" cy="634082"/>
          </a:xfrm>
          <a:prstGeom prst="rect">
            <a:avLst/>
          </a:prstGeom>
          <a:solidFill>
            <a:schemeClr val="lt1"/>
          </a:solid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2800"/>
              <a:buFont typeface="Comic Sans MS"/>
              <a:buNone/>
            </a:pPr>
            <a:r>
              <a:rPr lang="fr-FR" sz="2800">
                <a:solidFill>
                  <a:schemeClr val="accent1"/>
                </a:solidFill>
                <a:latin typeface="Comic Sans MS"/>
                <a:ea typeface="Comic Sans MS"/>
                <a:cs typeface="Comic Sans MS"/>
                <a:sym typeface="Comic Sans MS"/>
              </a:rPr>
              <a:t>Définition BPMN</a:t>
            </a:r>
            <a:endParaRPr/>
          </a:p>
        </p:txBody>
      </p:sp>
      <p:sp>
        <p:nvSpPr>
          <p:cNvPr id="217" name="Google Shape;217;p8"/>
          <p:cNvSpPr txBox="1"/>
          <p:nvPr/>
        </p:nvSpPr>
        <p:spPr>
          <a:xfrm>
            <a:off x="2063552" y="1988841"/>
            <a:ext cx="8208912" cy="193899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Century Gothic"/>
              <a:buNone/>
            </a:pPr>
            <a:r>
              <a:t/>
            </a:r>
            <a:endParaRPr sz="2000">
              <a:solidFill>
                <a:schemeClr val="dk1"/>
              </a:solidFill>
              <a:latin typeface="Century Gothic"/>
              <a:ea typeface="Century Gothic"/>
              <a:cs typeface="Century Gothic"/>
              <a:sym typeface="Century Gothic"/>
            </a:endParaRPr>
          </a:p>
          <a:p>
            <a:pPr indent="-127000" lvl="1" marL="457200" marR="0" rtl="0" algn="l">
              <a:spcBef>
                <a:spcPts val="0"/>
              </a:spcBef>
              <a:spcAft>
                <a:spcPts val="0"/>
              </a:spcAft>
              <a:buClr>
                <a:schemeClr val="dk1"/>
              </a:buClr>
              <a:buSzPts val="2000"/>
              <a:buFont typeface="Comic Sans MS"/>
              <a:buChar char="•"/>
            </a:pPr>
            <a:r>
              <a:rPr b="0" i="0" lang="fr-FR" sz="2000" u="none" cap="none" strike="noStrike">
                <a:solidFill>
                  <a:schemeClr val="dk1"/>
                </a:solidFill>
                <a:latin typeface="Comic Sans MS"/>
                <a:ea typeface="Comic Sans MS"/>
                <a:cs typeface="Comic Sans MS"/>
                <a:sym typeface="Comic Sans MS"/>
              </a:rPr>
              <a:t>  BPMN </a:t>
            </a:r>
            <a:r>
              <a:rPr b="0" i="1" lang="fr-FR" sz="2000" u="none" cap="none" strike="noStrike">
                <a:solidFill>
                  <a:schemeClr val="dk1"/>
                </a:solidFill>
                <a:latin typeface="Comic Sans MS"/>
                <a:ea typeface="Comic Sans MS"/>
                <a:cs typeface="Comic Sans MS"/>
                <a:sym typeface="Comic Sans MS"/>
              </a:rPr>
              <a:t>(Business Process Model notation) </a:t>
            </a:r>
            <a:r>
              <a:rPr b="0" i="0" lang="fr-FR" sz="2000" u="none" cap="none" strike="noStrike">
                <a:solidFill>
                  <a:schemeClr val="dk1"/>
                </a:solidFill>
                <a:latin typeface="Comic Sans MS"/>
                <a:ea typeface="Comic Sans MS"/>
                <a:cs typeface="Comic Sans MS"/>
                <a:sym typeface="Comic Sans MS"/>
              </a:rPr>
              <a:t>est une norme de notation pour la modélisation de processus. BPMN est soutenu par l’</a:t>
            </a:r>
            <a:r>
              <a:rPr b="1" i="0" lang="fr-FR" sz="2000" u="none" cap="none" strike="noStrike">
                <a:solidFill>
                  <a:schemeClr val="dk1"/>
                </a:solidFill>
                <a:latin typeface="Comic Sans MS"/>
                <a:ea typeface="Comic Sans MS"/>
                <a:cs typeface="Comic Sans MS"/>
                <a:sym typeface="Comic Sans MS"/>
              </a:rPr>
              <a:t>OMG/BMPI</a:t>
            </a:r>
            <a:r>
              <a:rPr b="0" i="0" lang="fr-FR" sz="2000" u="none" cap="none" strike="noStrike">
                <a:solidFill>
                  <a:schemeClr val="dk1"/>
                </a:solidFill>
                <a:latin typeface="Comic Sans MS"/>
                <a:ea typeface="Comic Sans MS"/>
                <a:cs typeface="Comic Sans MS"/>
                <a:sym typeface="Comic Sans MS"/>
              </a:rPr>
              <a:t> </a:t>
            </a:r>
            <a:r>
              <a:rPr b="0" i="1" lang="fr-FR" sz="2000" u="none" cap="none" strike="noStrike">
                <a:solidFill>
                  <a:schemeClr val="dk1"/>
                </a:solidFill>
                <a:latin typeface="Comic Sans MS"/>
                <a:ea typeface="Comic Sans MS"/>
                <a:cs typeface="Comic Sans MS"/>
                <a:sym typeface="Comic Sans MS"/>
              </a:rPr>
              <a:t>(Object Management Group/ Business Process Management Initiative)</a:t>
            </a:r>
            <a:r>
              <a:rPr b="0" i="0" lang="fr-FR" sz="2000" u="none" cap="none" strike="noStrike">
                <a:solidFill>
                  <a:schemeClr val="dk1"/>
                </a:solidFill>
                <a:latin typeface="Comic Sans MS"/>
                <a:ea typeface="Comic Sans MS"/>
                <a:cs typeface="Comic Sans MS"/>
                <a:sym typeface="Comic Sans MS"/>
              </a:rPr>
              <a:t> depuis leur fusion en 2005..</a:t>
            </a:r>
            <a:endParaRPr/>
          </a:p>
          <a:p>
            <a:pPr indent="0" lvl="0" marL="0" marR="0" rtl="0" algn="l">
              <a:spcBef>
                <a:spcPts val="0"/>
              </a:spcBef>
              <a:spcAft>
                <a:spcPts val="0"/>
              </a:spcAft>
              <a:buNone/>
            </a:pPr>
            <a:r>
              <a:t/>
            </a:r>
            <a:endParaRPr sz="2000">
              <a:solidFill>
                <a:schemeClr val="dk1"/>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9"/>
          <p:cNvSpPr txBox="1"/>
          <p:nvPr>
            <p:ph idx="1" type="body"/>
          </p:nvPr>
        </p:nvSpPr>
        <p:spPr>
          <a:xfrm>
            <a:off x="1919536" y="1628802"/>
            <a:ext cx="8229600" cy="2448271"/>
          </a:xfrm>
          <a:prstGeom prst="rect">
            <a:avLst/>
          </a:prstGeom>
          <a:solidFill>
            <a:schemeClr val="lt1"/>
          </a:solid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2000"/>
              <a:buChar char="•"/>
            </a:pPr>
            <a:r>
              <a:rPr lang="fr-FR" sz="2000">
                <a:solidFill>
                  <a:schemeClr val="dk1"/>
                </a:solidFill>
                <a:latin typeface="Comic Sans MS"/>
                <a:ea typeface="Comic Sans MS"/>
                <a:cs typeface="Comic Sans MS"/>
                <a:sym typeface="Comic Sans MS"/>
              </a:rPr>
              <a:t>La notation BPMN propose deux niveaux de participation aux processus métier:</a:t>
            </a:r>
            <a:endParaRPr/>
          </a:p>
          <a:p>
            <a:pPr indent="-285750" lvl="1" marL="742950" rtl="0" algn="l">
              <a:spcBef>
                <a:spcPts val="1000"/>
              </a:spcBef>
              <a:spcAft>
                <a:spcPts val="0"/>
              </a:spcAft>
              <a:buSzPts val="1800"/>
              <a:buFont typeface="Comic Sans MS"/>
              <a:buChar char="-"/>
            </a:pPr>
            <a:r>
              <a:rPr lang="fr-FR" sz="1800">
                <a:solidFill>
                  <a:schemeClr val="dk1"/>
                </a:solidFill>
                <a:latin typeface="Comic Sans MS"/>
                <a:ea typeface="Comic Sans MS"/>
                <a:cs typeface="Comic Sans MS"/>
                <a:sym typeface="Comic Sans MS"/>
              </a:rPr>
              <a:t>Les unités organisationnelles représentant les groupes d’intéréts communs  internes ou externes à l’organisation comme l’entreprise, le département , les clients, etc.</a:t>
            </a:r>
            <a:endParaRPr/>
          </a:p>
          <a:p>
            <a:pPr indent="-285750" lvl="1" marL="742950" rtl="0" algn="l">
              <a:spcBef>
                <a:spcPts val="1000"/>
              </a:spcBef>
              <a:spcAft>
                <a:spcPts val="0"/>
              </a:spcAft>
              <a:buSzPts val="1800"/>
              <a:buFont typeface="Comic Sans MS"/>
              <a:buChar char="-"/>
            </a:pPr>
            <a:r>
              <a:rPr lang="fr-FR" sz="1800">
                <a:solidFill>
                  <a:schemeClr val="dk1"/>
                </a:solidFill>
                <a:latin typeface="Comic Sans MS"/>
                <a:ea typeface="Comic Sans MS"/>
                <a:cs typeface="Comic Sans MS"/>
                <a:sym typeface="Comic Sans MS"/>
              </a:rPr>
              <a:t>Les rôles associes à l’exécution des activités du processus métier et réglant la plupart des échanges d’information entre les unités organisationnelles.</a:t>
            </a:r>
            <a:endParaRPr/>
          </a:p>
        </p:txBody>
      </p:sp>
      <p:pic>
        <p:nvPicPr>
          <p:cNvPr id="223" name="Google Shape;223;p9"/>
          <p:cNvPicPr preferRelativeResize="0"/>
          <p:nvPr/>
        </p:nvPicPr>
        <p:blipFill rotWithShape="1">
          <a:blip r:embed="rId3">
            <a:alphaModFix/>
          </a:blip>
          <a:srcRect b="0" l="0" r="0" t="0"/>
          <a:stretch/>
        </p:blipFill>
        <p:spPr>
          <a:xfrm>
            <a:off x="3719736" y="4293096"/>
            <a:ext cx="4464496" cy="1820021"/>
          </a:xfrm>
          <a:prstGeom prst="rect">
            <a:avLst/>
          </a:prstGeom>
          <a:noFill/>
          <a:ln>
            <a:noFill/>
          </a:ln>
        </p:spPr>
      </p:pic>
      <p:sp>
        <p:nvSpPr>
          <p:cNvPr id="224" name="Google Shape;224;p9"/>
          <p:cNvSpPr txBox="1"/>
          <p:nvPr/>
        </p:nvSpPr>
        <p:spPr>
          <a:xfrm>
            <a:off x="1991544" y="620688"/>
            <a:ext cx="3034680" cy="634082"/>
          </a:xfrm>
          <a:prstGeom prst="rect">
            <a:avLst/>
          </a:prstGeom>
          <a:solidFill>
            <a:schemeClr val="lt1"/>
          </a:solidFill>
          <a:ln>
            <a:noFill/>
          </a:ln>
        </p:spPr>
        <p:txBody>
          <a:bodyPr anchorCtr="0" anchor="ctr" bIns="45700" lIns="91425" spcFirstLastPara="1" rIns="91425" wrap="square" tIns="45700">
            <a:normAutofit/>
          </a:bodyPr>
          <a:lstStyle/>
          <a:p>
            <a:pPr indent="0" lvl="0" marL="0" marR="0" rtl="0" algn="l">
              <a:spcBef>
                <a:spcPts val="0"/>
              </a:spcBef>
              <a:spcAft>
                <a:spcPts val="0"/>
              </a:spcAft>
              <a:buNone/>
            </a:pPr>
            <a:r>
              <a:rPr lang="fr-FR" sz="2800">
                <a:solidFill>
                  <a:schemeClr val="accent1"/>
                </a:solidFill>
                <a:latin typeface="Comic Sans MS"/>
                <a:ea typeface="Comic Sans MS"/>
                <a:cs typeface="Comic Sans MS"/>
                <a:sym typeface="Comic Sans MS"/>
              </a:rPr>
              <a:t>Définition BPMN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0"/>
          <p:cNvSpPr txBox="1"/>
          <p:nvPr/>
        </p:nvSpPr>
        <p:spPr>
          <a:xfrm>
            <a:off x="2160104" y="612568"/>
            <a:ext cx="2162200" cy="625698"/>
          </a:xfrm>
          <a:prstGeom prst="rect">
            <a:avLst/>
          </a:prstGeom>
          <a:solidFill>
            <a:schemeClr val="lt1"/>
          </a:solidFill>
          <a:ln>
            <a:noFill/>
          </a:ln>
        </p:spPr>
        <p:txBody>
          <a:bodyPr anchorCtr="0" anchor="ctr" bIns="45700" lIns="91425" spcFirstLastPara="1" rIns="91425" wrap="square" tIns="45700">
            <a:normAutofit/>
          </a:bodyPr>
          <a:lstStyle/>
          <a:p>
            <a:pPr indent="0" lvl="0" marL="0" marR="0" rtl="0" algn="l">
              <a:spcBef>
                <a:spcPts val="0"/>
              </a:spcBef>
              <a:spcAft>
                <a:spcPts val="0"/>
              </a:spcAft>
              <a:buNone/>
            </a:pPr>
            <a:r>
              <a:rPr lang="fr-FR" sz="2800">
                <a:solidFill>
                  <a:schemeClr val="accent1"/>
                </a:solidFill>
                <a:latin typeface="Comic Sans MS"/>
                <a:ea typeface="Comic Sans MS"/>
                <a:cs typeface="Comic Sans MS"/>
                <a:sym typeface="Comic Sans MS"/>
              </a:rPr>
              <a:t>Objectif</a:t>
            </a:r>
            <a:endParaRPr/>
          </a:p>
        </p:txBody>
      </p:sp>
      <p:sp>
        <p:nvSpPr>
          <p:cNvPr id="230" name="Google Shape;230;p10"/>
          <p:cNvSpPr txBox="1"/>
          <p:nvPr/>
        </p:nvSpPr>
        <p:spPr>
          <a:xfrm>
            <a:off x="1991544" y="1700809"/>
            <a:ext cx="8208912" cy="224676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Century Gothic"/>
              <a:buNone/>
            </a:pPr>
            <a:r>
              <a:t/>
            </a:r>
            <a:endParaRPr sz="2000">
              <a:solidFill>
                <a:schemeClr val="dk1"/>
              </a:solidFill>
              <a:latin typeface="Century Gothic"/>
              <a:ea typeface="Century Gothic"/>
              <a:cs typeface="Century Gothic"/>
              <a:sym typeface="Century Gothic"/>
            </a:endParaRPr>
          </a:p>
          <a:p>
            <a:pPr indent="-127000" lvl="1" marL="457200" marR="0" rtl="0" algn="l">
              <a:spcBef>
                <a:spcPts val="0"/>
              </a:spcBef>
              <a:spcAft>
                <a:spcPts val="0"/>
              </a:spcAft>
              <a:buClr>
                <a:schemeClr val="dk1"/>
              </a:buClr>
              <a:buSzPts val="2000"/>
              <a:buFont typeface="Comic Sans MS"/>
              <a:buChar char="•"/>
            </a:pPr>
            <a:r>
              <a:rPr b="0" i="0" lang="fr-FR" sz="2000" u="none" cap="none" strike="noStrike">
                <a:solidFill>
                  <a:schemeClr val="dk1"/>
                </a:solidFill>
                <a:latin typeface="Comic Sans MS"/>
                <a:ea typeface="Comic Sans MS"/>
                <a:cs typeface="Comic Sans MS"/>
                <a:sym typeface="Comic Sans MS"/>
              </a:rPr>
              <a:t>   L’objectif de BPMN est de fournir une notation graphique complète permettant de représenter un processus métier en découplant les informations métiers des information techniques-qui fournit un cadre de travail commun aux utilisateurs métier et techniques.</a:t>
            </a:r>
            <a:endParaRPr/>
          </a:p>
          <a:p>
            <a:pPr indent="0" lvl="0" marL="0" marR="0" rtl="0" algn="l">
              <a:spcBef>
                <a:spcPts val="0"/>
              </a:spcBef>
              <a:spcAft>
                <a:spcPts val="0"/>
              </a:spcAft>
              <a:buNone/>
            </a:pPr>
            <a:r>
              <a:t/>
            </a:r>
            <a:endParaRPr sz="2000">
              <a:solidFill>
                <a:schemeClr val="dk1"/>
              </a:solidFill>
              <a:latin typeface="Century Gothic"/>
              <a:ea typeface="Century Gothic"/>
              <a:cs typeface="Century Gothic"/>
              <a:sym typeface="Century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1"/>
          <p:cNvSpPr txBox="1"/>
          <p:nvPr>
            <p:ph type="ctrTitle"/>
          </p:nvPr>
        </p:nvSpPr>
        <p:spPr>
          <a:xfrm>
            <a:off x="2316497" y="1264690"/>
            <a:ext cx="8915399" cy="2262781"/>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262626"/>
              </a:buClr>
              <a:buSzPts val="6600"/>
              <a:buFont typeface="Corben"/>
              <a:buNone/>
            </a:pPr>
            <a:r>
              <a:rPr lang="fr-FR" sz="6600">
                <a:latin typeface="Corben"/>
                <a:ea typeface="Corben"/>
                <a:cs typeface="Corben"/>
                <a:sym typeface="Corben"/>
              </a:rPr>
              <a:t>BPMN: Principes de base</a:t>
            </a:r>
            <a:endParaRPr/>
          </a:p>
        </p:txBody>
      </p:sp>
      <p:sp>
        <p:nvSpPr>
          <p:cNvPr id="237" name="Google Shape;237;p11"/>
          <p:cNvSpPr txBox="1"/>
          <p:nvPr>
            <p:ph idx="1" type="subTitle"/>
          </p:nvPr>
        </p:nvSpPr>
        <p:spPr>
          <a:xfrm>
            <a:off x="2871536" y="3919315"/>
            <a:ext cx="7218947" cy="2041071"/>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3200"/>
              <a:buNone/>
            </a:pPr>
            <a:r>
              <a:rPr lang="fr-FR" sz="3200">
                <a:latin typeface="Corben"/>
                <a:ea typeface="Corben"/>
                <a:cs typeface="Corben"/>
                <a:sym typeface="Corben"/>
              </a:rPr>
              <a:t>Symboles de base et étendu</a:t>
            </a:r>
            <a:endParaRPr/>
          </a:p>
          <a:p>
            <a:pPr indent="0" lvl="0" marL="0" rtl="0" algn="ctr">
              <a:spcBef>
                <a:spcPts val="1000"/>
              </a:spcBef>
              <a:spcAft>
                <a:spcPts val="0"/>
              </a:spcAft>
              <a:buSzPts val="3200"/>
              <a:buNone/>
            </a:pPr>
            <a:r>
              <a:rPr lang="fr-FR" sz="3200">
                <a:latin typeface="Corben"/>
                <a:ea typeface="Corben"/>
                <a:cs typeface="Corben"/>
                <a:sym typeface="Corben"/>
              </a:rPr>
              <a:t>Règles de bases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2"/>
          <p:cNvSpPr txBox="1"/>
          <p:nvPr>
            <p:ph type="ctrTitle"/>
          </p:nvPr>
        </p:nvSpPr>
        <p:spPr>
          <a:xfrm>
            <a:off x="2253996" y="4273678"/>
            <a:ext cx="7015163" cy="127158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B96A65"/>
              </a:buClr>
              <a:buSzPts val="5400"/>
              <a:buFont typeface="Century Gothic"/>
              <a:buNone/>
            </a:pPr>
            <a:r>
              <a:rPr b="1" lang="fr-FR" cap="none">
                <a:solidFill>
                  <a:srgbClr val="B96A65"/>
                </a:solidFill>
              </a:rPr>
              <a:t>SYMBOLE DE BASE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3"/>
          <p:cNvSpPr txBox="1"/>
          <p:nvPr>
            <p:ph idx="1" type="body"/>
          </p:nvPr>
        </p:nvSpPr>
        <p:spPr>
          <a:xfrm>
            <a:off x="1557336" y="671515"/>
            <a:ext cx="10429875" cy="584358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None/>
            </a:pPr>
            <a:r>
              <a:rPr b="1" lang="fr-FR" sz="3200">
                <a:solidFill>
                  <a:srgbClr val="4A856D"/>
                </a:solidFill>
              </a:rPr>
              <a:t>Objet de flux</a:t>
            </a:r>
            <a:endParaRPr/>
          </a:p>
          <a:p>
            <a:pPr indent="-342900" lvl="0" marL="342900" rtl="0" algn="l">
              <a:spcBef>
                <a:spcPts val="1000"/>
              </a:spcBef>
              <a:spcAft>
                <a:spcPts val="0"/>
              </a:spcAft>
              <a:buSzPts val="2800"/>
              <a:buChar char="🠶"/>
            </a:pPr>
            <a:r>
              <a:rPr b="1" lang="fr-FR" sz="2800">
                <a:solidFill>
                  <a:srgbClr val="0C0C0C"/>
                </a:solidFill>
              </a:rPr>
              <a:t>Evénement de départ / Déclencheur</a:t>
            </a:r>
            <a:endParaRPr/>
          </a:p>
          <a:p>
            <a:pPr indent="-285750" lvl="1" marL="742950" rtl="0" algn="l">
              <a:spcBef>
                <a:spcPts val="1000"/>
              </a:spcBef>
              <a:spcAft>
                <a:spcPts val="0"/>
              </a:spcAft>
              <a:buSzPts val="2400"/>
              <a:buChar char="🠶"/>
            </a:pPr>
            <a:r>
              <a:rPr lang="fr-FR" sz="2400">
                <a:solidFill>
                  <a:srgbClr val="0C0C0C"/>
                </a:solidFill>
              </a:rPr>
              <a:t>qui déclenche un processus ou sous-processus </a:t>
            </a:r>
            <a:endParaRPr/>
          </a:p>
          <a:p>
            <a:pPr indent="-342900" lvl="0" marL="342900" rtl="0" algn="l">
              <a:spcBef>
                <a:spcPts val="1000"/>
              </a:spcBef>
              <a:spcAft>
                <a:spcPts val="0"/>
              </a:spcAft>
              <a:buSzPts val="2800"/>
              <a:buChar char="🠶"/>
            </a:pPr>
            <a:r>
              <a:rPr b="1" lang="fr-FR" sz="2800">
                <a:solidFill>
                  <a:srgbClr val="0C0C0C"/>
                </a:solidFill>
              </a:rPr>
              <a:t>Evénement de fin / Résultat	</a:t>
            </a:r>
            <a:endParaRPr/>
          </a:p>
          <a:p>
            <a:pPr indent="-285750" lvl="1" marL="742950" rtl="0" algn="l">
              <a:spcBef>
                <a:spcPts val="1000"/>
              </a:spcBef>
              <a:spcAft>
                <a:spcPts val="0"/>
              </a:spcAft>
              <a:buSzPts val="2400"/>
              <a:buChar char="🠶"/>
            </a:pPr>
            <a:r>
              <a:rPr lang="fr-FR" sz="2400">
                <a:solidFill>
                  <a:srgbClr val="0C0C0C"/>
                </a:solidFill>
              </a:rPr>
              <a:t>Qui résulte de la réalisation d’une activité ou </a:t>
            </a:r>
            <a:endParaRPr/>
          </a:p>
          <a:p>
            <a:pPr indent="-285750" lvl="1" marL="742950" rtl="0" algn="l">
              <a:spcBef>
                <a:spcPts val="1000"/>
              </a:spcBef>
              <a:spcAft>
                <a:spcPts val="0"/>
              </a:spcAft>
              <a:buSzPts val="2400"/>
              <a:buFont typeface="Century Gothic"/>
              <a:buNone/>
            </a:pPr>
            <a:r>
              <a:rPr lang="fr-FR" sz="2400">
                <a:solidFill>
                  <a:srgbClr val="0C0C0C"/>
                </a:solidFill>
              </a:rPr>
              <a:t>de tâches</a:t>
            </a:r>
            <a:endParaRPr/>
          </a:p>
          <a:p>
            <a:pPr indent="-342900" lvl="0" marL="342900" rtl="0" algn="l">
              <a:spcBef>
                <a:spcPts val="1000"/>
              </a:spcBef>
              <a:spcAft>
                <a:spcPts val="0"/>
              </a:spcAft>
              <a:buSzPts val="2800"/>
              <a:buChar char="🠶"/>
            </a:pPr>
            <a:r>
              <a:rPr b="1" lang="fr-FR" sz="2800">
                <a:solidFill>
                  <a:srgbClr val="0C0C0C"/>
                </a:solidFill>
              </a:rPr>
              <a:t>Activité / Tâche</a:t>
            </a:r>
            <a:endParaRPr/>
          </a:p>
          <a:p>
            <a:pPr indent="-285750" lvl="1" marL="742950" rtl="0" algn="l">
              <a:spcBef>
                <a:spcPts val="1000"/>
              </a:spcBef>
              <a:spcAft>
                <a:spcPts val="0"/>
              </a:spcAft>
              <a:buSzPts val="2400"/>
              <a:buChar char="🠶"/>
            </a:pPr>
            <a:r>
              <a:rPr lang="fr-FR" sz="2400">
                <a:solidFill>
                  <a:srgbClr val="0C0C0C"/>
                </a:solidFill>
              </a:rPr>
              <a:t>Une tâche correspond à une action qui </a:t>
            </a:r>
            <a:endParaRPr/>
          </a:p>
          <a:p>
            <a:pPr indent="-285750" lvl="1" marL="742950" rtl="0" algn="l">
              <a:spcBef>
                <a:spcPts val="1000"/>
              </a:spcBef>
              <a:spcAft>
                <a:spcPts val="0"/>
              </a:spcAft>
              <a:buSzPts val="2400"/>
              <a:buFont typeface="Century Gothic"/>
              <a:buNone/>
            </a:pPr>
            <a:r>
              <a:rPr lang="fr-FR" sz="2400">
                <a:solidFill>
                  <a:srgbClr val="0C0C0C"/>
                </a:solidFill>
              </a:rPr>
              <a:t>être réalisée par un humain ou une machine</a:t>
            </a:r>
            <a:endParaRPr/>
          </a:p>
          <a:p>
            <a:pPr indent="-120650" lvl="1" marL="742950" rtl="0" algn="l">
              <a:spcBef>
                <a:spcPts val="1000"/>
              </a:spcBef>
              <a:spcAft>
                <a:spcPts val="0"/>
              </a:spcAft>
              <a:buSzPts val="2600"/>
              <a:buNone/>
            </a:pPr>
            <a:r>
              <a:t/>
            </a:r>
            <a:endParaRPr sz="2600"/>
          </a:p>
        </p:txBody>
      </p:sp>
      <p:pic>
        <p:nvPicPr>
          <p:cNvPr descr="2.JPG" id="248" name="Google Shape;248;p13"/>
          <p:cNvPicPr preferRelativeResize="0"/>
          <p:nvPr/>
        </p:nvPicPr>
        <p:blipFill rotWithShape="1">
          <a:blip r:embed="rId3">
            <a:alphaModFix/>
          </a:blip>
          <a:srcRect b="0" l="0" r="0" t="0"/>
          <a:stretch/>
        </p:blipFill>
        <p:spPr>
          <a:xfrm>
            <a:off x="9669781" y="3057717"/>
            <a:ext cx="1428751" cy="962025"/>
          </a:xfrm>
          <a:prstGeom prst="rect">
            <a:avLst/>
          </a:prstGeom>
          <a:noFill/>
          <a:ln>
            <a:noFill/>
          </a:ln>
        </p:spPr>
      </p:pic>
      <p:pic>
        <p:nvPicPr>
          <p:cNvPr descr="a.JPG" id="249" name="Google Shape;249;p13"/>
          <p:cNvPicPr preferRelativeResize="0"/>
          <p:nvPr/>
        </p:nvPicPr>
        <p:blipFill rotWithShape="1">
          <a:blip r:embed="rId4">
            <a:alphaModFix/>
          </a:blip>
          <a:srcRect b="0" l="0" r="0" t="0"/>
          <a:stretch/>
        </p:blipFill>
        <p:spPr>
          <a:xfrm>
            <a:off x="9617796" y="1465518"/>
            <a:ext cx="1502833" cy="1000125"/>
          </a:xfrm>
          <a:prstGeom prst="rect">
            <a:avLst/>
          </a:prstGeom>
          <a:noFill/>
          <a:ln>
            <a:noFill/>
          </a:ln>
        </p:spPr>
      </p:pic>
      <p:pic>
        <p:nvPicPr>
          <p:cNvPr descr="3.JPG" id="250" name="Google Shape;250;p13"/>
          <p:cNvPicPr preferRelativeResize="0"/>
          <p:nvPr/>
        </p:nvPicPr>
        <p:blipFill rotWithShape="1">
          <a:blip r:embed="rId5">
            <a:alphaModFix/>
          </a:blip>
          <a:srcRect b="0" l="0" r="0" t="0"/>
          <a:stretch/>
        </p:blipFill>
        <p:spPr>
          <a:xfrm>
            <a:off x="8819389" y="4364737"/>
            <a:ext cx="3060700" cy="1552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4"/>
          <p:cNvSpPr txBox="1"/>
          <p:nvPr>
            <p:ph idx="1" type="body"/>
          </p:nvPr>
        </p:nvSpPr>
        <p:spPr>
          <a:xfrm>
            <a:off x="1572768" y="682752"/>
            <a:ext cx="10183748" cy="572395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600"/>
              <a:buNone/>
            </a:pPr>
            <a:r>
              <a:rPr b="1" lang="fr-FR" sz="3600">
                <a:solidFill>
                  <a:srgbClr val="4A856D"/>
                </a:solidFill>
              </a:rPr>
              <a:t>Objet de flux</a:t>
            </a:r>
            <a:endParaRPr b="1" sz="3200">
              <a:solidFill>
                <a:srgbClr val="4A856D"/>
              </a:solidFill>
            </a:endParaRPr>
          </a:p>
          <a:p>
            <a:pPr indent="-342900" lvl="0" marL="342900" rtl="0" algn="l">
              <a:spcBef>
                <a:spcPts val="1000"/>
              </a:spcBef>
              <a:spcAft>
                <a:spcPts val="0"/>
              </a:spcAft>
              <a:buSzPts val="2800"/>
              <a:buChar char="🠶"/>
            </a:pPr>
            <a:r>
              <a:rPr b="1" lang="fr-FR" sz="2800">
                <a:solidFill>
                  <a:srgbClr val="0C0C0C"/>
                </a:solidFill>
              </a:rPr>
              <a:t>Branchement / Aiguillage / Bifurcation</a:t>
            </a:r>
            <a:endParaRPr/>
          </a:p>
          <a:p>
            <a:pPr indent="-285750" lvl="1" marL="742950" rtl="0" algn="l">
              <a:spcBef>
                <a:spcPts val="1000"/>
              </a:spcBef>
              <a:spcAft>
                <a:spcPts val="0"/>
              </a:spcAft>
              <a:buSzPts val="2400"/>
              <a:buChar char="🠶"/>
            </a:pPr>
            <a:r>
              <a:rPr lang="fr-FR" sz="2400">
                <a:solidFill>
                  <a:srgbClr val="0C0C0C"/>
                </a:solidFill>
              </a:rPr>
              <a:t>Est utilisé pour contrôler les divergences et les </a:t>
            </a:r>
            <a:endParaRPr/>
          </a:p>
          <a:p>
            <a:pPr indent="-285750" lvl="1" marL="742950" rtl="0" algn="l">
              <a:spcBef>
                <a:spcPts val="1000"/>
              </a:spcBef>
              <a:spcAft>
                <a:spcPts val="0"/>
              </a:spcAft>
              <a:buSzPts val="2400"/>
              <a:buNone/>
            </a:pPr>
            <a:r>
              <a:rPr lang="fr-FR" sz="2400">
                <a:solidFill>
                  <a:srgbClr val="0C0C0C"/>
                </a:solidFill>
              </a:rPr>
              <a:t>convergences que l’on retrouve au niveau des </a:t>
            </a:r>
            <a:endParaRPr/>
          </a:p>
          <a:p>
            <a:pPr indent="-285750" lvl="1" marL="742950" rtl="0" algn="l">
              <a:spcBef>
                <a:spcPts val="1000"/>
              </a:spcBef>
              <a:spcAft>
                <a:spcPts val="0"/>
              </a:spcAft>
              <a:buSzPts val="2400"/>
              <a:buFont typeface="Century Gothic"/>
              <a:buNone/>
            </a:pPr>
            <a:r>
              <a:rPr lang="fr-FR" sz="2400">
                <a:solidFill>
                  <a:srgbClr val="0C0C0C"/>
                </a:solidFill>
              </a:rPr>
              <a:t>flux séquentiels d’activités ou de tâches dans un processus.</a:t>
            </a:r>
            <a:endParaRPr sz="2600">
              <a:solidFill>
                <a:srgbClr val="0C0C0C"/>
              </a:solidFill>
            </a:endParaRPr>
          </a:p>
          <a:p>
            <a:pPr indent="-342900" lvl="0" marL="342900" rtl="0" algn="l">
              <a:spcBef>
                <a:spcPts val="1000"/>
              </a:spcBef>
              <a:spcAft>
                <a:spcPts val="0"/>
              </a:spcAft>
              <a:buSzPts val="2800"/>
              <a:buChar char="🠶"/>
            </a:pPr>
            <a:r>
              <a:rPr b="1" lang="fr-FR" sz="2800">
                <a:solidFill>
                  <a:srgbClr val="0C0C0C"/>
                </a:solidFill>
              </a:rPr>
              <a:t>Evénement intermédiaire</a:t>
            </a:r>
            <a:endParaRPr/>
          </a:p>
          <a:p>
            <a:pPr indent="-285750" lvl="1" marL="742950" rtl="0" algn="l">
              <a:spcBef>
                <a:spcPts val="1000"/>
              </a:spcBef>
              <a:spcAft>
                <a:spcPts val="0"/>
              </a:spcAft>
              <a:buSzPts val="2400"/>
              <a:buChar char="🠶"/>
            </a:pPr>
            <a:r>
              <a:rPr lang="fr-FR" sz="2400">
                <a:solidFill>
                  <a:srgbClr val="0C0C0C"/>
                </a:solidFill>
              </a:rPr>
              <a:t>Qui intervient dans le cours normal d’un flux </a:t>
            </a:r>
            <a:endParaRPr/>
          </a:p>
          <a:p>
            <a:pPr indent="-285750" lvl="1" marL="742950" rtl="0" algn="l">
              <a:spcBef>
                <a:spcPts val="1000"/>
              </a:spcBef>
              <a:spcAft>
                <a:spcPts val="0"/>
              </a:spcAft>
              <a:buSzPts val="2400"/>
              <a:buNone/>
            </a:pPr>
            <a:r>
              <a:rPr lang="fr-FR" sz="2400">
                <a:solidFill>
                  <a:srgbClr val="0C0C0C"/>
                </a:solidFill>
              </a:rPr>
              <a:t>séquentiel.</a:t>
            </a:r>
            <a:endParaRPr/>
          </a:p>
        </p:txBody>
      </p:sp>
      <p:pic>
        <p:nvPicPr>
          <p:cNvPr descr="4.JPG" id="256" name="Google Shape;256;p14"/>
          <p:cNvPicPr preferRelativeResize="0"/>
          <p:nvPr/>
        </p:nvPicPr>
        <p:blipFill rotWithShape="1">
          <a:blip r:embed="rId3">
            <a:alphaModFix/>
          </a:blip>
          <a:srcRect b="0" l="0" r="0" t="0"/>
          <a:stretch/>
        </p:blipFill>
        <p:spPr>
          <a:xfrm>
            <a:off x="9342120" y="3988119"/>
            <a:ext cx="1600200" cy="962025"/>
          </a:xfrm>
          <a:prstGeom prst="rect">
            <a:avLst/>
          </a:prstGeom>
          <a:noFill/>
          <a:ln>
            <a:noFill/>
          </a:ln>
        </p:spPr>
      </p:pic>
      <p:pic>
        <p:nvPicPr>
          <p:cNvPr descr="5.JPG" id="257" name="Google Shape;257;p14"/>
          <p:cNvPicPr preferRelativeResize="0"/>
          <p:nvPr/>
        </p:nvPicPr>
        <p:blipFill rotWithShape="1">
          <a:blip r:embed="rId4">
            <a:alphaModFix/>
          </a:blip>
          <a:srcRect b="0" l="0" r="0" t="0"/>
          <a:stretch/>
        </p:blipFill>
        <p:spPr>
          <a:xfrm>
            <a:off x="9274683" y="1528446"/>
            <a:ext cx="1524000" cy="1127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5"/>
          <p:cNvSpPr txBox="1"/>
          <p:nvPr>
            <p:ph idx="1" type="body"/>
          </p:nvPr>
        </p:nvSpPr>
        <p:spPr>
          <a:xfrm>
            <a:off x="1546946" y="697993"/>
            <a:ext cx="9230783"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600"/>
              <a:buNone/>
            </a:pPr>
            <a:r>
              <a:rPr b="1" lang="fr-FR" sz="3600">
                <a:solidFill>
                  <a:srgbClr val="4A856D"/>
                </a:solidFill>
              </a:rPr>
              <a:t>Objet de flux</a:t>
            </a:r>
            <a:endParaRPr/>
          </a:p>
          <a:p>
            <a:pPr indent="-342900" lvl="0" marL="342900" rtl="0" algn="l">
              <a:spcBef>
                <a:spcPts val="1000"/>
              </a:spcBef>
              <a:spcAft>
                <a:spcPts val="0"/>
              </a:spcAft>
              <a:buSzPts val="2800"/>
              <a:buChar char="🠶"/>
            </a:pPr>
            <a:r>
              <a:rPr b="1" lang="fr-FR" sz="2800">
                <a:solidFill>
                  <a:srgbClr val="0C0C0C"/>
                </a:solidFill>
              </a:rPr>
              <a:t>Sous-processus</a:t>
            </a:r>
            <a:r>
              <a:rPr b="1" lang="fr-FR" sz="2600">
                <a:solidFill>
                  <a:srgbClr val="0C0C0C"/>
                </a:solidFill>
              </a:rPr>
              <a:t> </a:t>
            </a:r>
            <a:endParaRPr/>
          </a:p>
          <a:p>
            <a:pPr indent="-285750" lvl="1" marL="742950" rtl="0" algn="l">
              <a:spcBef>
                <a:spcPts val="1000"/>
              </a:spcBef>
              <a:spcAft>
                <a:spcPts val="0"/>
              </a:spcAft>
              <a:buSzPts val="2400"/>
              <a:buChar char="🠶"/>
            </a:pPr>
            <a:r>
              <a:rPr lang="fr-FR" sz="2400">
                <a:solidFill>
                  <a:srgbClr val="0C0C0C"/>
                </a:solidFill>
              </a:rPr>
              <a:t>Se compose de plusieurs tâches et est soumis aux même règles qu’un processus normal mais qui n’est pas nécessaire de détailler .</a:t>
            </a:r>
            <a:endParaRPr/>
          </a:p>
          <a:p>
            <a:pPr indent="-285750" lvl="1" marL="742950" rtl="0" algn="l">
              <a:spcBef>
                <a:spcPts val="1000"/>
              </a:spcBef>
              <a:spcAft>
                <a:spcPts val="0"/>
              </a:spcAft>
              <a:buSzPts val="2600"/>
              <a:buFont typeface="Century Gothic"/>
              <a:buNone/>
            </a:pPr>
            <a:r>
              <a:t/>
            </a:r>
            <a:endParaRPr sz="2600"/>
          </a:p>
        </p:txBody>
      </p:sp>
      <p:pic>
        <p:nvPicPr>
          <p:cNvPr descr="6.JPG" id="263" name="Google Shape;263;p15"/>
          <p:cNvPicPr preferRelativeResize="0"/>
          <p:nvPr/>
        </p:nvPicPr>
        <p:blipFill rotWithShape="1">
          <a:blip r:embed="rId3">
            <a:alphaModFix/>
          </a:blip>
          <a:srcRect b="0" l="0" r="0" t="0"/>
          <a:stretch/>
        </p:blipFill>
        <p:spPr>
          <a:xfrm>
            <a:off x="4559301" y="3146425"/>
            <a:ext cx="3035300" cy="1885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6"/>
          <p:cNvSpPr txBox="1"/>
          <p:nvPr>
            <p:ph idx="1" type="body"/>
          </p:nvPr>
        </p:nvSpPr>
        <p:spPr>
          <a:xfrm>
            <a:off x="1617642" y="673609"/>
            <a:ext cx="9038167" cy="490061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100000"/>
              <a:buNone/>
            </a:pPr>
            <a:r>
              <a:rPr b="1" lang="fr-FR" sz="3900">
                <a:solidFill>
                  <a:srgbClr val="4A856D"/>
                </a:solidFill>
              </a:rPr>
              <a:t>Objet de connexion (connecteur)</a:t>
            </a:r>
            <a:endParaRPr/>
          </a:p>
          <a:p>
            <a:pPr indent="-342900" lvl="0" marL="342900" rtl="0" algn="l">
              <a:spcBef>
                <a:spcPts val="1000"/>
              </a:spcBef>
              <a:spcAft>
                <a:spcPts val="0"/>
              </a:spcAft>
              <a:buSzPct val="100000"/>
              <a:buChar char="🠶"/>
            </a:pPr>
            <a:r>
              <a:rPr b="1" lang="fr-FR" sz="3000">
                <a:solidFill>
                  <a:srgbClr val="0C0C0C"/>
                </a:solidFill>
              </a:rPr>
              <a:t>Flux séquence</a:t>
            </a:r>
            <a:endParaRPr/>
          </a:p>
          <a:p>
            <a:pPr indent="-121284" lvl="1" marL="742950" rtl="0" algn="l">
              <a:spcBef>
                <a:spcPts val="1000"/>
              </a:spcBef>
              <a:spcAft>
                <a:spcPts val="0"/>
              </a:spcAft>
              <a:buSzPct val="100000"/>
              <a:buNone/>
            </a:pPr>
            <a:r>
              <a:t/>
            </a:r>
            <a:endParaRPr sz="2800">
              <a:solidFill>
                <a:srgbClr val="0C0C0C"/>
              </a:solidFill>
            </a:endParaRPr>
          </a:p>
          <a:p>
            <a:pPr indent="-121284" lvl="1" marL="742950" rtl="0" algn="l">
              <a:spcBef>
                <a:spcPts val="1000"/>
              </a:spcBef>
              <a:spcAft>
                <a:spcPts val="0"/>
              </a:spcAft>
              <a:buSzPct val="100000"/>
              <a:buNone/>
            </a:pPr>
            <a:r>
              <a:t/>
            </a:r>
            <a:endParaRPr sz="2800">
              <a:solidFill>
                <a:srgbClr val="0C0C0C"/>
              </a:solidFill>
            </a:endParaRPr>
          </a:p>
          <a:p>
            <a:pPr indent="-285750" lvl="1" marL="742950" rtl="0" algn="l">
              <a:spcBef>
                <a:spcPts val="1000"/>
              </a:spcBef>
              <a:spcAft>
                <a:spcPts val="0"/>
              </a:spcAft>
              <a:buSzPct val="100000"/>
              <a:buFont typeface="Century Gothic"/>
              <a:buNone/>
            </a:pPr>
            <a:r>
              <a:t/>
            </a:r>
            <a:endParaRPr sz="2800">
              <a:solidFill>
                <a:srgbClr val="0C0C0C"/>
              </a:solidFill>
            </a:endParaRPr>
          </a:p>
          <a:p>
            <a:pPr indent="-285750" lvl="1" marL="742950" rtl="0" algn="l">
              <a:spcBef>
                <a:spcPts val="1000"/>
              </a:spcBef>
              <a:spcAft>
                <a:spcPts val="0"/>
              </a:spcAft>
              <a:buSzPct val="100000"/>
              <a:buNone/>
            </a:pPr>
            <a:r>
              <a:t/>
            </a:r>
            <a:endParaRPr sz="2800">
              <a:solidFill>
                <a:srgbClr val="0C0C0C"/>
              </a:solidFill>
            </a:endParaRPr>
          </a:p>
          <a:p>
            <a:pPr indent="-285750" lvl="1" marL="742950" rtl="0" algn="l">
              <a:spcBef>
                <a:spcPts val="1000"/>
              </a:spcBef>
              <a:spcAft>
                <a:spcPts val="0"/>
              </a:spcAft>
              <a:buSzPct val="100000"/>
              <a:buChar char="🠶"/>
            </a:pPr>
            <a:r>
              <a:rPr lang="fr-FR" sz="2600">
                <a:solidFill>
                  <a:srgbClr val="0C0C0C"/>
                </a:solidFill>
              </a:rPr>
              <a:t>Détermine l’ordre d’exécution des activités.</a:t>
            </a:r>
            <a:endParaRPr/>
          </a:p>
          <a:p>
            <a:pPr indent="-285750" lvl="1" marL="742950" rtl="0" algn="l">
              <a:spcBef>
                <a:spcPts val="1000"/>
              </a:spcBef>
              <a:spcAft>
                <a:spcPts val="0"/>
              </a:spcAft>
              <a:buSzPct val="100000"/>
              <a:buChar char="🠶"/>
            </a:pPr>
            <a:r>
              <a:rPr lang="fr-FR" sz="2600">
                <a:solidFill>
                  <a:srgbClr val="0C0C0C"/>
                </a:solidFill>
              </a:rPr>
              <a:t>Flux  par défaut est l’embranchement pris lorsque toutes les autres conditions sont évaluées comme fausses.</a:t>
            </a:r>
            <a:endParaRPr/>
          </a:p>
          <a:p>
            <a:pPr indent="-342900" lvl="0" marL="342900" rtl="0" algn="l">
              <a:spcBef>
                <a:spcPts val="1000"/>
              </a:spcBef>
              <a:spcAft>
                <a:spcPts val="0"/>
              </a:spcAft>
              <a:buSzPct val="100000"/>
              <a:buFont typeface="Century Gothic"/>
              <a:buNone/>
            </a:pPr>
            <a:r>
              <a:t/>
            </a:r>
            <a:endParaRPr>
              <a:solidFill>
                <a:srgbClr val="0C0C0C"/>
              </a:solidFill>
            </a:endParaRPr>
          </a:p>
        </p:txBody>
      </p:sp>
      <p:pic>
        <p:nvPicPr>
          <p:cNvPr descr="7.JPG" id="269" name="Google Shape;269;p16"/>
          <p:cNvPicPr preferRelativeResize="0"/>
          <p:nvPr/>
        </p:nvPicPr>
        <p:blipFill rotWithShape="1">
          <a:blip r:embed="rId3">
            <a:alphaModFix/>
          </a:blip>
          <a:srcRect b="0" l="0" r="0" t="0"/>
          <a:stretch/>
        </p:blipFill>
        <p:spPr>
          <a:xfrm>
            <a:off x="3361944" y="1727073"/>
            <a:ext cx="4857751" cy="1714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7"/>
          <p:cNvSpPr txBox="1"/>
          <p:nvPr>
            <p:ph idx="1" type="body"/>
          </p:nvPr>
        </p:nvSpPr>
        <p:spPr>
          <a:xfrm>
            <a:off x="1633728" y="685038"/>
            <a:ext cx="10058400" cy="51435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600"/>
              <a:buNone/>
            </a:pPr>
            <a:r>
              <a:rPr b="1" lang="fr-FR" sz="3600">
                <a:solidFill>
                  <a:srgbClr val="4A856D"/>
                </a:solidFill>
              </a:rPr>
              <a:t>Objet de connexion (connecteur)</a:t>
            </a:r>
            <a:endParaRPr/>
          </a:p>
          <a:p>
            <a:pPr indent="-342900" lvl="0" marL="342900" rtl="0" algn="l">
              <a:spcBef>
                <a:spcPts val="1000"/>
              </a:spcBef>
              <a:spcAft>
                <a:spcPts val="0"/>
              </a:spcAft>
              <a:buSzPts val="2800"/>
              <a:buChar char="🠶"/>
            </a:pPr>
            <a:r>
              <a:rPr b="1" lang="fr-FR" sz="2800">
                <a:solidFill>
                  <a:srgbClr val="58533E"/>
                </a:solidFill>
              </a:rPr>
              <a:t>Flux de messages (entre processus)</a:t>
            </a:r>
            <a:endParaRPr/>
          </a:p>
          <a:p>
            <a:pPr indent="-228600" lvl="0" marL="342900" rtl="0" algn="l">
              <a:spcBef>
                <a:spcPts val="1000"/>
              </a:spcBef>
              <a:spcAft>
                <a:spcPts val="0"/>
              </a:spcAft>
              <a:buSzPts val="1800"/>
              <a:buNone/>
            </a:pPr>
            <a:r>
              <a:t/>
            </a:r>
            <a:endParaRPr/>
          </a:p>
        </p:txBody>
      </p:sp>
      <p:pic>
        <p:nvPicPr>
          <p:cNvPr descr="12.JPG" id="276" name="Google Shape;276;p17"/>
          <p:cNvPicPr preferRelativeResize="0"/>
          <p:nvPr/>
        </p:nvPicPr>
        <p:blipFill rotWithShape="1">
          <a:blip r:embed="rId3">
            <a:alphaModFix/>
          </a:blip>
          <a:srcRect b="0" l="0" r="0" t="0"/>
          <a:stretch/>
        </p:blipFill>
        <p:spPr>
          <a:xfrm>
            <a:off x="1811275" y="2164271"/>
            <a:ext cx="9259061" cy="3752850"/>
          </a:xfrm>
          <a:prstGeom prst="rect">
            <a:avLst/>
          </a:prstGeom>
          <a:noFill/>
          <a:ln>
            <a:noFill/>
          </a:ln>
        </p:spPr>
      </p:pic>
      <p:pic>
        <p:nvPicPr>
          <p:cNvPr descr="16.JPG" id="277" name="Google Shape;277;p17"/>
          <p:cNvPicPr preferRelativeResize="0"/>
          <p:nvPr/>
        </p:nvPicPr>
        <p:blipFill rotWithShape="1">
          <a:blip r:embed="rId4">
            <a:alphaModFix/>
          </a:blip>
          <a:srcRect b="0" l="0" r="0" t="0"/>
          <a:stretch/>
        </p:blipFill>
        <p:spPr>
          <a:xfrm>
            <a:off x="8144257" y="3044191"/>
            <a:ext cx="2804159" cy="27146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8"/>
          <p:cNvSpPr txBox="1"/>
          <p:nvPr>
            <p:ph idx="1" type="body"/>
          </p:nvPr>
        </p:nvSpPr>
        <p:spPr>
          <a:xfrm>
            <a:off x="1565911" y="784290"/>
            <a:ext cx="10054589" cy="521493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600"/>
              <a:buNone/>
            </a:pPr>
            <a:r>
              <a:rPr b="1" lang="fr-FR" sz="3600">
                <a:solidFill>
                  <a:srgbClr val="4A856D"/>
                </a:solidFill>
              </a:rPr>
              <a:t>Objets d’organisation(Swimlanes)</a:t>
            </a:r>
            <a:endParaRPr/>
          </a:p>
          <a:p>
            <a:pPr indent="-342900" lvl="0" marL="342900" rtl="0" algn="l">
              <a:spcBef>
                <a:spcPts val="1000"/>
              </a:spcBef>
              <a:spcAft>
                <a:spcPts val="0"/>
              </a:spcAft>
              <a:buSzPts val="2800"/>
              <a:buChar char="🠶"/>
            </a:pPr>
            <a:r>
              <a:rPr b="1" lang="fr-FR" sz="2800">
                <a:solidFill>
                  <a:srgbClr val="58533E"/>
                </a:solidFill>
              </a:rPr>
              <a:t>Processus (groupement –pool)</a:t>
            </a:r>
            <a:endParaRPr/>
          </a:p>
          <a:p>
            <a:pPr indent="-285750" lvl="1" marL="742950" rtl="0" algn="l">
              <a:spcBef>
                <a:spcPts val="1000"/>
              </a:spcBef>
              <a:spcAft>
                <a:spcPts val="0"/>
              </a:spcAft>
              <a:buSzPts val="2400"/>
              <a:buChar char="🠶"/>
            </a:pPr>
            <a:r>
              <a:rPr lang="fr-FR" sz="2400"/>
              <a:t>Précise les limites du processus</a:t>
            </a:r>
            <a:endParaRPr/>
          </a:p>
          <a:p>
            <a:pPr indent="-184150" lvl="1" marL="742950" rtl="0" algn="l">
              <a:spcBef>
                <a:spcPts val="1000"/>
              </a:spcBef>
              <a:spcAft>
                <a:spcPts val="0"/>
              </a:spcAft>
              <a:buSzPts val="1600"/>
              <a:buNone/>
            </a:pPr>
            <a:r>
              <a:t/>
            </a:r>
            <a:endParaRPr/>
          </a:p>
          <a:p>
            <a:pPr indent="-285750" lvl="1" marL="742950" rtl="0" algn="l">
              <a:spcBef>
                <a:spcPts val="1000"/>
              </a:spcBef>
              <a:spcAft>
                <a:spcPts val="0"/>
              </a:spcAft>
              <a:buSzPts val="1600"/>
              <a:buFont typeface="Century Gothic"/>
              <a:buNone/>
            </a:pPr>
            <a:r>
              <a:t/>
            </a:r>
            <a:endParaRPr/>
          </a:p>
          <a:p>
            <a:pPr indent="-342900" lvl="0" marL="342900" rtl="0" algn="l">
              <a:spcBef>
                <a:spcPts val="1000"/>
              </a:spcBef>
              <a:spcAft>
                <a:spcPts val="0"/>
              </a:spcAft>
              <a:buSzPts val="2800"/>
              <a:buChar char="🠶"/>
            </a:pPr>
            <a:r>
              <a:rPr b="1" lang="fr-FR" sz="2800">
                <a:solidFill>
                  <a:srgbClr val="58533E"/>
                </a:solidFill>
              </a:rPr>
              <a:t>Couloirs/Bandes</a:t>
            </a:r>
            <a:endParaRPr/>
          </a:p>
          <a:p>
            <a:pPr indent="-285750" lvl="1" marL="742950" rtl="0" algn="l">
              <a:spcBef>
                <a:spcPts val="1000"/>
              </a:spcBef>
              <a:spcAft>
                <a:spcPts val="0"/>
              </a:spcAft>
              <a:buSzPts val="2400"/>
              <a:buChar char="🠶"/>
            </a:pPr>
            <a:r>
              <a:rPr lang="fr-FR" sz="2400"/>
              <a:t>Définissent les acteurs </a:t>
            </a:r>
            <a:endParaRPr/>
          </a:p>
          <a:p>
            <a:pPr indent="-285750" lvl="1" marL="742950" rtl="0" algn="l">
              <a:spcBef>
                <a:spcPts val="1000"/>
              </a:spcBef>
              <a:spcAft>
                <a:spcPts val="0"/>
              </a:spcAft>
              <a:buSzPts val="1600"/>
              <a:buFont typeface="Century Gothic"/>
              <a:buNone/>
            </a:pPr>
            <a:r>
              <a:t/>
            </a:r>
            <a:endParaRPr/>
          </a:p>
        </p:txBody>
      </p:sp>
      <p:pic>
        <p:nvPicPr>
          <p:cNvPr descr="10.JPG" id="283" name="Google Shape;283;p18"/>
          <p:cNvPicPr preferRelativeResize="0"/>
          <p:nvPr/>
        </p:nvPicPr>
        <p:blipFill rotWithShape="1">
          <a:blip r:embed="rId3">
            <a:alphaModFix/>
          </a:blip>
          <a:srcRect b="0" l="0" r="0" t="0"/>
          <a:stretch/>
        </p:blipFill>
        <p:spPr>
          <a:xfrm>
            <a:off x="6946900" y="2259013"/>
            <a:ext cx="4737100" cy="1714500"/>
          </a:xfrm>
          <a:prstGeom prst="rect">
            <a:avLst/>
          </a:prstGeom>
          <a:noFill/>
          <a:ln>
            <a:noFill/>
          </a:ln>
        </p:spPr>
      </p:pic>
      <p:pic>
        <p:nvPicPr>
          <p:cNvPr descr="11.JPG" id="284" name="Google Shape;284;p18"/>
          <p:cNvPicPr preferRelativeResize="0"/>
          <p:nvPr/>
        </p:nvPicPr>
        <p:blipFill rotWithShape="1">
          <a:blip r:embed="rId4">
            <a:alphaModFix/>
          </a:blip>
          <a:srcRect b="0" l="0" r="0" t="0"/>
          <a:stretch/>
        </p:blipFill>
        <p:spPr>
          <a:xfrm>
            <a:off x="6153151" y="4184651"/>
            <a:ext cx="5410200" cy="22764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9"/>
          <p:cNvSpPr txBox="1"/>
          <p:nvPr>
            <p:ph idx="1" type="body"/>
          </p:nvPr>
        </p:nvSpPr>
        <p:spPr>
          <a:xfrm>
            <a:off x="1645920" y="722376"/>
            <a:ext cx="10972800" cy="475773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600"/>
              <a:buNone/>
            </a:pPr>
            <a:r>
              <a:rPr b="1" lang="fr-FR" sz="3600">
                <a:solidFill>
                  <a:srgbClr val="4A856D"/>
                </a:solidFill>
              </a:rPr>
              <a:t>Objets d’organisation(Swimlanes)</a:t>
            </a:r>
            <a:endParaRPr/>
          </a:p>
          <a:p>
            <a:pPr indent="-342900" lvl="0" marL="342900" rtl="0" algn="l">
              <a:spcBef>
                <a:spcPts val="1000"/>
              </a:spcBef>
              <a:spcAft>
                <a:spcPts val="0"/>
              </a:spcAft>
              <a:buSzPts val="2800"/>
              <a:buChar char="🠶"/>
            </a:pPr>
            <a:r>
              <a:rPr b="1" lang="fr-FR" sz="2800">
                <a:solidFill>
                  <a:srgbClr val="58533E"/>
                </a:solidFill>
              </a:rPr>
              <a:t>Milestone  / Etape</a:t>
            </a:r>
            <a:endParaRPr/>
          </a:p>
          <a:p>
            <a:pPr indent="-342900" lvl="0" marL="342900" rtl="0" algn="l">
              <a:spcBef>
                <a:spcPts val="1000"/>
              </a:spcBef>
              <a:spcAft>
                <a:spcPts val="0"/>
              </a:spcAft>
              <a:buSzPts val="1800"/>
              <a:buFont typeface="Century Gothic"/>
              <a:buNone/>
            </a:pPr>
            <a:r>
              <a:t/>
            </a:r>
            <a:endParaRPr/>
          </a:p>
        </p:txBody>
      </p:sp>
      <p:pic>
        <p:nvPicPr>
          <p:cNvPr descr="9.JPG" id="290" name="Google Shape;290;p19"/>
          <p:cNvPicPr preferRelativeResize="0"/>
          <p:nvPr/>
        </p:nvPicPr>
        <p:blipFill rotWithShape="1">
          <a:blip r:embed="rId3">
            <a:alphaModFix/>
          </a:blip>
          <a:srcRect b="0" l="0" r="0" t="0"/>
          <a:stretch/>
        </p:blipFill>
        <p:spPr>
          <a:xfrm>
            <a:off x="2489200" y="2112963"/>
            <a:ext cx="7905751" cy="349726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0"/>
          <p:cNvSpPr txBox="1"/>
          <p:nvPr>
            <p:ph idx="1" type="body"/>
          </p:nvPr>
        </p:nvSpPr>
        <p:spPr>
          <a:xfrm>
            <a:off x="1625261" y="694944"/>
            <a:ext cx="10018099" cy="587654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600"/>
              <a:buNone/>
            </a:pPr>
            <a:r>
              <a:rPr b="1" lang="fr-FR" sz="3600">
                <a:solidFill>
                  <a:srgbClr val="4A856D"/>
                </a:solidFill>
              </a:rPr>
              <a:t>Objet de données</a:t>
            </a:r>
            <a:endParaRPr/>
          </a:p>
          <a:p>
            <a:pPr indent="-342900" lvl="0" marL="342900" rtl="0" algn="l">
              <a:spcBef>
                <a:spcPts val="1000"/>
              </a:spcBef>
              <a:spcAft>
                <a:spcPts val="0"/>
              </a:spcAft>
              <a:buSzPts val="2800"/>
              <a:buChar char="🠶"/>
            </a:pPr>
            <a:r>
              <a:rPr b="1" lang="fr-FR" sz="2800">
                <a:solidFill>
                  <a:srgbClr val="58533E"/>
                </a:solidFill>
              </a:rPr>
              <a:t>Objet de données</a:t>
            </a:r>
            <a:endParaRPr/>
          </a:p>
          <a:p>
            <a:pPr indent="-285750" lvl="1" marL="742950" rtl="0" algn="l">
              <a:spcBef>
                <a:spcPts val="1000"/>
              </a:spcBef>
              <a:spcAft>
                <a:spcPts val="0"/>
              </a:spcAft>
              <a:buSzPts val="2600"/>
              <a:buChar char="🠶"/>
            </a:pPr>
            <a:r>
              <a:rPr lang="fr-FR" sz="2600"/>
              <a:t>Représente une structure d’information </a:t>
            </a:r>
            <a:endParaRPr/>
          </a:p>
          <a:p>
            <a:pPr indent="-285750" lvl="1" marL="742950" rtl="0" algn="l">
              <a:spcBef>
                <a:spcPts val="1000"/>
              </a:spcBef>
              <a:spcAft>
                <a:spcPts val="0"/>
              </a:spcAft>
              <a:buSzPts val="2600"/>
              <a:buNone/>
            </a:pPr>
            <a:r>
              <a:rPr lang="fr-FR" sz="2600"/>
              <a:t>	généralement traitée dans les activités </a:t>
            </a:r>
            <a:endParaRPr/>
          </a:p>
          <a:p>
            <a:pPr indent="-285750" lvl="1" marL="742950" rtl="0" algn="l">
              <a:spcBef>
                <a:spcPts val="1000"/>
              </a:spcBef>
              <a:spcAft>
                <a:spcPts val="0"/>
              </a:spcAft>
              <a:buSzPts val="2600"/>
              <a:buNone/>
            </a:pPr>
            <a:r>
              <a:rPr lang="fr-FR" sz="2600"/>
              <a:t>	comme les documents, courriels, lettres, etc.</a:t>
            </a:r>
            <a:endParaRPr b="1" sz="3000">
              <a:solidFill>
                <a:srgbClr val="58533E"/>
              </a:solidFill>
            </a:endParaRPr>
          </a:p>
          <a:p>
            <a:pPr indent="-152400" lvl="0" marL="342900" rtl="0" algn="l">
              <a:spcBef>
                <a:spcPts val="1000"/>
              </a:spcBef>
              <a:spcAft>
                <a:spcPts val="0"/>
              </a:spcAft>
              <a:buSzPts val="3000"/>
              <a:buNone/>
            </a:pPr>
            <a:r>
              <a:t/>
            </a:r>
            <a:endParaRPr b="1" sz="3000">
              <a:solidFill>
                <a:srgbClr val="58533E"/>
              </a:solidFill>
            </a:endParaRPr>
          </a:p>
          <a:p>
            <a:pPr indent="-342900" lvl="0" marL="342900" rtl="0" algn="l">
              <a:spcBef>
                <a:spcPts val="1000"/>
              </a:spcBef>
              <a:spcAft>
                <a:spcPts val="0"/>
              </a:spcAft>
              <a:buSzPts val="3000"/>
              <a:buChar char="🠶"/>
            </a:pPr>
            <a:r>
              <a:rPr b="1" lang="fr-FR" sz="3000">
                <a:solidFill>
                  <a:srgbClr val="58533E"/>
                </a:solidFill>
              </a:rPr>
              <a:t>Collection d’objets de données</a:t>
            </a:r>
            <a:endParaRPr/>
          </a:p>
          <a:p>
            <a:pPr indent="-285750" lvl="1" marL="742950" rtl="0" algn="l">
              <a:spcBef>
                <a:spcPts val="1000"/>
              </a:spcBef>
              <a:spcAft>
                <a:spcPts val="0"/>
              </a:spcAft>
              <a:buSzPts val="2600"/>
              <a:buChar char="🠶"/>
            </a:pPr>
            <a:r>
              <a:rPr lang="fr-FR" sz="2600"/>
              <a:t>Représente un ensemble d’informations,</a:t>
            </a:r>
            <a:endParaRPr/>
          </a:p>
          <a:p>
            <a:pPr indent="-285750" lvl="1" marL="742950" rtl="0" algn="l">
              <a:spcBef>
                <a:spcPts val="1000"/>
              </a:spcBef>
              <a:spcAft>
                <a:spcPts val="0"/>
              </a:spcAft>
              <a:buSzPts val="2600"/>
              <a:buFont typeface="Century Gothic"/>
              <a:buNone/>
            </a:pPr>
            <a:r>
              <a:rPr lang="fr-FR" sz="2600"/>
              <a:t>telle une liste des articles d’une commande </a:t>
            </a:r>
            <a:endParaRPr/>
          </a:p>
          <a:p>
            <a:pPr indent="-285750" lvl="1" marL="742950" rtl="0" algn="l">
              <a:spcBef>
                <a:spcPts val="1000"/>
              </a:spcBef>
              <a:spcAft>
                <a:spcPts val="0"/>
              </a:spcAft>
              <a:buSzPts val="1600"/>
              <a:buFont typeface="Century Gothic"/>
              <a:buNone/>
            </a:pPr>
            <a:r>
              <a:t/>
            </a:r>
            <a:endParaRPr/>
          </a:p>
        </p:txBody>
      </p:sp>
      <p:pic>
        <p:nvPicPr>
          <p:cNvPr descr="14.JPG" id="296" name="Google Shape;296;p20"/>
          <p:cNvPicPr preferRelativeResize="0"/>
          <p:nvPr/>
        </p:nvPicPr>
        <p:blipFill rotWithShape="1">
          <a:blip r:embed="rId3">
            <a:alphaModFix/>
          </a:blip>
          <a:srcRect b="0" l="0" r="0" t="0"/>
          <a:stretch/>
        </p:blipFill>
        <p:spPr>
          <a:xfrm>
            <a:off x="9558528" y="3951923"/>
            <a:ext cx="2003298" cy="1909762"/>
          </a:xfrm>
          <a:prstGeom prst="rect">
            <a:avLst/>
          </a:prstGeom>
          <a:noFill/>
          <a:ln>
            <a:noFill/>
          </a:ln>
        </p:spPr>
      </p:pic>
      <p:pic>
        <p:nvPicPr>
          <p:cNvPr descr="13.JPG" id="297" name="Google Shape;297;p20"/>
          <p:cNvPicPr preferRelativeResize="0"/>
          <p:nvPr/>
        </p:nvPicPr>
        <p:blipFill rotWithShape="1">
          <a:blip r:embed="rId4">
            <a:alphaModFix/>
          </a:blip>
          <a:srcRect b="0" l="0" r="0" t="0"/>
          <a:stretch/>
        </p:blipFill>
        <p:spPr>
          <a:xfrm>
            <a:off x="9828656" y="1780032"/>
            <a:ext cx="1729359" cy="156133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1"/>
          <p:cNvSpPr txBox="1"/>
          <p:nvPr>
            <p:ph idx="1" type="body"/>
          </p:nvPr>
        </p:nvSpPr>
        <p:spPr>
          <a:xfrm>
            <a:off x="1621536" y="661416"/>
            <a:ext cx="10075164" cy="475773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600"/>
              <a:buNone/>
            </a:pPr>
            <a:r>
              <a:rPr b="1" lang="fr-FR" sz="3600">
                <a:solidFill>
                  <a:srgbClr val="4A856D"/>
                </a:solidFill>
              </a:rPr>
              <a:t>Objet de données</a:t>
            </a:r>
            <a:endParaRPr sz="3600">
              <a:solidFill>
                <a:srgbClr val="58533E"/>
              </a:solidFill>
            </a:endParaRPr>
          </a:p>
          <a:p>
            <a:pPr indent="-342900" lvl="0" marL="342900" rtl="0" algn="l">
              <a:spcBef>
                <a:spcPts val="1000"/>
              </a:spcBef>
              <a:spcAft>
                <a:spcPts val="0"/>
              </a:spcAft>
              <a:buSzPts val="2800"/>
              <a:buChar char="🠶"/>
            </a:pPr>
            <a:r>
              <a:rPr b="1" lang="fr-FR" sz="2800">
                <a:solidFill>
                  <a:srgbClr val="58533E"/>
                </a:solidFill>
              </a:rPr>
              <a:t>Magasin de données</a:t>
            </a:r>
            <a:endParaRPr/>
          </a:p>
          <a:p>
            <a:pPr indent="-285750" lvl="1" marL="742950" rtl="0" algn="l">
              <a:spcBef>
                <a:spcPts val="1000"/>
              </a:spcBef>
              <a:spcAft>
                <a:spcPts val="0"/>
              </a:spcAft>
              <a:buSzPts val="2400"/>
              <a:buChar char="🠶"/>
            </a:pPr>
            <a:r>
              <a:rPr lang="fr-FR" sz="2400"/>
              <a:t>Un </a:t>
            </a:r>
            <a:r>
              <a:rPr b="1" lang="fr-FR" sz="2400"/>
              <a:t>magasin de données </a:t>
            </a:r>
            <a:r>
              <a:rPr lang="fr-FR" sz="2400"/>
              <a:t>est un endroit ou le processus peut lire et écrire des données, comme une base de données ou un classeur; Son contenu persiste même après la fin de l’instance du processus. </a:t>
            </a:r>
            <a:endParaRPr/>
          </a:p>
        </p:txBody>
      </p:sp>
      <p:pic>
        <p:nvPicPr>
          <p:cNvPr descr="15.JPG" id="303" name="Google Shape;303;p21"/>
          <p:cNvPicPr preferRelativeResize="0"/>
          <p:nvPr/>
        </p:nvPicPr>
        <p:blipFill rotWithShape="1">
          <a:blip r:embed="rId3">
            <a:alphaModFix/>
          </a:blip>
          <a:srcRect b="0" l="0" r="0" t="0"/>
          <a:stretch/>
        </p:blipFill>
        <p:spPr>
          <a:xfrm>
            <a:off x="4870451" y="3556000"/>
            <a:ext cx="2857500" cy="1892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2"/>
          <p:cNvSpPr txBox="1"/>
          <p:nvPr>
            <p:ph type="ctrTitle"/>
          </p:nvPr>
        </p:nvSpPr>
        <p:spPr>
          <a:xfrm>
            <a:off x="2467293" y="4160521"/>
            <a:ext cx="8915399" cy="99669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B96A65"/>
              </a:buClr>
              <a:buSzPts val="5400"/>
              <a:buFont typeface="Century Gothic"/>
              <a:buNone/>
            </a:pPr>
            <a:r>
              <a:rPr b="1" lang="fr-FR" cap="none">
                <a:solidFill>
                  <a:srgbClr val="B96A65"/>
                </a:solidFill>
              </a:rPr>
              <a:t>SYMBOLE ÉTENDUS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3"/>
          <p:cNvSpPr txBox="1"/>
          <p:nvPr>
            <p:ph type="title"/>
          </p:nvPr>
        </p:nvSpPr>
        <p:spPr>
          <a:xfrm>
            <a:off x="1767841" y="195072"/>
            <a:ext cx="9736772" cy="487680"/>
          </a:xfrm>
          <a:prstGeom prst="rect">
            <a:avLst/>
          </a:prstGeom>
          <a:noFill/>
          <a:ln>
            <a:noFill/>
          </a:ln>
        </p:spPr>
        <p:txBody>
          <a:bodyPr anchorCtr="0" anchor="t" bIns="45700" lIns="91425" spcFirstLastPara="1" rIns="91425" wrap="square" tIns="45700">
            <a:normAutofit fontScale="90000"/>
          </a:bodyPr>
          <a:lstStyle/>
          <a:p>
            <a:pPr indent="0" lvl="4" marL="0" rtl="0" algn="l">
              <a:spcBef>
                <a:spcPts val="0"/>
              </a:spcBef>
              <a:spcAft>
                <a:spcPts val="0"/>
              </a:spcAft>
              <a:buNone/>
            </a:pPr>
            <a:r>
              <a:rPr b="1" lang="fr-FR" sz="3200">
                <a:solidFill>
                  <a:srgbClr val="4A856D"/>
                </a:solidFill>
              </a:rPr>
              <a:t>Tâches</a:t>
            </a:r>
            <a:br>
              <a:rPr b="1" lang="fr-FR" sz="3200">
                <a:solidFill>
                  <a:srgbClr val="4A856D"/>
                </a:solidFill>
              </a:rPr>
            </a:br>
            <a:endParaRPr/>
          </a:p>
        </p:txBody>
      </p:sp>
      <p:pic>
        <p:nvPicPr>
          <p:cNvPr id="314" name="Google Shape;314;p23"/>
          <p:cNvPicPr preferRelativeResize="0"/>
          <p:nvPr/>
        </p:nvPicPr>
        <p:blipFill rotWithShape="1">
          <a:blip r:embed="rId3">
            <a:alphaModFix/>
          </a:blip>
          <a:srcRect b="0" l="0" r="0" t="0"/>
          <a:stretch/>
        </p:blipFill>
        <p:spPr>
          <a:xfrm>
            <a:off x="8221599" y="4480371"/>
            <a:ext cx="1771650" cy="737806"/>
          </a:xfrm>
          <a:prstGeom prst="rect">
            <a:avLst/>
          </a:prstGeom>
          <a:noFill/>
          <a:ln>
            <a:noFill/>
          </a:ln>
        </p:spPr>
      </p:pic>
      <p:graphicFrame>
        <p:nvGraphicFramePr>
          <p:cNvPr id="315" name="Google Shape;315;p23"/>
          <p:cNvGraphicFramePr/>
          <p:nvPr/>
        </p:nvGraphicFramePr>
        <p:xfrm>
          <a:off x="1833309" y="987551"/>
          <a:ext cx="3000000" cy="3000000"/>
        </p:xfrm>
        <a:graphic>
          <a:graphicData uri="http://schemas.openxmlformats.org/drawingml/2006/table">
            <a:tbl>
              <a:tblPr bandRow="1" firstRow="1">
                <a:noFill/>
                <a:tableStyleId>{AB6627D9-4488-47AB-A009-2705E3C24D6C}</a:tableStyleId>
              </a:tblPr>
              <a:tblGrid>
                <a:gridCol w="2543625"/>
                <a:gridCol w="3767325"/>
                <a:gridCol w="2604450"/>
              </a:tblGrid>
              <a:tr h="696525">
                <a:tc>
                  <a:txBody>
                    <a:bodyPr/>
                    <a:lstStyle/>
                    <a:p>
                      <a:pPr indent="0" lvl="0" marL="0" marR="0" rtl="0" algn="ctr">
                        <a:lnSpc>
                          <a:spcPct val="100000"/>
                        </a:lnSpc>
                        <a:spcBef>
                          <a:spcPts val="0"/>
                        </a:spcBef>
                        <a:spcAft>
                          <a:spcPts val="0"/>
                        </a:spcAft>
                        <a:buClr>
                          <a:srgbClr val="0C0C0C"/>
                        </a:buClr>
                        <a:buSzPts val="1800"/>
                        <a:buFont typeface="Century Gothic"/>
                        <a:buNone/>
                      </a:pPr>
                      <a:r>
                        <a:rPr b="1" lang="fr-FR" sz="1800" u="none" cap="none" strike="noStrike">
                          <a:solidFill>
                            <a:srgbClr val="0C0C0C"/>
                          </a:solidFill>
                        </a:rPr>
                        <a:t>Nom</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lnSpc>
                          <a:spcPct val="100000"/>
                        </a:lnSpc>
                        <a:spcBef>
                          <a:spcPts val="0"/>
                        </a:spcBef>
                        <a:spcAft>
                          <a:spcPts val="0"/>
                        </a:spcAft>
                        <a:buClr>
                          <a:srgbClr val="0C0C0C"/>
                        </a:buClr>
                        <a:buSzPts val="1800"/>
                        <a:buFont typeface="Century Gothic"/>
                        <a:buNone/>
                      </a:pPr>
                      <a:r>
                        <a:rPr lang="fr-FR" sz="1800">
                          <a:solidFill>
                            <a:srgbClr val="0C0C0C"/>
                          </a:solidFill>
                        </a:rPr>
                        <a:t>Utilisation</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lnSpc>
                          <a:spcPct val="100000"/>
                        </a:lnSpc>
                        <a:spcBef>
                          <a:spcPts val="0"/>
                        </a:spcBef>
                        <a:spcAft>
                          <a:spcPts val="0"/>
                        </a:spcAft>
                        <a:buClr>
                          <a:srgbClr val="0C0C0C"/>
                        </a:buClr>
                        <a:buSzPts val="1800"/>
                        <a:buFont typeface="Century Gothic"/>
                        <a:buNone/>
                      </a:pPr>
                      <a:r>
                        <a:rPr lang="fr-FR" sz="1800">
                          <a:solidFill>
                            <a:srgbClr val="0C0C0C"/>
                          </a:solidFill>
                        </a:rPr>
                        <a:t>Notation</a:t>
                      </a:r>
                      <a:endParaRPr/>
                    </a:p>
                    <a:p>
                      <a:pPr indent="0" lvl="0" marL="0" marR="0" rtl="0" algn="l">
                        <a:spcBef>
                          <a:spcPts val="0"/>
                        </a:spcBef>
                        <a:spcAft>
                          <a:spcPts val="0"/>
                        </a:spcAft>
                        <a:buNone/>
                      </a:pPr>
                      <a:r>
                        <a:t/>
                      </a:r>
                      <a:endParaRPr sz="1800"/>
                    </a:p>
                  </a:txBody>
                  <a:tcPr marT="45725" marB="45725" marR="91450" marL="91450"/>
                </a:tc>
              </a:tr>
              <a:tr h="1079500">
                <a:tc>
                  <a:txBody>
                    <a:bodyPr/>
                    <a:lstStyle/>
                    <a:p>
                      <a:pPr indent="0" lvl="0" marL="0" marR="0" rtl="0" algn="l">
                        <a:spcBef>
                          <a:spcPts val="0"/>
                        </a:spcBef>
                        <a:spcAft>
                          <a:spcPts val="0"/>
                        </a:spcAft>
                        <a:buNone/>
                      </a:pPr>
                      <a:r>
                        <a:rPr lang="fr-FR" sz="1800"/>
                        <a:t>     Tâche</a:t>
                      </a:r>
                      <a:r>
                        <a:rPr lang="fr-FR" sz="1800"/>
                        <a:t> utilisateur</a:t>
                      </a:r>
                      <a:endParaRPr sz="1800"/>
                    </a:p>
                  </a:txBody>
                  <a:tcPr marT="45725" marB="45725" marR="91450" marL="91450"/>
                </a:tc>
                <a:tc>
                  <a:txBody>
                    <a:bodyPr/>
                    <a:lstStyle/>
                    <a:p>
                      <a:pPr indent="0" lvl="0" marL="0" marR="0" rtl="0" algn="l">
                        <a:spcBef>
                          <a:spcPts val="0"/>
                        </a:spcBef>
                        <a:spcAft>
                          <a:spcPts val="0"/>
                        </a:spcAft>
                        <a:buNone/>
                      </a:pPr>
                      <a:r>
                        <a:rPr lang="fr-FR" sz="1800"/>
                        <a:t>Implique</a:t>
                      </a:r>
                      <a:r>
                        <a:rPr lang="fr-FR" sz="1800"/>
                        <a:t> qu’un humain accomplisse une tâche  d’une application informatique.</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1079500">
                <a:tc>
                  <a:txBody>
                    <a:bodyPr/>
                    <a:lstStyle/>
                    <a:p>
                      <a:pPr indent="0" lvl="0" marL="0" marR="0" rtl="0" algn="l">
                        <a:lnSpc>
                          <a:spcPct val="100000"/>
                        </a:lnSpc>
                        <a:spcBef>
                          <a:spcPts val="0"/>
                        </a:spcBef>
                        <a:spcAft>
                          <a:spcPts val="0"/>
                        </a:spcAft>
                        <a:buClr>
                          <a:schemeClr val="dk1"/>
                        </a:buClr>
                        <a:buSzPts val="1800"/>
                        <a:buFont typeface="Century Gothic"/>
                        <a:buNone/>
                      </a:pPr>
                      <a:r>
                        <a:rPr lang="fr-FR" sz="1800"/>
                        <a:t>Tâche</a:t>
                      </a:r>
                      <a:r>
                        <a:rPr lang="fr-FR" sz="1800"/>
                        <a:t> réception</a:t>
                      </a:r>
                      <a:endParaRPr sz="1800"/>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fr-FR" sz="1800"/>
                        <a:t>Instaure</a:t>
                      </a:r>
                      <a:r>
                        <a:rPr lang="fr-FR" sz="1800"/>
                        <a:t>  lorsqu’un  participant</a:t>
                      </a:r>
                      <a:endParaRPr/>
                    </a:p>
                    <a:p>
                      <a:pPr indent="0" lvl="0" marL="0" marR="0" rtl="0" algn="l">
                        <a:spcBef>
                          <a:spcPts val="0"/>
                        </a:spcBef>
                        <a:spcAft>
                          <a:spcPts val="0"/>
                        </a:spcAft>
                        <a:buNone/>
                      </a:pPr>
                      <a:r>
                        <a:rPr lang="fr-FR" sz="1800"/>
                        <a:t>Doit attendre un message affin de poursuivre   ses activités.</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1079500">
                <a:tc>
                  <a:txBody>
                    <a:bodyPr/>
                    <a:lstStyle/>
                    <a:p>
                      <a:pPr indent="0" lvl="0" marL="0" marR="0" rtl="0" algn="l">
                        <a:spcBef>
                          <a:spcPts val="0"/>
                        </a:spcBef>
                        <a:spcAft>
                          <a:spcPts val="0"/>
                        </a:spcAft>
                        <a:buNone/>
                      </a:pPr>
                      <a:r>
                        <a:rPr lang="fr-FR" sz="1800"/>
                        <a:t>Tâche script </a:t>
                      </a:r>
                      <a:endParaRPr/>
                    </a:p>
                  </a:txBody>
                  <a:tcPr marT="45725" marB="45725" marR="91450" marL="91450"/>
                </a:tc>
                <a:tc>
                  <a:txBody>
                    <a:bodyPr/>
                    <a:lstStyle/>
                    <a:p>
                      <a:pPr indent="0" lvl="0" marL="0" marR="0" rtl="0" algn="l">
                        <a:spcBef>
                          <a:spcPts val="0"/>
                        </a:spcBef>
                        <a:spcAft>
                          <a:spcPts val="0"/>
                        </a:spcAft>
                        <a:buNone/>
                      </a:pPr>
                      <a:r>
                        <a:rPr lang="fr-FR" sz="1800"/>
                        <a:t>Indique qu'un algorithme sera effectuer par une</a:t>
                      </a:r>
                      <a:r>
                        <a:rPr lang="fr-FR" sz="1800"/>
                        <a:t> </a:t>
                      </a:r>
                      <a:r>
                        <a:rPr lang="fr-FR" sz="1800"/>
                        <a:t>application informatique.</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1429450">
                <a:tc>
                  <a:txBody>
                    <a:bodyPr/>
                    <a:lstStyle/>
                    <a:p>
                      <a:pPr indent="0" lvl="0" marL="0" marR="0" rtl="0" algn="l">
                        <a:spcBef>
                          <a:spcPts val="0"/>
                        </a:spcBef>
                        <a:spcAft>
                          <a:spcPts val="0"/>
                        </a:spcAft>
                        <a:buNone/>
                      </a:pPr>
                      <a:r>
                        <a:rPr lang="fr-FR" sz="1800"/>
                        <a:t>Tâche service</a:t>
                      </a:r>
                      <a:endParaRPr/>
                    </a:p>
                  </a:txBody>
                  <a:tcPr marT="45725" marB="45725" marR="91450" marL="91450"/>
                </a:tc>
                <a:tc>
                  <a:txBody>
                    <a:bodyPr/>
                    <a:lstStyle/>
                    <a:p>
                      <a:pPr indent="0" lvl="0" marL="0" marR="0" rtl="0" algn="l">
                        <a:spcBef>
                          <a:spcPts val="0"/>
                        </a:spcBef>
                        <a:spcAft>
                          <a:spcPts val="0"/>
                        </a:spcAft>
                        <a:buNone/>
                      </a:pPr>
                      <a:r>
                        <a:rPr lang="fr-FR" sz="1800"/>
                        <a:t>Se réalise automatiquement avec une application  quelconque</a:t>
                      </a:r>
                      <a:r>
                        <a:rPr lang="fr-FR" sz="1800"/>
                        <a:t>  sans aucun intervention  humain.</a:t>
                      </a:r>
                      <a:endParaRPr sz="1800"/>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pic>
        <p:nvPicPr>
          <p:cNvPr id="316" name="Google Shape;316;p23"/>
          <p:cNvPicPr preferRelativeResize="0"/>
          <p:nvPr/>
        </p:nvPicPr>
        <p:blipFill rotWithShape="1">
          <a:blip r:embed="rId4">
            <a:alphaModFix/>
          </a:blip>
          <a:srcRect b="0" l="0" r="0" t="0"/>
          <a:stretch/>
        </p:blipFill>
        <p:spPr>
          <a:xfrm>
            <a:off x="8589455" y="1805559"/>
            <a:ext cx="1743075" cy="857250"/>
          </a:xfrm>
          <a:prstGeom prst="rect">
            <a:avLst/>
          </a:prstGeom>
          <a:noFill/>
          <a:ln>
            <a:noFill/>
          </a:ln>
        </p:spPr>
      </p:pic>
      <p:pic>
        <p:nvPicPr>
          <p:cNvPr id="317" name="Google Shape;317;p23"/>
          <p:cNvPicPr preferRelativeResize="0"/>
          <p:nvPr/>
        </p:nvPicPr>
        <p:blipFill rotWithShape="1">
          <a:blip r:embed="rId5">
            <a:alphaModFix/>
          </a:blip>
          <a:srcRect b="0" l="0" r="0" t="0"/>
          <a:stretch/>
        </p:blipFill>
        <p:spPr>
          <a:xfrm>
            <a:off x="8601647" y="2851404"/>
            <a:ext cx="1743075" cy="769620"/>
          </a:xfrm>
          <a:prstGeom prst="rect">
            <a:avLst/>
          </a:prstGeom>
          <a:noFill/>
          <a:ln>
            <a:noFill/>
          </a:ln>
        </p:spPr>
      </p:pic>
      <p:pic>
        <p:nvPicPr>
          <p:cNvPr id="318" name="Google Shape;318;p23"/>
          <p:cNvPicPr preferRelativeResize="0"/>
          <p:nvPr/>
        </p:nvPicPr>
        <p:blipFill rotWithShape="1">
          <a:blip r:embed="rId3">
            <a:alphaModFix/>
          </a:blip>
          <a:srcRect b="0" l="0" r="0" t="0"/>
          <a:stretch/>
        </p:blipFill>
        <p:spPr>
          <a:xfrm>
            <a:off x="8631937" y="3968307"/>
            <a:ext cx="1731264" cy="737806"/>
          </a:xfrm>
          <a:prstGeom prst="rect">
            <a:avLst/>
          </a:prstGeom>
          <a:noFill/>
          <a:ln>
            <a:noFill/>
          </a:ln>
        </p:spPr>
      </p:pic>
      <p:pic>
        <p:nvPicPr>
          <p:cNvPr id="319" name="Google Shape;319;p23"/>
          <p:cNvPicPr preferRelativeResize="0"/>
          <p:nvPr/>
        </p:nvPicPr>
        <p:blipFill rotWithShape="1">
          <a:blip r:embed="rId6">
            <a:alphaModFix/>
          </a:blip>
          <a:srcRect b="0" l="0" r="0" t="0"/>
          <a:stretch/>
        </p:blipFill>
        <p:spPr>
          <a:xfrm>
            <a:off x="8709279" y="5094732"/>
            <a:ext cx="1771650" cy="838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4"/>
          <p:cNvSpPr txBox="1"/>
          <p:nvPr>
            <p:ph type="title"/>
          </p:nvPr>
        </p:nvSpPr>
        <p:spPr>
          <a:xfrm>
            <a:off x="1706880" y="624110"/>
            <a:ext cx="9797733" cy="668242"/>
          </a:xfrm>
          <a:prstGeom prst="rect">
            <a:avLst/>
          </a:prstGeom>
          <a:noFill/>
          <a:ln>
            <a:noFill/>
          </a:ln>
        </p:spPr>
        <p:txBody>
          <a:bodyPr anchorCtr="0" anchor="t" bIns="45700" lIns="91425" spcFirstLastPara="1" rIns="91425" wrap="square" tIns="45700">
            <a:normAutofit fontScale="90000"/>
          </a:bodyPr>
          <a:lstStyle/>
          <a:p>
            <a:pPr indent="0" lvl="4" marL="0" rtl="0" algn="l">
              <a:spcBef>
                <a:spcPts val="0"/>
              </a:spcBef>
              <a:spcAft>
                <a:spcPts val="0"/>
              </a:spcAft>
              <a:buNone/>
            </a:pPr>
            <a:r>
              <a:rPr b="1" lang="fr-FR" sz="3200">
                <a:solidFill>
                  <a:srgbClr val="4A856D"/>
                </a:solidFill>
              </a:rPr>
              <a:t>Tâches   </a:t>
            </a:r>
            <a:br>
              <a:rPr b="1" lang="fr-FR" sz="3200">
                <a:solidFill>
                  <a:srgbClr val="4A856D"/>
                </a:solidFill>
              </a:rPr>
            </a:br>
            <a:endParaRPr/>
          </a:p>
        </p:txBody>
      </p:sp>
      <p:graphicFrame>
        <p:nvGraphicFramePr>
          <p:cNvPr id="325" name="Google Shape;325;p24"/>
          <p:cNvGraphicFramePr/>
          <p:nvPr/>
        </p:nvGraphicFramePr>
        <p:xfrm>
          <a:off x="1304544" y="1402080"/>
          <a:ext cx="3000000" cy="3000000"/>
        </p:xfrm>
        <a:graphic>
          <a:graphicData uri="http://schemas.openxmlformats.org/drawingml/2006/table">
            <a:tbl>
              <a:tblPr bandRow="1" firstRow="1">
                <a:noFill/>
                <a:tableStyleId>{AB6627D9-4488-47AB-A009-2705E3C24D6C}</a:tableStyleId>
              </a:tblPr>
              <a:tblGrid>
                <a:gridCol w="2560325"/>
                <a:gridCol w="4901175"/>
                <a:gridCol w="2714175"/>
              </a:tblGrid>
              <a:tr h="675525">
                <a:tc>
                  <a:txBody>
                    <a:bodyPr/>
                    <a:lstStyle/>
                    <a:p>
                      <a:pPr indent="0" lvl="0" marL="0" marR="0" rtl="0" algn="ctr">
                        <a:lnSpc>
                          <a:spcPct val="100000"/>
                        </a:lnSpc>
                        <a:spcBef>
                          <a:spcPts val="0"/>
                        </a:spcBef>
                        <a:spcAft>
                          <a:spcPts val="0"/>
                        </a:spcAft>
                        <a:buClr>
                          <a:srgbClr val="0C0C0C"/>
                        </a:buClr>
                        <a:buSzPts val="1800"/>
                        <a:buFont typeface="Century Gothic"/>
                        <a:buNone/>
                      </a:pPr>
                      <a:r>
                        <a:rPr b="1" lang="fr-FR" sz="1800">
                          <a:solidFill>
                            <a:srgbClr val="0C0C0C"/>
                          </a:solidFill>
                        </a:rPr>
                        <a:t>Nom</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lnSpc>
                          <a:spcPct val="100000"/>
                        </a:lnSpc>
                        <a:spcBef>
                          <a:spcPts val="0"/>
                        </a:spcBef>
                        <a:spcAft>
                          <a:spcPts val="0"/>
                        </a:spcAft>
                        <a:buClr>
                          <a:srgbClr val="0C0C0C"/>
                        </a:buClr>
                        <a:buSzPts val="1800"/>
                        <a:buFont typeface="Century Gothic"/>
                        <a:buNone/>
                      </a:pPr>
                      <a:r>
                        <a:rPr lang="fr-FR" sz="1800">
                          <a:solidFill>
                            <a:srgbClr val="0C0C0C"/>
                          </a:solidFill>
                        </a:rPr>
                        <a:t>Utilisation</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lnSpc>
                          <a:spcPct val="100000"/>
                        </a:lnSpc>
                        <a:spcBef>
                          <a:spcPts val="0"/>
                        </a:spcBef>
                        <a:spcAft>
                          <a:spcPts val="0"/>
                        </a:spcAft>
                        <a:buClr>
                          <a:srgbClr val="0C0C0C"/>
                        </a:buClr>
                        <a:buSzPts val="1800"/>
                        <a:buFont typeface="Century Gothic"/>
                        <a:buNone/>
                      </a:pPr>
                      <a:r>
                        <a:rPr lang="fr-FR" sz="1800">
                          <a:solidFill>
                            <a:srgbClr val="0C0C0C"/>
                          </a:solidFill>
                        </a:rPr>
                        <a:t>Notation</a:t>
                      </a:r>
                      <a:endParaRPr/>
                    </a:p>
                    <a:p>
                      <a:pPr indent="0" lvl="0" marL="0" marR="0" rtl="0" algn="l">
                        <a:spcBef>
                          <a:spcPts val="0"/>
                        </a:spcBef>
                        <a:spcAft>
                          <a:spcPts val="0"/>
                        </a:spcAft>
                        <a:buNone/>
                      </a:pPr>
                      <a:r>
                        <a:t/>
                      </a:r>
                      <a:endParaRPr sz="1800"/>
                    </a:p>
                  </a:txBody>
                  <a:tcPr marT="45725" marB="45725" marR="91450" marL="91450"/>
                </a:tc>
              </a:tr>
              <a:tr h="1194075">
                <a:tc>
                  <a:txBody>
                    <a:bodyPr/>
                    <a:lstStyle/>
                    <a:p>
                      <a:pPr indent="0" lvl="0" marL="0" marR="0" rtl="0" algn="l">
                        <a:spcBef>
                          <a:spcPts val="0"/>
                        </a:spcBef>
                        <a:spcAft>
                          <a:spcPts val="0"/>
                        </a:spcAft>
                        <a:buNone/>
                      </a:pPr>
                      <a:r>
                        <a:rPr lang="fr-FR" sz="1800"/>
                        <a:t>Tâche</a:t>
                      </a:r>
                      <a:r>
                        <a:rPr lang="fr-FR" sz="1800"/>
                        <a:t> d’envoie</a:t>
                      </a:r>
                      <a:endParaRPr sz="1800"/>
                    </a:p>
                  </a:txBody>
                  <a:tcPr marT="45725" marB="45725" marR="91450" marL="91450"/>
                </a:tc>
                <a:tc>
                  <a:txBody>
                    <a:bodyPr/>
                    <a:lstStyle/>
                    <a:p>
                      <a:pPr indent="0" lvl="0" marL="0" marR="0" rtl="0" algn="l">
                        <a:spcBef>
                          <a:spcPts val="0"/>
                        </a:spcBef>
                        <a:spcAft>
                          <a:spcPts val="0"/>
                        </a:spcAft>
                        <a:buNone/>
                      </a:pPr>
                      <a:r>
                        <a:rPr lang="fr-FR" sz="1800"/>
                        <a:t>Consiste à envoyer un message à un participant  du processeur.</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1349825">
                <a:tc>
                  <a:txBody>
                    <a:bodyPr/>
                    <a:lstStyle/>
                    <a:p>
                      <a:pPr indent="0" lvl="0" marL="0" marR="0" rtl="0" algn="l">
                        <a:lnSpc>
                          <a:spcPct val="100000"/>
                        </a:lnSpc>
                        <a:spcBef>
                          <a:spcPts val="0"/>
                        </a:spcBef>
                        <a:spcAft>
                          <a:spcPts val="0"/>
                        </a:spcAft>
                        <a:buClr>
                          <a:schemeClr val="dk1"/>
                        </a:buClr>
                        <a:buSzPts val="1800"/>
                        <a:buFont typeface="Century Gothic"/>
                        <a:buNone/>
                      </a:pPr>
                      <a:r>
                        <a:rPr lang="fr-FR" sz="1800"/>
                        <a:t>Tâche</a:t>
                      </a:r>
                      <a:r>
                        <a:rPr lang="fr-FR" sz="1800"/>
                        <a:t> manuelle</a:t>
                      </a:r>
                      <a:endParaRPr sz="1800"/>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fr-FR" sz="1800"/>
                        <a:t>Doit être effectuer sans l’aide d’un logiciel</a:t>
                      </a:r>
                      <a:r>
                        <a:rPr lang="fr-FR" sz="1800"/>
                        <a:t> ou d’une application quelconque.</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1194075">
                <a:tc>
                  <a:txBody>
                    <a:bodyPr/>
                    <a:lstStyle/>
                    <a:p>
                      <a:pPr indent="0" lvl="0" marL="0" marR="0" rtl="0" algn="l">
                        <a:lnSpc>
                          <a:spcPct val="100000"/>
                        </a:lnSpc>
                        <a:spcBef>
                          <a:spcPts val="0"/>
                        </a:spcBef>
                        <a:spcAft>
                          <a:spcPts val="0"/>
                        </a:spcAft>
                        <a:buClr>
                          <a:schemeClr val="dk1"/>
                        </a:buClr>
                        <a:buSzPts val="1800"/>
                        <a:buFont typeface="Century Gothic"/>
                        <a:buNone/>
                      </a:pPr>
                      <a:r>
                        <a:rPr lang="fr-FR" sz="1800"/>
                        <a:t>Tâche de règle</a:t>
                      </a:r>
                      <a:r>
                        <a:rPr lang="fr-FR" sz="1800"/>
                        <a:t> métier</a:t>
                      </a:r>
                      <a:endParaRPr sz="1800"/>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fr-FR" sz="1800"/>
                        <a:t>Utilise</a:t>
                      </a:r>
                      <a:r>
                        <a:rPr lang="fr-FR" sz="1800"/>
                        <a:t> lorsque la poursuivre  des activités dépend l’application de règle métier.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pic>
        <p:nvPicPr>
          <p:cNvPr id="326" name="Google Shape;326;p24"/>
          <p:cNvPicPr preferRelativeResize="0"/>
          <p:nvPr/>
        </p:nvPicPr>
        <p:blipFill rotWithShape="1">
          <a:blip r:embed="rId3">
            <a:alphaModFix/>
          </a:blip>
          <a:srcRect b="0" l="0" r="0" t="0"/>
          <a:stretch/>
        </p:blipFill>
        <p:spPr>
          <a:xfrm>
            <a:off x="9223439" y="2226945"/>
            <a:ext cx="1743075" cy="819150"/>
          </a:xfrm>
          <a:prstGeom prst="rect">
            <a:avLst/>
          </a:prstGeom>
          <a:noFill/>
          <a:ln>
            <a:noFill/>
          </a:ln>
        </p:spPr>
      </p:pic>
      <p:pic>
        <p:nvPicPr>
          <p:cNvPr id="327" name="Google Shape;327;p24"/>
          <p:cNvPicPr preferRelativeResize="0"/>
          <p:nvPr/>
        </p:nvPicPr>
        <p:blipFill rotWithShape="1">
          <a:blip r:embed="rId4">
            <a:alphaModFix/>
          </a:blip>
          <a:srcRect b="0" l="0" r="0" t="0"/>
          <a:stretch/>
        </p:blipFill>
        <p:spPr>
          <a:xfrm>
            <a:off x="9201722" y="3521964"/>
            <a:ext cx="1762125" cy="838200"/>
          </a:xfrm>
          <a:prstGeom prst="rect">
            <a:avLst/>
          </a:prstGeom>
          <a:noFill/>
          <a:ln>
            <a:noFill/>
          </a:ln>
        </p:spPr>
      </p:pic>
      <p:pic>
        <p:nvPicPr>
          <p:cNvPr id="328" name="Google Shape;328;p24"/>
          <p:cNvPicPr preferRelativeResize="0"/>
          <p:nvPr/>
        </p:nvPicPr>
        <p:blipFill rotWithShape="1">
          <a:blip r:embed="rId5">
            <a:alphaModFix/>
          </a:blip>
          <a:srcRect b="0" l="0" r="0" t="0"/>
          <a:stretch/>
        </p:blipFill>
        <p:spPr>
          <a:xfrm>
            <a:off x="9184767" y="4772025"/>
            <a:ext cx="1771650" cy="8667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5"/>
          <p:cNvSpPr txBox="1"/>
          <p:nvPr>
            <p:ph type="title"/>
          </p:nvPr>
        </p:nvSpPr>
        <p:spPr>
          <a:xfrm>
            <a:off x="1780903" y="586958"/>
            <a:ext cx="9736772" cy="487680"/>
          </a:xfrm>
          <a:prstGeom prst="rect">
            <a:avLst/>
          </a:prstGeom>
          <a:noFill/>
          <a:ln>
            <a:noFill/>
          </a:ln>
        </p:spPr>
        <p:txBody>
          <a:bodyPr anchorCtr="0" anchor="t" bIns="45700" lIns="91425" spcFirstLastPara="1" rIns="91425" wrap="square" tIns="45700">
            <a:normAutofit fontScale="90000"/>
          </a:bodyPr>
          <a:lstStyle/>
          <a:p>
            <a:pPr indent="0" lvl="4" marL="0" rtl="0" algn="l">
              <a:spcBef>
                <a:spcPts val="0"/>
              </a:spcBef>
              <a:spcAft>
                <a:spcPts val="0"/>
              </a:spcAft>
              <a:buNone/>
            </a:pPr>
            <a:r>
              <a:rPr b="1" lang="fr-FR" sz="3200">
                <a:solidFill>
                  <a:srgbClr val="4A856D"/>
                </a:solidFill>
              </a:rPr>
              <a:t>Sous-processus </a:t>
            </a:r>
            <a:br>
              <a:rPr b="1" lang="fr-FR" sz="3200">
                <a:solidFill>
                  <a:srgbClr val="4A856D"/>
                </a:solidFill>
              </a:rPr>
            </a:br>
            <a:endParaRPr/>
          </a:p>
        </p:txBody>
      </p:sp>
      <p:graphicFrame>
        <p:nvGraphicFramePr>
          <p:cNvPr id="334" name="Google Shape;334;p25"/>
          <p:cNvGraphicFramePr/>
          <p:nvPr/>
        </p:nvGraphicFramePr>
        <p:xfrm>
          <a:off x="1743456" y="1377696"/>
          <a:ext cx="3000000" cy="3000000"/>
        </p:xfrm>
        <a:graphic>
          <a:graphicData uri="http://schemas.openxmlformats.org/drawingml/2006/table">
            <a:tbl>
              <a:tblPr bandRow="1" firstRow="1">
                <a:noFill/>
                <a:tableStyleId>{AB6627D9-4488-47AB-A009-2705E3C24D6C}</a:tableStyleId>
              </a:tblPr>
              <a:tblGrid>
                <a:gridCol w="2300150"/>
                <a:gridCol w="4783400"/>
                <a:gridCol w="2548125"/>
              </a:tblGrid>
              <a:tr h="661100">
                <a:tc>
                  <a:txBody>
                    <a:bodyPr/>
                    <a:lstStyle/>
                    <a:p>
                      <a:pPr indent="0" lvl="0" marL="0" marR="0" rtl="0" algn="ctr">
                        <a:lnSpc>
                          <a:spcPct val="100000"/>
                        </a:lnSpc>
                        <a:spcBef>
                          <a:spcPts val="0"/>
                        </a:spcBef>
                        <a:spcAft>
                          <a:spcPts val="0"/>
                        </a:spcAft>
                        <a:buClr>
                          <a:srgbClr val="0C0C0C"/>
                        </a:buClr>
                        <a:buSzPts val="1800"/>
                        <a:buFont typeface="Century Gothic"/>
                        <a:buNone/>
                      </a:pPr>
                      <a:r>
                        <a:rPr b="1" lang="fr-FR" sz="1800">
                          <a:solidFill>
                            <a:srgbClr val="0C0C0C"/>
                          </a:solidFill>
                        </a:rPr>
                        <a:t>Nom</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lnSpc>
                          <a:spcPct val="100000"/>
                        </a:lnSpc>
                        <a:spcBef>
                          <a:spcPts val="0"/>
                        </a:spcBef>
                        <a:spcAft>
                          <a:spcPts val="0"/>
                        </a:spcAft>
                        <a:buClr>
                          <a:srgbClr val="0C0C0C"/>
                        </a:buClr>
                        <a:buSzPts val="1800"/>
                        <a:buFont typeface="Century Gothic"/>
                        <a:buNone/>
                      </a:pPr>
                      <a:r>
                        <a:rPr lang="fr-FR" sz="1800">
                          <a:solidFill>
                            <a:srgbClr val="0C0C0C"/>
                          </a:solidFill>
                        </a:rPr>
                        <a:t>Utilisation</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lnSpc>
                          <a:spcPct val="100000"/>
                        </a:lnSpc>
                        <a:spcBef>
                          <a:spcPts val="0"/>
                        </a:spcBef>
                        <a:spcAft>
                          <a:spcPts val="0"/>
                        </a:spcAft>
                        <a:buClr>
                          <a:srgbClr val="0C0C0C"/>
                        </a:buClr>
                        <a:buSzPts val="1800"/>
                        <a:buFont typeface="Century Gothic"/>
                        <a:buNone/>
                      </a:pPr>
                      <a:r>
                        <a:rPr lang="fr-FR" sz="1800">
                          <a:solidFill>
                            <a:srgbClr val="0C0C0C"/>
                          </a:solidFill>
                        </a:rPr>
                        <a:t>Notation</a:t>
                      </a:r>
                      <a:endParaRPr/>
                    </a:p>
                    <a:p>
                      <a:pPr indent="0" lvl="0" marL="0" marR="0" rtl="0" algn="l">
                        <a:spcBef>
                          <a:spcPts val="0"/>
                        </a:spcBef>
                        <a:spcAft>
                          <a:spcPts val="0"/>
                        </a:spcAft>
                        <a:buNone/>
                      </a:pPr>
                      <a:r>
                        <a:t/>
                      </a:r>
                      <a:endParaRPr sz="1800"/>
                    </a:p>
                  </a:txBody>
                  <a:tcPr marT="45725" marB="45725" marR="91450" marL="91450"/>
                </a:tc>
              </a:tr>
              <a:tr h="1024575">
                <a:tc>
                  <a:txBody>
                    <a:bodyPr/>
                    <a:lstStyle/>
                    <a:p>
                      <a:pPr indent="0" lvl="0" marL="0" marR="0" rtl="0" algn="l">
                        <a:spcBef>
                          <a:spcPts val="0"/>
                        </a:spcBef>
                        <a:spcAft>
                          <a:spcPts val="0"/>
                        </a:spcAft>
                        <a:buNone/>
                      </a:pPr>
                      <a:r>
                        <a:rPr lang="fr-FR" sz="1800">
                          <a:solidFill>
                            <a:schemeClr val="dk1"/>
                          </a:solidFill>
                          <a:latin typeface="Century Gothic"/>
                          <a:ea typeface="Century Gothic"/>
                          <a:cs typeface="Century Gothic"/>
                          <a:sym typeface="Century Gothic"/>
                        </a:rPr>
                        <a:t>Sous-processus réutilisable</a:t>
                      </a:r>
                      <a:endParaRPr/>
                    </a:p>
                  </a:txBody>
                  <a:tcPr marT="45725" marB="45725" marR="91450" marL="91450"/>
                </a:tc>
                <a:tc>
                  <a:txBody>
                    <a:bodyPr/>
                    <a:lstStyle/>
                    <a:p>
                      <a:pPr indent="0" lvl="0" marL="0" marR="0" rtl="0" algn="l">
                        <a:spcBef>
                          <a:spcPts val="0"/>
                        </a:spcBef>
                        <a:spcAft>
                          <a:spcPts val="0"/>
                        </a:spcAft>
                        <a:buNone/>
                      </a:pPr>
                      <a:r>
                        <a:rPr lang="fr-FR" sz="1800"/>
                        <a:t>Processus</a:t>
                      </a:r>
                      <a:r>
                        <a:rPr lang="fr-FR" sz="1800"/>
                        <a:t> à part entière, il peut être invoqué dans différent processus globaux.</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1227750">
                <a:tc>
                  <a:txBody>
                    <a:bodyPr/>
                    <a:lstStyle/>
                    <a:p>
                      <a:pPr indent="0" lvl="0" marL="0" marR="0" rtl="0" algn="l">
                        <a:spcBef>
                          <a:spcPts val="0"/>
                        </a:spcBef>
                        <a:spcAft>
                          <a:spcPts val="0"/>
                        </a:spcAft>
                        <a:buNone/>
                      </a:pPr>
                      <a:r>
                        <a:rPr lang="fr-FR" sz="1800">
                          <a:solidFill>
                            <a:schemeClr val="dk1"/>
                          </a:solidFill>
                          <a:latin typeface="Century Gothic"/>
                          <a:ea typeface="Century Gothic"/>
                          <a:cs typeface="Century Gothic"/>
                          <a:sym typeface="Century Gothic"/>
                        </a:rPr>
                        <a:t>Sous-processus  d’événement</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entury Gothic"/>
                        <a:buNone/>
                      </a:pPr>
                      <a:r>
                        <a:rPr lang="fr-FR" sz="1800"/>
                        <a:t>Processus qui n’est pas dans le</a:t>
                      </a:r>
                      <a:r>
                        <a:rPr lang="fr-FR" sz="1800"/>
                        <a:t> flux du processus normal.</a:t>
                      </a:r>
                      <a:endParaRPr sz="1800"/>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1024575">
                <a:tc>
                  <a:txBody>
                    <a:bodyPr/>
                    <a:lstStyle/>
                    <a:p>
                      <a:pPr indent="0" lvl="0" marL="0" marR="0" rtl="0" algn="l">
                        <a:spcBef>
                          <a:spcPts val="0"/>
                        </a:spcBef>
                        <a:spcAft>
                          <a:spcPts val="0"/>
                        </a:spcAft>
                        <a:buNone/>
                      </a:pPr>
                      <a:r>
                        <a:rPr lang="fr-FR" sz="1800">
                          <a:solidFill>
                            <a:schemeClr val="dk1"/>
                          </a:solidFill>
                          <a:latin typeface="Century Gothic"/>
                          <a:ea typeface="Century Gothic"/>
                          <a:cs typeface="Century Gothic"/>
                          <a:sym typeface="Century Gothic"/>
                        </a:rPr>
                        <a:t>Sous-processus  </a:t>
                      </a:r>
                      <a:endParaRPr/>
                    </a:p>
                    <a:p>
                      <a:pPr indent="0" lvl="0" marL="0" marR="0" rtl="0" algn="l">
                        <a:spcBef>
                          <a:spcPts val="0"/>
                        </a:spcBef>
                        <a:spcAft>
                          <a:spcPts val="0"/>
                        </a:spcAft>
                        <a:buNone/>
                      </a:pPr>
                      <a:r>
                        <a:rPr lang="fr-FR" sz="1800">
                          <a:solidFill>
                            <a:schemeClr val="dk1"/>
                          </a:solidFill>
                          <a:latin typeface="Century Gothic"/>
                          <a:ea typeface="Century Gothic"/>
                          <a:cs typeface="Century Gothic"/>
                          <a:sym typeface="Century Gothic"/>
                        </a:rPr>
                        <a:t>ad Hoc</a:t>
                      </a:r>
                      <a:endParaRPr sz="1800"/>
                    </a:p>
                  </a:txBody>
                  <a:tcPr marT="45725" marB="45725" marR="91450" marL="91450"/>
                </a:tc>
                <a:tc>
                  <a:txBody>
                    <a:bodyPr/>
                    <a:lstStyle/>
                    <a:p>
                      <a:pPr indent="0" lvl="0" marL="0" marR="0" rtl="0" algn="l">
                        <a:spcBef>
                          <a:spcPts val="0"/>
                        </a:spcBef>
                        <a:spcAft>
                          <a:spcPts val="0"/>
                        </a:spcAft>
                        <a:buNone/>
                      </a:pPr>
                      <a:r>
                        <a:rPr lang="fr-FR" sz="1800"/>
                        <a:t>Signifier</a:t>
                      </a:r>
                      <a:r>
                        <a:rPr lang="fr-FR" sz="1800"/>
                        <a:t> que les tache à l’intérieur de celui  s’effectuent sans aucun séquence</a:t>
                      </a:r>
                      <a:endParaRPr/>
                    </a:p>
                    <a:p>
                      <a:pPr indent="0" lvl="0" marL="0" marR="0" rtl="0" algn="l">
                        <a:spcBef>
                          <a:spcPts val="0"/>
                        </a:spcBef>
                        <a:spcAft>
                          <a:spcPts val="0"/>
                        </a:spcAft>
                        <a:buNone/>
                      </a:pPr>
                      <a:r>
                        <a:rPr lang="fr-FR" sz="1800"/>
                        <a:t>prédéfinie.</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pic>
        <p:nvPicPr>
          <p:cNvPr id="335" name="Google Shape;335;p25"/>
          <p:cNvPicPr preferRelativeResize="0"/>
          <p:nvPr/>
        </p:nvPicPr>
        <p:blipFill rotWithShape="1">
          <a:blip r:embed="rId3">
            <a:alphaModFix/>
          </a:blip>
          <a:srcRect b="0" l="0" r="0" t="0"/>
          <a:stretch/>
        </p:blipFill>
        <p:spPr>
          <a:xfrm>
            <a:off x="9488615" y="2112455"/>
            <a:ext cx="1285875" cy="828675"/>
          </a:xfrm>
          <a:prstGeom prst="rect">
            <a:avLst/>
          </a:prstGeom>
          <a:noFill/>
          <a:ln>
            <a:noFill/>
          </a:ln>
        </p:spPr>
      </p:pic>
      <p:pic>
        <p:nvPicPr>
          <p:cNvPr id="336" name="Google Shape;336;p25"/>
          <p:cNvPicPr preferRelativeResize="0"/>
          <p:nvPr/>
        </p:nvPicPr>
        <p:blipFill rotWithShape="1">
          <a:blip r:embed="rId4">
            <a:alphaModFix/>
          </a:blip>
          <a:srcRect b="0" l="0" r="0" t="0"/>
          <a:stretch/>
        </p:blipFill>
        <p:spPr>
          <a:xfrm>
            <a:off x="9530525" y="3200210"/>
            <a:ext cx="1323975" cy="847725"/>
          </a:xfrm>
          <a:prstGeom prst="rect">
            <a:avLst/>
          </a:prstGeom>
          <a:noFill/>
          <a:ln>
            <a:noFill/>
          </a:ln>
        </p:spPr>
      </p:pic>
      <p:pic>
        <p:nvPicPr>
          <p:cNvPr id="337" name="Google Shape;337;p25"/>
          <p:cNvPicPr preferRelativeResize="0"/>
          <p:nvPr/>
        </p:nvPicPr>
        <p:blipFill rotWithShape="1">
          <a:blip r:embed="rId5">
            <a:alphaModFix/>
          </a:blip>
          <a:srcRect b="0" l="0" r="0" t="0"/>
          <a:stretch/>
        </p:blipFill>
        <p:spPr>
          <a:xfrm>
            <a:off x="9574530" y="4424172"/>
            <a:ext cx="1333500" cy="838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6"/>
          <p:cNvSpPr txBox="1"/>
          <p:nvPr>
            <p:ph type="title"/>
          </p:nvPr>
        </p:nvSpPr>
        <p:spPr>
          <a:xfrm>
            <a:off x="1706880" y="624110"/>
            <a:ext cx="9797733" cy="668242"/>
          </a:xfrm>
          <a:prstGeom prst="rect">
            <a:avLst/>
          </a:prstGeom>
          <a:noFill/>
          <a:ln>
            <a:noFill/>
          </a:ln>
        </p:spPr>
        <p:txBody>
          <a:bodyPr anchorCtr="0" anchor="t" bIns="45700" lIns="91425" spcFirstLastPara="1" rIns="91425" wrap="square" tIns="45700">
            <a:normAutofit fontScale="90000"/>
          </a:bodyPr>
          <a:lstStyle/>
          <a:p>
            <a:pPr indent="0" lvl="4" marL="0" rtl="0" algn="l">
              <a:spcBef>
                <a:spcPts val="0"/>
              </a:spcBef>
              <a:spcAft>
                <a:spcPts val="0"/>
              </a:spcAft>
              <a:buNone/>
            </a:pPr>
            <a:r>
              <a:rPr b="1" lang="fr-FR" sz="3200">
                <a:solidFill>
                  <a:srgbClr val="4A856D"/>
                </a:solidFill>
              </a:rPr>
              <a:t>Boucle   </a:t>
            </a:r>
            <a:br>
              <a:rPr b="1" lang="fr-FR" sz="3200">
                <a:solidFill>
                  <a:srgbClr val="4A856D"/>
                </a:solidFill>
              </a:rPr>
            </a:br>
            <a:endParaRPr/>
          </a:p>
        </p:txBody>
      </p:sp>
      <p:graphicFrame>
        <p:nvGraphicFramePr>
          <p:cNvPr id="343" name="Google Shape;343;p26"/>
          <p:cNvGraphicFramePr/>
          <p:nvPr/>
        </p:nvGraphicFramePr>
        <p:xfrm>
          <a:off x="1475232" y="1414272"/>
          <a:ext cx="3000000" cy="3000000"/>
        </p:xfrm>
        <a:graphic>
          <a:graphicData uri="http://schemas.openxmlformats.org/drawingml/2006/table">
            <a:tbl>
              <a:tblPr bandRow="1" firstRow="1">
                <a:noFill/>
                <a:tableStyleId>{AB6627D9-4488-47AB-A009-2705E3C24D6C}</a:tableStyleId>
              </a:tblPr>
              <a:tblGrid>
                <a:gridCol w="2854475"/>
                <a:gridCol w="4121700"/>
                <a:gridCol w="3028825"/>
              </a:tblGrid>
              <a:tr h="707125">
                <a:tc>
                  <a:txBody>
                    <a:bodyPr/>
                    <a:lstStyle/>
                    <a:p>
                      <a:pPr indent="0" lvl="0" marL="0" marR="0" rtl="0" algn="ctr">
                        <a:lnSpc>
                          <a:spcPct val="100000"/>
                        </a:lnSpc>
                        <a:spcBef>
                          <a:spcPts val="0"/>
                        </a:spcBef>
                        <a:spcAft>
                          <a:spcPts val="0"/>
                        </a:spcAft>
                        <a:buClr>
                          <a:srgbClr val="0C0C0C"/>
                        </a:buClr>
                        <a:buSzPts val="1800"/>
                        <a:buFont typeface="Century Gothic"/>
                        <a:buNone/>
                      </a:pPr>
                      <a:r>
                        <a:rPr b="1" lang="fr-FR" sz="1800">
                          <a:solidFill>
                            <a:srgbClr val="0C0C0C"/>
                          </a:solidFill>
                        </a:rPr>
                        <a:t>Nom</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lnSpc>
                          <a:spcPct val="100000"/>
                        </a:lnSpc>
                        <a:spcBef>
                          <a:spcPts val="0"/>
                        </a:spcBef>
                        <a:spcAft>
                          <a:spcPts val="0"/>
                        </a:spcAft>
                        <a:buClr>
                          <a:srgbClr val="0C0C0C"/>
                        </a:buClr>
                        <a:buSzPts val="1800"/>
                        <a:buFont typeface="Century Gothic"/>
                        <a:buNone/>
                      </a:pPr>
                      <a:r>
                        <a:rPr lang="fr-FR" sz="1800">
                          <a:solidFill>
                            <a:srgbClr val="0C0C0C"/>
                          </a:solidFill>
                        </a:rPr>
                        <a:t>Utilisation</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lnSpc>
                          <a:spcPct val="100000"/>
                        </a:lnSpc>
                        <a:spcBef>
                          <a:spcPts val="0"/>
                        </a:spcBef>
                        <a:spcAft>
                          <a:spcPts val="0"/>
                        </a:spcAft>
                        <a:buClr>
                          <a:srgbClr val="0C0C0C"/>
                        </a:buClr>
                        <a:buSzPts val="1800"/>
                        <a:buFont typeface="Century Gothic"/>
                        <a:buNone/>
                      </a:pPr>
                      <a:r>
                        <a:rPr lang="fr-FR" sz="1800">
                          <a:solidFill>
                            <a:srgbClr val="0C0C0C"/>
                          </a:solidFill>
                        </a:rPr>
                        <a:t>Notation</a:t>
                      </a:r>
                      <a:endParaRPr/>
                    </a:p>
                    <a:p>
                      <a:pPr indent="0" lvl="0" marL="0" marR="0" rtl="0" algn="l">
                        <a:spcBef>
                          <a:spcPts val="0"/>
                        </a:spcBef>
                        <a:spcAft>
                          <a:spcPts val="0"/>
                        </a:spcAft>
                        <a:buNone/>
                      </a:pPr>
                      <a:r>
                        <a:t/>
                      </a:r>
                      <a:endParaRPr sz="1800"/>
                    </a:p>
                  </a:txBody>
                  <a:tcPr marT="45725" marB="45725" marR="91450" marL="91450"/>
                </a:tc>
              </a:tr>
              <a:tr h="1207000">
                <a:tc>
                  <a:txBody>
                    <a:bodyPr/>
                    <a:lstStyle/>
                    <a:p>
                      <a:pPr indent="0" lvl="0" marL="0" marR="0" rtl="0" algn="l">
                        <a:spcBef>
                          <a:spcPts val="0"/>
                        </a:spcBef>
                        <a:spcAft>
                          <a:spcPts val="0"/>
                        </a:spcAft>
                        <a:buNone/>
                      </a:pPr>
                      <a:r>
                        <a:rPr lang="fr-FR" sz="1800"/>
                        <a:t>Tâche</a:t>
                      </a:r>
                      <a:r>
                        <a:rPr lang="fr-FR" sz="1800"/>
                        <a:t> avec itérations</a:t>
                      </a:r>
                      <a:endParaRPr sz="1800"/>
                    </a:p>
                  </a:txBody>
                  <a:tcPr marT="45725" marB="45725" marR="91450" marL="91450"/>
                </a:tc>
                <a:tc>
                  <a:txBody>
                    <a:bodyPr/>
                    <a:lstStyle/>
                    <a:p>
                      <a:pPr indent="0" lvl="0" marL="0" marR="0" rtl="0" algn="l">
                        <a:spcBef>
                          <a:spcPts val="0"/>
                        </a:spcBef>
                        <a:spcAft>
                          <a:spcPts val="0"/>
                        </a:spcAft>
                        <a:buNone/>
                      </a:pPr>
                      <a:r>
                        <a:rPr lang="fr-FR" sz="1800"/>
                        <a:t>Signifier</a:t>
                      </a:r>
                      <a:r>
                        <a:rPr lang="fr-FR" sz="1800"/>
                        <a:t> qu’il sera répété tant aussi longtemps qu’il  ne satisfait pas une condition.</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2670050">
                <a:tc>
                  <a:txBody>
                    <a:bodyPr/>
                    <a:lstStyle/>
                    <a:p>
                      <a:pPr indent="0" lvl="0" marL="0" marR="0" rtl="0" algn="l">
                        <a:spcBef>
                          <a:spcPts val="0"/>
                        </a:spcBef>
                        <a:spcAft>
                          <a:spcPts val="0"/>
                        </a:spcAft>
                        <a:buNone/>
                      </a:pPr>
                      <a:r>
                        <a:rPr lang="fr-FR" sz="1800"/>
                        <a:t>Tâche instance multiple</a:t>
                      </a:r>
                      <a:endParaRPr/>
                    </a:p>
                  </a:txBody>
                  <a:tcPr marT="45725" marB="45725" marR="91450" marL="91450"/>
                </a:tc>
                <a:tc>
                  <a:txBody>
                    <a:bodyPr/>
                    <a:lstStyle/>
                    <a:p>
                      <a:pPr indent="0" lvl="0" marL="0" marR="0" rtl="0" algn="l">
                        <a:spcBef>
                          <a:spcPts val="0"/>
                        </a:spcBef>
                        <a:spcAft>
                          <a:spcPts val="0"/>
                        </a:spcAft>
                        <a:buNone/>
                      </a:pPr>
                      <a:r>
                        <a:rPr lang="fr-FR" sz="1800"/>
                        <a:t>Permet</a:t>
                      </a:r>
                      <a:r>
                        <a:rPr lang="fr-FR" sz="1800"/>
                        <a:t> de spécifier  que l’activité précédant n’a  pas besoin d’être complète avant de débuter  l’activité d’instance multiple</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pic>
        <p:nvPicPr>
          <p:cNvPr id="344" name="Google Shape;344;p26"/>
          <p:cNvPicPr preferRelativeResize="0"/>
          <p:nvPr/>
        </p:nvPicPr>
        <p:blipFill rotWithShape="1">
          <a:blip r:embed="rId3">
            <a:alphaModFix/>
          </a:blip>
          <a:srcRect b="0" l="0" r="0" t="0"/>
          <a:stretch/>
        </p:blipFill>
        <p:spPr>
          <a:xfrm>
            <a:off x="8687372" y="2243328"/>
            <a:ext cx="2181225" cy="999744"/>
          </a:xfrm>
          <a:prstGeom prst="rect">
            <a:avLst/>
          </a:prstGeom>
          <a:noFill/>
          <a:ln>
            <a:noFill/>
          </a:ln>
        </p:spPr>
      </p:pic>
      <p:pic>
        <p:nvPicPr>
          <p:cNvPr id="345" name="Google Shape;345;p26"/>
          <p:cNvPicPr preferRelativeResize="0"/>
          <p:nvPr/>
        </p:nvPicPr>
        <p:blipFill rotWithShape="1">
          <a:blip r:embed="rId4">
            <a:alphaModFix/>
          </a:blip>
          <a:srcRect b="0" l="0" r="0" t="0"/>
          <a:stretch/>
        </p:blipFill>
        <p:spPr>
          <a:xfrm>
            <a:off x="8750427" y="3416237"/>
            <a:ext cx="2152650" cy="1171575"/>
          </a:xfrm>
          <a:prstGeom prst="rect">
            <a:avLst/>
          </a:prstGeom>
          <a:noFill/>
          <a:ln>
            <a:noFill/>
          </a:ln>
        </p:spPr>
      </p:pic>
      <p:pic>
        <p:nvPicPr>
          <p:cNvPr id="346" name="Google Shape;346;p26"/>
          <p:cNvPicPr preferRelativeResize="0"/>
          <p:nvPr/>
        </p:nvPicPr>
        <p:blipFill rotWithShape="1">
          <a:blip r:embed="rId5">
            <a:alphaModFix/>
          </a:blip>
          <a:srcRect b="0" l="0" r="0" t="0"/>
          <a:stretch/>
        </p:blipFill>
        <p:spPr>
          <a:xfrm>
            <a:off x="8811387" y="4730306"/>
            <a:ext cx="2152650" cy="11525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id="351" name="Google Shape;351;p27"/>
          <p:cNvPicPr preferRelativeResize="0"/>
          <p:nvPr/>
        </p:nvPicPr>
        <p:blipFill rotWithShape="1">
          <a:blip r:embed="rId3">
            <a:alphaModFix/>
          </a:blip>
          <a:srcRect b="0" l="0" r="0" t="0"/>
          <a:stretch/>
        </p:blipFill>
        <p:spPr>
          <a:xfrm>
            <a:off x="1926336" y="1639254"/>
            <a:ext cx="9083040" cy="4543425"/>
          </a:xfrm>
          <a:prstGeom prst="rect">
            <a:avLst/>
          </a:prstGeom>
          <a:noFill/>
          <a:ln>
            <a:noFill/>
          </a:ln>
        </p:spPr>
      </p:pic>
      <p:sp>
        <p:nvSpPr>
          <p:cNvPr id="352" name="Google Shape;352;p27"/>
          <p:cNvSpPr txBox="1"/>
          <p:nvPr/>
        </p:nvSpPr>
        <p:spPr>
          <a:xfrm>
            <a:off x="1520275" y="682752"/>
            <a:ext cx="9135533" cy="893382"/>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4A856D"/>
              </a:buClr>
              <a:buSzPts val="2900"/>
              <a:buFont typeface="Century Gothic"/>
              <a:buNone/>
            </a:pPr>
            <a:r>
              <a:rPr b="1" i="0" lang="fr-FR" sz="2900" u="none" cap="none" strike="noStrike">
                <a:solidFill>
                  <a:srgbClr val="4A856D"/>
                </a:solidFill>
                <a:latin typeface="Century Gothic"/>
                <a:ea typeface="Century Gothic"/>
                <a:cs typeface="Century Gothic"/>
                <a:sym typeface="Century Gothic"/>
              </a:rPr>
              <a:t>Branchements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p28"/>
          <p:cNvPicPr preferRelativeResize="0"/>
          <p:nvPr>
            <p:ph idx="1" type="body"/>
          </p:nvPr>
        </p:nvPicPr>
        <p:blipFill rotWithShape="1">
          <a:blip r:embed="rId3">
            <a:alphaModFix/>
          </a:blip>
          <a:srcRect b="0" l="0" r="0" t="0"/>
          <a:stretch/>
        </p:blipFill>
        <p:spPr>
          <a:xfrm>
            <a:off x="1707727" y="1844675"/>
            <a:ext cx="9408584" cy="3887788"/>
          </a:xfrm>
          <a:prstGeom prst="rect">
            <a:avLst/>
          </a:prstGeom>
          <a:noFill/>
          <a:ln>
            <a:noFill/>
          </a:ln>
        </p:spPr>
      </p:pic>
      <p:sp>
        <p:nvSpPr>
          <p:cNvPr id="358" name="Google Shape;358;p28"/>
          <p:cNvSpPr txBox="1"/>
          <p:nvPr>
            <p:ph type="title"/>
          </p:nvPr>
        </p:nvSpPr>
        <p:spPr>
          <a:xfrm>
            <a:off x="1828801" y="585216"/>
            <a:ext cx="9675812" cy="109728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4A856D"/>
              </a:buClr>
              <a:buSzPts val="2900"/>
              <a:buFont typeface="Century Gothic"/>
              <a:buNone/>
            </a:pPr>
            <a:r>
              <a:rPr b="1" lang="fr-FR" sz="2900">
                <a:solidFill>
                  <a:srgbClr val="4A856D"/>
                </a:solidFill>
              </a:rPr>
              <a:t>Branchements</a:t>
            </a:r>
            <a:br>
              <a:rPr lang="fr-FR" sz="3600"/>
            </a:br>
            <a:r>
              <a:rPr lang="fr-FR" sz="2800"/>
              <a:t>Branchement exclusif</a:t>
            </a:r>
            <a:r>
              <a:rPr lang="fr-FR" sz="3200"/>
              <a:t>:</a:t>
            </a:r>
            <a:endParaRPr sz="36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9"/>
          <p:cNvSpPr txBox="1"/>
          <p:nvPr>
            <p:ph type="title"/>
          </p:nvPr>
        </p:nvSpPr>
        <p:spPr>
          <a:xfrm>
            <a:off x="2921000" y="5749925"/>
            <a:ext cx="6667500" cy="863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2400"/>
              <a:buFont typeface="Century Gothic"/>
              <a:buNone/>
            </a:pPr>
            <a:r>
              <a:rPr lang="fr-FR" sz="2400"/>
              <a:t>Apres la tâche A les tâche 1,2, 3 débutant ensemble.</a:t>
            </a:r>
            <a:endParaRPr/>
          </a:p>
        </p:txBody>
      </p:sp>
      <p:sp>
        <p:nvSpPr>
          <p:cNvPr id="364" name="Google Shape;364;p29"/>
          <p:cNvSpPr txBox="1"/>
          <p:nvPr/>
        </p:nvSpPr>
        <p:spPr>
          <a:xfrm>
            <a:off x="2159000" y="1196975"/>
            <a:ext cx="9626600" cy="503238"/>
          </a:xfrm>
          <a:prstGeom prst="rect">
            <a:avLst/>
          </a:prstGeom>
          <a:noFill/>
          <a:ln>
            <a:noFill/>
          </a:ln>
        </p:spPr>
        <p:txBody>
          <a:bodyPr anchorCtr="0" anchor="ctr" bIns="45700" lIns="91425" spcFirstLastPara="1" rIns="91425" wrap="square" tIns="45700">
            <a:normAutofit lnSpcReduction="10000"/>
          </a:bodyPr>
          <a:lstStyle/>
          <a:p>
            <a:pPr indent="0" lvl="0" marL="0" marR="0" rtl="0" algn="l">
              <a:spcBef>
                <a:spcPts val="0"/>
              </a:spcBef>
              <a:spcAft>
                <a:spcPts val="0"/>
              </a:spcAft>
              <a:buNone/>
            </a:pPr>
            <a:r>
              <a:rPr i="1" lang="fr-FR" sz="2800" u="sng">
                <a:solidFill>
                  <a:schemeClr val="dk1"/>
                </a:solidFill>
                <a:latin typeface="Century Gothic"/>
                <a:ea typeface="Century Gothic"/>
                <a:cs typeface="Century Gothic"/>
                <a:sym typeface="Century Gothic"/>
              </a:rPr>
              <a:t>Eclatement</a:t>
            </a:r>
            <a:endParaRPr/>
          </a:p>
        </p:txBody>
      </p:sp>
      <p:sp>
        <p:nvSpPr>
          <p:cNvPr id="365" name="Google Shape;365;p29"/>
          <p:cNvSpPr txBox="1"/>
          <p:nvPr/>
        </p:nvSpPr>
        <p:spPr>
          <a:xfrm>
            <a:off x="1584960" y="359982"/>
            <a:ext cx="10972800" cy="850900"/>
          </a:xfrm>
          <a:prstGeom prst="rect">
            <a:avLst/>
          </a:prstGeom>
          <a:noFill/>
          <a:ln>
            <a:noFill/>
          </a:ln>
        </p:spPr>
        <p:txBody>
          <a:bodyPr anchorCtr="0" anchor="ctr" bIns="45700" lIns="91425" spcFirstLastPara="1" rIns="91425" wrap="square" tIns="45700">
            <a:normAutofit fontScale="85000" lnSpcReduction="20000"/>
          </a:bodyPr>
          <a:lstStyle/>
          <a:p>
            <a:pPr indent="0" lvl="0" marL="0" marR="0" rtl="0" algn="l">
              <a:spcBef>
                <a:spcPts val="0"/>
              </a:spcBef>
              <a:spcAft>
                <a:spcPts val="0"/>
              </a:spcAft>
              <a:buNone/>
            </a:pPr>
            <a:r>
              <a:rPr b="1" lang="fr-FR" sz="3400">
                <a:solidFill>
                  <a:srgbClr val="4A856D"/>
                </a:solidFill>
                <a:latin typeface="Century Gothic"/>
                <a:ea typeface="Century Gothic"/>
                <a:cs typeface="Century Gothic"/>
                <a:sym typeface="Century Gothic"/>
              </a:rPr>
              <a:t>Branchements</a:t>
            </a:r>
            <a:br>
              <a:rPr lang="fr-FR" sz="3600">
                <a:solidFill>
                  <a:schemeClr val="dk1"/>
                </a:solidFill>
                <a:latin typeface="Century Gothic"/>
                <a:ea typeface="Century Gothic"/>
                <a:cs typeface="Century Gothic"/>
                <a:sym typeface="Century Gothic"/>
              </a:rPr>
            </a:br>
            <a:r>
              <a:rPr lang="fr-FR" sz="3300">
                <a:solidFill>
                  <a:schemeClr val="dk1"/>
                </a:solidFill>
                <a:latin typeface="Century Gothic"/>
                <a:ea typeface="Century Gothic"/>
                <a:cs typeface="Century Gothic"/>
                <a:sym typeface="Century Gothic"/>
              </a:rPr>
              <a:t>Branchement parallèle:</a:t>
            </a:r>
            <a:endParaRPr/>
          </a:p>
        </p:txBody>
      </p:sp>
      <p:pic>
        <p:nvPicPr>
          <p:cNvPr id="366" name="Google Shape;366;p29"/>
          <p:cNvPicPr preferRelativeResize="0"/>
          <p:nvPr>
            <p:ph idx="1" type="body"/>
          </p:nvPr>
        </p:nvPicPr>
        <p:blipFill rotWithShape="1">
          <a:blip r:embed="rId3">
            <a:alphaModFix/>
          </a:blip>
          <a:srcRect b="0" l="0" r="0" t="0"/>
          <a:stretch/>
        </p:blipFill>
        <p:spPr>
          <a:xfrm>
            <a:off x="3171271" y="1979613"/>
            <a:ext cx="5636734" cy="36734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30"/>
          <p:cNvPicPr preferRelativeResize="0"/>
          <p:nvPr>
            <p:ph idx="1" type="body"/>
          </p:nvPr>
        </p:nvPicPr>
        <p:blipFill rotWithShape="1">
          <a:blip r:embed="rId3">
            <a:alphaModFix/>
          </a:blip>
          <a:srcRect b="0" l="0" r="0" t="0"/>
          <a:stretch/>
        </p:blipFill>
        <p:spPr>
          <a:xfrm>
            <a:off x="2432051" y="2068513"/>
            <a:ext cx="7327900" cy="3590925"/>
          </a:xfrm>
          <a:prstGeom prst="rect">
            <a:avLst/>
          </a:prstGeom>
          <a:noFill/>
          <a:ln>
            <a:noFill/>
          </a:ln>
        </p:spPr>
      </p:pic>
      <p:sp>
        <p:nvSpPr>
          <p:cNvPr id="372" name="Google Shape;372;p30"/>
          <p:cNvSpPr txBox="1"/>
          <p:nvPr/>
        </p:nvSpPr>
        <p:spPr>
          <a:xfrm>
            <a:off x="2097024" y="5732464"/>
            <a:ext cx="8400288" cy="865187"/>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None/>
            </a:pPr>
            <a:r>
              <a:rPr lang="fr-FR" sz="2400">
                <a:solidFill>
                  <a:schemeClr val="dk1"/>
                </a:solidFill>
                <a:latin typeface="Century Gothic"/>
                <a:ea typeface="Century Gothic"/>
                <a:cs typeface="Century Gothic"/>
                <a:sym typeface="Century Gothic"/>
              </a:rPr>
              <a:t>La tâche A ne débutera que quand les tâche1,2, 3 seront complétées.</a:t>
            </a:r>
            <a:endParaRPr/>
          </a:p>
        </p:txBody>
      </p:sp>
      <p:sp>
        <p:nvSpPr>
          <p:cNvPr id="373" name="Google Shape;373;p30"/>
          <p:cNvSpPr txBox="1"/>
          <p:nvPr/>
        </p:nvSpPr>
        <p:spPr>
          <a:xfrm>
            <a:off x="2159000" y="1484314"/>
            <a:ext cx="9626600" cy="504825"/>
          </a:xfrm>
          <a:prstGeom prst="rect">
            <a:avLst/>
          </a:prstGeom>
          <a:noFill/>
          <a:ln>
            <a:noFill/>
          </a:ln>
        </p:spPr>
        <p:txBody>
          <a:bodyPr anchorCtr="0" anchor="ctr" bIns="45700" lIns="91425" spcFirstLastPara="1" rIns="91425" wrap="square" tIns="45700">
            <a:normAutofit lnSpcReduction="10000"/>
          </a:bodyPr>
          <a:lstStyle/>
          <a:p>
            <a:pPr indent="0" lvl="0" marL="0" marR="0" rtl="0" algn="l">
              <a:spcBef>
                <a:spcPts val="0"/>
              </a:spcBef>
              <a:spcAft>
                <a:spcPts val="0"/>
              </a:spcAft>
              <a:buNone/>
            </a:pPr>
            <a:r>
              <a:rPr i="1" lang="fr-FR" sz="2800" u="sng">
                <a:solidFill>
                  <a:schemeClr val="dk1"/>
                </a:solidFill>
                <a:latin typeface="Century Gothic"/>
                <a:ea typeface="Century Gothic"/>
                <a:cs typeface="Century Gothic"/>
                <a:sym typeface="Century Gothic"/>
              </a:rPr>
              <a:t>Synchronisation:</a:t>
            </a:r>
            <a:endParaRPr i="1" sz="2800" u="sng">
              <a:solidFill>
                <a:schemeClr val="dk1"/>
              </a:solidFill>
              <a:latin typeface="Century Gothic"/>
              <a:ea typeface="Century Gothic"/>
              <a:cs typeface="Century Gothic"/>
              <a:sym typeface="Century Gothic"/>
            </a:endParaRPr>
          </a:p>
        </p:txBody>
      </p:sp>
      <p:sp>
        <p:nvSpPr>
          <p:cNvPr id="374" name="Google Shape;374;p30"/>
          <p:cNvSpPr txBox="1"/>
          <p:nvPr>
            <p:ph type="title"/>
          </p:nvPr>
        </p:nvSpPr>
        <p:spPr>
          <a:xfrm>
            <a:off x="1755648" y="585215"/>
            <a:ext cx="9826752" cy="746697"/>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4A856D"/>
              </a:buClr>
              <a:buSzPct val="100000"/>
              <a:buFont typeface="Century Gothic"/>
              <a:buNone/>
            </a:pPr>
            <a:r>
              <a:rPr b="1" lang="fr-FR" sz="2900">
                <a:solidFill>
                  <a:srgbClr val="4A856D"/>
                </a:solidFill>
              </a:rPr>
              <a:t>Branchements</a:t>
            </a:r>
            <a:br>
              <a:rPr lang="fr-FR" sz="2800">
                <a:solidFill>
                  <a:schemeClr val="dk1"/>
                </a:solidFill>
              </a:rPr>
            </a:br>
            <a:r>
              <a:rPr lang="fr-FR" sz="2800">
                <a:solidFill>
                  <a:schemeClr val="dk1"/>
                </a:solidFill>
              </a:rPr>
              <a:t>Branchement parallèle: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pic>
        <p:nvPicPr>
          <p:cNvPr id="379" name="Google Shape;379;p31"/>
          <p:cNvPicPr preferRelativeResize="0"/>
          <p:nvPr>
            <p:ph idx="1" type="body"/>
          </p:nvPr>
        </p:nvPicPr>
        <p:blipFill rotWithShape="1">
          <a:blip r:embed="rId3">
            <a:alphaModFix/>
          </a:blip>
          <a:srcRect b="0" l="0" r="0" t="0"/>
          <a:stretch/>
        </p:blipFill>
        <p:spPr>
          <a:xfrm>
            <a:off x="1968501" y="1600201"/>
            <a:ext cx="9023351" cy="4525963"/>
          </a:xfrm>
          <a:prstGeom prst="rect">
            <a:avLst/>
          </a:prstGeom>
          <a:noFill/>
          <a:ln>
            <a:noFill/>
          </a:ln>
        </p:spPr>
      </p:pic>
      <p:sp>
        <p:nvSpPr>
          <p:cNvPr id="380" name="Google Shape;380;p31"/>
          <p:cNvSpPr txBox="1"/>
          <p:nvPr>
            <p:ph type="title"/>
          </p:nvPr>
        </p:nvSpPr>
        <p:spPr>
          <a:xfrm>
            <a:off x="1755648" y="646176"/>
            <a:ext cx="9826753" cy="7714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4A856D"/>
              </a:buClr>
              <a:buSzPct val="100000"/>
              <a:buFont typeface="Century Gothic"/>
              <a:buNone/>
            </a:pPr>
            <a:r>
              <a:rPr b="1" lang="fr-FR" sz="3200">
                <a:solidFill>
                  <a:srgbClr val="4A856D"/>
                </a:solidFill>
              </a:rPr>
              <a:t>Branchements</a:t>
            </a:r>
            <a:br>
              <a:rPr lang="fr-FR" sz="3600">
                <a:solidFill>
                  <a:schemeClr val="dk1"/>
                </a:solidFill>
              </a:rPr>
            </a:br>
            <a:r>
              <a:rPr lang="fr-FR" sz="2800">
                <a:solidFill>
                  <a:schemeClr val="dk1"/>
                </a:solidFill>
              </a:rPr>
              <a:t>Branchement inclusif:</a:t>
            </a:r>
            <a:endParaRPr sz="36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2"/>
          <p:cNvSpPr txBox="1"/>
          <p:nvPr>
            <p:ph type="title"/>
          </p:nvPr>
        </p:nvSpPr>
        <p:spPr>
          <a:xfrm>
            <a:off x="2084833" y="624110"/>
            <a:ext cx="9419780" cy="814546"/>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4A856D"/>
              </a:buClr>
              <a:buSzPct val="100000"/>
              <a:buFont typeface="Century Gothic"/>
              <a:buNone/>
            </a:pPr>
            <a:r>
              <a:rPr b="1" lang="fr-FR" sz="3200">
                <a:solidFill>
                  <a:srgbClr val="4A856D"/>
                </a:solidFill>
              </a:rPr>
              <a:t>Branchements</a:t>
            </a:r>
            <a:br>
              <a:rPr lang="fr-FR" sz="2800">
                <a:solidFill>
                  <a:schemeClr val="dk1"/>
                </a:solidFill>
              </a:rPr>
            </a:br>
            <a:r>
              <a:rPr lang="fr-FR" sz="2800">
                <a:solidFill>
                  <a:schemeClr val="dk1"/>
                </a:solidFill>
              </a:rPr>
              <a:t>Branchement complexe:</a:t>
            </a:r>
            <a:endParaRPr/>
          </a:p>
        </p:txBody>
      </p:sp>
      <p:sp>
        <p:nvSpPr>
          <p:cNvPr id="386" name="Google Shape;386;p32"/>
          <p:cNvSpPr txBox="1"/>
          <p:nvPr/>
        </p:nvSpPr>
        <p:spPr>
          <a:xfrm>
            <a:off x="2365248" y="5427664"/>
            <a:ext cx="7376160" cy="865187"/>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None/>
            </a:pPr>
            <a:r>
              <a:rPr lang="fr-FR" sz="2400">
                <a:solidFill>
                  <a:schemeClr val="dk1"/>
                </a:solidFill>
                <a:latin typeface="Century Gothic"/>
                <a:ea typeface="Century Gothic"/>
                <a:cs typeface="Century Gothic"/>
                <a:sym typeface="Century Gothic"/>
              </a:rPr>
              <a:t>La tâche A ne débutera que quant 2 des 3 tâche seront complétées.</a:t>
            </a:r>
            <a:endParaRPr/>
          </a:p>
        </p:txBody>
      </p:sp>
      <p:pic>
        <p:nvPicPr>
          <p:cNvPr id="387" name="Google Shape;387;p32"/>
          <p:cNvPicPr preferRelativeResize="0"/>
          <p:nvPr>
            <p:ph idx="1" type="body"/>
          </p:nvPr>
        </p:nvPicPr>
        <p:blipFill rotWithShape="1">
          <a:blip r:embed="rId3">
            <a:alphaModFix/>
          </a:blip>
          <a:srcRect b="0" l="0" r="0" t="0"/>
          <a:stretch/>
        </p:blipFill>
        <p:spPr>
          <a:xfrm>
            <a:off x="2762250" y="1901952"/>
            <a:ext cx="6534150" cy="317646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3"/>
          <p:cNvSpPr txBox="1"/>
          <p:nvPr>
            <p:ph type="title"/>
          </p:nvPr>
        </p:nvSpPr>
        <p:spPr>
          <a:xfrm>
            <a:off x="1934557" y="743712"/>
            <a:ext cx="8911687" cy="954024"/>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4A856D"/>
              </a:buClr>
              <a:buSzPct val="100000"/>
              <a:buFont typeface="Century Gothic"/>
              <a:buNone/>
            </a:pPr>
            <a:r>
              <a:rPr b="1" lang="fr-FR" sz="3200">
                <a:solidFill>
                  <a:srgbClr val="4A856D"/>
                </a:solidFill>
              </a:rPr>
              <a:t>Branchements</a:t>
            </a:r>
            <a:br>
              <a:rPr lang="fr-FR" sz="3600">
                <a:solidFill>
                  <a:schemeClr val="dk1"/>
                </a:solidFill>
              </a:rPr>
            </a:br>
            <a:r>
              <a:rPr lang="fr-FR" sz="2800">
                <a:solidFill>
                  <a:schemeClr val="dk1"/>
                </a:solidFill>
              </a:rPr>
              <a:t>Branchement  basé sur l’événements</a:t>
            </a:r>
            <a:r>
              <a:rPr lang="fr-FR" sz="3600">
                <a:solidFill>
                  <a:schemeClr val="dk1"/>
                </a:solidFill>
              </a:rPr>
              <a:t>:</a:t>
            </a:r>
            <a:endParaRPr/>
          </a:p>
        </p:txBody>
      </p:sp>
      <p:sp>
        <p:nvSpPr>
          <p:cNvPr id="393" name="Google Shape;393;p33"/>
          <p:cNvSpPr txBox="1"/>
          <p:nvPr/>
        </p:nvSpPr>
        <p:spPr>
          <a:xfrm>
            <a:off x="2157984" y="5681473"/>
            <a:ext cx="7827264" cy="792480"/>
          </a:xfrm>
          <a:prstGeom prst="rect">
            <a:avLst/>
          </a:prstGeom>
          <a:noFill/>
          <a:ln>
            <a:noFill/>
          </a:ln>
        </p:spPr>
        <p:txBody>
          <a:bodyPr anchorCtr="0" anchor="ctr" bIns="45700" lIns="91425" spcFirstLastPara="1" rIns="91425" wrap="square" tIns="45700">
            <a:normAutofit lnSpcReduction="10000"/>
          </a:bodyPr>
          <a:lstStyle/>
          <a:p>
            <a:pPr indent="0" lvl="0" marL="0" marR="0" rtl="0" algn="l">
              <a:spcBef>
                <a:spcPts val="0"/>
              </a:spcBef>
              <a:spcAft>
                <a:spcPts val="0"/>
              </a:spcAft>
              <a:buNone/>
            </a:pPr>
            <a:r>
              <a:rPr lang="fr-FR" sz="2400">
                <a:solidFill>
                  <a:schemeClr val="dk1"/>
                </a:solidFill>
                <a:latin typeface="Century Gothic"/>
                <a:ea typeface="Century Gothic"/>
                <a:cs typeface="Century Gothic"/>
                <a:sym typeface="Century Gothic"/>
              </a:rPr>
              <a:t>La tâche 1débutera si l’événement 1 a  été déclenché en premier avant 2 et 3.</a:t>
            </a:r>
            <a:endParaRPr/>
          </a:p>
        </p:txBody>
      </p:sp>
      <p:pic>
        <p:nvPicPr>
          <p:cNvPr id="394" name="Google Shape;394;p33"/>
          <p:cNvPicPr preferRelativeResize="0"/>
          <p:nvPr/>
        </p:nvPicPr>
        <p:blipFill rotWithShape="1">
          <a:blip r:embed="rId3">
            <a:alphaModFix/>
          </a:blip>
          <a:srcRect b="0" l="0" r="0" t="0"/>
          <a:stretch/>
        </p:blipFill>
        <p:spPr>
          <a:xfrm>
            <a:off x="2218944" y="2130933"/>
            <a:ext cx="6794945" cy="31813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4"/>
          <p:cNvSpPr txBox="1"/>
          <p:nvPr>
            <p:ph type="title"/>
          </p:nvPr>
        </p:nvSpPr>
        <p:spPr>
          <a:xfrm>
            <a:off x="1719073" y="658368"/>
            <a:ext cx="9675812" cy="56083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4A856D"/>
              </a:buClr>
              <a:buSzPts val="2900"/>
              <a:buFont typeface="Century Gothic"/>
              <a:buNone/>
            </a:pPr>
            <a:r>
              <a:rPr b="1" lang="fr-FR" sz="2900">
                <a:solidFill>
                  <a:srgbClr val="4A856D"/>
                </a:solidFill>
              </a:rPr>
              <a:t>Evénements déclencheurs      </a:t>
            </a:r>
            <a:endParaRPr/>
          </a:p>
        </p:txBody>
      </p:sp>
      <p:graphicFrame>
        <p:nvGraphicFramePr>
          <p:cNvPr id="400" name="Google Shape;400;p34"/>
          <p:cNvGraphicFramePr/>
          <p:nvPr/>
        </p:nvGraphicFramePr>
        <p:xfrm>
          <a:off x="1706880" y="1694688"/>
          <a:ext cx="3000000" cy="3000000"/>
        </p:xfrm>
        <a:graphic>
          <a:graphicData uri="http://schemas.openxmlformats.org/drawingml/2006/table">
            <a:tbl>
              <a:tblPr bandRow="1" firstRow="1">
                <a:noFill/>
                <a:tableStyleId>{AB6627D9-4488-47AB-A009-2705E3C24D6C}</a:tableStyleId>
              </a:tblPr>
              <a:tblGrid>
                <a:gridCol w="2202525"/>
                <a:gridCol w="5583875"/>
                <a:gridCol w="1833100"/>
              </a:tblGrid>
              <a:tr h="814425">
                <a:tc>
                  <a:txBody>
                    <a:bodyPr/>
                    <a:lstStyle/>
                    <a:p>
                      <a:pPr indent="0" lvl="0" marL="0" marR="0" rtl="0" algn="ctr">
                        <a:spcBef>
                          <a:spcPts val="0"/>
                        </a:spcBef>
                        <a:spcAft>
                          <a:spcPts val="0"/>
                        </a:spcAft>
                        <a:buNone/>
                      </a:pPr>
                      <a:r>
                        <a:rPr lang="fr-FR" sz="1800">
                          <a:solidFill>
                            <a:srgbClr val="0C0C0C"/>
                          </a:solidFill>
                        </a:rPr>
                        <a:t>Nom</a:t>
                      </a:r>
                      <a:endParaRPr/>
                    </a:p>
                  </a:txBody>
                  <a:tcPr marT="45725" marB="45725" marR="91450" marL="91450"/>
                </a:tc>
                <a:tc>
                  <a:txBody>
                    <a:bodyPr/>
                    <a:lstStyle/>
                    <a:p>
                      <a:pPr indent="0" lvl="0" marL="0" marR="0" rtl="0" algn="ctr">
                        <a:spcBef>
                          <a:spcPts val="0"/>
                        </a:spcBef>
                        <a:spcAft>
                          <a:spcPts val="0"/>
                        </a:spcAft>
                        <a:buNone/>
                      </a:pPr>
                      <a:r>
                        <a:rPr lang="fr-FR" sz="1800">
                          <a:solidFill>
                            <a:srgbClr val="0C0C0C"/>
                          </a:solidFill>
                        </a:rPr>
                        <a:t>Utilisateur</a:t>
                      </a:r>
                      <a:endParaRPr/>
                    </a:p>
                  </a:txBody>
                  <a:tcPr marT="45725" marB="45725" marR="91450" marL="91450"/>
                </a:tc>
                <a:tc>
                  <a:txBody>
                    <a:bodyPr/>
                    <a:lstStyle/>
                    <a:p>
                      <a:pPr indent="0" lvl="0" marL="0" marR="0" rtl="0" algn="ctr">
                        <a:spcBef>
                          <a:spcPts val="0"/>
                        </a:spcBef>
                        <a:spcAft>
                          <a:spcPts val="0"/>
                        </a:spcAft>
                        <a:buNone/>
                      </a:pPr>
                      <a:r>
                        <a:rPr lang="fr-FR" sz="1800">
                          <a:solidFill>
                            <a:srgbClr val="0C0C0C"/>
                          </a:solidFill>
                        </a:rPr>
                        <a:t>Notation</a:t>
                      </a:r>
                      <a:endParaRPr/>
                    </a:p>
                  </a:txBody>
                  <a:tcPr marT="45725" marB="45725" marR="91450" marL="91450"/>
                </a:tc>
              </a:tr>
              <a:tr h="814425">
                <a:tc>
                  <a:txBody>
                    <a:bodyPr/>
                    <a:lstStyle/>
                    <a:p>
                      <a:pPr indent="0" lvl="0" marL="0" marR="0" rtl="0" algn="ctr">
                        <a:spcBef>
                          <a:spcPts val="0"/>
                        </a:spcBef>
                        <a:spcAft>
                          <a:spcPts val="0"/>
                        </a:spcAft>
                        <a:buNone/>
                      </a:pPr>
                      <a:r>
                        <a:rPr lang="fr-FR" sz="1800"/>
                        <a:t>Basic</a:t>
                      </a:r>
                      <a:endParaRPr/>
                    </a:p>
                  </a:txBody>
                  <a:tcPr marT="45725" marB="45725" marR="91450" marL="91450"/>
                </a:tc>
                <a:tc>
                  <a:txBody>
                    <a:bodyPr/>
                    <a:lstStyle/>
                    <a:p>
                      <a:pPr indent="0" lvl="0" marL="0" marR="0" rtl="0" algn="l">
                        <a:spcBef>
                          <a:spcPts val="0"/>
                        </a:spcBef>
                        <a:spcAft>
                          <a:spcPts val="0"/>
                        </a:spcAft>
                        <a:buNone/>
                      </a:pPr>
                      <a:r>
                        <a:rPr lang="fr-FR" sz="1800"/>
                        <a:t>Est utilisé lorsque le cause du déclenchement de processus n’est pas spécifier.</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814425">
                <a:tc>
                  <a:txBody>
                    <a:bodyPr/>
                    <a:lstStyle/>
                    <a:p>
                      <a:pPr indent="0" lvl="0" marL="0" marR="0" rtl="0" algn="ctr">
                        <a:spcBef>
                          <a:spcPts val="0"/>
                        </a:spcBef>
                        <a:spcAft>
                          <a:spcPts val="0"/>
                        </a:spcAft>
                        <a:buNone/>
                      </a:pPr>
                      <a:r>
                        <a:rPr lang="fr-FR" sz="1800"/>
                        <a:t>Message </a:t>
                      </a:r>
                      <a:endParaRPr/>
                    </a:p>
                  </a:txBody>
                  <a:tcPr marT="45725" marB="45725" marR="91450" marL="91450"/>
                </a:tc>
                <a:tc>
                  <a:txBody>
                    <a:bodyPr/>
                    <a:lstStyle/>
                    <a:p>
                      <a:pPr indent="0" lvl="0" marL="0" marR="0" rtl="0" algn="l">
                        <a:spcBef>
                          <a:spcPts val="0"/>
                        </a:spcBef>
                        <a:spcAft>
                          <a:spcPts val="0"/>
                        </a:spcAft>
                        <a:buNone/>
                      </a:pPr>
                      <a:r>
                        <a:rPr lang="fr-FR" sz="1800"/>
                        <a:t>Est utilisé lorsqu’un message provenant d’un participant extérieur déclenche</a:t>
                      </a:r>
                      <a:r>
                        <a:rPr lang="fr-FR" sz="1800"/>
                        <a:t> le processus.</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814425">
                <a:tc>
                  <a:txBody>
                    <a:bodyPr/>
                    <a:lstStyle/>
                    <a:p>
                      <a:pPr indent="0" lvl="0" marL="0" marR="0" rtl="0" algn="ctr">
                        <a:spcBef>
                          <a:spcPts val="0"/>
                        </a:spcBef>
                        <a:spcAft>
                          <a:spcPts val="0"/>
                        </a:spcAft>
                        <a:buNone/>
                      </a:pPr>
                      <a:r>
                        <a:rPr lang="fr-FR" sz="1800"/>
                        <a:t>Temporisateur</a:t>
                      </a:r>
                      <a:endParaRPr/>
                    </a:p>
                  </a:txBody>
                  <a:tcPr marT="45725" marB="45725" marR="91450" marL="91450"/>
                </a:tc>
                <a:tc>
                  <a:txBody>
                    <a:bodyPr/>
                    <a:lstStyle/>
                    <a:p>
                      <a:pPr indent="0" lvl="0" marL="0" marR="0" rtl="0" algn="l">
                        <a:spcBef>
                          <a:spcPts val="0"/>
                        </a:spcBef>
                        <a:spcAft>
                          <a:spcPts val="0"/>
                        </a:spcAft>
                        <a:buNone/>
                      </a:pPr>
                      <a:r>
                        <a:rPr lang="fr-FR" sz="1800"/>
                        <a:t>Utiliser  lorsqu’une période spécifique</a:t>
                      </a:r>
                      <a:r>
                        <a:rPr lang="fr-FR" sz="1800"/>
                        <a:t> est programmé pour déclencher les processus.</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814425">
                <a:tc>
                  <a:txBody>
                    <a:bodyPr/>
                    <a:lstStyle/>
                    <a:p>
                      <a:pPr indent="0" lvl="0" marL="0" marR="0" rtl="0" algn="ctr">
                        <a:spcBef>
                          <a:spcPts val="0"/>
                        </a:spcBef>
                        <a:spcAft>
                          <a:spcPts val="0"/>
                        </a:spcAft>
                        <a:buNone/>
                      </a:pPr>
                      <a:r>
                        <a:rPr lang="fr-FR" sz="1800"/>
                        <a:t>Règle</a:t>
                      </a:r>
                      <a:endParaRPr/>
                    </a:p>
                  </a:txBody>
                  <a:tcPr marT="45725" marB="45725" marR="91450" marL="91450"/>
                </a:tc>
                <a:tc>
                  <a:txBody>
                    <a:bodyPr/>
                    <a:lstStyle/>
                    <a:p>
                      <a:pPr indent="0" lvl="0" marL="0" marR="0" rtl="0" algn="l">
                        <a:spcBef>
                          <a:spcPts val="0"/>
                        </a:spcBef>
                        <a:spcAft>
                          <a:spcPts val="0"/>
                        </a:spcAft>
                        <a:buNone/>
                      </a:pPr>
                      <a:r>
                        <a:rPr lang="fr-FR" sz="1800"/>
                        <a:t>Utiliser lorsque le processus est déclenche suite à la validation d’un condition.</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pic>
        <p:nvPicPr>
          <p:cNvPr id="401" name="Google Shape;401;p34"/>
          <p:cNvPicPr preferRelativeResize="0"/>
          <p:nvPr/>
        </p:nvPicPr>
        <p:blipFill rotWithShape="1">
          <a:blip r:embed="rId3">
            <a:alphaModFix/>
          </a:blip>
          <a:srcRect b="0" l="0" r="0" t="0"/>
          <a:stretch/>
        </p:blipFill>
        <p:spPr>
          <a:xfrm>
            <a:off x="10088690" y="2574036"/>
            <a:ext cx="695325" cy="685800"/>
          </a:xfrm>
          <a:prstGeom prst="rect">
            <a:avLst/>
          </a:prstGeom>
          <a:noFill/>
          <a:ln>
            <a:noFill/>
          </a:ln>
        </p:spPr>
      </p:pic>
      <p:pic>
        <p:nvPicPr>
          <p:cNvPr id="402" name="Google Shape;402;p34"/>
          <p:cNvPicPr preferRelativeResize="0"/>
          <p:nvPr/>
        </p:nvPicPr>
        <p:blipFill rotWithShape="1">
          <a:blip r:embed="rId4">
            <a:alphaModFix/>
          </a:blip>
          <a:srcRect b="0" l="0" r="0" t="0"/>
          <a:stretch/>
        </p:blipFill>
        <p:spPr>
          <a:xfrm>
            <a:off x="10066020" y="3415284"/>
            <a:ext cx="736092" cy="608076"/>
          </a:xfrm>
          <a:prstGeom prst="rect">
            <a:avLst/>
          </a:prstGeom>
          <a:noFill/>
          <a:ln>
            <a:noFill/>
          </a:ln>
        </p:spPr>
      </p:pic>
      <p:pic>
        <p:nvPicPr>
          <p:cNvPr id="403" name="Google Shape;403;p34"/>
          <p:cNvPicPr preferRelativeResize="0"/>
          <p:nvPr/>
        </p:nvPicPr>
        <p:blipFill rotWithShape="1">
          <a:blip r:embed="rId5">
            <a:alphaModFix/>
          </a:blip>
          <a:srcRect b="0" l="0" r="0" t="0"/>
          <a:stretch/>
        </p:blipFill>
        <p:spPr>
          <a:xfrm>
            <a:off x="10115169" y="4217288"/>
            <a:ext cx="666750" cy="671703"/>
          </a:xfrm>
          <a:prstGeom prst="rect">
            <a:avLst/>
          </a:prstGeom>
          <a:noFill/>
          <a:ln>
            <a:noFill/>
          </a:ln>
        </p:spPr>
      </p:pic>
      <p:pic>
        <p:nvPicPr>
          <p:cNvPr id="404" name="Google Shape;404;p34"/>
          <p:cNvPicPr preferRelativeResize="0"/>
          <p:nvPr/>
        </p:nvPicPr>
        <p:blipFill rotWithShape="1">
          <a:blip r:embed="rId6">
            <a:alphaModFix/>
          </a:blip>
          <a:srcRect b="0" l="0" r="0" t="0"/>
          <a:stretch/>
        </p:blipFill>
        <p:spPr>
          <a:xfrm>
            <a:off x="10078593" y="5034725"/>
            <a:ext cx="666750" cy="62236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graphicFrame>
        <p:nvGraphicFramePr>
          <p:cNvPr id="409" name="Google Shape;409;p35"/>
          <p:cNvGraphicFramePr/>
          <p:nvPr/>
        </p:nvGraphicFramePr>
        <p:xfrm>
          <a:off x="1426464" y="1572769"/>
          <a:ext cx="3000000" cy="3000000"/>
        </p:xfrm>
        <a:graphic>
          <a:graphicData uri="http://schemas.openxmlformats.org/drawingml/2006/table">
            <a:tbl>
              <a:tblPr bandRow="1" firstRow="1">
                <a:noFill/>
                <a:tableStyleId>{AB6627D9-4488-47AB-A009-2705E3C24D6C}</a:tableStyleId>
              </a:tblPr>
              <a:tblGrid>
                <a:gridCol w="2524225"/>
                <a:gridCol w="5379550"/>
                <a:gridCol w="1881775"/>
              </a:tblGrid>
              <a:tr h="528500">
                <a:tc>
                  <a:txBody>
                    <a:bodyPr/>
                    <a:lstStyle/>
                    <a:p>
                      <a:pPr indent="0" lvl="0" marL="0" marR="0" rtl="0" algn="ctr">
                        <a:spcBef>
                          <a:spcPts val="0"/>
                        </a:spcBef>
                        <a:spcAft>
                          <a:spcPts val="0"/>
                        </a:spcAft>
                        <a:buNone/>
                      </a:pPr>
                      <a:r>
                        <a:rPr lang="fr-FR" sz="1800">
                          <a:solidFill>
                            <a:srgbClr val="0C0C0C"/>
                          </a:solidFill>
                        </a:rPr>
                        <a:t>Nom</a:t>
                      </a:r>
                      <a:endParaRPr/>
                    </a:p>
                  </a:txBody>
                  <a:tcPr marT="45725" marB="45725" marR="91450" marL="91450"/>
                </a:tc>
                <a:tc>
                  <a:txBody>
                    <a:bodyPr/>
                    <a:lstStyle/>
                    <a:p>
                      <a:pPr indent="0" lvl="0" marL="0" marR="0" rtl="0" algn="ctr">
                        <a:spcBef>
                          <a:spcPts val="0"/>
                        </a:spcBef>
                        <a:spcAft>
                          <a:spcPts val="0"/>
                        </a:spcAft>
                        <a:buNone/>
                      </a:pPr>
                      <a:r>
                        <a:rPr lang="fr-FR" sz="1800">
                          <a:solidFill>
                            <a:srgbClr val="0C0C0C"/>
                          </a:solidFill>
                        </a:rPr>
                        <a:t>Utilisateur</a:t>
                      </a:r>
                      <a:endParaRPr/>
                    </a:p>
                  </a:txBody>
                  <a:tcPr marT="45725" marB="45725" marR="91450" marL="91450"/>
                </a:tc>
                <a:tc>
                  <a:txBody>
                    <a:bodyPr/>
                    <a:lstStyle/>
                    <a:p>
                      <a:pPr indent="0" lvl="0" marL="0" marR="0" rtl="0" algn="ctr">
                        <a:spcBef>
                          <a:spcPts val="0"/>
                        </a:spcBef>
                        <a:spcAft>
                          <a:spcPts val="0"/>
                        </a:spcAft>
                        <a:buNone/>
                      </a:pPr>
                      <a:r>
                        <a:rPr lang="fr-FR" sz="1800">
                          <a:solidFill>
                            <a:srgbClr val="0C0C0C"/>
                          </a:solidFill>
                        </a:rPr>
                        <a:t>Notation</a:t>
                      </a:r>
                      <a:endParaRPr/>
                    </a:p>
                  </a:txBody>
                  <a:tcPr marT="45725" marB="45725" marR="91450" marL="91450"/>
                </a:tc>
              </a:tr>
              <a:tr h="912200">
                <a:tc>
                  <a:txBody>
                    <a:bodyPr/>
                    <a:lstStyle/>
                    <a:p>
                      <a:pPr indent="0" lvl="0" marL="0" marR="0" rtl="0" algn="ctr">
                        <a:spcBef>
                          <a:spcPts val="0"/>
                        </a:spcBef>
                        <a:spcAft>
                          <a:spcPts val="0"/>
                        </a:spcAft>
                        <a:buNone/>
                      </a:pPr>
                      <a:r>
                        <a:rPr lang="fr-FR" sz="1800"/>
                        <a:t>Signal</a:t>
                      </a:r>
                      <a:endParaRPr/>
                    </a:p>
                  </a:txBody>
                  <a:tcPr marT="45725" marB="45725" marR="91450" marL="91450"/>
                </a:tc>
                <a:tc>
                  <a:txBody>
                    <a:bodyPr/>
                    <a:lstStyle/>
                    <a:p>
                      <a:pPr indent="0" lvl="0" marL="0" marR="0" rtl="0" algn="l">
                        <a:spcBef>
                          <a:spcPts val="0"/>
                        </a:spcBef>
                        <a:spcAft>
                          <a:spcPts val="0"/>
                        </a:spcAft>
                        <a:buNone/>
                      </a:pPr>
                      <a:r>
                        <a:rPr lang="fr-FR" sz="1800"/>
                        <a:t>Utiliser</a:t>
                      </a:r>
                      <a:r>
                        <a:rPr lang="fr-FR" sz="1800"/>
                        <a:t> lorsqu’un signal provenant d’un autre processus déclenche le processus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1694075">
                <a:tc>
                  <a:txBody>
                    <a:bodyPr/>
                    <a:lstStyle/>
                    <a:p>
                      <a:pPr indent="0" lvl="0" marL="0" marR="0" rtl="0" algn="ctr">
                        <a:spcBef>
                          <a:spcPts val="0"/>
                        </a:spcBef>
                        <a:spcAft>
                          <a:spcPts val="0"/>
                        </a:spcAft>
                        <a:buNone/>
                      </a:pPr>
                      <a:r>
                        <a:rPr lang="fr-FR" sz="1800"/>
                        <a:t>Multiple</a:t>
                      </a:r>
                      <a:endParaRPr/>
                    </a:p>
                  </a:txBody>
                  <a:tcPr marT="45725" marB="45725" marR="91450" marL="91450"/>
                </a:tc>
                <a:tc>
                  <a:txBody>
                    <a:bodyPr/>
                    <a:lstStyle/>
                    <a:p>
                      <a:pPr indent="0" lvl="0" marL="0" marR="0" rtl="0" algn="l">
                        <a:spcBef>
                          <a:spcPts val="0"/>
                        </a:spcBef>
                        <a:spcAft>
                          <a:spcPts val="0"/>
                        </a:spcAft>
                        <a:buNone/>
                      </a:pPr>
                      <a:r>
                        <a:rPr lang="fr-FR" sz="1800"/>
                        <a:t>Signifier qu’il y</a:t>
                      </a:r>
                      <a:r>
                        <a:rPr lang="fr-FR" sz="1800"/>
                        <a:t> a plusieurs déclencheur au processus et le fait qu’un seule de ces déclencheur se produise et suffisant pour déclenche le processus.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1303125">
                <a:tc>
                  <a:txBody>
                    <a:bodyPr/>
                    <a:lstStyle/>
                    <a:p>
                      <a:pPr indent="0" lvl="0" marL="0" marR="0" rtl="0" algn="ctr">
                        <a:spcBef>
                          <a:spcPts val="0"/>
                        </a:spcBef>
                        <a:spcAft>
                          <a:spcPts val="0"/>
                        </a:spcAft>
                        <a:buNone/>
                      </a:pPr>
                      <a:r>
                        <a:rPr lang="fr-FR" sz="1800"/>
                        <a:t>Multiple parallèle</a:t>
                      </a:r>
                      <a:endParaRPr/>
                    </a:p>
                  </a:txBody>
                  <a:tcPr marT="45725" marB="45725" marR="91450" marL="91450"/>
                </a:tc>
                <a:tc>
                  <a:txBody>
                    <a:bodyPr/>
                    <a:lstStyle/>
                    <a:p>
                      <a:pPr indent="0" lvl="0" marL="0" marR="0" rtl="0" algn="l">
                        <a:spcBef>
                          <a:spcPts val="0"/>
                        </a:spcBef>
                        <a:spcAft>
                          <a:spcPts val="0"/>
                        </a:spcAft>
                        <a:buNone/>
                      </a:pPr>
                      <a:r>
                        <a:rPr lang="fr-FR" sz="1800"/>
                        <a:t>Signifier</a:t>
                      </a:r>
                      <a:r>
                        <a:rPr lang="fr-FR" sz="1800"/>
                        <a:t> qu’il  y a plusieurs déclencheur au processus et qu’ils doivent tous se produire pour déclencher le processus.</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pic>
        <p:nvPicPr>
          <p:cNvPr id="410" name="Google Shape;410;p35"/>
          <p:cNvPicPr preferRelativeResize="0"/>
          <p:nvPr/>
        </p:nvPicPr>
        <p:blipFill rotWithShape="1">
          <a:blip r:embed="rId3">
            <a:alphaModFix/>
          </a:blip>
          <a:srcRect b="0" l="0" r="0" t="0"/>
          <a:stretch/>
        </p:blipFill>
        <p:spPr>
          <a:xfrm>
            <a:off x="9942957" y="2191893"/>
            <a:ext cx="742950" cy="661035"/>
          </a:xfrm>
          <a:prstGeom prst="rect">
            <a:avLst/>
          </a:prstGeom>
          <a:noFill/>
          <a:ln>
            <a:noFill/>
          </a:ln>
        </p:spPr>
      </p:pic>
      <p:pic>
        <p:nvPicPr>
          <p:cNvPr id="411" name="Google Shape;411;p35"/>
          <p:cNvPicPr preferRelativeResize="0"/>
          <p:nvPr/>
        </p:nvPicPr>
        <p:blipFill rotWithShape="1">
          <a:blip r:embed="rId4">
            <a:alphaModFix/>
          </a:blip>
          <a:srcRect b="0" l="0" r="0" t="0"/>
          <a:stretch/>
        </p:blipFill>
        <p:spPr>
          <a:xfrm>
            <a:off x="10027730" y="3417380"/>
            <a:ext cx="695325" cy="657225"/>
          </a:xfrm>
          <a:prstGeom prst="rect">
            <a:avLst/>
          </a:prstGeom>
          <a:noFill/>
          <a:ln>
            <a:noFill/>
          </a:ln>
        </p:spPr>
      </p:pic>
      <p:pic>
        <p:nvPicPr>
          <p:cNvPr id="412" name="Google Shape;412;p35"/>
          <p:cNvPicPr preferRelativeResize="0"/>
          <p:nvPr/>
        </p:nvPicPr>
        <p:blipFill rotWithShape="1">
          <a:blip r:embed="rId5">
            <a:alphaModFix/>
          </a:blip>
          <a:srcRect b="0" l="0" r="0" t="0"/>
          <a:stretch/>
        </p:blipFill>
        <p:spPr>
          <a:xfrm>
            <a:off x="10040493" y="4942332"/>
            <a:ext cx="742950" cy="647700"/>
          </a:xfrm>
          <a:prstGeom prst="rect">
            <a:avLst/>
          </a:prstGeom>
          <a:noFill/>
          <a:ln>
            <a:noFill/>
          </a:ln>
        </p:spPr>
      </p:pic>
      <p:sp>
        <p:nvSpPr>
          <p:cNvPr id="413" name="Google Shape;413;p35"/>
          <p:cNvSpPr txBox="1"/>
          <p:nvPr>
            <p:ph type="title"/>
          </p:nvPr>
        </p:nvSpPr>
        <p:spPr>
          <a:xfrm>
            <a:off x="1617028" y="660464"/>
            <a:ext cx="8912225" cy="63182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4A856D"/>
              </a:buClr>
              <a:buSzPts val="2900"/>
              <a:buFont typeface="Century Gothic"/>
              <a:buNone/>
            </a:pPr>
            <a:r>
              <a:rPr b="1" lang="fr-FR" sz="2900">
                <a:solidFill>
                  <a:srgbClr val="4A856D"/>
                </a:solidFill>
              </a:rPr>
              <a:t>Evénements déclencheurs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graphicFrame>
        <p:nvGraphicFramePr>
          <p:cNvPr id="418" name="Google Shape;418;p36"/>
          <p:cNvGraphicFramePr/>
          <p:nvPr/>
        </p:nvGraphicFramePr>
        <p:xfrm>
          <a:off x="1450848" y="1270540"/>
          <a:ext cx="3000000" cy="3000000"/>
        </p:xfrm>
        <a:graphic>
          <a:graphicData uri="http://schemas.openxmlformats.org/drawingml/2006/table">
            <a:tbl>
              <a:tblPr bandRow="1" firstRow="1">
                <a:noFill/>
                <a:tableStyleId>{AB6627D9-4488-47AB-A009-2705E3C24D6C}</a:tableStyleId>
              </a:tblPr>
              <a:tblGrid>
                <a:gridCol w="2093300"/>
                <a:gridCol w="5990000"/>
                <a:gridCol w="1787600"/>
              </a:tblGrid>
              <a:tr h="448525">
                <a:tc>
                  <a:txBody>
                    <a:bodyPr/>
                    <a:lstStyle/>
                    <a:p>
                      <a:pPr indent="0" lvl="0" marL="0" marR="0" rtl="0" algn="ctr">
                        <a:lnSpc>
                          <a:spcPct val="100000"/>
                        </a:lnSpc>
                        <a:spcBef>
                          <a:spcPts val="0"/>
                        </a:spcBef>
                        <a:spcAft>
                          <a:spcPts val="0"/>
                        </a:spcAft>
                        <a:buClr>
                          <a:srgbClr val="0C0C0C"/>
                        </a:buClr>
                        <a:buSzPts val="1800"/>
                        <a:buFont typeface="Century Gothic"/>
                        <a:buNone/>
                      </a:pPr>
                      <a:r>
                        <a:rPr b="1" lang="fr-FR" sz="1800">
                          <a:solidFill>
                            <a:srgbClr val="0C0C0C"/>
                          </a:solidFill>
                        </a:rPr>
                        <a:t>Nom</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lnSpc>
                          <a:spcPct val="100000"/>
                        </a:lnSpc>
                        <a:spcBef>
                          <a:spcPts val="0"/>
                        </a:spcBef>
                        <a:spcAft>
                          <a:spcPts val="0"/>
                        </a:spcAft>
                        <a:buClr>
                          <a:srgbClr val="0C0C0C"/>
                        </a:buClr>
                        <a:buSzPts val="1800"/>
                        <a:buFont typeface="Century Gothic"/>
                        <a:buNone/>
                      </a:pPr>
                      <a:r>
                        <a:rPr lang="fr-FR" sz="1800">
                          <a:solidFill>
                            <a:srgbClr val="0C0C0C"/>
                          </a:solidFill>
                        </a:rPr>
                        <a:t>Utilisateur</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lnSpc>
                          <a:spcPct val="100000"/>
                        </a:lnSpc>
                        <a:spcBef>
                          <a:spcPts val="0"/>
                        </a:spcBef>
                        <a:spcAft>
                          <a:spcPts val="0"/>
                        </a:spcAft>
                        <a:buClr>
                          <a:srgbClr val="0C0C0C"/>
                        </a:buClr>
                        <a:buSzPts val="1800"/>
                        <a:buFont typeface="Century Gothic"/>
                        <a:buNone/>
                      </a:pPr>
                      <a:r>
                        <a:rPr lang="fr-FR" sz="1800">
                          <a:solidFill>
                            <a:srgbClr val="0C0C0C"/>
                          </a:solidFill>
                        </a:rPr>
                        <a:t>Notation</a:t>
                      </a:r>
                      <a:endParaRPr/>
                    </a:p>
                    <a:p>
                      <a:pPr indent="0" lvl="0" marL="0" marR="0" rtl="0" algn="l">
                        <a:spcBef>
                          <a:spcPts val="0"/>
                        </a:spcBef>
                        <a:spcAft>
                          <a:spcPts val="0"/>
                        </a:spcAft>
                        <a:buNone/>
                      </a:pPr>
                      <a:r>
                        <a:t/>
                      </a:r>
                      <a:endParaRPr sz="1800"/>
                    </a:p>
                  </a:txBody>
                  <a:tcPr marT="45725" marB="45725" marR="91450" marL="91450"/>
                </a:tc>
              </a:tr>
              <a:tr h="793875">
                <a:tc>
                  <a:txBody>
                    <a:bodyPr/>
                    <a:lstStyle/>
                    <a:p>
                      <a:pPr indent="0" lvl="0" marL="0" marR="0" rtl="0" algn="ctr">
                        <a:spcBef>
                          <a:spcPts val="0"/>
                        </a:spcBef>
                        <a:spcAft>
                          <a:spcPts val="0"/>
                        </a:spcAft>
                        <a:buNone/>
                      </a:pPr>
                      <a:r>
                        <a:rPr lang="fr-FR" sz="1800"/>
                        <a:t>Fin</a:t>
                      </a:r>
                      <a:endParaRPr/>
                    </a:p>
                  </a:txBody>
                  <a:tcPr marT="45725" marB="45725" marR="91450" marL="91450"/>
                </a:tc>
                <a:tc>
                  <a:txBody>
                    <a:bodyPr/>
                    <a:lstStyle/>
                    <a:p>
                      <a:pPr indent="0" lvl="0" marL="0" marR="0" rtl="0" algn="l">
                        <a:spcBef>
                          <a:spcPts val="0"/>
                        </a:spcBef>
                        <a:spcAft>
                          <a:spcPts val="0"/>
                        </a:spcAft>
                        <a:buNone/>
                      </a:pPr>
                      <a:r>
                        <a:rPr lang="fr-FR" sz="1800"/>
                        <a:t>Utilise</a:t>
                      </a:r>
                      <a:r>
                        <a:rPr lang="fr-FR" sz="1800"/>
                        <a:t> lorsque l’événement de finalisation n’entraine aucune action.</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860825">
                <a:tc>
                  <a:txBody>
                    <a:bodyPr/>
                    <a:lstStyle/>
                    <a:p>
                      <a:pPr indent="0" lvl="0" marL="0" marR="0" rtl="0" algn="ctr">
                        <a:spcBef>
                          <a:spcPts val="0"/>
                        </a:spcBef>
                        <a:spcAft>
                          <a:spcPts val="0"/>
                        </a:spcAft>
                        <a:buNone/>
                      </a:pPr>
                      <a:r>
                        <a:rPr lang="fr-FR" sz="1800"/>
                        <a:t>Compensation</a:t>
                      </a:r>
                      <a:endParaRPr/>
                    </a:p>
                  </a:txBody>
                  <a:tcPr marT="45725" marB="45725" marR="91450" marL="91450"/>
                </a:tc>
                <a:tc>
                  <a:txBody>
                    <a:bodyPr/>
                    <a:lstStyle/>
                    <a:p>
                      <a:pPr indent="0" lvl="0" marL="0" marR="0" rtl="0" algn="l">
                        <a:spcBef>
                          <a:spcPts val="0"/>
                        </a:spcBef>
                        <a:spcAft>
                          <a:spcPts val="0"/>
                        </a:spcAft>
                        <a:buNone/>
                      </a:pPr>
                      <a:r>
                        <a:rPr lang="fr-FR" sz="1800"/>
                        <a:t>Le type indique que le processus est terminé</a:t>
                      </a:r>
                      <a:r>
                        <a:rPr lang="fr-FR" sz="1800"/>
                        <a:t> et qu’un processus de compensation est nécessaire.</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793875">
                <a:tc>
                  <a:txBody>
                    <a:bodyPr/>
                    <a:lstStyle/>
                    <a:p>
                      <a:pPr indent="0" lvl="0" marL="0" marR="0" rtl="0" algn="ctr">
                        <a:spcBef>
                          <a:spcPts val="0"/>
                        </a:spcBef>
                        <a:spcAft>
                          <a:spcPts val="0"/>
                        </a:spcAft>
                        <a:buNone/>
                      </a:pPr>
                      <a:r>
                        <a:rPr lang="fr-FR" sz="1800"/>
                        <a:t>Fin précipitée</a:t>
                      </a:r>
                      <a:endParaRPr/>
                    </a:p>
                  </a:txBody>
                  <a:tcPr marT="45725" marB="45725" marR="91450" marL="91450"/>
                </a:tc>
                <a:tc>
                  <a:txBody>
                    <a:bodyPr/>
                    <a:lstStyle/>
                    <a:p>
                      <a:pPr indent="0" lvl="0" marL="0" marR="0" rtl="0" algn="l">
                        <a:spcBef>
                          <a:spcPts val="0"/>
                        </a:spcBef>
                        <a:spcAft>
                          <a:spcPts val="0"/>
                        </a:spcAft>
                        <a:buNone/>
                      </a:pPr>
                      <a:r>
                        <a:rPr lang="fr-FR" sz="1800"/>
                        <a:t>Indique que tout les activités du processus se termine immédiatement. </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793875">
                <a:tc>
                  <a:txBody>
                    <a:bodyPr/>
                    <a:lstStyle/>
                    <a:p>
                      <a:pPr indent="0" lvl="0" marL="0" marR="0" rtl="0" algn="ctr">
                        <a:spcBef>
                          <a:spcPts val="0"/>
                        </a:spcBef>
                        <a:spcAft>
                          <a:spcPts val="0"/>
                        </a:spcAft>
                        <a:buNone/>
                      </a:pPr>
                      <a:r>
                        <a:rPr lang="fr-FR" sz="1800"/>
                        <a:t>Annulation</a:t>
                      </a:r>
                      <a:endParaRPr/>
                    </a:p>
                  </a:txBody>
                  <a:tcPr marT="45725" marB="45725" marR="91450" marL="91450"/>
                </a:tc>
                <a:tc>
                  <a:txBody>
                    <a:bodyPr/>
                    <a:lstStyle/>
                    <a:p>
                      <a:pPr indent="0" lvl="0" marL="0" marR="0" rtl="0" algn="l">
                        <a:spcBef>
                          <a:spcPts val="0"/>
                        </a:spcBef>
                        <a:spcAft>
                          <a:spcPts val="0"/>
                        </a:spcAft>
                        <a:buNone/>
                      </a:pPr>
                      <a:r>
                        <a:rPr lang="fr-FR" sz="1800"/>
                        <a:t>Lorsqu’un événement</a:t>
                      </a:r>
                      <a:r>
                        <a:rPr lang="fr-FR" sz="1800"/>
                        <a:t> d’annulation est présent dans le processus.</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860825">
                <a:tc>
                  <a:txBody>
                    <a:bodyPr/>
                    <a:lstStyle/>
                    <a:p>
                      <a:pPr indent="0" lvl="0" marL="0" marR="0" rtl="0" algn="ctr">
                        <a:spcBef>
                          <a:spcPts val="0"/>
                        </a:spcBef>
                        <a:spcAft>
                          <a:spcPts val="0"/>
                        </a:spcAft>
                        <a:buNone/>
                      </a:pPr>
                      <a:r>
                        <a:rPr lang="fr-FR" sz="1800"/>
                        <a:t>Erreur</a:t>
                      </a:r>
                      <a:endParaRPr/>
                    </a:p>
                  </a:txBody>
                  <a:tcPr marT="45725" marB="45725" marR="91450" marL="91450"/>
                </a:tc>
                <a:tc>
                  <a:txBody>
                    <a:bodyPr/>
                    <a:lstStyle/>
                    <a:p>
                      <a:pPr indent="0" lvl="0" marL="0" marR="0" rtl="0" algn="l">
                        <a:spcBef>
                          <a:spcPts val="0"/>
                        </a:spcBef>
                        <a:spcAft>
                          <a:spcPts val="0"/>
                        </a:spcAft>
                        <a:buNone/>
                      </a:pPr>
                      <a:r>
                        <a:rPr lang="fr-FR" sz="1800"/>
                        <a:t>Utilise uniquement lorsqu’un événement</a:t>
                      </a:r>
                      <a:r>
                        <a:rPr lang="fr-FR" sz="1800"/>
                        <a:t> intermédiaire d’erreur est présent dans le processus.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pic>
        <p:nvPicPr>
          <p:cNvPr id="419" name="Google Shape;419;p36"/>
          <p:cNvPicPr preferRelativeResize="0"/>
          <p:nvPr/>
        </p:nvPicPr>
        <p:blipFill rotWithShape="1">
          <a:blip r:embed="rId3">
            <a:alphaModFix/>
          </a:blip>
          <a:srcRect b="0" l="0" r="0" t="0"/>
          <a:stretch/>
        </p:blipFill>
        <p:spPr>
          <a:xfrm>
            <a:off x="9976866" y="1963484"/>
            <a:ext cx="723900" cy="809625"/>
          </a:xfrm>
          <a:prstGeom prst="rect">
            <a:avLst/>
          </a:prstGeom>
          <a:noFill/>
          <a:ln>
            <a:noFill/>
          </a:ln>
        </p:spPr>
      </p:pic>
      <p:pic>
        <p:nvPicPr>
          <p:cNvPr id="420" name="Google Shape;420;p36"/>
          <p:cNvPicPr preferRelativeResize="0"/>
          <p:nvPr/>
        </p:nvPicPr>
        <p:blipFill rotWithShape="1">
          <a:blip r:embed="rId4">
            <a:alphaModFix/>
          </a:blip>
          <a:srcRect b="0" l="0" r="0" t="0"/>
          <a:stretch/>
        </p:blipFill>
        <p:spPr>
          <a:xfrm>
            <a:off x="9979533" y="2789873"/>
            <a:ext cx="742950" cy="790575"/>
          </a:xfrm>
          <a:prstGeom prst="rect">
            <a:avLst/>
          </a:prstGeom>
          <a:noFill/>
          <a:ln>
            <a:noFill/>
          </a:ln>
        </p:spPr>
      </p:pic>
      <p:pic>
        <p:nvPicPr>
          <p:cNvPr id="421" name="Google Shape;421;p36"/>
          <p:cNvPicPr preferRelativeResize="0"/>
          <p:nvPr/>
        </p:nvPicPr>
        <p:blipFill rotWithShape="1">
          <a:blip r:embed="rId5">
            <a:alphaModFix/>
          </a:blip>
          <a:srcRect b="0" l="0" r="0" t="0"/>
          <a:stretch/>
        </p:blipFill>
        <p:spPr>
          <a:xfrm>
            <a:off x="10004489" y="3591878"/>
            <a:ext cx="790575" cy="771525"/>
          </a:xfrm>
          <a:prstGeom prst="rect">
            <a:avLst/>
          </a:prstGeom>
          <a:noFill/>
          <a:ln>
            <a:noFill/>
          </a:ln>
        </p:spPr>
      </p:pic>
      <p:pic>
        <p:nvPicPr>
          <p:cNvPr id="422" name="Google Shape;422;p36"/>
          <p:cNvPicPr preferRelativeResize="0"/>
          <p:nvPr/>
        </p:nvPicPr>
        <p:blipFill rotWithShape="1">
          <a:blip r:embed="rId6">
            <a:alphaModFix/>
          </a:blip>
          <a:srcRect b="0" l="0" r="0" t="0"/>
          <a:stretch/>
        </p:blipFill>
        <p:spPr>
          <a:xfrm>
            <a:off x="10123170" y="5208651"/>
            <a:ext cx="723900" cy="781050"/>
          </a:xfrm>
          <a:prstGeom prst="rect">
            <a:avLst/>
          </a:prstGeom>
          <a:noFill/>
          <a:ln>
            <a:noFill/>
          </a:ln>
        </p:spPr>
      </p:pic>
      <p:pic>
        <p:nvPicPr>
          <p:cNvPr id="423" name="Google Shape;423;p36"/>
          <p:cNvPicPr preferRelativeResize="0"/>
          <p:nvPr/>
        </p:nvPicPr>
        <p:blipFill rotWithShape="1">
          <a:blip r:embed="rId7">
            <a:alphaModFix/>
          </a:blip>
          <a:srcRect b="0" l="0" r="0" t="0"/>
          <a:stretch/>
        </p:blipFill>
        <p:spPr>
          <a:xfrm>
            <a:off x="10055352" y="4326065"/>
            <a:ext cx="762000" cy="790575"/>
          </a:xfrm>
          <a:prstGeom prst="rect">
            <a:avLst/>
          </a:prstGeom>
          <a:noFill/>
          <a:ln>
            <a:noFill/>
          </a:ln>
        </p:spPr>
      </p:pic>
      <p:sp>
        <p:nvSpPr>
          <p:cNvPr id="424" name="Google Shape;424;p36"/>
          <p:cNvSpPr txBox="1"/>
          <p:nvPr>
            <p:ph type="title"/>
          </p:nvPr>
        </p:nvSpPr>
        <p:spPr>
          <a:xfrm>
            <a:off x="1767840" y="623888"/>
            <a:ext cx="9651429" cy="58261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4A856D"/>
              </a:buClr>
              <a:buSzPts val="2900"/>
              <a:buFont typeface="Century Gothic"/>
              <a:buNone/>
            </a:pPr>
            <a:r>
              <a:rPr b="1" lang="fr-FR" sz="2900">
                <a:solidFill>
                  <a:srgbClr val="4A856D"/>
                </a:solidFill>
              </a:rPr>
              <a:t>Evénements résultants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graphicFrame>
        <p:nvGraphicFramePr>
          <p:cNvPr id="429" name="Google Shape;429;p37"/>
          <p:cNvGraphicFramePr/>
          <p:nvPr/>
        </p:nvGraphicFramePr>
        <p:xfrm>
          <a:off x="1828801" y="1706882"/>
          <a:ext cx="3000000" cy="3000000"/>
        </p:xfrm>
        <a:graphic>
          <a:graphicData uri="http://schemas.openxmlformats.org/drawingml/2006/table">
            <a:tbl>
              <a:tblPr bandRow="1" firstRow="1">
                <a:noFill/>
                <a:tableStyleId>{AB6627D9-4488-47AB-A009-2705E3C24D6C}</a:tableStyleId>
              </a:tblPr>
              <a:tblGrid>
                <a:gridCol w="1781675"/>
                <a:gridCol w="5338450"/>
                <a:gridCol w="2182375"/>
              </a:tblGrid>
              <a:tr h="524250">
                <a:tc>
                  <a:txBody>
                    <a:bodyPr/>
                    <a:lstStyle/>
                    <a:p>
                      <a:pPr indent="0" lvl="0" marL="0" marR="0" rtl="0" algn="ctr">
                        <a:lnSpc>
                          <a:spcPct val="100000"/>
                        </a:lnSpc>
                        <a:spcBef>
                          <a:spcPts val="0"/>
                        </a:spcBef>
                        <a:spcAft>
                          <a:spcPts val="0"/>
                        </a:spcAft>
                        <a:buClr>
                          <a:srgbClr val="0C0C0C"/>
                        </a:buClr>
                        <a:buSzPts val="1800"/>
                        <a:buFont typeface="Century Gothic"/>
                        <a:buNone/>
                      </a:pPr>
                      <a:r>
                        <a:rPr b="1" lang="fr-FR" sz="1800">
                          <a:solidFill>
                            <a:srgbClr val="0C0C0C"/>
                          </a:solidFill>
                        </a:rPr>
                        <a:t>Nom</a:t>
                      </a:r>
                      <a:endParaRPr/>
                    </a:p>
                    <a:p>
                      <a:pPr indent="0" lvl="0" marL="0" marR="0" rtl="0" algn="ctr">
                        <a:spcBef>
                          <a:spcPts val="0"/>
                        </a:spcBef>
                        <a:spcAft>
                          <a:spcPts val="0"/>
                        </a:spcAft>
                        <a:buNone/>
                      </a:pPr>
                      <a:r>
                        <a:t/>
                      </a:r>
                      <a:endParaRPr sz="1800"/>
                    </a:p>
                  </a:txBody>
                  <a:tcPr marT="45725" marB="45725" marR="91450" marL="91450"/>
                </a:tc>
                <a:tc>
                  <a:txBody>
                    <a:bodyPr/>
                    <a:lstStyle/>
                    <a:p>
                      <a:pPr indent="0" lvl="0" marL="0" marR="0" rtl="0" algn="ctr">
                        <a:lnSpc>
                          <a:spcPct val="100000"/>
                        </a:lnSpc>
                        <a:spcBef>
                          <a:spcPts val="0"/>
                        </a:spcBef>
                        <a:spcAft>
                          <a:spcPts val="0"/>
                        </a:spcAft>
                        <a:buClr>
                          <a:srgbClr val="0C0C0C"/>
                        </a:buClr>
                        <a:buSzPts val="1800"/>
                        <a:buFont typeface="Century Gothic"/>
                        <a:buNone/>
                      </a:pPr>
                      <a:r>
                        <a:rPr lang="fr-FR" sz="1800">
                          <a:solidFill>
                            <a:srgbClr val="0C0C0C"/>
                          </a:solidFill>
                        </a:rPr>
                        <a:t>Utilisateur</a:t>
                      </a:r>
                      <a:endParaRPr/>
                    </a:p>
                    <a:p>
                      <a:pPr indent="0" lvl="0" marL="0" marR="0" rtl="0" algn="ctr">
                        <a:spcBef>
                          <a:spcPts val="0"/>
                        </a:spcBef>
                        <a:spcAft>
                          <a:spcPts val="0"/>
                        </a:spcAft>
                        <a:buNone/>
                      </a:pPr>
                      <a:r>
                        <a:t/>
                      </a:r>
                      <a:endParaRPr sz="1800"/>
                    </a:p>
                  </a:txBody>
                  <a:tcPr marT="45725" marB="45725" marR="91450" marL="91450"/>
                </a:tc>
                <a:tc>
                  <a:txBody>
                    <a:bodyPr/>
                    <a:lstStyle/>
                    <a:p>
                      <a:pPr indent="0" lvl="0" marL="0" marR="0" rtl="0" algn="ctr">
                        <a:lnSpc>
                          <a:spcPct val="100000"/>
                        </a:lnSpc>
                        <a:spcBef>
                          <a:spcPts val="0"/>
                        </a:spcBef>
                        <a:spcAft>
                          <a:spcPts val="0"/>
                        </a:spcAft>
                        <a:buClr>
                          <a:srgbClr val="0C0C0C"/>
                        </a:buClr>
                        <a:buSzPts val="1800"/>
                        <a:buFont typeface="Century Gothic"/>
                        <a:buNone/>
                      </a:pPr>
                      <a:r>
                        <a:rPr lang="fr-FR" sz="1800">
                          <a:solidFill>
                            <a:srgbClr val="0C0C0C"/>
                          </a:solidFill>
                        </a:rPr>
                        <a:t>Notation</a:t>
                      </a:r>
                      <a:endParaRPr/>
                    </a:p>
                    <a:p>
                      <a:pPr indent="0" lvl="0" marL="0" marR="0" rtl="0" algn="l">
                        <a:spcBef>
                          <a:spcPts val="0"/>
                        </a:spcBef>
                        <a:spcAft>
                          <a:spcPts val="0"/>
                        </a:spcAft>
                        <a:buNone/>
                      </a:pPr>
                      <a:r>
                        <a:t/>
                      </a:r>
                      <a:endParaRPr sz="1800"/>
                    </a:p>
                  </a:txBody>
                  <a:tcPr marT="45725" marB="45725" marR="91450" marL="91450"/>
                </a:tc>
              </a:tr>
              <a:tr h="915175">
                <a:tc>
                  <a:txBody>
                    <a:bodyPr/>
                    <a:lstStyle/>
                    <a:p>
                      <a:pPr indent="0" lvl="0" marL="0" marR="0" rtl="0" algn="ctr">
                        <a:spcBef>
                          <a:spcPts val="0"/>
                        </a:spcBef>
                        <a:spcAft>
                          <a:spcPts val="0"/>
                        </a:spcAft>
                        <a:buNone/>
                      </a:pPr>
                      <a:r>
                        <a:rPr lang="fr-FR" sz="1800"/>
                        <a:t>Message</a:t>
                      </a:r>
                      <a:endParaRPr/>
                    </a:p>
                  </a:txBody>
                  <a:tcPr marT="45725" marB="45725" marR="91450" marL="91450"/>
                </a:tc>
                <a:tc>
                  <a:txBody>
                    <a:bodyPr/>
                    <a:lstStyle/>
                    <a:p>
                      <a:pPr indent="0" lvl="0" marL="0" marR="0" rtl="0" algn="l">
                        <a:spcBef>
                          <a:spcPts val="0"/>
                        </a:spcBef>
                        <a:spcAft>
                          <a:spcPts val="0"/>
                        </a:spcAft>
                        <a:buNone/>
                      </a:pPr>
                      <a:r>
                        <a:rPr lang="fr-FR" sz="1800"/>
                        <a:t>Indique</a:t>
                      </a:r>
                      <a:r>
                        <a:rPr lang="fr-FR" sz="1800"/>
                        <a:t> qu’un message est envoyé lorsque le processus est terminé.</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915175">
                <a:tc>
                  <a:txBody>
                    <a:bodyPr/>
                    <a:lstStyle/>
                    <a:p>
                      <a:pPr indent="0" lvl="0" marL="0" marR="0" rtl="0" algn="ctr">
                        <a:spcBef>
                          <a:spcPts val="0"/>
                        </a:spcBef>
                        <a:spcAft>
                          <a:spcPts val="0"/>
                        </a:spcAft>
                        <a:buNone/>
                      </a:pPr>
                      <a:r>
                        <a:rPr lang="fr-FR" sz="1800"/>
                        <a:t>Signal</a:t>
                      </a:r>
                      <a:endParaRPr/>
                    </a:p>
                  </a:txBody>
                  <a:tcPr marT="45725" marB="45725" marR="91450" marL="91450"/>
                </a:tc>
                <a:tc>
                  <a:txBody>
                    <a:bodyPr/>
                    <a:lstStyle/>
                    <a:p>
                      <a:pPr indent="0" lvl="0" marL="0" marR="0" rtl="0" algn="l">
                        <a:spcBef>
                          <a:spcPts val="0"/>
                        </a:spcBef>
                        <a:spcAft>
                          <a:spcPts val="0"/>
                        </a:spcAft>
                        <a:buNone/>
                      </a:pPr>
                      <a:r>
                        <a:rPr lang="fr-FR" sz="1800"/>
                        <a:t>Indique qu’un signal sera envoyé lorsque le processus</a:t>
                      </a:r>
                      <a:r>
                        <a:rPr lang="fr-FR" sz="1800"/>
                        <a:t> sera termines.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915175">
                <a:tc>
                  <a:txBody>
                    <a:bodyPr/>
                    <a:lstStyle/>
                    <a:p>
                      <a:pPr indent="0" lvl="0" marL="0" marR="0" rtl="0" algn="ctr">
                        <a:spcBef>
                          <a:spcPts val="0"/>
                        </a:spcBef>
                        <a:spcAft>
                          <a:spcPts val="0"/>
                        </a:spcAft>
                        <a:buNone/>
                      </a:pPr>
                      <a:r>
                        <a:rPr lang="fr-FR" sz="1800"/>
                        <a:t>Multiple</a:t>
                      </a:r>
                      <a:endParaRPr/>
                    </a:p>
                  </a:txBody>
                  <a:tcPr marT="45725" marB="45725" marR="91450" marL="91450"/>
                </a:tc>
                <a:tc>
                  <a:txBody>
                    <a:bodyPr/>
                    <a:lstStyle/>
                    <a:p>
                      <a:pPr indent="0" lvl="0" marL="0" marR="0" rtl="0" algn="l">
                        <a:spcBef>
                          <a:spcPts val="0"/>
                        </a:spcBef>
                        <a:spcAft>
                          <a:spcPts val="0"/>
                        </a:spcAft>
                        <a:buNone/>
                      </a:pPr>
                      <a:r>
                        <a:rPr lang="fr-FR" sz="1800"/>
                        <a:t>Indique qu’il</a:t>
                      </a:r>
                      <a:r>
                        <a:rPr lang="fr-FR" sz="1800"/>
                        <a:t> y plusieurs conséquences ou résultats relies à la fin du processus.</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1006425">
                <a:tc>
                  <a:txBody>
                    <a:bodyPr/>
                    <a:lstStyle/>
                    <a:p>
                      <a:pPr indent="0" lvl="0" marL="0" marR="0" rtl="0" algn="ctr">
                        <a:spcBef>
                          <a:spcPts val="0"/>
                        </a:spcBef>
                        <a:spcAft>
                          <a:spcPts val="0"/>
                        </a:spcAft>
                        <a:buNone/>
                      </a:pPr>
                      <a:r>
                        <a:rPr lang="fr-FR" sz="1800"/>
                        <a:t>Escalade</a:t>
                      </a:r>
                      <a:endParaRPr/>
                    </a:p>
                  </a:txBody>
                  <a:tcPr marT="45725" marB="45725" marR="91450" marL="91450"/>
                </a:tc>
                <a:tc>
                  <a:txBody>
                    <a:bodyPr/>
                    <a:lstStyle/>
                    <a:p>
                      <a:pPr indent="0" lvl="0" marL="0" marR="0" rtl="0" algn="l">
                        <a:spcBef>
                          <a:spcPts val="0"/>
                        </a:spcBef>
                        <a:spcAft>
                          <a:spcPts val="0"/>
                        </a:spcAft>
                        <a:buNone/>
                      </a:pPr>
                      <a:r>
                        <a:rPr lang="fr-FR" sz="1800"/>
                        <a:t>Utilise uniquement</a:t>
                      </a:r>
                      <a:r>
                        <a:rPr lang="fr-FR" sz="1800"/>
                        <a:t> lorsqu’un événement intermédiaire d’escalade est présent dans le processus</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pic>
        <p:nvPicPr>
          <p:cNvPr id="430" name="Google Shape;430;p37"/>
          <p:cNvPicPr preferRelativeResize="0"/>
          <p:nvPr/>
        </p:nvPicPr>
        <p:blipFill rotWithShape="1">
          <a:blip r:embed="rId3">
            <a:alphaModFix/>
          </a:blip>
          <a:srcRect b="0" l="0" r="0" t="0"/>
          <a:stretch/>
        </p:blipFill>
        <p:spPr>
          <a:xfrm>
            <a:off x="9587294" y="2394395"/>
            <a:ext cx="771525" cy="752475"/>
          </a:xfrm>
          <a:prstGeom prst="rect">
            <a:avLst/>
          </a:prstGeom>
          <a:noFill/>
          <a:ln>
            <a:noFill/>
          </a:ln>
        </p:spPr>
      </p:pic>
      <p:pic>
        <p:nvPicPr>
          <p:cNvPr id="431" name="Google Shape;431;p37"/>
          <p:cNvPicPr preferRelativeResize="0"/>
          <p:nvPr/>
        </p:nvPicPr>
        <p:blipFill rotWithShape="1">
          <a:blip r:embed="rId4">
            <a:alphaModFix/>
          </a:blip>
          <a:srcRect b="0" l="0" r="0" t="0"/>
          <a:stretch/>
        </p:blipFill>
        <p:spPr>
          <a:xfrm>
            <a:off x="9636062" y="3301365"/>
            <a:ext cx="771525" cy="742950"/>
          </a:xfrm>
          <a:prstGeom prst="rect">
            <a:avLst/>
          </a:prstGeom>
          <a:noFill/>
          <a:ln>
            <a:noFill/>
          </a:ln>
        </p:spPr>
      </p:pic>
      <p:pic>
        <p:nvPicPr>
          <p:cNvPr id="432" name="Google Shape;432;p37"/>
          <p:cNvPicPr preferRelativeResize="0"/>
          <p:nvPr/>
        </p:nvPicPr>
        <p:blipFill rotWithShape="1">
          <a:blip r:embed="rId5">
            <a:alphaModFix/>
          </a:blip>
          <a:srcRect b="0" l="0" r="0" t="0"/>
          <a:stretch/>
        </p:blipFill>
        <p:spPr>
          <a:xfrm>
            <a:off x="9711309" y="4235387"/>
            <a:ext cx="742950" cy="752475"/>
          </a:xfrm>
          <a:prstGeom prst="rect">
            <a:avLst/>
          </a:prstGeom>
          <a:noFill/>
          <a:ln>
            <a:noFill/>
          </a:ln>
        </p:spPr>
      </p:pic>
      <p:pic>
        <p:nvPicPr>
          <p:cNvPr id="433" name="Google Shape;433;p37"/>
          <p:cNvPicPr preferRelativeResize="0"/>
          <p:nvPr/>
        </p:nvPicPr>
        <p:blipFill rotWithShape="1">
          <a:blip r:embed="rId6">
            <a:alphaModFix/>
          </a:blip>
          <a:srcRect b="0" l="0" r="0" t="0"/>
          <a:stretch/>
        </p:blipFill>
        <p:spPr>
          <a:xfrm>
            <a:off x="9697022" y="5142929"/>
            <a:ext cx="771525" cy="790575"/>
          </a:xfrm>
          <a:prstGeom prst="rect">
            <a:avLst/>
          </a:prstGeom>
          <a:noFill/>
          <a:ln>
            <a:noFill/>
          </a:ln>
        </p:spPr>
      </p:pic>
      <p:sp>
        <p:nvSpPr>
          <p:cNvPr id="434" name="Google Shape;434;p37"/>
          <p:cNvSpPr txBox="1"/>
          <p:nvPr>
            <p:ph type="title"/>
          </p:nvPr>
        </p:nvSpPr>
        <p:spPr>
          <a:xfrm>
            <a:off x="1828801" y="624110"/>
            <a:ext cx="9675812" cy="69262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4A856D"/>
              </a:buClr>
              <a:buSzPts val="2900"/>
              <a:buFont typeface="Century Gothic"/>
              <a:buNone/>
            </a:pPr>
            <a:r>
              <a:rPr b="1" lang="fr-FR" sz="2900">
                <a:solidFill>
                  <a:srgbClr val="4A856D"/>
                </a:solidFill>
              </a:rPr>
              <a:t>Evénements résultants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8"/>
          <p:cNvSpPr txBox="1"/>
          <p:nvPr>
            <p:ph type="title"/>
          </p:nvPr>
        </p:nvSpPr>
        <p:spPr>
          <a:xfrm>
            <a:off x="1828801" y="624110"/>
            <a:ext cx="9675812" cy="69262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4A856D"/>
              </a:buClr>
              <a:buSzPts val="2900"/>
              <a:buFont typeface="Century Gothic"/>
              <a:buNone/>
            </a:pPr>
            <a:r>
              <a:rPr b="1" lang="fr-FR" sz="2900">
                <a:solidFill>
                  <a:srgbClr val="4A856D"/>
                </a:solidFill>
              </a:rPr>
              <a:t>Evénements intermédiaires</a:t>
            </a:r>
            <a:endParaRPr/>
          </a:p>
        </p:txBody>
      </p:sp>
      <p:pic>
        <p:nvPicPr>
          <p:cNvPr id="440" name="Google Shape;440;p38"/>
          <p:cNvPicPr preferRelativeResize="0"/>
          <p:nvPr/>
        </p:nvPicPr>
        <p:blipFill rotWithShape="1">
          <a:blip r:embed="rId3">
            <a:alphaModFix/>
          </a:blip>
          <a:srcRect b="0" l="0" r="0" t="0"/>
          <a:stretch/>
        </p:blipFill>
        <p:spPr>
          <a:xfrm>
            <a:off x="1588169" y="1876926"/>
            <a:ext cx="9336506" cy="42672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graphicFrame>
        <p:nvGraphicFramePr>
          <p:cNvPr id="445" name="Google Shape;445;p39"/>
          <p:cNvGraphicFramePr/>
          <p:nvPr/>
        </p:nvGraphicFramePr>
        <p:xfrm>
          <a:off x="1828801" y="1706882"/>
          <a:ext cx="3000000" cy="3000000"/>
        </p:xfrm>
        <a:graphic>
          <a:graphicData uri="http://schemas.openxmlformats.org/drawingml/2006/table">
            <a:tbl>
              <a:tblPr bandRow="1" firstRow="1">
                <a:noFill/>
                <a:tableStyleId>{AB6627D9-4488-47AB-A009-2705E3C24D6C}</a:tableStyleId>
              </a:tblPr>
              <a:tblGrid>
                <a:gridCol w="1781675"/>
                <a:gridCol w="5338450"/>
                <a:gridCol w="2182375"/>
              </a:tblGrid>
              <a:tr h="524250">
                <a:tc>
                  <a:txBody>
                    <a:bodyPr/>
                    <a:lstStyle/>
                    <a:p>
                      <a:pPr indent="0" lvl="0" marL="0" marR="0" rtl="0" algn="ctr">
                        <a:lnSpc>
                          <a:spcPct val="100000"/>
                        </a:lnSpc>
                        <a:spcBef>
                          <a:spcPts val="0"/>
                        </a:spcBef>
                        <a:spcAft>
                          <a:spcPts val="0"/>
                        </a:spcAft>
                        <a:buClr>
                          <a:srgbClr val="0C0C0C"/>
                        </a:buClr>
                        <a:buSzPts val="1800"/>
                        <a:buFont typeface="Century Gothic"/>
                        <a:buNone/>
                      </a:pPr>
                      <a:r>
                        <a:rPr b="1" lang="fr-FR" sz="1800">
                          <a:solidFill>
                            <a:srgbClr val="0C0C0C"/>
                          </a:solidFill>
                        </a:rPr>
                        <a:t>Nom</a:t>
                      </a:r>
                      <a:endParaRPr/>
                    </a:p>
                    <a:p>
                      <a:pPr indent="0" lvl="0" marL="0" marR="0" rtl="0" algn="ctr">
                        <a:spcBef>
                          <a:spcPts val="0"/>
                        </a:spcBef>
                        <a:spcAft>
                          <a:spcPts val="0"/>
                        </a:spcAft>
                        <a:buNone/>
                      </a:pPr>
                      <a:r>
                        <a:t/>
                      </a:r>
                      <a:endParaRPr sz="1800"/>
                    </a:p>
                  </a:txBody>
                  <a:tcPr marT="45725" marB="45725" marR="91450" marL="91450"/>
                </a:tc>
                <a:tc>
                  <a:txBody>
                    <a:bodyPr/>
                    <a:lstStyle/>
                    <a:p>
                      <a:pPr indent="0" lvl="0" marL="0" marR="0" rtl="0" algn="ctr">
                        <a:lnSpc>
                          <a:spcPct val="100000"/>
                        </a:lnSpc>
                        <a:spcBef>
                          <a:spcPts val="0"/>
                        </a:spcBef>
                        <a:spcAft>
                          <a:spcPts val="0"/>
                        </a:spcAft>
                        <a:buClr>
                          <a:srgbClr val="0C0C0C"/>
                        </a:buClr>
                        <a:buSzPts val="1800"/>
                        <a:buFont typeface="Century Gothic"/>
                        <a:buNone/>
                      </a:pPr>
                      <a:r>
                        <a:rPr lang="fr-FR" sz="1800">
                          <a:solidFill>
                            <a:srgbClr val="0C0C0C"/>
                          </a:solidFill>
                        </a:rPr>
                        <a:t>Utilisateur</a:t>
                      </a:r>
                      <a:endParaRPr/>
                    </a:p>
                    <a:p>
                      <a:pPr indent="0" lvl="0" marL="0" marR="0" rtl="0" algn="ctr">
                        <a:spcBef>
                          <a:spcPts val="0"/>
                        </a:spcBef>
                        <a:spcAft>
                          <a:spcPts val="0"/>
                        </a:spcAft>
                        <a:buNone/>
                      </a:pPr>
                      <a:r>
                        <a:t/>
                      </a:r>
                      <a:endParaRPr sz="1800"/>
                    </a:p>
                  </a:txBody>
                  <a:tcPr marT="45725" marB="45725" marR="91450" marL="91450"/>
                </a:tc>
                <a:tc>
                  <a:txBody>
                    <a:bodyPr/>
                    <a:lstStyle/>
                    <a:p>
                      <a:pPr indent="0" lvl="0" marL="0" marR="0" rtl="0" algn="ctr">
                        <a:lnSpc>
                          <a:spcPct val="100000"/>
                        </a:lnSpc>
                        <a:spcBef>
                          <a:spcPts val="0"/>
                        </a:spcBef>
                        <a:spcAft>
                          <a:spcPts val="0"/>
                        </a:spcAft>
                        <a:buClr>
                          <a:srgbClr val="0C0C0C"/>
                        </a:buClr>
                        <a:buSzPts val="1800"/>
                        <a:buFont typeface="Century Gothic"/>
                        <a:buNone/>
                      </a:pPr>
                      <a:r>
                        <a:rPr lang="fr-FR" sz="1800">
                          <a:solidFill>
                            <a:srgbClr val="0C0C0C"/>
                          </a:solidFill>
                        </a:rPr>
                        <a:t>Notation</a:t>
                      </a:r>
                      <a:endParaRPr/>
                    </a:p>
                    <a:p>
                      <a:pPr indent="0" lvl="0" marL="0" marR="0" rtl="0" algn="l">
                        <a:spcBef>
                          <a:spcPts val="0"/>
                        </a:spcBef>
                        <a:spcAft>
                          <a:spcPts val="0"/>
                        </a:spcAft>
                        <a:buNone/>
                      </a:pPr>
                      <a:r>
                        <a:t/>
                      </a:r>
                      <a:endParaRPr sz="1800"/>
                    </a:p>
                  </a:txBody>
                  <a:tcPr marT="45725" marB="45725" marR="91450" marL="91450"/>
                </a:tc>
              </a:tr>
              <a:tr h="915175">
                <a:tc>
                  <a:txBody>
                    <a:bodyPr/>
                    <a:lstStyle/>
                    <a:p>
                      <a:pPr indent="0" lvl="0" marL="0" marR="0" rtl="0" algn="ctr">
                        <a:spcBef>
                          <a:spcPts val="0"/>
                        </a:spcBef>
                        <a:spcAft>
                          <a:spcPts val="0"/>
                        </a:spcAft>
                        <a:buNone/>
                      </a:pPr>
                      <a:r>
                        <a:rPr lang="fr-FR" sz="1800"/>
                        <a:t>Message</a:t>
                      </a:r>
                      <a:endParaRPr/>
                    </a:p>
                  </a:txBody>
                  <a:tcPr marT="45725" marB="45725" marR="91450" marL="91450"/>
                </a:tc>
                <a:tc>
                  <a:txBody>
                    <a:bodyPr/>
                    <a:lstStyle/>
                    <a:p>
                      <a:pPr indent="0" lvl="0" marL="0" marR="0" rtl="0" algn="l">
                        <a:spcBef>
                          <a:spcPts val="0"/>
                        </a:spcBef>
                        <a:spcAft>
                          <a:spcPts val="0"/>
                        </a:spcAft>
                        <a:buNone/>
                      </a:pPr>
                      <a:r>
                        <a:rPr b="0" i="0" lang="fr-FR" sz="1800">
                          <a:solidFill>
                            <a:schemeClr val="dk1"/>
                          </a:solidFill>
                          <a:latin typeface="Century Gothic"/>
                          <a:ea typeface="Century Gothic"/>
                          <a:cs typeface="Century Gothic"/>
                          <a:sym typeface="Century Gothic"/>
                        </a:rPr>
                        <a:t> Le type message est utilisé lorsque la réalisation d'une activité ou d'une tâche</a:t>
                      </a:r>
                      <a:r>
                        <a:rPr b="0" i="0" lang="fr-FR" sz="1800">
                          <a:solidFill>
                            <a:schemeClr val="dk1"/>
                          </a:solidFill>
                          <a:latin typeface="Century Gothic"/>
                          <a:ea typeface="Century Gothic"/>
                          <a:cs typeface="Century Gothic"/>
                          <a:sym typeface="Century Gothic"/>
                        </a:rPr>
                        <a:t> </a:t>
                      </a:r>
                      <a:r>
                        <a:rPr b="0" i="0" lang="fr-FR" sz="1800">
                          <a:solidFill>
                            <a:schemeClr val="dk1"/>
                          </a:solidFill>
                          <a:latin typeface="Century Gothic"/>
                          <a:ea typeface="Century Gothic"/>
                          <a:cs typeface="Century Gothic"/>
                          <a:sym typeface="Century Gothic"/>
                        </a:rPr>
                        <a:t>dépend de la réception d'un message.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915175">
                <a:tc>
                  <a:txBody>
                    <a:bodyPr/>
                    <a:lstStyle/>
                    <a:p>
                      <a:pPr indent="0" lvl="0" marL="0" marR="0" rtl="0" algn="ctr">
                        <a:spcBef>
                          <a:spcPts val="0"/>
                        </a:spcBef>
                        <a:spcAft>
                          <a:spcPts val="0"/>
                        </a:spcAft>
                        <a:buNone/>
                      </a:pPr>
                      <a:r>
                        <a:rPr lang="fr-FR" sz="1800"/>
                        <a:t>Signal</a:t>
                      </a:r>
                      <a:endParaRPr/>
                    </a:p>
                  </a:txBody>
                  <a:tcPr marT="45725" marB="45725" marR="91450" marL="91450"/>
                </a:tc>
                <a:tc>
                  <a:txBody>
                    <a:bodyPr/>
                    <a:lstStyle/>
                    <a:p>
                      <a:pPr indent="0" lvl="0" marL="0" marR="0" rtl="0" algn="l">
                        <a:spcBef>
                          <a:spcPts val="0"/>
                        </a:spcBef>
                        <a:spcAft>
                          <a:spcPts val="0"/>
                        </a:spcAft>
                        <a:buNone/>
                      </a:pPr>
                      <a:r>
                        <a:rPr b="0" i="0" lang="fr-FR" sz="1800">
                          <a:solidFill>
                            <a:schemeClr val="dk1"/>
                          </a:solidFill>
                          <a:latin typeface="Century Gothic"/>
                          <a:ea typeface="Century Gothic"/>
                          <a:cs typeface="Century Gothic"/>
                          <a:sym typeface="Century Gothic"/>
                        </a:rPr>
                        <a:t> Le type signal est utilisé pour signifier qu'un signal doit être reçu afin de terminer l'activité ou la tâche.</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915175">
                <a:tc>
                  <a:txBody>
                    <a:bodyPr/>
                    <a:lstStyle/>
                    <a:p>
                      <a:pPr indent="0" lvl="0" marL="0" marR="0" rtl="0" algn="ctr">
                        <a:spcBef>
                          <a:spcPts val="0"/>
                        </a:spcBef>
                        <a:spcAft>
                          <a:spcPts val="0"/>
                        </a:spcAft>
                        <a:buNone/>
                      </a:pPr>
                      <a:r>
                        <a:rPr lang="fr-FR" sz="1800"/>
                        <a:t>Multiple</a:t>
                      </a:r>
                      <a:endParaRPr/>
                    </a:p>
                  </a:txBody>
                  <a:tcPr marT="45725" marB="45725" marR="91450" marL="91450"/>
                </a:tc>
                <a:tc>
                  <a:txBody>
                    <a:bodyPr/>
                    <a:lstStyle/>
                    <a:p>
                      <a:pPr indent="0" lvl="0" marL="0" marR="0" rtl="0" algn="l">
                        <a:spcBef>
                          <a:spcPts val="0"/>
                        </a:spcBef>
                        <a:spcAft>
                          <a:spcPts val="0"/>
                        </a:spcAft>
                        <a:buNone/>
                      </a:pPr>
                      <a:r>
                        <a:rPr b="0" i="0" lang="fr-FR" sz="1800">
                          <a:solidFill>
                            <a:schemeClr val="dk1"/>
                          </a:solidFill>
                          <a:latin typeface="Century Gothic"/>
                          <a:ea typeface="Century Gothic"/>
                          <a:cs typeface="Century Gothic"/>
                          <a:sym typeface="Century Gothic"/>
                        </a:rPr>
                        <a:t>Le type multiplicité parallèle est utilisé lorsqu'il y a plusieurs déclencheurs attachés à un événement.</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1006425">
                <a:tc>
                  <a:txBody>
                    <a:bodyPr/>
                    <a:lstStyle/>
                    <a:p>
                      <a:pPr indent="0" lvl="0" marL="0" marR="0" rtl="0" algn="ctr">
                        <a:spcBef>
                          <a:spcPts val="0"/>
                        </a:spcBef>
                        <a:spcAft>
                          <a:spcPts val="0"/>
                        </a:spcAft>
                        <a:buNone/>
                      </a:pPr>
                      <a:r>
                        <a:rPr lang="fr-FR" sz="1800"/>
                        <a:t>Temporisateur</a:t>
                      </a:r>
                      <a:endParaRPr/>
                    </a:p>
                  </a:txBody>
                  <a:tcPr marT="45725" marB="45725" marR="91450" marL="91450"/>
                </a:tc>
                <a:tc>
                  <a:txBody>
                    <a:bodyPr/>
                    <a:lstStyle/>
                    <a:p>
                      <a:pPr indent="0" lvl="0" marL="0" marR="0" rtl="0" algn="l">
                        <a:spcBef>
                          <a:spcPts val="0"/>
                        </a:spcBef>
                        <a:spcAft>
                          <a:spcPts val="0"/>
                        </a:spcAft>
                        <a:buNone/>
                      </a:pPr>
                      <a:r>
                        <a:rPr b="0" i="0" lang="fr-FR" sz="1800">
                          <a:solidFill>
                            <a:schemeClr val="dk1"/>
                          </a:solidFill>
                          <a:latin typeface="Century Gothic"/>
                          <a:ea typeface="Century Gothic"/>
                          <a:cs typeface="Century Gothic"/>
                          <a:sym typeface="Century Gothic"/>
                        </a:rPr>
                        <a:t>Le type temporisateur est utilisé lorsqu'une période spécifique ou une contrainte de temps est déterminée afin de réaliser l'activité ou la tâche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
        <p:nvSpPr>
          <p:cNvPr id="446" name="Google Shape;446;p39"/>
          <p:cNvSpPr txBox="1"/>
          <p:nvPr>
            <p:ph type="title"/>
          </p:nvPr>
        </p:nvSpPr>
        <p:spPr>
          <a:xfrm>
            <a:off x="1828801" y="624110"/>
            <a:ext cx="9675812" cy="69262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4A856D"/>
              </a:buClr>
              <a:buSzPts val="2900"/>
              <a:buFont typeface="Century Gothic"/>
              <a:buNone/>
            </a:pPr>
            <a:r>
              <a:rPr b="1" lang="fr-FR" sz="2900">
                <a:solidFill>
                  <a:srgbClr val="4A856D"/>
                </a:solidFill>
              </a:rPr>
              <a:t>Evénements intermédiaires</a:t>
            </a:r>
            <a:endParaRPr/>
          </a:p>
        </p:txBody>
      </p:sp>
      <p:pic>
        <p:nvPicPr>
          <p:cNvPr id="447" name="Google Shape;447;p39"/>
          <p:cNvPicPr preferRelativeResize="0"/>
          <p:nvPr/>
        </p:nvPicPr>
        <p:blipFill rotWithShape="1">
          <a:blip r:embed="rId3">
            <a:alphaModFix/>
          </a:blip>
          <a:srcRect b="0" l="0" r="0" t="0"/>
          <a:stretch/>
        </p:blipFill>
        <p:spPr>
          <a:xfrm>
            <a:off x="9013908" y="3300537"/>
            <a:ext cx="1092638" cy="884626"/>
          </a:xfrm>
          <a:prstGeom prst="rect">
            <a:avLst/>
          </a:prstGeom>
          <a:noFill/>
          <a:ln>
            <a:noFill/>
          </a:ln>
        </p:spPr>
      </p:pic>
      <p:pic>
        <p:nvPicPr>
          <p:cNvPr id="448" name="Google Shape;448;p39"/>
          <p:cNvPicPr preferRelativeResize="0"/>
          <p:nvPr/>
        </p:nvPicPr>
        <p:blipFill rotWithShape="1">
          <a:blip r:embed="rId4">
            <a:alphaModFix/>
          </a:blip>
          <a:srcRect b="0" l="0" r="0" t="0"/>
          <a:stretch/>
        </p:blipFill>
        <p:spPr>
          <a:xfrm>
            <a:off x="10106546" y="3235262"/>
            <a:ext cx="1026675" cy="922592"/>
          </a:xfrm>
          <a:prstGeom prst="rect">
            <a:avLst/>
          </a:prstGeom>
          <a:noFill/>
          <a:ln>
            <a:noFill/>
          </a:ln>
        </p:spPr>
      </p:pic>
      <p:pic>
        <p:nvPicPr>
          <p:cNvPr id="449" name="Google Shape;449;p39"/>
          <p:cNvPicPr preferRelativeResize="0"/>
          <p:nvPr/>
        </p:nvPicPr>
        <p:blipFill rotWithShape="1">
          <a:blip r:embed="rId5">
            <a:alphaModFix/>
          </a:blip>
          <a:srcRect b="0" l="0" r="0" t="0"/>
          <a:stretch/>
        </p:blipFill>
        <p:spPr>
          <a:xfrm>
            <a:off x="9013908" y="4199823"/>
            <a:ext cx="1092638" cy="854198"/>
          </a:xfrm>
          <a:prstGeom prst="rect">
            <a:avLst/>
          </a:prstGeom>
          <a:noFill/>
          <a:ln>
            <a:noFill/>
          </a:ln>
        </p:spPr>
      </p:pic>
      <p:pic>
        <p:nvPicPr>
          <p:cNvPr id="450" name="Google Shape;450;p39"/>
          <p:cNvPicPr preferRelativeResize="0"/>
          <p:nvPr/>
        </p:nvPicPr>
        <p:blipFill rotWithShape="1">
          <a:blip r:embed="rId6">
            <a:alphaModFix/>
          </a:blip>
          <a:srcRect b="0" l="0" r="0" t="0"/>
          <a:stretch/>
        </p:blipFill>
        <p:spPr>
          <a:xfrm>
            <a:off x="10106546" y="4199823"/>
            <a:ext cx="1026675" cy="865574"/>
          </a:xfrm>
          <a:prstGeom prst="rect">
            <a:avLst/>
          </a:prstGeom>
          <a:noFill/>
          <a:ln>
            <a:noFill/>
          </a:ln>
        </p:spPr>
      </p:pic>
      <p:pic>
        <p:nvPicPr>
          <p:cNvPr id="451" name="Google Shape;451;p39"/>
          <p:cNvPicPr preferRelativeResize="0"/>
          <p:nvPr/>
        </p:nvPicPr>
        <p:blipFill rotWithShape="1">
          <a:blip r:embed="rId7">
            <a:alphaModFix/>
          </a:blip>
          <a:srcRect b="0" l="0" r="0" t="0"/>
          <a:stretch/>
        </p:blipFill>
        <p:spPr>
          <a:xfrm>
            <a:off x="9013908" y="2342770"/>
            <a:ext cx="1068876" cy="892492"/>
          </a:xfrm>
          <a:prstGeom prst="rect">
            <a:avLst/>
          </a:prstGeom>
          <a:noFill/>
          <a:ln>
            <a:noFill/>
          </a:ln>
        </p:spPr>
      </p:pic>
      <p:pic>
        <p:nvPicPr>
          <p:cNvPr id="452" name="Google Shape;452;p39"/>
          <p:cNvPicPr preferRelativeResize="0"/>
          <p:nvPr/>
        </p:nvPicPr>
        <p:blipFill rotWithShape="1">
          <a:blip r:embed="rId8">
            <a:alphaModFix/>
          </a:blip>
          <a:srcRect b="0" l="0" r="0" t="0"/>
          <a:stretch/>
        </p:blipFill>
        <p:spPr>
          <a:xfrm>
            <a:off x="10082784" y="2351314"/>
            <a:ext cx="1050437" cy="873755"/>
          </a:xfrm>
          <a:prstGeom prst="rect">
            <a:avLst/>
          </a:prstGeom>
          <a:noFill/>
          <a:ln>
            <a:noFill/>
          </a:ln>
        </p:spPr>
      </p:pic>
      <p:pic>
        <p:nvPicPr>
          <p:cNvPr id="453" name="Google Shape;453;p39"/>
          <p:cNvPicPr preferRelativeResize="0"/>
          <p:nvPr/>
        </p:nvPicPr>
        <p:blipFill rotWithShape="1">
          <a:blip r:embed="rId9">
            <a:alphaModFix/>
          </a:blip>
          <a:srcRect b="0" l="0" r="0" t="0"/>
          <a:stretch/>
        </p:blipFill>
        <p:spPr>
          <a:xfrm>
            <a:off x="9013907" y="5107365"/>
            <a:ext cx="2119313" cy="118113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0"/>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B96A65"/>
              </a:buClr>
              <a:buSzPts val="5400"/>
              <a:buFont typeface="Century Gothic"/>
              <a:buNone/>
            </a:pPr>
            <a:r>
              <a:rPr b="1" lang="fr-FR" cap="none">
                <a:solidFill>
                  <a:srgbClr val="B96A65"/>
                </a:solidFill>
              </a:rPr>
              <a:t>RÈGLES DE BASE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1"/>
          <p:cNvSpPr txBox="1"/>
          <p:nvPr>
            <p:ph type="title"/>
          </p:nvPr>
        </p:nvSpPr>
        <p:spPr>
          <a:xfrm>
            <a:off x="2211244" y="400550"/>
            <a:ext cx="9720072" cy="147218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Corben"/>
              <a:buNone/>
            </a:pPr>
            <a:r>
              <a:rPr lang="fr-FR">
                <a:solidFill>
                  <a:schemeClr val="accent1"/>
                </a:solidFill>
                <a:latin typeface="Corben"/>
                <a:ea typeface="Corben"/>
                <a:cs typeface="Corben"/>
                <a:sym typeface="Corben"/>
              </a:rPr>
              <a:t>Règles de base </a:t>
            </a:r>
            <a:endParaRPr/>
          </a:p>
        </p:txBody>
      </p:sp>
      <p:sp>
        <p:nvSpPr>
          <p:cNvPr id="465" name="Google Shape;465;p41"/>
          <p:cNvSpPr txBox="1"/>
          <p:nvPr/>
        </p:nvSpPr>
        <p:spPr>
          <a:xfrm>
            <a:off x="736727" y="1762184"/>
            <a:ext cx="11455273" cy="4093428"/>
          </a:xfrm>
          <a:prstGeom prst="rect">
            <a:avLst/>
          </a:prstGeom>
          <a:noFill/>
          <a:ln>
            <a:noFill/>
          </a:ln>
        </p:spPr>
        <p:txBody>
          <a:bodyPr anchorCtr="0" anchor="t" bIns="45700" lIns="91425" spcFirstLastPara="1" rIns="91425" wrap="square" tIns="45700">
            <a:spAutoFit/>
          </a:bodyPr>
          <a:lstStyle/>
          <a:p>
            <a:pPr indent="-127000" lvl="0" marL="0" marR="0" rtl="0" algn="l">
              <a:spcBef>
                <a:spcPts val="0"/>
              </a:spcBef>
              <a:spcAft>
                <a:spcPts val="0"/>
              </a:spcAft>
              <a:buClr>
                <a:schemeClr val="dk1"/>
              </a:buClr>
              <a:buSzPts val="2000"/>
              <a:buFont typeface="Arial"/>
              <a:buChar char="•"/>
            </a:pPr>
            <a:r>
              <a:rPr b="1" lang="fr-FR" sz="2000">
                <a:solidFill>
                  <a:schemeClr val="dk1"/>
                </a:solidFill>
                <a:latin typeface="Comic Sans MS"/>
                <a:ea typeface="Comic Sans MS"/>
                <a:cs typeface="Comic Sans MS"/>
                <a:sym typeface="Comic Sans MS"/>
              </a:rPr>
              <a:t>Une ou plusieurs  fin(s).</a:t>
            </a:r>
            <a:endParaRPr/>
          </a:p>
          <a:p>
            <a:pPr indent="0" lvl="0" marL="0" marR="0" rtl="0" algn="l">
              <a:spcBef>
                <a:spcPts val="0"/>
              </a:spcBef>
              <a:spcAft>
                <a:spcPts val="0"/>
              </a:spcAft>
              <a:buNone/>
            </a:pPr>
            <a:r>
              <a:t/>
            </a:r>
            <a:endParaRPr b="1" sz="2000">
              <a:solidFill>
                <a:schemeClr val="dk1"/>
              </a:solidFill>
              <a:latin typeface="Comic Sans MS"/>
              <a:ea typeface="Comic Sans MS"/>
              <a:cs typeface="Comic Sans MS"/>
              <a:sym typeface="Comic Sans MS"/>
            </a:endParaRPr>
          </a:p>
          <a:p>
            <a:pPr indent="-127000" lvl="0" marL="0" marR="0" rtl="0" algn="l">
              <a:spcBef>
                <a:spcPts val="0"/>
              </a:spcBef>
              <a:spcAft>
                <a:spcPts val="0"/>
              </a:spcAft>
              <a:buClr>
                <a:schemeClr val="dk1"/>
              </a:buClr>
              <a:buSzPts val="2000"/>
              <a:buFont typeface="Arial"/>
              <a:buChar char="•"/>
            </a:pPr>
            <a:r>
              <a:rPr b="1" lang="fr-FR" sz="2000">
                <a:solidFill>
                  <a:schemeClr val="dk1"/>
                </a:solidFill>
                <a:latin typeface="Comic Sans MS"/>
                <a:ea typeface="Comic Sans MS"/>
                <a:cs typeface="Comic Sans MS"/>
                <a:sym typeface="Comic Sans MS"/>
              </a:rPr>
              <a:t>Un événement de début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Comic Sans MS"/>
              <a:ea typeface="Comic Sans MS"/>
              <a:cs typeface="Comic Sans MS"/>
              <a:sym typeface="Comic Sans MS"/>
            </a:endParaRPr>
          </a:p>
          <a:p>
            <a:pPr indent="-127000" lvl="0" marL="0" marR="0" rtl="0" algn="l">
              <a:spcBef>
                <a:spcPts val="0"/>
              </a:spcBef>
              <a:spcAft>
                <a:spcPts val="0"/>
              </a:spcAft>
              <a:buClr>
                <a:schemeClr val="dk1"/>
              </a:buClr>
              <a:buSzPts val="2000"/>
              <a:buFont typeface="Arial"/>
              <a:buChar char="•"/>
            </a:pPr>
            <a:r>
              <a:rPr lang="fr-FR" sz="2000">
                <a:solidFill>
                  <a:schemeClr val="dk1"/>
                </a:solidFill>
                <a:latin typeface="Comic Sans MS"/>
                <a:ea typeface="Comic Sans MS"/>
                <a:cs typeface="Comic Sans MS"/>
                <a:sym typeface="Comic Sans MS"/>
              </a:rPr>
              <a:t> </a:t>
            </a:r>
            <a:r>
              <a:rPr b="1" lang="fr-FR" sz="2000">
                <a:solidFill>
                  <a:schemeClr val="dk1"/>
                </a:solidFill>
                <a:latin typeface="Comic Sans MS"/>
                <a:ea typeface="Comic Sans MS"/>
                <a:cs typeface="Comic Sans MS"/>
                <a:sym typeface="Comic Sans MS"/>
              </a:rPr>
              <a:t>Ecriture/Lecture de Gauche à droite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2000"/>
              <a:buFont typeface="Arial"/>
              <a:buNone/>
            </a:pPr>
            <a:r>
              <a:t/>
            </a:r>
            <a:endParaRPr b="1" sz="2000">
              <a:solidFill>
                <a:schemeClr val="dk1"/>
              </a:solidFill>
              <a:latin typeface="Comic Sans MS"/>
              <a:ea typeface="Comic Sans MS"/>
              <a:cs typeface="Comic Sans MS"/>
              <a:sym typeface="Comic Sans MS"/>
            </a:endParaRPr>
          </a:p>
          <a:p>
            <a:pPr indent="-127000" lvl="0" marL="0" marR="0" rtl="0" algn="l">
              <a:spcBef>
                <a:spcPts val="0"/>
              </a:spcBef>
              <a:spcAft>
                <a:spcPts val="0"/>
              </a:spcAft>
              <a:buClr>
                <a:schemeClr val="dk1"/>
              </a:buClr>
              <a:buSzPts val="2000"/>
              <a:buFont typeface="Arial"/>
              <a:buChar char="•"/>
            </a:pPr>
            <a:r>
              <a:rPr b="1" lang="fr-FR" sz="2000">
                <a:solidFill>
                  <a:schemeClr val="dk1"/>
                </a:solidFill>
                <a:latin typeface="Comic Sans MS"/>
                <a:ea typeface="Comic Sans MS"/>
                <a:cs typeface="Comic Sans MS"/>
                <a:sym typeface="Comic Sans MS"/>
              </a:rPr>
              <a:t>Principe de jeton(token)</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-Règles générales :</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&gt;L’événement de départ émet un jeton.</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&gt;L’événement de fin absorbe un (ou tous les) jeton(s). </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&gt;Une tâche s’exécute quand elle reçoit un jeton et libère le jeton quand elle est                                  </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terminée.</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a:t>
            </a:r>
            <a:endParaRPr sz="2000">
              <a:solidFill>
                <a:schemeClr val="dk1"/>
              </a:solidFill>
              <a:latin typeface="Century Gothic"/>
              <a:ea typeface="Century Gothic"/>
              <a:cs typeface="Century Gothic"/>
              <a:sym typeface="Century Gothic"/>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4"/>
                                        </p:tgtEl>
                                        <p:attrNameLst>
                                          <p:attrName>style.visibility</p:attrName>
                                        </p:attrNameLst>
                                      </p:cBhvr>
                                      <p:to>
                                        <p:strVal val="visible"/>
                                      </p:to>
                                    </p:set>
                                    <p:anim calcmode="lin" valueType="num">
                                      <p:cBhvr additive="base">
                                        <p:cTn dur="500"/>
                                        <p:tgtEl>
                                          <p:spTgt spid="46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2"/>
          <p:cNvSpPr txBox="1"/>
          <p:nvPr>
            <p:ph type="title"/>
          </p:nvPr>
        </p:nvSpPr>
        <p:spPr>
          <a:xfrm>
            <a:off x="1566336" y="584276"/>
            <a:ext cx="9720072" cy="147218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Corben"/>
              <a:buNone/>
            </a:pPr>
            <a:r>
              <a:rPr lang="fr-FR">
                <a:solidFill>
                  <a:schemeClr val="accent1"/>
                </a:solidFill>
                <a:latin typeface="Corben"/>
                <a:ea typeface="Corben"/>
                <a:cs typeface="Corben"/>
                <a:sym typeface="Corben"/>
              </a:rPr>
              <a:t>Règles de base </a:t>
            </a:r>
            <a:endParaRPr/>
          </a:p>
        </p:txBody>
      </p:sp>
      <p:sp>
        <p:nvSpPr>
          <p:cNvPr id="472" name="Google Shape;472;p42"/>
          <p:cNvSpPr/>
          <p:nvPr/>
        </p:nvSpPr>
        <p:spPr>
          <a:xfrm>
            <a:off x="967541" y="1872734"/>
            <a:ext cx="2934988" cy="523220"/>
          </a:xfrm>
          <a:prstGeom prst="rect">
            <a:avLst/>
          </a:prstGeom>
          <a:noFill/>
          <a:ln>
            <a:noFill/>
          </a:ln>
        </p:spPr>
        <p:txBody>
          <a:bodyPr anchorCtr="0" anchor="t" bIns="45700" lIns="91425" spcFirstLastPara="1" rIns="91425" wrap="square" tIns="45700">
            <a:spAutoFit/>
          </a:bodyPr>
          <a:lstStyle/>
          <a:p>
            <a:pPr indent="-177800" lvl="0" marL="0" marR="0" rtl="0" algn="l">
              <a:spcBef>
                <a:spcPts val="0"/>
              </a:spcBef>
              <a:spcAft>
                <a:spcPts val="0"/>
              </a:spcAft>
              <a:buClr>
                <a:schemeClr val="dk1"/>
              </a:buClr>
              <a:buSzPts val="2800"/>
              <a:buFont typeface="Noto Sans Symbols"/>
              <a:buChar char="❑"/>
            </a:pPr>
            <a:r>
              <a:rPr lang="fr-FR" sz="2800">
                <a:solidFill>
                  <a:schemeClr val="dk1"/>
                </a:solidFill>
                <a:latin typeface="Corben"/>
                <a:ea typeface="Corben"/>
                <a:cs typeface="Corben"/>
                <a:sym typeface="Corben"/>
              </a:rPr>
              <a:t>Exemple</a:t>
            </a:r>
            <a:r>
              <a:rPr lang="fr-FR" sz="2000">
                <a:solidFill>
                  <a:schemeClr val="dk1"/>
                </a:solidFill>
                <a:latin typeface="Century Gothic"/>
                <a:ea typeface="Century Gothic"/>
                <a:cs typeface="Century Gothic"/>
                <a:sym typeface="Century Gothic"/>
              </a:rPr>
              <a:t>:</a:t>
            </a:r>
            <a:endParaRPr/>
          </a:p>
        </p:txBody>
      </p:sp>
      <p:pic>
        <p:nvPicPr>
          <p:cNvPr id="473" name="Google Shape;473;p42"/>
          <p:cNvPicPr preferRelativeResize="0"/>
          <p:nvPr/>
        </p:nvPicPr>
        <p:blipFill rotWithShape="1">
          <a:blip r:embed="rId3">
            <a:alphaModFix/>
          </a:blip>
          <a:srcRect b="0" l="0" r="0" t="0"/>
          <a:stretch/>
        </p:blipFill>
        <p:spPr>
          <a:xfrm>
            <a:off x="1798158" y="2871783"/>
            <a:ext cx="7896225" cy="25241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3"/>
          <p:cNvSpPr txBox="1"/>
          <p:nvPr>
            <p:ph type="title"/>
          </p:nvPr>
        </p:nvSpPr>
        <p:spPr>
          <a:xfrm>
            <a:off x="1637453" y="523008"/>
            <a:ext cx="9720072" cy="147218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Corben"/>
              <a:buNone/>
            </a:pPr>
            <a:r>
              <a:rPr lang="fr-FR">
                <a:solidFill>
                  <a:schemeClr val="accent1"/>
                </a:solidFill>
                <a:latin typeface="Corben"/>
                <a:ea typeface="Corben"/>
                <a:cs typeface="Corben"/>
                <a:sym typeface="Corben"/>
              </a:rPr>
              <a:t>Règles de base </a:t>
            </a:r>
            <a:endParaRPr/>
          </a:p>
        </p:txBody>
      </p:sp>
      <p:sp>
        <p:nvSpPr>
          <p:cNvPr id="480" name="Google Shape;480;p43"/>
          <p:cNvSpPr/>
          <p:nvPr/>
        </p:nvSpPr>
        <p:spPr>
          <a:xfrm>
            <a:off x="336481" y="1564243"/>
            <a:ext cx="10870775" cy="52937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000">
                <a:solidFill>
                  <a:srgbClr val="FFC000"/>
                </a:solidFill>
                <a:latin typeface="Comic Sans MS"/>
                <a:ea typeface="Comic Sans MS"/>
                <a:cs typeface="Comic Sans MS"/>
                <a:sym typeface="Comic Sans MS"/>
              </a:rPr>
              <a:t>     </a:t>
            </a:r>
            <a:r>
              <a:rPr b="1" lang="fr-FR" sz="2000">
                <a:solidFill>
                  <a:schemeClr val="dk1"/>
                </a:solidFill>
                <a:latin typeface="Comic Sans MS"/>
                <a:ea typeface="Comic Sans MS"/>
                <a:cs typeface="Comic Sans MS"/>
                <a:sym typeface="Comic Sans MS"/>
              </a:rPr>
              <a:t>Branchement exclusif(« ou »exclusif):</a:t>
            </a:r>
            <a:endParaRPr/>
          </a:p>
          <a:p>
            <a:pPr indent="0" lvl="0" marL="0" marR="0" rtl="0" algn="l">
              <a:spcBef>
                <a:spcPts val="0"/>
              </a:spcBef>
              <a:spcAft>
                <a:spcPts val="0"/>
              </a:spcAft>
              <a:buNone/>
            </a:pPr>
            <a:r>
              <a:rPr b="1" lang="fr-FR" sz="2000">
                <a:solidFill>
                  <a:schemeClr val="dk1"/>
                </a:solidFill>
                <a:latin typeface="Comic Sans MS"/>
                <a:ea typeface="Comic Sans MS"/>
                <a:cs typeface="Comic Sans MS"/>
                <a:sym typeface="Comic Sans MS"/>
              </a:rPr>
              <a:t>       </a:t>
            </a:r>
            <a:endParaRPr/>
          </a:p>
          <a:p>
            <a:pPr indent="0" lvl="0" marL="0" marR="0" rtl="0" algn="l">
              <a:spcBef>
                <a:spcPts val="0"/>
              </a:spcBef>
              <a:spcAft>
                <a:spcPts val="0"/>
              </a:spcAft>
              <a:buNone/>
            </a:pPr>
            <a:r>
              <a:t/>
            </a:r>
            <a:endParaRPr b="1"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b="1" lang="fr-FR" sz="2000">
                <a:solidFill>
                  <a:schemeClr val="dk1"/>
                </a:solidFill>
                <a:latin typeface="Comic Sans MS"/>
                <a:ea typeface="Comic Sans MS"/>
                <a:cs typeface="Comic Sans MS"/>
                <a:sym typeface="Comic Sans MS"/>
              </a:rPr>
              <a:t>       -</a:t>
            </a:r>
            <a:r>
              <a:rPr lang="fr-FR" sz="2000">
                <a:solidFill>
                  <a:schemeClr val="dk1"/>
                </a:solidFill>
                <a:latin typeface="Comic Sans MS"/>
                <a:ea typeface="Comic Sans MS"/>
                <a:cs typeface="Comic Sans MS"/>
                <a:sym typeface="Comic Sans MS"/>
              </a:rPr>
              <a:t>Les chemins s’excluent. Il n’y a qu’un seul chemin possible. </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a:t>
            </a:r>
            <a:r>
              <a:rPr b="1" lang="fr-FR" sz="2000">
                <a:solidFill>
                  <a:schemeClr val="dk1"/>
                </a:solidFill>
                <a:latin typeface="Comic Sans MS"/>
                <a:ea typeface="Comic Sans MS"/>
                <a:cs typeface="Comic Sans MS"/>
                <a:sym typeface="Comic Sans MS"/>
              </a:rPr>
              <a:t>-</a:t>
            </a:r>
            <a:r>
              <a:rPr lang="fr-FR" sz="2000">
                <a:solidFill>
                  <a:schemeClr val="dk1"/>
                </a:solidFill>
                <a:latin typeface="Comic Sans MS"/>
                <a:ea typeface="Comic Sans MS"/>
                <a:cs typeface="Comic Sans MS"/>
                <a:sym typeface="Comic Sans MS"/>
              </a:rPr>
              <a:t>Divergence.</a:t>
            </a:r>
            <a:endParaRPr/>
          </a:p>
          <a:p>
            <a:pPr indent="0" lvl="0" marL="0" marR="0" rtl="0" algn="l">
              <a:spcBef>
                <a:spcPts val="0"/>
              </a:spcBef>
              <a:spcAft>
                <a:spcPts val="0"/>
              </a:spcAft>
              <a:buNone/>
            </a:pPr>
            <a:r>
              <a:rPr b="1" lang="fr-FR" sz="2000">
                <a:solidFill>
                  <a:schemeClr val="dk1"/>
                </a:solidFill>
                <a:latin typeface="Comic Sans MS"/>
                <a:ea typeface="Comic Sans MS"/>
                <a:cs typeface="Comic Sans MS"/>
                <a:sym typeface="Comic Sans MS"/>
              </a:rPr>
              <a:t>          </a:t>
            </a:r>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a:t>
            </a:r>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a:t>
            </a:r>
            <a:r>
              <a:rPr b="1" lang="fr-FR" sz="2000">
                <a:solidFill>
                  <a:schemeClr val="dk1"/>
                </a:solidFill>
                <a:latin typeface="Comic Sans MS"/>
                <a:ea typeface="Comic Sans MS"/>
                <a:cs typeface="Comic Sans MS"/>
                <a:sym typeface="Comic Sans MS"/>
              </a:rPr>
              <a:t>-</a:t>
            </a:r>
            <a:r>
              <a:rPr lang="fr-FR" sz="2000">
                <a:solidFill>
                  <a:schemeClr val="dk1"/>
                </a:solidFill>
                <a:latin typeface="Comic Sans MS"/>
                <a:ea typeface="Comic Sans MS"/>
                <a:cs typeface="Comic Sans MS"/>
                <a:sym typeface="Comic Sans MS"/>
              </a:rPr>
              <a:t>Une seule tâche parmi les tâches B1,B2,B3 sera exécutée.</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pic>
        <p:nvPicPr>
          <p:cNvPr id="481" name="Google Shape;481;p43"/>
          <p:cNvPicPr preferRelativeResize="0"/>
          <p:nvPr/>
        </p:nvPicPr>
        <p:blipFill rotWithShape="1">
          <a:blip r:embed="rId3">
            <a:alphaModFix/>
          </a:blip>
          <a:srcRect b="0" l="0" r="0" t="0"/>
          <a:stretch/>
        </p:blipFill>
        <p:spPr>
          <a:xfrm>
            <a:off x="3967818" y="3202439"/>
            <a:ext cx="6829425" cy="26574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44"/>
          <p:cNvSpPr txBox="1"/>
          <p:nvPr>
            <p:ph type="title"/>
          </p:nvPr>
        </p:nvSpPr>
        <p:spPr>
          <a:xfrm>
            <a:off x="1612059" y="566067"/>
            <a:ext cx="9720072" cy="147218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Corben"/>
              <a:buNone/>
            </a:pPr>
            <a:r>
              <a:rPr lang="fr-FR">
                <a:solidFill>
                  <a:schemeClr val="accent1"/>
                </a:solidFill>
                <a:latin typeface="Corben"/>
                <a:ea typeface="Corben"/>
                <a:cs typeface="Corben"/>
                <a:sym typeface="Corben"/>
              </a:rPr>
              <a:t>Règles de base </a:t>
            </a:r>
            <a:endParaRPr/>
          </a:p>
        </p:txBody>
      </p:sp>
      <p:sp>
        <p:nvSpPr>
          <p:cNvPr id="488" name="Google Shape;488;p44"/>
          <p:cNvSpPr/>
          <p:nvPr/>
        </p:nvSpPr>
        <p:spPr>
          <a:xfrm>
            <a:off x="448776" y="1739089"/>
            <a:ext cx="10870775" cy="4401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000">
                <a:solidFill>
                  <a:schemeClr val="dk1"/>
                </a:solidFill>
                <a:latin typeface="Comic Sans MS"/>
                <a:ea typeface="Comic Sans MS"/>
                <a:cs typeface="Comic Sans MS"/>
                <a:sym typeface="Comic Sans MS"/>
              </a:rPr>
              <a:t>      Branchement exclusif(« ou »exclusif):</a:t>
            </a:r>
            <a:endParaRPr/>
          </a:p>
          <a:p>
            <a:pPr indent="0" lvl="0" marL="0" marR="0" rtl="0" algn="l">
              <a:spcBef>
                <a:spcPts val="0"/>
              </a:spcBef>
              <a:spcAft>
                <a:spcPts val="0"/>
              </a:spcAft>
              <a:buNone/>
            </a:pPr>
            <a:r>
              <a:t/>
            </a:r>
            <a:endParaRPr b="1"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b="1" lang="fr-FR" sz="2000">
                <a:solidFill>
                  <a:schemeClr val="dk1"/>
                </a:solidFill>
                <a:latin typeface="Comic Sans MS"/>
                <a:ea typeface="Comic Sans MS"/>
                <a:cs typeface="Comic Sans MS"/>
                <a:sym typeface="Comic Sans MS"/>
              </a:rPr>
              <a:t>     </a:t>
            </a:r>
            <a:r>
              <a:rPr lang="fr-FR" sz="2000">
                <a:solidFill>
                  <a:schemeClr val="dk1"/>
                </a:solidFill>
                <a:latin typeface="Comic Sans MS"/>
                <a:ea typeface="Comic Sans MS"/>
                <a:cs typeface="Comic Sans MS"/>
                <a:sym typeface="Comic Sans MS"/>
              </a:rPr>
              <a:t> -Convergence.</a:t>
            </a:r>
            <a:endParaRPr/>
          </a:p>
          <a:p>
            <a:pPr indent="0" lvl="0" marL="0" marR="0" rtl="0" algn="l">
              <a:spcBef>
                <a:spcPts val="0"/>
              </a:spcBef>
              <a:spcAft>
                <a:spcPts val="0"/>
              </a:spcAft>
              <a:buNone/>
            </a:pPr>
            <a:r>
              <a:t/>
            </a:r>
            <a:endParaRPr b="1"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b="1"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b="1"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b="1"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b="1"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b="1"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b="1"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-La tâche C débutera dés qu’une tâche parmi les tâches B1,B2,B3</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sera réalisée.</a:t>
            </a:r>
            <a:r>
              <a:rPr b="1" lang="fr-FR" sz="2000">
                <a:solidFill>
                  <a:schemeClr val="dk1"/>
                </a:solidFill>
                <a:latin typeface="Comic Sans MS"/>
                <a:ea typeface="Comic Sans MS"/>
                <a:cs typeface="Comic Sans MS"/>
                <a:sym typeface="Comic Sans MS"/>
              </a:rPr>
              <a:t>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b="1" lang="fr-FR" sz="2000">
                <a:solidFill>
                  <a:schemeClr val="dk1"/>
                </a:solidFill>
                <a:latin typeface="Century Gothic"/>
                <a:ea typeface="Century Gothic"/>
                <a:cs typeface="Century Gothic"/>
                <a:sym typeface="Century Gothic"/>
              </a:rPr>
              <a:t>          </a:t>
            </a:r>
            <a:endParaRPr sz="1800">
              <a:solidFill>
                <a:schemeClr val="dk1"/>
              </a:solidFill>
              <a:latin typeface="Century Gothic"/>
              <a:ea typeface="Century Gothic"/>
              <a:cs typeface="Century Gothic"/>
              <a:sym typeface="Century Gothic"/>
            </a:endParaRPr>
          </a:p>
        </p:txBody>
      </p:sp>
      <p:pic>
        <p:nvPicPr>
          <p:cNvPr id="489" name="Google Shape;489;p44"/>
          <p:cNvPicPr preferRelativeResize="0"/>
          <p:nvPr/>
        </p:nvPicPr>
        <p:blipFill rotWithShape="1">
          <a:blip r:embed="rId3">
            <a:alphaModFix/>
          </a:blip>
          <a:srcRect b="0" l="0" r="0" t="0"/>
          <a:stretch/>
        </p:blipFill>
        <p:spPr>
          <a:xfrm>
            <a:off x="4020890" y="2404382"/>
            <a:ext cx="6553200" cy="244520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45"/>
          <p:cNvSpPr txBox="1"/>
          <p:nvPr>
            <p:ph type="title"/>
          </p:nvPr>
        </p:nvSpPr>
        <p:spPr>
          <a:xfrm>
            <a:off x="1629717" y="631382"/>
            <a:ext cx="9720072" cy="147218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Corben"/>
              <a:buNone/>
            </a:pPr>
            <a:r>
              <a:rPr lang="fr-FR">
                <a:solidFill>
                  <a:schemeClr val="accent1"/>
                </a:solidFill>
                <a:latin typeface="Corben"/>
                <a:ea typeface="Corben"/>
                <a:cs typeface="Corben"/>
                <a:sym typeface="Corben"/>
              </a:rPr>
              <a:t>Règles de base </a:t>
            </a:r>
            <a:endParaRPr/>
          </a:p>
        </p:txBody>
      </p:sp>
      <p:sp>
        <p:nvSpPr>
          <p:cNvPr id="496" name="Google Shape;496;p45"/>
          <p:cNvSpPr/>
          <p:nvPr/>
        </p:nvSpPr>
        <p:spPr>
          <a:xfrm>
            <a:off x="453073" y="1508245"/>
            <a:ext cx="10870775" cy="18774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20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b="1" lang="fr-FR" sz="2000">
                <a:solidFill>
                  <a:schemeClr val="dk1"/>
                </a:solidFill>
                <a:latin typeface="Century Gothic"/>
                <a:ea typeface="Century Gothic"/>
                <a:cs typeface="Century Gothic"/>
                <a:sym typeface="Century Gothic"/>
              </a:rPr>
              <a:t>            </a:t>
            </a:r>
            <a:r>
              <a:rPr b="1" lang="fr-FR" sz="2000">
                <a:solidFill>
                  <a:schemeClr val="dk1"/>
                </a:solidFill>
                <a:latin typeface="Comic Sans MS"/>
                <a:ea typeface="Comic Sans MS"/>
                <a:cs typeface="Comic Sans MS"/>
                <a:sym typeface="Comic Sans MS"/>
              </a:rPr>
              <a:t>          </a:t>
            </a:r>
            <a:endParaRPr/>
          </a:p>
          <a:p>
            <a:pPr indent="0" lvl="0" marL="0" marR="0" rtl="0" algn="l">
              <a:spcBef>
                <a:spcPts val="0"/>
              </a:spcBef>
              <a:spcAft>
                <a:spcPts val="0"/>
              </a:spcAft>
              <a:buNone/>
            </a:pPr>
            <a:r>
              <a:rPr b="1" lang="fr-FR" sz="2000">
                <a:solidFill>
                  <a:schemeClr val="dk1"/>
                </a:solidFill>
                <a:latin typeface="Comic Sans MS"/>
                <a:ea typeface="Comic Sans MS"/>
                <a:cs typeface="Comic Sans MS"/>
                <a:sym typeface="Comic Sans MS"/>
              </a:rPr>
              <a:t>        </a:t>
            </a:r>
            <a:r>
              <a:rPr lang="fr-FR" sz="2000">
                <a:solidFill>
                  <a:schemeClr val="dk1"/>
                </a:solidFill>
                <a:latin typeface="Comic Sans MS"/>
                <a:ea typeface="Comic Sans MS"/>
                <a:cs typeface="Comic Sans MS"/>
                <a:sym typeface="Comic Sans MS"/>
              </a:rPr>
              <a:t> Un Branchement exclusif ne peut pas être convergent et divergent </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en même temps</a:t>
            </a:r>
            <a:r>
              <a:rPr lang="fr-FR" sz="1800">
                <a:solidFill>
                  <a:schemeClr val="dk1"/>
                </a:solidFill>
                <a:latin typeface="Comic Sans MS"/>
                <a:ea typeface="Comic Sans MS"/>
                <a:cs typeface="Comic Sans MS"/>
                <a:sym typeface="Comic Sans MS"/>
              </a:rPr>
              <a:t>.</a:t>
            </a:r>
            <a:endParaRPr/>
          </a:p>
          <a:p>
            <a:pPr indent="0" lvl="0" marL="0" marR="0" rtl="0" algn="l">
              <a:spcBef>
                <a:spcPts val="0"/>
              </a:spcBef>
              <a:spcAft>
                <a:spcPts val="0"/>
              </a:spcAft>
              <a:buNone/>
            </a:pPr>
            <a:r>
              <a:rPr lang="fr-FR" sz="1800">
                <a:solidFill>
                  <a:schemeClr val="dk1"/>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fr-FR" sz="1800">
                <a:solidFill>
                  <a:schemeClr val="dk1"/>
                </a:solidFill>
                <a:latin typeface="Century Gothic"/>
                <a:ea typeface="Century Gothic"/>
                <a:cs typeface="Century Gothic"/>
                <a:sym typeface="Century Gothic"/>
              </a:rPr>
              <a:t>                </a:t>
            </a:r>
            <a:endParaRPr/>
          </a:p>
        </p:txBody>
      </p:sp>
      <p:pic>
        <p:nvPicPr>
          <p:cNvPr id="497" name="Google Shape;497;p45"/>
          <p:cNvPicPr preferRelativeResize="0"/>
          <p:nvPr/>
        </p:nvPicPr>
        <p:blipFill rotWithShape="1">
          <a:blip r:embed="rId3">
            <a:alphaModFix/>
          </a:blip>
          <a:srcRect b="0" l="0" r="0" t="0"/>
          <a:stretch/>
        </p:blipFill>
        <p:spPr>
          <a:xfrm>
            <a:off x="2702352" y="3614058"/>
            <a:ext cx="7677150" cy="24765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6"/>
          <p:cNvSpPr txBox="1"/>
          <p:nvPr>
            <p:ph type="title"/>
          </p:nvPr>
        </p:nvSpPr>
        <p:spPr>
          <a:xfrm>
            <a:off x="1610054" y="582396"/>
            <a:ext cx="9720072" cy="147218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Corben"/>
              <a:buNone/>
            </a:pPr>
            <a:r>
              <a:rPr lang="fr-FR">
                <a:solidFill>
                  <a:schemeClr val="accent1"/>
                </a:solidFill>
                <a:latin typeface="Corben"/>
                <a:ea typeface="Corben"/>
                <a:cs typeface="Corben"/>
                <a:sym typeface="Corben"/>
              </a:rPr>
              <a:t>Règles de base </a:t>
            </a:r>
            <a:endParaRPr/>
          </a:p>
        </p:txBody>
      </p:sp>
      <p:sp>
        <p:nvSpPr>
          <p:cNvPr id="504" name="Google Shape;504;p46"/>
          <p:cNvSpPr/>
          <p:nvPr/>
        </p:nvSpPr>
        <p:spPr>
          <a:xfrm>
            <a:off x="276196" y="1637837"/>
            <a:ext cx="10870775" cy="50167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20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b="1" lang="fr-FR" sz="2000">
                <a:solidFill>
                  <a:schemeClr val="dk1"/>
                </a:solidFill>
                <a:latin typeface="Century Gothic"/>
                <a:ea typeface="Century Gothic"/>
                <a:cs typeface="Century Gothic"/>
                <a:sym typeface="Century Gothic"/>
              </a:rPr>
              <a:t>      </a:t>
            </a:r>
            <a:r>
              <a:rPr b="1" lang="fr-FR" sz="2400">
                <a:solidFill>
                  <a:schemeClr val="dk1"/>
                </a:solidFill>
                <a:latin typeface="Comic Sans MS"/>
                <a:ea typeface="Comic Sans MS"/>
                <a:cs typeface="Comic Sans MS"/>
                <a:sym typeface="Comic Sans MS"/>
              </a:rPr>
              <a:t>Branchement Parallèle:</a:t>
            </a:r>
            <a:br>
              <a:rPr lang="fr-FR" sz="2400">
                <a:solidFill>
                  <a:schemeClr val="dk1"/>
                </a:solidFill>
                <a:latin typeface="Comic Sans MS"/>
                <a:ea typeface="Comic Sans MS"/>
                <a:cs typeface="Comic Sans MS"/>
                <a:sym typeface="Comic Sans MS"/>
              </a:rPr>
            </a:br>
            <a:r>
              <a:rPr lang="fr-FR" sz="2400">
                <a:solidFill>
                  <a:schemeClr val="dk1"/>
                </a:solidFill>
                <a:latin typeface="Comic Sans MS"/>
                <a:ea typeface="Comic Sans MS"/>
                <a:cs typeface="Comic Sans MS"/>
                <a:sym typeface="Comic Sans MS"/>
              </a:rPr>
              <a:t>      </a:t>
            </a:r>
            <a:endParaRPr/>
          </a:p>
          <a:p>
            <a:pPr indent="0" lvl="0" marL="0" marR="0" rtl="0" algn="l">
              <a:spcBef>
                <a:spcPts val="0"/>
              </a:spcBef>
              <a:spcAft>
                <a:spcPts val="0"/>
              </a:spcAft>
              <a:buNone/>
            </a:pPr>
            <a:r>
              <a:rPr lang="fr-FR" sz="2400">
                <a:solidFill>
                  <a:schemeClr val="dk1"/>
                </a:solidFill>
                <a:latin typeface="Comic Sans MS"/>
                <a:ea typeface="Comic Sans MS"/>
                <a:cs typeface="Comic Sans MS"/>
                <a:sym typeface="Comic Sans MS"/>
              </a:rPr>
              <a:t>    -Eclatement Exécution en parallèle</a:t>
            </a:r>
            <a:endParaRPr/>
          </a:p>
          <a:p>
            <a:pPr indent="0" lvl="0" marL="0" marR="0" rtl="0" algn="l">
              <a:spcBef>
                <a:spcPts val="0"/>
              </a:spcBef>
              <a:spcAft>
                <a:spcPts val="0"/>
              </a:spcAft>
              <a:buNone/>
            </a:pPr>
            <a:r>
              <a:rPr lang="fr-FR" sz="2400">
                <a:solidFill>
                  <a:schemeClr val="dk1"/>
                </a:solidFill>
                <a:latin typeface="Comic Sans MS"/>
                <a:ea typeface="Comic Sans MS"/>
                <a:cs typeface="Comic Sans MS"/>
                <a:sym typeface="Comic Sans MS"/>
              </a:rPr>
              <a:t>       </a:t>
            </a:r>
            <a:endParaRPr/>
          </a:p>
          <a:p>
            <a:pPr indent="0" lvl="0" marL="0" marR="0" rtl="0" algn="l">
              <a:spcBef>
                <a:spcPts val="0"/>
              </a:spcBef>
              <a:spcAft>
                <a:spcPts val="0"/>
              </a:spcAft>
              <a:buNone/>
            </a:pPr>
            <a:r>
              <a:rPr lang="fr-FR" sz="2400">
                <a:solidFill>
                  <a:schemeClr val="dk1"/>
                </a:solidFill>
                <a:latin typeface="Comic Sans MS"/>
                <a:ea typeface="Comic Sans MS"/>
                <a:cs typeface="Comic Sans MS"/>
                <a:sym typeface="Comic Sans MS"/>
              </a:rPr>
              <a:t>     </a:t>
            </a:r>
            <a:br>
              <a:rPr lang="fr-FR" sz="2000">
                <a:solidFill>
                  <a:schemeClr val="dk1"/>
                </a:solidFill>
                <a:latin typeface="Comic Sans MS"/>
                <a:ea typeface="Comic Sans MS"/>
                <a:cs typeface="Comic Sans MS"/>
                <a:sym typeface="Comic Sans MS"/>
              </a:rPr>
            </a:b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br>
              <a:rPr lang="fr-FR" sz="2400">
                <a:solidFill>
                  <a:schemeClr val="dk1"/>
                </a:solidFill>
                <a:latin typeface="Comic Sans MS"/>
                <a:ea typeface="Comic Sans MS"/>
                <a:cs typeface="Comic Sans MS"/>
                <a:sym typeface="Comic Sans MS"/>
              </a:rPr>
            </a:br>
            <a:r>
              <a:rPr lang="fr-FR" sz="2400">
                <a:solidFill>
                  <a:schemeClr val="dk1"/>
                </a:solidFill>
                <a:latin typeface="Comic Sans MS"/>
                <a:ea typeface="Comic Sans MS"/>
                <a:cs typeface="Comic Sans MS"/>
                <a:sym typeface="Comic Sans MS"/>
              </a:rPr>
              <a:t>    </a:t>
            </a:r>
            <a:endParaRPr/>
          </a:p>
          <a:p>
            <a:pPr indent="0" lvl="0" marL="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fr-FR" sz="2400">
                <a:solidFill>
                  <a:schemeClr val="dk1"/>
                </a:solidFill>
                <a:latin typeface="Comic Sans MS"/>
                <a:ea typeface="Comic Sans MS"/>
                <a:cs typeface="Comic Sans MS"/>
                <a:sym typeface="Comic Sans MS"/>
              </a:rPr>
              <a:t> -Après la tâche A, les tâches 1, 2 et 3 débuteront ensemble</a:t>
            </a:r>
            <a:r>
              <a:rPr lang="fr-FR" sz="20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t/>
            </a:r>
            <a:endParaRPr b="1" sz="2000">
              <a:solidFill>
                <a:srgbClr val="595959"/>
              </a:solidFill>
              <a:latin typeface="Century Gothic"/>
              <a:ea typeface="Century Gothic"/>
              <a:cs typeface="Century Gothic"/>
              <a:sym typeface="Century Gothic"/>
            </a:endParaRPr>
          </a:p>
        </p:txBody>
      </p:sp>
      <p:pic>
        <p:nvPicPr>
          <p:cNvPr id="505" name="Google Shape;505;p46"/>
          <p:cNvPicPr preferRelativeResize="0"/>
          <p:nvPr/>
        </p:nvPicPr>
        <p:blipFill rotWithShape="1">
          <a:blip r:embed="rId3">
            <a:alphaModFix/>
          </a:blip>
          <a:srcRect b="0" l="0" r="0" t="0"/>
          <a:stretch/>
        </p:blipFill>
        <p:spPr>
          <a:xfrm>
            <a:off x="6409607" y="2243129"/>
            <a:ext cx="5357850" cy="34004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47"/>
          <p:cNvSpPr txBox="1"/>
          <p:nvPr>
            <p:ph type="title"/>
          </p:nvPr>
        </p:nvSpPr>
        <p:spPr>
          <a:xfrm>
            <a:off x="1563073" y="647711"/>
            <a:ext cx="9720072" cy="147218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Corben"/>
              <a:buNone/>
            </a:pPr>
            <a:r>
              <a:rPr lang="fr-FR">
                <a:solidFill>
                  <a:schemeClr val="accent1"/>
                </a:solidFill>
                <a:latin typeface="Corben"/>
                <a:ea typeface="Corben"/>
                <a:cs typeface="Corben"/>
                <a:sym typeface="Corben"/>
              </a:rPr>
              <a:t>Règles de base </a:t>
            </a:r>
            <a:endParaRPr/>
          </a:p>
        </p:txBody>
      </p:sp>
      <p:sp>
        <p:nvSpPr>
          <p:cNvPr id="512" name="Google Shape;512;p47"/>
          <p:cNvSpPr/>
          <p:nvPr/>
        </p:nvSpPr>
        <p:spPr>
          <a:xfrm>
            <a:off x="284217" y="1727866"/>
            <a:ext cx="10870775"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000">
                <a:solidFill>
                  <a:schemeClr val="dk1"/>
                </a:solidFill>
                <a:latin typeface="Comic Sans MS"/>
                <a:ea typeface="Comic Sans MS"/>
                <a:cs typeface="Comic Sans MS"/>
                <a:sym typeface="Comic Sans MS"/>
              </a:rPr>
              <a:t>       </a:t>
            </a:r>
            <a:r>
              <a:rPr b="1" lang="fr-FR" sz="2400">
                <a:solidFill>
                  <a:schemeClr val="dk1"/>
                </a:solidFill>
                <a:latin typeface="Comic Sans MS"/>
                <a:ea typeface="Comic Sans MS"/>
                <a:cs typeface="Comic Sans MS"/>
                <a:sym typeface="Comic Sans MS"/>
              </a:rPr>
              <a:t>Branchement Parallèle:</a:t>
            </a:r>
            <a:br>
              <a:rPr lang="fr-FR" sz="2400">
                <a:solidFill>
                  <a:schemeClr val="dk1"/>
                </a:solidFill>
                <a:latin typeface="Comic Sans MS"/>
                <a:ea typeface="Comic Sans MS"/>
                <a:cs typeface="Comic Sans MS"/>
                <a:sym typeface="Comic Sans MS"/>
              </a:rPr>
            </a:br>
            <a:r>
              <a:rPr lang="fr-FR" sz="2400">
                <a:solidFill>
                  <a:schemeClr val="dk1"/>
                </a:solidFill>
                <a:latin typeface="Comic Sans MS"/>
                <a:ea typeface="Comic Sans MS"/>
                <a:cs typeface="Comic Sans MS"/>
                <a:sym typeface="Comic Sans MS"/>
              </a:rPr>
              <a:t>        -Synchronisation</a:t>
            </a:r>
            <a:endParaRPr/>
          </a:p>
          <a:p>
            <a:pPr indent="0" lvl="0" marL="0" marR="0" rtl="0" algn="l">
              <a:spcBef>
                <a:spcPts val="0"/>
              </a:spcBef>
              <a:spcAft>
                <a:spcPts val="0"/>
              </a:spcAft>
              <a:buNone/>
            </a:pPr>
            <a:r>
              <a:rPr lang="fr-FR" sz="2400">
                <a:solidFill>
                  <a:schemeClr val="dk1"/>
                </a:solidFill>
                <a:latin typeface="Comic Sans MS"/>
                <a:ea typeface="Comic Sans MS"/>
                <a:cs typeface="Comic Sans MS"/>
                <a:sym typeface="Comic Sans MS"/>
              </a:rPr>
              <a:t>       </a:t>
            </a:r>
            <a:endParaRPr/>
          </a:p>
          <a:p>
            <a:pPr indent="0" lvl="0" marL="0" marR="0" rtl="0" algn="l">
              <a:spcBef>
                <a:spcPts val="0"/>
              </a:spcBef>
              <a:spcAft>
                <a:spcPts val="0"/>
              </a:spcAft>
              <a:buNone/>
            </a:pPr>
            <a:br>
              <a:rPr lang="fr-FR" sz="2000">
                <a:solidFill>
                  <a:schemeClr val="dk1"/>
                </a:solidFill>
                <a:latin typeface="Comic Sans MS"/>
                <a:ea typeface="Comic Sans MS"/>
                <a:cs typeface="Comic Sans MS"/>
                <a:sym typeface="Comic Sans MS"/>
              </a:rPr>
            </a:b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br>
              <a:rPr lang="fr-FR" sz="2000">
                <a:solidFill>
                  <a:schemeClr val="dk1"/>
                </a:solidFill>
                <a:latin typeface="Comic Sans MS"/>
                <a:ea typeface="Comic Sans MS"/>
                <a:cs typeface="Comic Sans MS"/>
                <a:sym typeface="Comic Sans MS"/>
              </a:rPr>
            </a:br>
            <a:r>
              <a:rPr lang="fr-FR" sz="2000">
                <a:solidFill>
                  <a:schemeClr val="dk1"/>
                </a:solidFill>
                <a:latin typeface="Comic Sans MS"/>
                <a:ea typeface="Comic Sans MS"/>
                <a:cs typeface="Comic Sans MS"/>
                <a:sym typeface="Comic Sans MS"/>
              </a:rPr>
              <a:t>        </a:t>
            </a:r>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-La tâche A ne débutera que quand les tâches 1 , 2 et 3  seront complétées</a:t>
            </a:r>
            <a:endParaRPr b="1" sz="2000">
              <a:solidFill>
                <a:srgbClr val="595959"/>
              </a:solidFill>
              <a:latin typeface="Comic Sans MS"/>
              <a:ea typeface="Comic Sans MS"/>
              <a:cs typeface="Comic Sans MS"/>
              <a:sym typeface="Comic Sans MS"/>
            </a:endParaRPr>
          </a:p>
        </p:txBody>
      </p:sp>
      <p:pic>
        <p:nvPicPr>
          <p:cNvPr id="513" name="Google Shape;513;p47"/>
          <p:cNvPicPr preferRelativeResize="0"/>
          <p:nvPr/>
        </p:nvPicPr>
        <p:blipFill rotWithShape="1">
          <a:blip r:embed="rId3">
            <a:alphaModFix/>
          </a:blip>
          <a:srcRect b="0" l="0" r="0" t="0"/>
          <a:stretch/>
        </p:blipFill>
        <p:spPr>
          <a:xfrm>
            <a:off x="6000741" y="1698171"/>
            <a:ext cx="5045404" cy="391408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48"/>
          <p:cNvSpPr txBox="1"/>
          <p:nvPr>
            <p:ph type="title"/>
          </p:nvPr>
        </p:nvSpPr>
        <p:spPr>
          <a:xfrm>
            <a:off x="1629144" y="547507"/>
            <a:ext cx="9720072" cy="147218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Corben"/>
              <a:buNone/>
            </a:pPr>
            <a:r>
              <a:rPr lang="fr-FR">
                <a:solidFill>
                  <a:schemeClr val="accent1"/>
                </a:solidFill>
                <a:latin typeface="Corben"/>
                <a:ea typeface="Corben"/>
                <a:cs typeface="Corben"/>
                <a:sym typeface="Corben"/>
              </a:rPr>
              <a:t>Règles de base </a:t>
            </a:r>
            <a:endParaRPr/>
          </a:p>
        </p:txBody>
      </p:sp>
      <p:sp>
        <p:nvSpPr>
          <p:cNvPr id="520" name="Google Shape;520;p48"/>
          <p:cNvSpPr/>
          <p:nvPr/>
        </p:nvSpPr>
        <p:spPr>
          <a:xfrm>
            <a:off x="448774" y="1672679"/>
            <a:ext cx="10870775"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a:t>
            </a:r>
            <a:br>
              <a:rPr lang="fr-FR" sz="2000">
                <a:solidFill>
                  <a:schemeClr val="dk1"/>
                </a:solidFill>
                <a:latin typeface="Comic Sans MS"/>
                <a:ea typeface="Comic Sans MS"/>
                <a:cs typeface="Comic Sans MS"/>
                <a:sym typeface="Comic Sans MS"/>
              </a:rPr>
            </a:br>
            <a:r>
              <a:rPr lang="fr-FR" sz="2000">
                <a:solidFill>
                  <a:schemeClr val="dk1"/>
                </a:solidFill>
                <a:latin typeface="Comic Sans MS"/>
                <a:ea typeface="Comic Sans MS"/>
                <a:cs typeface="Comic Sans MS"/>
                <a:sym typeface="Comic Sans MS"/>
              </a:rPr>
              <a:t>     -Pas de branchement parallèle de synchronisation et d’éclatement en  même temps.</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-Attention, certaines situations peuvent mener à un blocage.   </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Dans l’exemple ci-dessous, la tâche A ne sera jamais exécutée.</a:t>
            </a:r>
            <a:endParaRPr/>
          </a:p>
          <a:p>
            <a:pPr indent="0" lvl="0" marL="0" marR="0" rtl="0" algn="l">
              <a:spcBef>
                <a:spcPts val="0"/>
              </a:spcBef>
              <a:spcAft>
                <a:spcPts val="0"/>
              </a:spcAft>
              <a:buNone/>
            </a:pPr>
            <a:r>
              <a:rPr lang="fr-FR" sz="2000">
                <a:solidFill>
                  <a:schemeClr val="dk1"/>
                </a:solidFill>
                <a:latin typeface="Century Gothic"/>
                <a:ea typeface="Century Gothic"/>
                <a:cs typeface="Century Gothic"/>
                <a:sym typeface="Century Gothic"/>
              </a:rPr>
              <a:t>       </a:t>
            </a:r>
            <a:endParaRPr b="1" sz="2000">
              <a:solidFill>
                <a:srgbClr val="595959"/>
              </a:solidFill>
              <a:latin typeface="Century Gothic"/>
              <a:ea typeface="Century Gothic"/>
              <a:cs typeface="Century Gothic"/>
              <a:sym typeface="Century Gothic"/>
            </a:endParaRPr>
          </a:p>
        </p:txBody>
      </p:sp>
      <p:pic>
        <p:nvPicPr>
          <p:cNvPr id="521" name="Google Shape;521;p48"/>
          <p:cNvPicPr preferRelativeResize="0"/>
          <p:nvPr/>
        </p:nvPicPr>
        <p:blipFill rotWithShape="1">
          <a:blip r:embed="rId3">
            <a:alphaModFix/>
          </a:blip>
          <a:srcRect b="0" l="0" r="0" t="0"/>
          <a:stretch/>
        </p:blipFill>
        <p:spPr>
          <a:xfrm>
            <a:off x="2536805" y="4016828"/>
            <a:ext cx="6433457" cy="230232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49"/>
          <p:cNvSpPr txBox="1"/>
          <p:nvPr>
            <p:ph type="title"/>
          </p:nvPr>
        </p:nvSpPr>
        <p:spPr>
          <a:xfrm>
            <a:off x="1628571" y="599630"/>
            <a:ext cx="9720072" cy="147218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Corben"/>
              <a:buNone/>
            </a:pPr>
            <a:r>
              <a:rPr lang="fr-FR">
                <a:solidFill>
                  <a:schemeClr val="accent1"/>
                </a:solidFill>
                <a:latin typeface="Corben"/>
                <a:ea typeface="Corben"/>
                <a:cs typeface="Corben"/>
                <a:sym typeface="Corben"/>
              </a:rPr>
              <a:t>Règles de base </a:t>
            </a:r>
            <a:endParaRPr/>
          </a:p>
        </p:txBody>
      </p:sp>
      <p:sp>
        <p:nvSpPr>
          <p:cNvPr id="528" name="Google Shape;528;p49"/>
          <p:cNvSpPr/>
          <p:nvPr/>
        </p:nvSpPr>
        <p:spPr>
          <a:xfrm>
            <a:off x="412553" y="1845588"/>
            <a:ext cx="11458605"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000">
                <a:solidFill>
                  <a:srgbClr val="595959"/>
                </a:solidFill>
                <a:latin typeface="Comic Sans MS"/>
                <a:ea typeface="Comic Sans MS"/>
                <a:cs typeface="Comic Sans MS"/>
                <a:sym typeface="Comic Sans MS"/>
              </a:rPr>
              <a:t>  </a:t>
            </a:r>
            <a:r>
              <a:rPr b="1" lang="fr-FR" sz="2000">
                <a:solidFill>
                  <a:schemeClr val="dk1"/>
                </a:solidFill>
                <a:latin typeface="Comic Sans MS"/>
                <a:ea typeface="Comic Sans MS"/>
                <a:cs typeface="Comic Sans MS"/>
                <a:sym typeface="Comic Sans MS"/>
              </a:rPr>
              <a:t>Branchement basé sur les événements:</a:t>
            </a:r>
            <a:endParaRPr/>
          </a:p>
          <a:p>
            <a:pPr indent="0" lvl="0" marL="0" marR="0" rtl="0" algn="l">
              <a:spcBef>
                <a:spcPts val="0"/>
              </a:spcBef>
              <a:spcAft>
                <a:spcPts val="0"/>
              </a:spcAft>
              <a:buNone/>
            </a:pPr>
            <a:r>
              <a:rPr b="1" lang="fr-FR" sz="2000">
                <a:solidFill>
                  <a:schemeClr val="dk1"/>
                </a:solidFill>
                <a:latin typeface="Comic Sans MS"/>
                <a:ea typeface="Comic Sans MS"/>
                <a:cs typeface="Comic Sans MS"/>
                <a:sym typeface="Comic Sans MS"/>
              </a:rPr>
              <a:t>       </a:t>
            </a:r>
            <a:endParaRPr/>
          </a:p>
          <a:p>
            <a:pPr indent="0" lvl="0" marL="0" marR="0" rtl="0" algn="l">
              <a:spcBef>
                <a:spcPts val="0"/>
              </a:spcBef>
              <a:spcAft>
                <a:spcPts val="0"/>
              </a:spcAft>
              <a:buNone/>
            </a:pPr>
            <a:r>
              <a:rPr b="1" lang="fr-FR" sz="2000">
                <a:solidFill>
                  <a:schemeClr val="dk1"/>
                </a:solidFill>
                <a:latin typeface="Comic Sans MS"/>
                <a:ea typeface="Comic Sans MS"/>
                <a:cs typeface="Comic Sans MS"/>
                <a:sym typeface="Comic Sans MS"/>
              </a:rPr>
              <a:t>       &gt;</a:t>
            </a:r>
            <a:r>
              <a:rPr lang="fr-FR" sz="2000">
                <a:solidFill>
                  <a:schemeClr val="dk1"/>
                </a:solidFill>
                <a:latin typeface="Comic Sans MS"/>
                <a:ea typeface="Comic Sans MS"/>
                <a:cs typeface="Comic Sans MS"/>
                <a:sym typeface="Comic Sans MS"/>
              </a:rPr>
              <a:t>Le branchement basé sur les événement indique que les flux sortant reposant sur des  </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événements plutôt que sur  l’évaluation des conditions.</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a:t>
            </a:r>
            <a:r>
              <a:rPr b="1" lang="fr-FR" sz="2000">
                <a:solidFill>
                  <a:schemeClr val="dk1"/>
                </a:solidFill>
                <a:latin typeface="Comic Sans MS"/>
                <a:ea typeface="Comic Sans MS"/>
                <a:cs typeface="Comic Sans MS"/>
                <a:sym typeface="Comic Sans MS"/>
              </a:rPr>
              <a:t>&gt;</a:t>
            </a:r>
            <a:r>
              <a:rPr lang="fr-FR" sz="2000">
                <a:solidFill>
                  <a:schemeClr val="dk1"/>
                </a:solidFill>
                <a:latin typeface="Comic Sans MS"/>
                <a:ea typeface="Comic Sans MS"/>
                <a:cs typeface="Comic Sans MS"/>
                <a:sym typeface="Comic Sans MS"/>
              </a:rPr>
              <a:t> Un événement intermédiaire est placé sur chaque branche sortant  du branchement  .</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a:t>
            </a:r>
            <a:r>
              <a:rPr b="1" lang="fr-FR" sz="2000">
                <a:solidFill>
                  <a:schemeClr val="dk1"/>
                </a:solidFill>
                <a:latin typeface="Comic Sans MS"/>
                <a:ea typeface="Comic Sans MS"/>
                <a:cs typeface="Comic Sans MS"/>
                <a:sym typeface="Comic Sans MS"/>
              </a:rPr>
              <a:t>&gt;</a:t>
            </a:r>
            <a:r>
              <a:rPr lang="fr-FR" sz="2000">
                <a:solidFill>
                  <a:schemeClr val="dk1"/>
                </a:solidFill>
                <a:latin typeface="Comic Sans MS"/>
                <a:ea typeface="Comic Sans MS"/>
                <a:cs typeface="Comic Sans MS"/>
                <a:sym typeface="Comic Sans MS"/>
              </a:rPr>
              <a:t>A chaque réception d’un jeton , il émet un jeton sur chaque branche  sortant : </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*Chaque jeton arrive sur l’événement  intermédiaire et attend  son déclanchement .</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*Le premier événement qui se déclenche &lt;&lt;gagne&gt;&gt; et laisse  continuer son jeton ,les  </a:t>
            </a:r>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autres jetons en attente sur les autres événement disparaissent .</a:t>
            </a:r>
            <a:endParaRPr b="1" sz="2000">
              <a:solidFill>
                <a:schemeClr val="dk1"/>
              </a:solidFill>
              <a:latin typeface="Comic Sans MS"/>
              <a:ea typeface="Comic Sans MS"/>
              <a:cs typeface="Comic Sans MS"/>
              <a:sym typeface="Comic Sans MS"/>
            </a:endParaRPr>
          </a:p>
        </p:txBody>
      </p:sp>
      <p:pic>
        <p:nvPicPr>
          <p:cNvPr id="529" name="Google Shape;529;p49"/>
          <p:cNvPicPr preferRelativeResize="0"/>
          <p:nvPr/>
        </p:nvPicPr>
        <p:blipFill rotWithShape="1">
          <a:blip r:embed="rId3">
            <a:alphaModFix/>
          </a:blip>
          <a:srcRect b="0" l="0" r="0" t="0"/>
          <a:stretch/>
        </p:blipFill>
        <p:spPr>
          <a:xfrm>
            <a:off x="9444054" y="359213"/>
            <a:ext cx="1209675" cy="9620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0"/>
          <p:cNvSpPr txBox="1"/>
          <p:nvPr>
            <p:ph type="title"/>
          </p:nvPr>
        </p:nvSpPr>
        <p:spPr>
          <a:xfrm>
            <a:off x="1598129" y="518329"/>
            <a:ext cx="9720072" cy="147218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Corben"/>
              <a:buNone/>
            </a:pPr>
            <a:r>
              <a:rPr lang="fr-FR">
                <a:solidFill>
                  <a:schemeClr val="accent1"/>
                </a:solidFill>
                <a:latin typeface="Corben"/>
                <a:ea typeface="Corben"/>
                <a:cs typeface="Corben"/>
                <a:sym typeface="Corben"/>
              </a:rPr>
              <a:t>Règles de base </a:t>
            </a:r>
            <a:endParaRPr/>
          </a:p>
        </p:txBody>
      </p:sp>
      <p:sp>
        <p:nvSpPr>
          <p:cNvPr id="536" name="Google Shape;536;p50"/>
          <p:cNvSpPr/>
          <p:nvPr/>
        </p:nvSpPr>
        <p:spPr>
          <a:xfrm>
            <a:off x="0" y="1076980"/>
            <a:ext cx="10870775"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20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fr-FR" sz="2000">
                <a:solidFill>
                  <a:schemeClr val="dk1"/>
                </a:solidFill>
                <a:latin typeface="Comic Sans MS"/>
                <a:ea typeface="Comic Sans MS"/>
                <a:cs typeface="Comic Sans MS"/>
                <a:sym typeface="Comic Sans MS"/>
              </a:rPr>
              <a:t>              Exemple :</a:t>
            </a:r>
            <a:endParaRPr/>
          </a:p>
          <a:p>
            <a:pPr indent="0" lvl="0" marL="0" marR="0" rtl="0" algn="l">
              <a:spcBef>
                <a:spcPts val="0"/>
              </a:spcBef>
              <a:spcAft>
                <a:spcPts val="0"/>
              </a:spcAft>
              <a:buNone/>
            </a:pPr>
            <a:r>
              <a:rPr b="1" lang="fr-FR" sz="2000">
                <a:solidFill>
                  <a:schemeClr val="dk1"/>
                </a:solidFill>
                <a:latin typeface="Century Gothic"/>
                <a:ea typeface="Century Gothic"/>
                <a:cs typeface="Century Gothic"/>
                <a:sym typeface="Century Gothic"/>
              </a:rPr>
              <a:t>        </a:t>
            </a:r>
            <a:endParaRPr/>
          </a:p>
        </p:txBody>
      </p:sp>
      <p:sp>
        <p:nvSpPr>
          <p:cNvPr id="537" name="Google Shape;537;p50"/>
          <p:cNvSpPr txBox="1"/>
          <p:nvPr/>
        </p:nvSpPr>
        <p:spPr>
          <a:xfrm>
            <a:off x="7413171" y="5306786"/>
            <a:ext cx="4898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800">
                <a:solidFill>
                  <a:schemeClr val="dk1"/>
                </a:solidFill>
                <a:latin typeface="Century Gothic"/>
                <a:ea typeface="Century Gothic"/>
                <a:cs typeface="Century Gothic"/>
                <a:sym typeface="Century Gothic"/>
              </a:rPr>
              <a:t>\</a:t>
            </a:r>
            <a:endParaRPr/>
          </a:p>
        </p:txBody>
      </p:sp>
      <p:pic>
        <p:nvPicPr>
          <p:cNvPr descr="F:\BPMNURGENT.PNG" id="538" name="Google Shape;538;p50"/>
          <p:cNvPicPr preferRelativeResize="0"/>
          <p:nvPr/>
        </p:nvPicPr>
        <p:blipFill rotWithShape="1">
          <a:blip r:embed="rId3">
            <a:alphaModFix/>
          </a:blip>
          <a:srcRect b="0" l="0" r="0" t="0"/>
          <a:stretch/>
        </p:blipFill>
        <p:spPr>
          <a:xfrm>
            <a:off x="1805738" y="1815548"/>
            <a:ext cx="9230834" cy="4108173"/>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51"/>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fr-FR"/>
              <a:t>Cas d’utilisation: GED </a:t>
            </a:r>
            <a:endParaRPr/>
          </a:p>
        </p:txBody>
      </p:sp>
      <p:pic>
        <p:nvPicPr>
          <p:cNvPr id="544" name="Google Shape;544;p51"/>
          <p:cNvPicPr preferRelativeResize="0"/>
          <p:nvPr>
            <p:ph idx="1" type="body"/>
          </p:nvPr>
        </p:nvPicPr>
        <p:blipFill rotWithShape="1">
          <a:blip r:embed="rId3">
            <a:alphaModFix/>
          </a:blip>
          <a:srcRect b="0" l="0" r="0" t="0"/>
          <a:stretch/>
        </p:blipFill>
        <p:spPr>
          <a:xfrm>
            <a:off x="1155941" y="1345721"/>
            <a:ext cx="10714006" cy="521035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fr-FR"/>
              <a:t>Processus de gestion de contact</a:t>
            </a:r>
            <a:endParaRPr/>
          </a:p>
        </p:txBody>
      </p:sp>
      <p:pic>
        <p:nvPicPr>
          <p:cNvPr id="550" name="Google Shape;550;p52"/>
          <p:cNvPicPr preferRelativeResize="0"/>
          <p:nvPr>
            <p:ph idx="1" type="body"/>
          </p:nvPr>
        </p:nvPicPr>
        <p:blipFill rotWithShape="1">
          <a:blip r:embed="rId3">
            <a:alphaModFix/>
          </a:blip>
          <a:srcRect b="0" l="0" r="0" t="0"/>
          <a:stretch/>
        </p:blipFill>
        <p:spPr>
          <a:xfrm>
            <a:off x="1414732" y="1380226"/>
            <a:ext cx="10351698" cy="5158597"/>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53"/>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fr-FR"/>
              <a:t>Gestion des utilisateurs </a:t>
            </a:r>
            <a:endParaRPr/>
          </a:p>
        </p:txBody>
      </p:sp>
      <p:pic>
        <p:nvPicPr>
          <p:cNvPr id="556" name="Google Shape;556;p53"/>
          <p:cNvPicPr preferRelativeResize="0"/>
          <p:nvPr>
            <p:ph idx="1" type="body"/>
          </p:nvPr>
        </p:nvPicPr>
        <p:blipFill rotWithShape="1">
          <a:blip r:embed="rId3">
            <a:alphaModFix/>
          </a:blip>
          <a:srcRect b="0" l="0" r="0" t="0"/>
          <a:stretch/>
        </p:blipFill>
        <p:spPr>
          <a:xfrm>
            <a:off x="1380226" y="1293962"/>
            <a:ext cx="10524227" cy="521035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4"/>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6600"/>
              <a:buFont typeface="Corben"/>
              <a:buNone/>
            </a:pPr>
            <a:r>
              <a:rPr lang="fr-FR" sz="6600">
                <a:solidFill>
                  <a:schemeClr val="accent1"/>
                </a:solidFill>
                <a:latin typeface="Corben"/>
                <a:ea typeface="Corben"/>
                <a:cs typeface="Corben"/>
                <a:sym typeface="Corben"/>
              </a:rPr>
              <a:t>Méta-Modèle</a:t>
            </a:r>
            <a:endParaRPr/>
          </a:p>
        </p:txBody>
      </p:sp>
      <p:sp>
        <p:nvSpPr>
          <p:cNvPr id="562" name="Google Shape;562;p54"/>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55"/>
          <p:cNvSpPr txBox="1"/>
          <p:nvPr/>
        </p:nvSpPr>
        <p:spPr>
          <a:xfrm>
            <a:off x="2723325" y="351683"/>
            <a:ext cx="8915399" cy="721213"/>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None/>
            </a:pPr>
            <a:r>
              <a:rPr i="0" lang="fr-FR" sz="4000" u="none" cap="none" strike="noStrike">
                <a:solidFill>
                  <a:srgbClr val="B96A65"/>
                </a:solidFill>
                <a:latin typeface="Corben"/>
                <a:ea typeface="Corben"/>
                <a:cs typeface="Corben"/>
                <a:sym typeface="Corben"/>
              </a:rPr>
              <a:t>MÉTA-MODÈLE BPMN</a:t>
            </a:r>
            <a:endParaRPr/>
          </a:p>
        </p:txBody>
      </p:sp>
      <p:pic>
        <p:nvPicPr>
          <p:cNvPr id="568" name="Google Shape;568;p55"/>
          <p:cNvPicPr preferRelativeResize="0"/>
          <p:nvPr/>
        </p:nvPicPr>
        <p:blipFill rotWithShape="1">
          <a:blip r:embed="rId3">
            <a:alphaModFix/>
          </a:blip>
          <a:srcRect b="0" l="0" r="0" t="0"/>
          <a:stretch/>
        </p:blipFill>
        <p:spPr>
          <a:xfrm>
            <a:off x="2438401" y="1731264"/>
            <a:ext cx="7485887" cy="4511040"/>
          </a:xfrm>
          <a:prstGeom prst="rect">
            <a:avLst/>
          </a:prstGeom>
          <a:noFill/>
          <a:ln>
            <a:noFill/>
          </a:ln>
        </p:spPr>
      </p:pic>
      <p:cxnSp>
        <p:nvCxnSpPr>
          <p:cNvPr id="569" name="Google Shape;569;p55"/>
          <p:cNvCxnSpPr/>
          <p:nvPr/>
        </p:nvCxnSpPr>
        <p:spPr>
          <a:xfrm flipH="1">
            <a:off x="7534656" y="1280160"/>
            <a:ext cx="1584960" cy="1499616"/>
          </a:xfrm>
          <a:prstGeom prst="straightConnector1">
            <a:avLst/>
          </a:prstGeom>
          <a:noFill/>
          <a:ln cap="rnd" cmpd="sng" w="9525">
            <a:solidFill>
              <a:srgbClr val="9D2D0F"/>
            </a:solidFill>
            <a:prstDash val="solid"/>
            <a:round/>
            <a:headEnd len="sm" w="sm" type="none"/>
            <a:tailEnd len="med" w="med" type="stealth"/>
          </a:ln>
        </p:spPr>
      </p:cxnSp>
      <p:sp>
        <p:nvSpPr>
          <p:cNvPr id="570" name="Google Shape;570;p55"/>
          <p:cNvSpPr/>
          <p:nvPr/>
        </p:nvSpPr>
        <p:spPr>
          <a:xfrm>
            <a:off x="9119616" y="573024"/>
            <a:ext cx="2304288" cy="1133856"/>
          </a:xfrm>
          <a:prstGeom prst="round2SameRect">
            <a:avLst>
              <a:gd fmla="val 16667" name="adj1"/>
              <a:gd fmla="val 0" name="adj2"/>
            </a:avLst>
          </a:prstGeom>
          <a:noFill/>
          <a:ln cap="rnd" cmpd="sng" w="15875">
            <a:solidFill>
              <a:srgbClr val="7823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600">
                <a:solidFill>
                  <a:schemeClr val="dk1"/>
                </a:solidFill>
                <a:latin typeface="Century Gothic"/>
                <a:ea typeface="Century Gothic"/>
                <a:cs typeface="Century Gothic"/>
                <a:sym typeface="Century Gothic"/>
              </a:rPr>
              <a:t>BPMNPlane jeu le rôle de conteneur de tous les éléments de ce diagramme </a:t>
            </a:r>
            <a:endParaRPr/>
          </a:p>
        </p:txBody>
      </p:sp>
      <p:cxnSp>
        <p:nvCxnSpPr>
          <p:cNvPr id="571" name="Google Shape;571;p55"/>
          <p:cNvCxnSpPr/>
          <p:nvPr/>
        </p:nvCxnSpPr>
        <p:spPr>
          <a:xfrm flipH="1" rot="5400000">
            <a:off x="4663440" y="4773168"/>
            <a:ext cx="829056" cy="621792"/>
          </a:xfrm>
          <a:prstGeom prst="straightConnector1">
            <a:avLst/>
          </a:prstGeom>
          <a:noFill/>
          <a:ln cap="rnd" cmpd="sng" w="9525">
            <a:solidFill>
              <a:srgbClr val="9D2D0F"/>
            </a:solidFill>
            <a:prstDash val="solid"/>
            <a:round/>
            <a:headEnd len="sm" w="sm" type="none"/>
            <a:tailEnd len="med" w="med" type="stealth"/>
          </a:ln>
        </p:spPr>
      </p:cxnSp>
      <p:sp>
        <p:nvSpPr>
          <p:cNvPr id="572" name="Google Shape;572;p55"/>
          <p:cNvSpPr/>
          <p:nvPr/>
        </p:nvSpPr>
        <p:spPr>
          <a:xfrm>
            <a:off x="5394960" y="4956048"/>
            <a:ext cx="2304288" cy="1225296"/>
          </a:xfrm>
          <a:prstGeom prst="round2SameRect">
            <a:avLst>
              <a:gd fmla="val 16667" name="adj1"/>
              <a:gd fmla="val 0" name="adj2"/>
            </a:avLst>
          </a:prstGeom>
          <a:noFill/>
          <a:ln cap="rnd" cmpd="sng" w="15875">
            <a:solidFill>
              <a:srgbClr val="7823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600">
                <a:solidFill>
                  <a:schemeClr val="dk1"/>
                </a:solidFill>
                <a:latin typeface="Century Gothic"/>
                <a:ea typeface="Century Gothic"/>
                <a:cs typeface="Century Gothic"/>
                <a:sym typeface="Century Gothic"/>
              </a:rPr>
              <a:t>C’est une collection BPMN qui définit le style d’un libellé qui est un élément dans ce diagramme </a:t>
            </a:r>
            <a:endParaRPr/>
          </a:p>
        </p:txBody>
      </p:sp>
      <p:cxnSp>
        <p:nvCxnSpPr>
          <p:cNvPr id="573" name="Google Shape;573;p55"/>
          <p:cNvCxnSpPr>
            <a:stCxn id="574" idx="2"/>
          </p:cNvCxnSpPr>
          <p:nvPr/>
        </p:nvCxnSpPr>
        <p:spPr>
          <a:xfrm rot="10800000">
            <a:off x="5181636" y="4108572"/>
            <a:ext cx="3602700" cy="353700"/>
          </a:xfrm>
          <a:prstGeom prst="straightConnector1">
            <a:avLst/>
          </a:prstGeom>
          <a:noFill/>
          <a:ln cap="rnd" cmpd="sng" w="9525">
            <a:solidFill>
              <a:srgbClr val="9D2D0F"/>
            </a:solidFill>
            <a:prstDash val="solid"/>
            <a:round/>
            <a:headEnd len="sm" w="sm" type="none"/>
            <a:tailEnd len="med" w="med" type="stealth"/>
          </a:ln>
        </p:spPr>
      </p:cxnSp>
      <p:sp>
        <p:nvSpPr>
          <p:cNvPr id="574" name="Google Shape;574;p55"/>
          <p:cNvSpPr/>
          <p:nvPr/>
        </p:nvSpPr>
        <p:spPr>
          <a:xfrm>
            <a:off x="8784336" y="3730752"/>
            <a:ext cx="3236976" cy="1463040"/>
          </a:xfrm>
          <a:prstGeom prst="round2SameRect">
            <a:avLst>
              <a:gd fmla="val 16667" name="adj1"/>
              <a:gd fmla="val 0" name="adj2"/>
            </a:avLst>
          </a:prstGeom>
          <a:noFill/>
          <a:ln cap="rnd" cmpd="sng" w="15875">
            <a:solidFill>
              <a:srgbClr val="7823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500">
                <a:solidFill>
                  <a:schemeClr val="dk1"/>
                </a:solidFill>
                <a:latin typeface="Century Gothic"/>
                <a:ea typeface="Century Gothic"/>
                <a:cs typeface="Century Gothic"/>
                <a:sym typeface="Century Gothic"/>
              </a:rPr>
              <a:t>une référence au diagramme qui contient directement à cet élément de diagramme . La référence est définie que pour l'élément racine dans un diagramme.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7">
                                            <p:txEl>
                                              <p:pRg end="0" st="0"/>
                                            </p:txEl>
                                          </p:spTgt>
                                        </p:tgtEl>
                                        <p:attrNameLst>
                                          <p:attrName>style.visibility</p:attrName>
                                        </p:attrNameLst>
                                      </p:cBhvr>
                                      <p:to>
                                        <p:strVal val="visible"/>
                                      </p:to>
                                    </p:set>
                                    <p:anim calcmode="lin" valueType="num">
                                      <p:cBhvr additive="base">
                                        <p:cTn dur="500"/>
                                        <p:tgtEl>
                                          <p:spTgt spid="56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8"/>
                                        </p:tgtEl>
                                        <p:attrNameLst>
                                          <p:attrName>style.visibility</p:attrName>
                                        </p:attrNameLst>
                                      </p:cBhvr>
                                      <p:to>
                                        <p:strVal val="visible"/>
                                      </p:to>
                                    </p:set>
                                    <p:anim calcmode="lin" valueType="num">
                                      <p:cBhvr additive="base">
                                        <p:cTn dur="500"/>
                                        <p:tgtEl>
                                          <p:spTgt spid="56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9"/>
                                        </p:tgtEl>
                                        <p:attrNameLst>
                                          <p:attrName>style.visibility</p:attrName>
                                        </p:attrNameLst>
                                      </p:cBhvr>
                                      <p:to>
                                        <p:strVal val="visible"/>
                                      </p:to>
                                    </p:set>
                                    <p:anim calcmode="lin" valueType="num">
                                      <p:cBhvr additive="base">
                                        <p:cTn dur="500"/>
                                        <p:tgtEl>
                                          <p:spTgt spid="56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0">
                                            <p:txEl>
                                              <p:pRg end="0" st="0"/>
                                            </p:txEl>
                                          </p:spTgt>
                                        </p:tgtEl>
                                        <p:attrNameLst>
                                          <p:attrName>style.visibility</p:attrName>
                                        </p:attrNameLst>
                                      </p:cBhvr>
                                      <p:to>
                                        <p:strVal val="visible"/>
                                      </p:to>
                                    </p:set>
                                    <p:anim calcmode="lin" valueType="num">
                                      <p:cBhvr additive="base">
                                        <p:cTn dur="500"/>
                                        <p:tgtEl>
                                          <p:spTgt spid="57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1"/>
                                        </p:tgtEl>
                                        <p:attrNameLst>
                                          <p:attrName>style.visibility</p:attrName>
                                        </p:attrNameLst>
                                      </p:cBhvr>
                                      <p:to>
                                        <p:strVal val="visible"/>
                                      </p:to>
                                    </p:set>
                                    <p:anim calcmode="lin" valueType="num">
                                      <p:cBhvr additive="base">
                                        <p:cTn dur="500"/>
                                        <p:tgtEl>
                                          <p:spTgt spid="57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2">
                                            <p:txEl>
                                              <p:pRg end="0" st="0"/>
                                            </p:txEl>
                                          </p:spTgt>
                                        </p:tgtEl>
                                        <p:attrNameLst>
                                          <p:attrName>style.visibility</p:attrName>
                                        </p:attrNameLst>
                                      </p:cBhvr>
                                      <p:to>
                                        <p:strVal val="visible"/>
                                      </p:to>
                                    </p:set>
                                    <p:anim calcmode="lin" valueType="num">
                                      <p:cBhvr additive="base">
                                        <p:cTn dur="500"/>
                                        <p:tgtEl>
                                          <p:spTgt spid="57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3"/>
                                        </p:tgtEl>
                                        <p:attrNameLst>
                                          <p:attrName>style.visibility</p:attrName>
                                        </p:attrNameLst>
                                      </p:cBhvr>
                                      <p:to>
                                        <p:strVal val="visible"/>
                                      </p:to>
                                    </p:set>
                                    <p:anim calcmode="lin" valueType="num">
                                      <p:cBhvr additive="base">
                                        <p:cTn dur="500"/>
                                        <p:tgtEl>
                                          <p:spTgt spid="57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4">
                                            <p:txEl>
                                              <p:pRg end="0" st="0"/>
                                            </p:txEl>
                                          </p:spTgt>
                                        </p:tgtEl>
                                        <p:attrNameLst>
                                          <p:attrName>style.visibility</p:attrName>
                                        </p:attrNameLst>
                                      </p:cBhvr>
                                      <p:to>
                                        <p:strVal val="visible"/>
                                      </p:to>
                                    </p:set>
                                    <p:anim calcmode="lin" valueType="num">
                                      <p:cBhvr additive="base">
                                        <p:cTn dur="500"/>
                                        <p:tgtEl>
                                          <p:spTgt spid="57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56"/>
          <p:cNvSpPr txBox="1"/>
          <p:nvPr>
            <p:ph type="title"/>
          </p:nvPr>
        </p:nvSpPr>
        <p:spPr>
          <a:xfrm>
            <a:off x="1939049" y="288164"/>
            <a:ext cx="8911687" cy="80235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B96A65"/>
              </a:buClr>
              <a:buSzPts val="3600"/>
              <a:buFont typeface="Corben"/>
              <a:buNone/>
            </a:pPr>
            <a:r>
              <a:rPr b="1" lang="fr-FR" cap="none">
                <a:solidFill>
                  <a:srgbClr val="B96A65"/>
                </a:solidFill>
                <a:latin typeface="Corben"/>
                <a:ea typeface="Corben"/>
                <a:cs typeface="Corben"/>
                <a:sym typeface="Corben"/>
              </a:rPr>
              <a:t>BPMNSHAPE</a:t>
            </a:r>
            <a:endParaRPr b="1" cap="none">
              <a:solidFill>
                <a:srgbClr val="B96A65"/>
              </a:solidFill>
              <a:latin typeface="Corben"/>
              <a:ea typeface="Corben"/>
              <a:cs typeface="Corben"/>
              <a:sym typeface="Corben"/>
            </a:endParaRPr>
          </a:p>
        </p:txBody>
      </p:sp>
      <p:pic>
        <p:nvPicPr>
          <p:cNvPr id="580" name="Google Shape;580;p56"/>
          <p:cNvPicPr preferRelativeResize="0"/>
          <p:nvPr/>
        </p:nvPicPr>
        <p:blipFill rotWithShape="1">
          <a:blip r:embed="rId3">
            <a:alphaModFix/>
          </a:blip>
          <a:srcRect b="0" l="0" r="0" t="0"/>
          <a:stretch/>
        </p:blipFill>
        <p:spPr>
          <a:xfrm>
            <a:off x="1475232" y="1553336"/>
            <a:ext cx="7839456" cy="4359783"/>
          </a:xfrm>
          <a:prstGeom prst="rect">
            <a:avLst/>
          </a:prstGeom>
          <a:noFill/>
          <a:ln>
            <a:noFill/>
          </a:ln>
        </p:spPr>
      </p:pic>
      <p:cxnSp>
        <p:nvCxnSpPr>
          <p:cNvPr id="581" name="Google Shape;581;p56"/>
          <p:cNvCxnSpPr/>
          <p:nvPr/>
        </p:nvCxnSpPr>
        <p:spPr>
          <a:xfrm rot="5400000">
            <a:off x="7217410" y="1570990"/>
            <a:ext cx="2367280" cy="1562100"/>
          </a:xfrm>
          <a:prstGeom prst="straightConnector1">
            <a:avLst/>
          </a:prstGeom>
          <a:noFill/>
          <a:ln cap="rnd" cmpd="sng" w="9525">
            <a:solidFill>
              <a:srgbClr val="9D2D0F"/>
            </a:solidFill>
            <a:prstDash val="solid"/>
            <a:round/>
            <a:headEnd len="sm" w="sm" type="none"/>
            <a:tailEnd len="med" w="med" type="stealth"/>
          </a:ln>
        </p:spPr>
      </p:cxnSp>
      <p:sp>
        <p:nvSpPr>
          <p:cNvPr id="582" name="Google Shape;582;p56"/>
          <p:cNvSpPr/>
          <p:nvPr/>
        </p:nvSpPr>
        <p:spPr>
          <a:xfrm>
            <a:off x="9193784" y="406400"/>
            <a:ext cx="2718816" cy="901700"/>
          </a:xfrm>
          <a:prstGeom prst="round2SameRect">
            <a:avLst>
              <a:gd fmla="val 16667" name="adj1"/>
              <a:gd fmla="val 0" name="adj2"/>
            </a:avLst>
          </a:prstGeom>
          <a:noFill/>
          <a:ln cap="rnd" cmpd="sng" w="15875">
            <a:solidFill>
              <a:srgbClr val="7823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400">
                <a:solidFill>
                  <a:schemeClr val="dk1"/>
                </a:solidFill>
                <a:latin typeface="Century Gothic"/>
                <a:ea typeface="Century Gothic"/>
                <a:cs typeface="Century Gothic"/>
                <a:sym typeface="Century Gothic"/>
              </a:rPr>
              <a:t>la collection des libellés appartenant à cette forme </a:t>
            </a:r>
            <a:endParaRPr/>
          </a:p>
        </p:txBody>
      </p:sp>
      <p:cxnSp>
        <p:nvCxnSpPr>
          <p:cNvPr id="583" name="Google Shape;583;p56"/>
          <p:cNvCxnSpPr/>
          <p:nvPr/>
        </p:nvCxnSpPr>
        <p:spPr>
          <a:xfrm flipH="1">
            <a:off x="3848100" y="1155700"/>
            <a:ext cx="1333500" cy="850900"/>
          </a:xfrm>
          <a:prstGeom prst="straightConnector1">
            <a:avLst/>
          </a:prstGeom>
          <a:noFill/>
          <a:ln cap="rnd" cmpd="sng" w="9525">
            <a:solidFill>
              <a:srgbClr val="9D2D0F"/>
            </a:solidFill>
            <a:prstDash val="solid"/>
            <a:round/>
            <a:headEnd len="sm" w="sm" type="none"/>
            <a:tailEnd len="med" w="med" type="stealth"/>
          </a:ln>
        </p:spPr>
      </p:cxnSp>
      <p:sp>
        <p:nvSpPr>
          <p:cNvPr id="584" name="Google Shape;584;p56"/>
          <p:cNvSpPr/>
          <p:nvPr/>
        </p:nvSpPr>
        <p:spPr>
          <a:xfrm>
            <a:off x="5193284" y="469900"/>
            <a:ext cx="2718816" cy="901700"/>
          </a:xfrm>
          <a:prstGeom prst="round2SameRect">
            <a:avLst>
              <a:gd fmla="val 16667" name="adj1"/>
              <a:gd fmla="val 0" name="adj2"/>
            </a:avLst>
          </a:prstGeom>
          <a:noFill/>
          <a:ln cap="rnd" cmpd="sng" w="15875">
            <a:solidFill>
              <a:srgbClr val="7823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400">
                <a:solidFill>
                  <a:schemeClr val="dk1"/>
                </a:solidFill>
                <a:latin typeface="Century Gothic"/>
                <a:ea typeface="Century Gothic"/>
                <a:cs typeface="Century Gothic"/>
                <a:sym typeface="Century Gothic"/>
              </a:rPr>
              <a:t>LabeledShape représente une forme qui possède une collection des libellés.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9"/>
                                        </p:tgtEl>
                                        <p:attrNameLst>
                                          <p:attrName>style.visibility</p:attrName>
                                        </p:attrNameLst>
                                      </p:cBhvr>
                                      <p:to>
                                        <p:strVal val="visible"/>
                                      </p:to>
                                    </p:set>
                                    <p:anim calcmode="lin" valueType="num">
                                      <p:cBhvr additive="base">
                                        <p:cTn dur="500"/>
                                        <p:tgtEl>
                                          <p:spTgt spid="57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1"/>
                                        </p:tgtEl>
                                        <p:attrNameLst>
                                          <p:attrName>style.visibility</p:attrName>
                                        </p:attrNameLst>
                                      </p:cBhvr>
                                      <p:to>
                                        <p:strVal val="visible"/>
                                      </p:to>
                                    </p:set>
                                    <p:anim calcmode="lin" valueType="num">
                                      <p:cBhvr additive="base">
                                        <p:cTn dur="500"/>
                                        <p:tgtEl>
                                          <p:spTgt spid="58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2">
                                            <p:txEl>
                                              <p:pRg end="0" st="0"/>
                                            </p:txEl>
                                          </p:spTgt>
                                        </p:tgtEl>
                                        <p:attrNameLst>
                                          <p:attrName>style.visibility</p:attrName>
                                        </p:attrNameLst>
                                      </p:cBhvr>
                                      <p:to>
                                        <p:strVal val="visible"/>
                                      </p:to>
                                    </p:set>
                                    <p:anim calcmode="lin" valueType="num">
                                      <p:cBhvr additive="base">
                                        <p:cTn dur="500"/>
                                        <p:tgtEl>
                                          <p:spTgt spid="58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3"/>
                                        </p:tgtEl>
                                        <p:attrNameLst>
                                          <p:attrName>style.visibility</p:attrName>
                                        </p:attrNameLst>
                                      </p:cBhvr>
                                      <p:to>
                                        <p:strVal val="visible"/>
                                      </p:to>
                                    </p:set>
                                    <p:anim calcmode="lin" valueType="num">
                                      <p:cBhvr additive="base">
                                        <p:cTn dur="500"/>
                                        <p:tgtEl>
                                          <p:spTgt spid="58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4">
                                            <p:txEl>
                                              <p:pRg end="0" st="0"/>
                                            </p:txEl>
                                          </p:spTgt>
                                        </p:tgtEl>
                                        <p:attrNameLst>
                                          <p:attrName>style.visibility</p:attrName>
                                        </p:attrNameLst>
                                      </p:cBhvr>
                                      <p:to>
                                        <p:strVal val="visible"/>
                                      </p:to>
                                    </p:set>
                                    <p:anim calcmode="lin" valueType="num">
                                      <p:cBhvr additive="base">
                                        <p:cTn dur="500"/>
                                        <p:tgtEl>
                                          <p:spTgt spid="58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7"/>
          <p:cNvSpPr txBox="1"/>
          <p:nvPr>
            <p:ph type="title"/>
          </p:nvPr>
        </p:nvSpPr>
        <p:spPr>
          <a:xfrm>
            <a:off x="2275933" y="282734"/>
            <a:ext cx="8911687" cy="80235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B96A65"/>
              </a:buClr>
              <a:buSzPts val="3600"/>
              <a:buFont typeface="Corben"/>
              <a:buNone/>
            </a:pPr>
            <a:r>
              <a:rPr b="1" lang="fr-FR" cap="none">
                <a:solidFill>
                  <a:srgbClr val="B96A65"/>
                </a:solidFill>
                <a:latin typeface="Corben"/>
                <a:ea typeface="Corben"/>
                <a:cs typeface="Corben"/>
                <a:sym typeface="Corben"/>
              </a:rPr>
              <a:t>BPMNEDGE</a:t>
            </a:r>
            <a:endParaRPr b="1" cap="none">
              <a:solidFill>
                <a:srgbClr val="B96A65"/>
              </a:solidFill>
              <a:latin typeface="Corben"/>
              <a:ea typeface="Corben"/>
              <a:cs typeface="Corben"/>
              <a:sym typeface="Corben"/>
            </a:endParaRPr>
          </a:p>
        </p:txBody>
      </p:sp>
      <p:pic>
        <p:nvPicPr>
          <p:cNvPr id="590" name="Google Shape;590;p57"/>
          <p:cNvPicPr preferRelativeResize="0"/>
          <p:nvPr/>
        </p:nvPicPr>
        <p:blipFill rotWithShape="1">
          <a:blip r:embed="rId3">
            <a:alphaModFix/>
          </a:blip>
          <a:srcRect b="0" l="0" r="0" t="0"/>
          <a:stretch/>
        </p:blipFill>
        <p:spPr>
          <a:xfrm>
            <a:off x="2581656" y="1487424"/>
            <a:ext cx="7671816" cy="4432477"/>
          </a:xfrm>
          <a:prstGeom prst="rect">
            <a:avLst/>
          </a:prstGeom>
          <a:noFill/>
          <a:ln>
            <a:noFill/>
          </a:ln>
        </p:spPr>
      </p:pic>
      <p:cxnSp>
        <p:nvCxnSpPr>
          <p:cNvPr id="591" name="Google Shape;591;p57"/>
          <p:cNvCxnSpPr/>
          <p:nvPr/>
        </p:nvCxnSpPr>
        <p:spPr>
          <a:xfrm flipH="1">
            <a:off x="4872228" y="1058164"/>
            <a:ext cx="1333500" cy="850900"/>
          </a:xfrm>
          <a:prstGeom prst="straightConnector1">
            <a:avLst/>
          </a:prstGeom>
          <a:noFill/>
          <a:ln cap="rnd" cmpd="sng" w="9525">
            <a:solidFill>
              <a:srgbClr val="9D2D0F"/>
            </a:solidFill>
            <a:prstDash val="solid"/>
            <a:round/>
            <a:headEnd len="sm" w="sm" type="none"/>
            <a:tailEnd len="med" w="med" type="stealth"/>
          </a:ln>
        </p:spPr>
      </p:cxnSp>
      <p:sp>
        <p:nvSpPr>
          <p:cNvPr id="592" name="Google Shape;592;p57"/>
          <p:cNvSpPr/>
          <p:nvPr/>
        </p:nvSpPr>
        <p:spPr>
          <a:xfrm>
            <a:off x="6229604" y="433324"/>
            <a:ext cx="2718816" cy="901700"/>
          </a:xfrm>
          <a:prstGeom prst="round2SameRect">
            <a:avLst>
              <a:gd fmla="val 16667" name="adj1"/>
              <a:gd fmla="val 0" name="adj2"/>
            </a:avLst>
          </a:prstGeom>
          <a:noFill/>
          <a:ln cap="rnd" cmpd="sng" w="15875">
            <a:solidFill>
              <a:srgbClr val="7823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400">
                <a:solidFill>
                  <a:schemeClr val="dk1"/>
                </a:solidFill>
                <a:latin typeface="Century Gothic"/>
                <a:ea typeface="Century Gothic"/>
                <a:cs typeface="Century Gothic"/>
                <a:sym typeface="Century Gothic"/>
              </a:rPr>
              <a:t>LabeledEdge représente un bord qui possède une collection des libellés.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9"/>
                                        </p:tgtEl>
                                        <p:attrNameLst>
                                          <p:attrName>style.visibility</p:attrName>
                                        </p:attrNameLst>
                                      </p:cBhvr>
                                      <p:to>
                                        <p:strVal val="visible"/>
                                      </p:to>
                                    </p:set>
                                    <p:anim calcmode="lin" valueType="num">
                                      <p:cBhvr additive="base">
                                        <p:cTn dur="500"/>
                                        <p:tgtEl>
                                          <p:spTgt spid="58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91"/>
                                        </p:tgtEl>
                                        <p:attrNameLst>
                                          <p:attrName>style.visibility</p:attrName>
                                        </p:attrNameLst>
                                      </p:cBhvr>
                                      <p:to>
                                        <p:strVal val="visible"/>
                                      </p:to>
                                    </p:set>
                                    <p:anim calcmode="lin" valueType="num">
                                      <p:cBhvr additive="base">
                                        <p:cTn dur="500"/>
                                        <p:tgtEl>
                                          <p:spTgt spid="59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92">
                                            <p:txEl>
                                              <p:pRg end="0" st="0"/>
                                            </p:txEl>
                                          </p:spTgt>
                                        </p:tgtEl>
                                        <p:attrNameLst>
                                          <p:attrName>style.visibility</p:attrName>
                                        </p:attrNameLst>
                                      </p:cBhvr>
                                      <p:to>
                                        <p:strVal val="visible"/>
                                      </p:to>
                                    </p:set>
                                    <p:anim calcmode="lin" valueType="num">
                                      <p:cBhvr additive="base">
                                        <p:cTn dur="500"/>
                                        <p:tgtEl>
                                          <p:spTgt spid="59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58"/>
          <p:cNvSpPr txBox="1"/>
          <p:nvPr>
            <p:ph type="title"/>
          </p:nvPr>
        </p:nvSpPr>
        <p:spPr>
          <a:xfrm>
            <a:off x="2275933" y="282734"/>
            <a:ext cx="8911687" cy="80235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B96A65"/>
              </a:buClr>
              <a:buSzPts val="3600"/>
              <a:buFont typeface="Corben"/>
              <a:buNone/>
            </a:pPr>
            <a:r>
              <a:rPr b="1" lang="fr-FR" cap="none">
                <a:solidFill>
                  <a:srgbClr val="B96A65"/>
                </a:solidFill>
                <a:latin typeface="Corben"/>
                <a:ea typeface="Corben"/>
                <a:cs typeface="Corben"/>
                <a:sym typeface="Corben"/>
              </a:rPr>
              <a:t>BPMNLABEL</a:t>
            </a:r>
            <a:endParaRPr b="1" cap="none">
              <a:solidFill>
                <a:srgbClr val="B96A65"/>
              </a:solidFill>
              <a:latin typeface="Corben"/>
              <a:ea typeface="Corben"/>
              <a:cs typeface="Corben"/>
              <a:sym typeface="Corben"/>
            </a:endParaRPr>
          </a:p>
        </p:txBody>
      </p:sp>
      <p:pic>
        <p:nvPicPr>
          <p:cNvPr id="598" name="Google Shape;598;p58"/>
          <p:cNvPicPr preferRelativeResize="0"/>
          <p:nvPr/>
        </p:nvPicPr>
        <p:blipFill rotWithShape="1">
          <a:blip r:embed="rId3">
            <a:alphaModFix/>
          </a:blip>
          <a:srcRect b="0" l="0" r="0" t="0"/>
          <a:stretch/>
        </p:blipFill>
        <p:spPr>
          <a:xfrm>
            <a:off x="3060192" y="2328672"/>
            <a:ext cx="5998083" cy="3291840"/>
          </a:xfrm>
          <a:prstGeom prst="rect">
            <a:avLst/>
          </a:prstGeom>
          <a:noFill/>
          <a:ln>
            <a:noFill/>
          </a:ln>
        </p:spPr>
      </p:pic>
      <p:cxnSp>
        <p:nvCxnSpPr>
          <p:cNvPr id="599" name="Google Shape;599;p58"/>
          <p:cNvCxnSpPr/>
          <p:nvPr/>
        </p:nvCxnSpPr>
        <p:spPr>
          <a:xfrm rot="10800000">
            <a:off x="4169664" y="4754880"/>
            <a:ext cx="1621536" cy="1109472"/>
          </a:xfrm>
          <a:prstGeom prst="straightConnector1">
            <a:avLst/>
          </a:prstGeom>
          <a:noFill/>
          <a:ln cap="rnd" cmpd="sng" w="9525">
            <a:solidFill>
              <a:srgbClr val="9D2D0F"/>
            </a:solidFill>
            <a:prstDash val="solid"/>
            <a:round/>
            <a:headEnd len="sm" w="sm" type="none"/>
            <a:tailEnd len="med" w="med" type="stealth"/>
          </a:ln>
        </p:spPr>
      </p:cxnSp>
      <p:sp>
        <p:nvSpPr>
          <p:cNvPr id="600" name="Google Shape;600;p58"/>
          <p:cNvSpPr/>
          <p:nvPr/>
        </p:nvSpPr>
        <p:spPr>
          <a:xfrm>
            <a:off x="5790692" y="5639308"/>
            <a:ext cx="2718816" cy="901700"/>
          </a:xfrm>
          <a:prstGeom prst="round2SameRect">
            <a:avLst>
              <a:gd fmla="val 16667" name="adj1"/>
              <a:gd fmla="val 0" name="adj2"/>
            </a:avLst>
          </a:prstGeom>
          <a:noFill/>
          <a:ln cap="rnd" cmpd="sng" w="15875">
            <a:solidFill>
              <a:srgbClr val="7823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400">
                <a:solidFill>
                  <a:schemeClr val="dk1"/>
                </a:solidFill>
                <a:latin typeface="Century Gothic"/>
                <a:ea typeface="Century Gothic"/>
                <a:cs typeface="Century Gothic"/>
                <a:sym typeface="Century Gothic"/>
              </a:rPr>
              <a:t>BPMNLabel est une représentation textuelle des informations sur un élément BPMN.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97"/>
                                        </p:tgtEl>
                                        <p:attrNameLst>
                                          <p:attrName>style.visibility</p:attrName>
                                        </p:attrNameLst>
                                      </p:cBhvr>
                                      <p:to>
                                        <p:strVal val="visible"/>
                                      </p:to>
                                    </p:set>
                                    <p:anim calcmode="lin" valueType="num">
                                      <p:cBhvr additive="base">
                                        <p:cTn dur="500"/>
                                        <p:tgtEl>
                                          <p:spTgt spid="59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99"/>
                                        </p:tgtEl>
                                        <p:attrNameLst>
                                          <p:attrName>style.visibility</p:attrName>
                                        </p:attrNameLst>
                                      </p:cBhvr>
                                      <p:to>
                                        <p:strVal val="visible"/>
                                      </p:to>
                                    </p:set>
                                    <p:anim calcmode="lin" valueType="num">
                                      <p:cBhvr additive="base">
                                        <p:cTn dur="500"/>
                                        <p:tgtEl>
                                          <p:spTgt spid="59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00">
                                            <p:txEl>
                                              <p:pRg end="0" st="0"/>
                                            </p:txEl>
                                          </p:spTgt>
                                        </p:tgtEl>
                                        <p:attrNameLst>
                                          <p:attrName>style.visibility</p:attrName>
                                        </p:attrNameLst>
                                      </p:cBhvr>
                                      <p:to>
                                        <p:strVal val="visible"/>
                                      </p:to>
                                    </p:set>
                                    <p:anim calcmode="lin" valueType="num">
                                      <p:cBhvr additive="base">
                                        <p:cTn dur="500"/>
                                        <p:tgtEl>
                                          <p:spTgt spid="60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rin">
  <a:themeElements>
    <a:clrScheme name="Brin">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2015-02-02T01:19:33Z</dcterms:created>
  <dc:creator>Admin</dc:creator>
</cp:coreProperties>
</file>