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68"/>
  </p:notesMasterIdLst>
  <p:sldIdLst>
    <p:sldId id="347" r:id="rId2"/>
    <p:sldId id="306" r:id="rId3"/>
    <p:sldId id="446" r:id="rId4"/>
    <p:sldId id="307" r:id="rId5"/>
    <p:sldId id="309" r:id="rId6"/>
    <p:sldId id="346" r:id="rId7"/>
    <p:sldId id="382" r:id="rId8"/>
    <p:sldId id="383" r:id="rId9"/>
    <p:sldId id="384" r:id="rId10"/>
    <p:sldId id="385" r:id="rId11"/>
    <p:sldId id="386" r:id="rId12"/>
    <p:sldId id="387" r:id="rId13"/>
    <p:sldId id="388" r:id="rId14"/>
    <p:sldId id="389" r:id="rId15"/>
    <p:sldId id="390" r:id="rId16"/>
    <p:sldId id="391" r:id="rId17"/>
    <p:sldId id="392" r:id="rId18"/>
    <p:sldId id="393" r:id="rId19"/>
    <p:sldId id="394" r:id="rId20"/>
    <p:sldId id="395" r:id="rId21"/>
    <p:sldId id="396" r:id="rId22"/>
    <p:sldId id="397" r:id="rId23"/>
    <p:sldId id="398" r:id="rId24"/>
    <p:sldId id="399" r:id="rId25"/>
    <p:sldId id="400" r:id="rId26"/>
    <p:sldId id="401" r:id="rId27"/>
    <p:sldId id="402" r:id="rId28"/>
    <p:sldId id="403" r:id="rId29"/>
    <p:sldId id="404" r:id="rId30"/>
    <p:sldId id="405" r:id="rId31"/>
    <p:sldId id="406" r:id="rId32"/>
    <p:sldId id="407" r:id="rId33"/>
    <p:sldId id="408" r:id="rId34"/>
    <p:sldId id="409" r:id="rId35"/>
    <p:sldId id="410" r:id="rId36"/>
    <p:sldId id="413" r:id="rId37"/>
    <p:sldId id="414" r:id="rId38"/>
    <p:sldId id="415" r:id="rId39"/>
    <p:sldId id="416" r:id="rId40"/>
    <p:sldId id="417" r:id="rId41"/>
    <p:sldId id="418" r:id="rId42"/>
    <p:sldId id="419" r:id="rId43"/>
    <p:sldId id="420" r:id="rId44"/>
    <p:sldId id="421" r:id="rId45"/>
    <p:sldId id="422" r:id="rId46"/>
    <p:sldId id="423" r:id="rId47"/>
    <p:sldId id="424" r:id="rId48"/>
    <p:sldId id="425" r:id="rId49"/>
    <p:sldId id="426" r:id="rId50"/>
    <p:sldId id="427" r:id="rId51"/>
    <p:sldId id="428" r:id="rId52"/>
    <p:sldId id="429" r:id="rId53"/>
    <p:sldId id="430" r:id="rId54"/>
    <p:sldId id="431" r:id="rId55"/>
    <p:sldId id="432" r:id="rId56"/>
    <p:sldId id="433" r:id="rId57"/>
    <p:sldId id="434" r:id="rId58"/>
    <p:sldId id="435" r:id="rId59"/>
    <p:sldId id="436" r:id="rId60"/>
    <p:sldId id="437" r:id="rId61"/>
    <p:sldId id="438" r:id="rId62"/>
    <p:sldId id="439" r:id="rId63"/>
    <p:sldId id="440" r:id="rId64"/>
    <p:sldId id="441" r:id="rId65"/>
    <p:sldId id="442" r:id="rId66"/>
    <p:sldId id="381"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86918" autoAdjust="0"/>
  </p:normalViewPr>
  <p:slideViewPr>
    <p:cSldViewPr snapToGrid="0">
      <p:cViewPr varScale="1">
        <p:scale>
          <a:sx n="61" d="100"/>
          <a:sy n="61" d="100"/>
        </p:scale>
        <p:origin x="112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3F041C-481F-49C9-BD10-FF95F848790F}" type="datetimeFigureOut">
              <a:rPr lang="fr-FR" smtClean="0"/>
              <a:pPr/>
              <a:t>21/05/2023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DEAC1-3E00-4F4E-A3FB-BE137CAA1EF0}" type="slidenum">
              <a:rPr lang="fr-FR" smtClean="0"/>
              <a:pPr/>
              <a:t>‹N°›</a:t>
            </a:fld>
            <a:endParaRPr lang="fr-FR"/>
          </a:p>
        </p:txBody>
      </p:sp>
    </p:spTree>
    <p:extLst>
      <p:ext uri="{BB962C8B-B14F-4D97-AF65-F5344CB8AC3E}">
        <p14:creationId xmlns:p14="http://schemas.microsoft.com/office/powerpoint/2010/main" val="1992877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9EDEAC1-3E00-4F4E-A3FB-BE137CAA1EF0}" type="slidenum">
              <a:rPr lang="fr-FR" smtClean="0"/>
              <a:pPr/>
              <a:t>1</a:t>
            </a:fld>
            <a:endParaRPr lang="fr-FR"/>
          </a:p>
        </p:txBody>
      </p:sp>
    </p:spTree>
    <p:extLst>
      <p:ext uri="{BB962C8B-B14F-4D97-AF65-F5344CB8AC3E}">
        <p14:creationId xmlns:p14="http://schemas.microsoft.com/office/powerpoint/2010/main" val="2286405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9EDEAC1-3E00-4F4E-A3FB-BE137CAA1EF0}" type="slidenum">
              <a:rPr lang="fr-FR" smtClean="0"/>
              <a:pPr/>
              <a:t>36</a:t>
            </a:fld>
            <a:endParaRPr lang="fr-FR"/>
          </a:p>
        </p:txBody>
      </p:sp>
    </p:spTree>
    <p:extLst>
      <p:ext uri="{BB962C8B-B14F-4D97-AF65-F5344CB8AC3E}">
        <p14:creationId xmlns:p14="http://schemas.microsoft.com/office/powerpoint/2010/main" val="1786094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35071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12890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35870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40320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14684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70371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03635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095429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C7616CA0-919D-4A49-9C8A-62FDFB3A5183}"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67E5644-1E61-4311-A31E-84CB9C7AA8A9}" type="slidenum">
              <a:rPr lang="en-US" smtClean="0"/>
              <a:pPr/>
              <a:t>‹N°›</a:t>
            </a:fld>
            <a:endParaRPr lang="en-US" dirty="0"/>
          </a:p>
        </p:txBody>
      </p:sp>
    </p:spTree>
    <p:extLst>
      <p:ext uri="{BB962C8B-B14F-4D97-AF65-F5344CB8AC3E}">
        <p14:creationId xmlns:p14="http://schemas.microsoft.com/office/powerpoint/2010/main" val="3775868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11131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52118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419709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39374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515202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094193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868606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6DFF08F-DC6B-4601-B491-B0F83F6DD2DA}" type="datetimeFigureOut">
              <a:rPr lang="en-US" smtClean="0"/>
              <a:pPr/>
              <a:t>5/21/2023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57257330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http://fr.wikipedia.org/wiki/Acronyme"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574515" y="1128002"/>
            <a:ext cx="10472966" cy="1408538"/>
          </a:xfrm>
        </p:spPr>
        <p:txBody>
          <a:bodyPr>
            <a:noAutofit/>
          </a:bodyPr>
          <a:lstStyle/>
          <a:p>
            <a:r>
              <a:rPr lang="fr-FR" sz="8800" b="1" dirty="0" err="1">
                <a:solidFill>
                  <a:schemeClr val="accent1">
                    <a:lumMod val="75000"/>
                  </a:schemeClr>
                </a:solidFill>
                <a:effectLst>
                  <a:outerShdw blurRad="38100" dist="38100" dir="2700000" algn="tl">
                    <a:srgbClr val="000000">
                      <a:alpha val="43137"/>
                    </a:srgbClr>
                  </a:outerShdw>
                </a:effectLst>
                <a:latin typeface="Lucida Calligraphy" panose="03010101010101010101" pitchFamily="66" charset="0"/>
              </a:rPr>
              <a:t>Bizagi</a:t>
            </a:r>
            <a:endParaRPr lang="fr-FR" sz="8800" b="1" dirty="0">
              <a:solidFill>
                <a:schemeClr val="accent1">
                  <a:lumMod val="75000"/>
                </a:schemeClr>
              </a:solidFill>
              <a:effectLst>
                <a:outerShdw blurRad="38100" dist="38100" dir="2700000" algn="tl">
                  <a:srgbClr val="000000">
                    <a:alpha val="43137"/>
                  </a:srgbClr>
                </a:outerShdw>
              </a:effectLst>
              <a:latin typeface="Lucida Calligraphy" panose="03010101010101010101" pitchFamily="66" charset="0"/>
            </a:endParaRPr>
          </a:p>
        </p:txBody>
      </p:sp>
      <p:sp>
        <p:nvSpPr>
          <p:cNvPr id="5" name="Sous-titre 2"/>
          <p:cNvSpPr txBox="1">
            <a:spLocks/>
          </p:cNvSpPr>
          <p:nvPr/>
        </p:nvSpPr>
        <p:spPr>
          <a:xfrm>
            <a:off x="2101516" y="3737811"/>
            <a:ext cx="8919409" cy="2697651"/>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ts val="1000"/>
              </a:spcBef>
              <a:spcAft>
                <a:spcPts val="0"/>
              </a:spcAft>
              <a:buClr>
                <a:schemeClr val="accent1"/>
              </a:buClr>
              <a:buSzTx/>
              <a:buFont typeface="Wingdings 3" charset="2"/>
              <a:buNone/>
              <a:tabLst/>
              <a:defRPr/>
            </a:pPr>
            <a:r>
              <a:rPr kumimoji="0" lang="fr-FR" sz="2800" b="0" i="0" u="none" strike="noStrike" kern="1200" cap="none" spc="0" normalizeH="0" baseline="0" noProof="0" dirty="0">
                <a:ln>
                  <a:noFill/>
                </a:ln>
                <a:solidFill>
                  <a:schemeClr val="accent1"/>
                </a:solidFill>
                <a:effectLst/>
                <a:uLnTx/>
                <a:uFillTx/>
                <a:latin typeface="Cooper Black" panose="0208090404030B020404" pitchFamily="18" charset="0"/>
                <a:ea typeface="+mn-ea"/>
                <a:cs typeface="+mn-cs"/>
              </a:rPr>
              <a:t>Réalisé par:  </a:t>
            </a:r>
          </a:p>
          <a:p>
            <a:pPr marL="0" marR="0" lvl="0" indent="0" algn="l" defTabSz="457200" rtl="0" eaLnBrk="1" fontAlgn="auto" latinLnBrk="0" hangingPunct="1">
              <a:lnSpc>
                <a:spcPct val="100000"/>
              </a:lnSpc>
              <a:spcBef>
                <a:spcPts val="1000"/>
              </a:spcBef>
              <a:spcAft>
                <a:spcPts val="0"/>
              </a:spcAft>
              <a:buClr>
                <a:schemeClr val="accent1"/>
              </a:buClr>
              <a:buSzTx/>
              <a:buFont typeface="Wingdings 3" charset="2"/>
              <a:buNone/>
              <a:tabLst/>
              <a:defRPr/>
            </a:pPr>
            <a:r>
              <a:rPr lang="fr-FR" sz="2800" dirty="0">
                <a:solidFill>
                  <a:schemeClr val="accent1"/>
                </a:solidFill>
                <a:latin typeface="Cooper Black" panose="0208090404030B020404" pitchFamily="18" charset="0"/>
              </a:rPr>
              <a:t>                              </a:t>
            </a:r>
            <a:r>
              <a:rPr kumimoji="0" lang="fr-FR" sz="2800" b="0" i="0" u="none" strike="noStrike" kern="1200" cap="none" spc="0" normalizeH="0" baseline="0" noProof="0" dirty="0">
                <a:ln>
                  <a:noFill/>
                </a:ln>
                <a:solidFill>
                  <a:schemeClr val="accent1"/>
                </a:solidFill>
                <a:effectLst/>
                <a:uLnTx/>
                <a:uFillTx/>
                <a:latin typeface="Cooper Black" panose="0208090404030B020404" pitchFamily="18" charset="0"/>
                <a:ea typeface="+mn-ea"/>
                <a:cs typeface="+mn-cs"/>
              </a:rPr>
              <a:t>Rachida</a:t>
            </a:r>
            <a:r>
              <a:rPr kumimoji="0" lang="fr-FR" sz="2800" b="0" i="0" u="none" strike="noStrike" kern="1200" cap="none" spc="0" normalizeH="0" noProof="0" dirty="0">
                <a:ln>
                  <a:noFill/>
                </a:ln>
                <a:solidFill>
                  <a:schemeClr val="accent1"/>
                </a:solidFill>
                <a:effectLst/>
                <a:uLnTx/>
                <a:uFillTx/>
                <a:latin typeface="Cooper Black" panose="0208090404030B020404" pitchFamily="18" charset="0"/>
                <a:ea typeface="+mn-ea"/>
                <a:cs typeface="+mn-cs"/>
              </a:rPr>
              <a:t> AIT ABDELUAHID</a:t>
            </a:r>
            <a:endParaRPr kumimoji="0" lang="fr-FR" sz="2800" b="0" i="0" u="none" strike="noStrike" kern="1200" cap="none" spc="0" normalizeH="0" baseline="0" noProof="0" dirty="0">
              <a:ln>
                <a:noFill/>
              </a:ln>
              <a:solidFill>
                <a:schemeClr val="accent1"/>
              </a:solidFill>
              <a:effectLst/>
              <a:uLnTx/>
              <a:uFillTx/>
              <a:latin typeface="Cooper Black" panose="0208090404030B020404" pitchFamily="18" charset="0"/>
              <a:ea typeface="+mn-ea"/>
              <a:cs typeface="+mn-cs"/>
            </a:endParaRPr>
          </a:p>
        </p:txBody>
      </p:sp>
    </p:spTree>
    <p:extLst>
      <p:ext uri="{BB962C8B-B14F-4D97-AF65-F5344CB8AC3E}">
        <p14:creationId xmlns:p14="http://schemas.microsoft.com/office/powerpoint/2010/main" val="111764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71446"/>
            <a:ext cx="8911687" cy="1280890"/>
          </a:xfrm>
        </p:spPr>
        <p:txBody>
          <a:bodyPr>
            <a:normAutofit/>
          </a:bodyPr>
          <a:lstStyle/>
          <a:p>
            <a:r>
              <a:rPr lang="fr-FR" sz="6600" dirty="0">
                <a:solidFill>
                  <a:schemeClr val="accent1"/>
                </a:solidFill>
                <a:latin typeface="Cooper Black" panose="0208090404030B020404" pitchFamily="18" charset="0"/>
              </a:rPr>
              <a:t>PLAN</a:t>
            </a:r>
          </a:p>
        </p:txBody>
      </p:sp>
      <p:sp>
        <p:nvSpPr>
          <p:cNvPr id="3" name="Espace réservé du contenu 2"/>
          <p:cNvSpPr>
            <a:spLocks noGrp="1"/>
          </p:cNvSpPr>
          <p:nvPr>
            <p:ph idx="1"/>
          </p:nvPr>
        </p:nvSpPr>
        <p:spPr>
          <a:xfrm>
            <a:off x="721895" y="1652336"/>
            <a:ext cx="10782717" cy="3777622"/>
          </a:xfrm>
        </p:spPr>
        <p:txBody>
          <a:bodyPr>
            <a:noAutofit/>
          </a:bodyPr>
          <a:lstStyle/>
          <a:p>
            <a:pPr>
              <a:buNone/>
            </a:pPr>
            <a:r>
              <a:rPr lang="fr-FR" sz="2000" dirty="0">
                <a:latin typeface="Cooper Black" panose="0208090404030B020404" pitchFamily="18" charset="0"/>
              </a:rPr>
              <a:t>I-Introduction</a:t>
            </a:r>
          </a:p>
          <a:p>
            <a:pPr>
              <a:buNone/>
            </a:pPr>
            <a:r>
              <a:rPr lang="fr-FR" sz="2000" dirty="0">
                <a:latin typeface="Cooper Black" panose="0208090404030B020404" pitchFamily="18" charset="0"/>
              </a:rPr>
              <a:t>Processus métier</a:t>
            </a:r>
          </a:p>
          <a:p>
            <a:pPr>
              <a:buNone/>
            </a:pPr>
            <a:r>
              <a:rPr lang="fr-FR" sz="2000" dirty="0">
                <a:latin typeface="Cooper Black" panose="0208090404030B020404" pitchFamily="18" charset="0"/>
              </a:rPr>
              <a:t>II-</a:t>
            </a:r>
            <a:r>
              <a:rPr lang="fr-FR" sz="2000" dirty="0" err="1">
                <a:latin typeface="Cooper Black" panose="0208090404030B020404" pitchFamily="18" charset="0"/>
              </a:rPr>
              <a:t>Bizagi</a:t>
            </a:r>
            <a:endParaRPr lang="fr-FR" sz="2000" dirty="0">
              <a:latin typeface="Cooper Black" panose="0208090404030B020404" pitchFamily="18" charset="0"/>
            </a:endParaRPr>
          </a:p>
          <a:p>
            <a:pPr>
              <a:buNone/>
            </a:pPr>
            <a:r>
              <a:rPr lang="fr-FR" sz="2000" dirty="0">
                <a:latin typeface="Cooper Black" panose="0208090404030B020404" pitchFamily="18" charset="0"/>
              </a:rPr>
              <a:t>    1-Définition st description</a:t>
            </a:r>
          </a:p>
          <a:p>
            <a:pPr>
              <a:buNone/>
            </a:pPr>
            <a:r>
              <a:rPr lang="fr-FR" sz="2000" dirty="0">
                <a:latin typeface="Cooper Black" panose="0208090404030B020404" pitchFamily="18" charset="0"/>
              </a:rPr>
              <a:t>    2-Etude de cas : Bibliothèque</a:t>
            </a:r>
          </a:p>
          <a:p>
            <a:pPr>
              <a:buNone/>
            </a:pPr>
            <a:r>
              <a:rPr lang="fr-FR" sz="2000" dirty="0">
                <a:latin typeface="Cooper Black" panose="0208090404030B020404" pitchFamily="18" charset="0"/>
              </a:rPr>
              <a:t>IV-Conclusion</a:t>
            </a:r>
          </a:p>
        </p:txBody>
      </p:sp>
    </p:spTree>
    <p:extLst>
      <p:ext uri="{BB962C8B-B14F-4D97-AF65-F5344CB8AC3E}">
        <p14:creationId xmlns:p14="http://schemas.microsoft.com/office/powerpoint/2010/main" val="2779590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94143" y="557848"/>
            <a:ext cx="8911687" cy="1070952"/>
          </a:xfrm>
        </p:spPr>
        <p:txBody>
          <a:bodyPr>
            <a:normAutofit/>
          </a:bodyPr>
          <a:lstStyle/>
          <a:p>
            <a:r>
              <a:rPr lang="fr-FR" sz="4800" b="1" dirty="0">
                <a:solidFill>
                  <a:schemeClr val="accent1"/>
                </a:solidFill>
                <a:latin typeface="Comic Sans MS" pitchFamily="66" charset="0"/>
              </a:rPr>
              <a:t>Introduction</a:t>
            </a:r>
          </a:p>
        </p:txBody>
      </p:sp>
      <p:pic>
        <p:nvPicPr>
          <p:cNvPr id="1026" name="Picture 2" descr="C:\Users\E6430\Desktop\images.jpg"/>
          <p:cNvPicPr>
            <a:picLocks noGrp="1" noChangeAspect="1" noChangeArrowheads="1"/>
          </p:cNvPicPr>
          <p:nvPr>
            <p:ph idx="1"/>
          </p:nvPr>
        </p:nvPicPr>
        <p:blipFill>
          <a:blip r:embed="rId2" cstate="print"/>
          <a:srcRect/>
          <a:stretch>
            <a:fillRect/>
          </a:stretch>
        </p:blipFill>
        <p:spPr bwMode="auto">
          <a:xfrm>
            <a:off x="7632171" y="2132856"/>
            <a:ext cx="3328304" cy="1257300"/>
          </a:xfrm>
          <a:prstGeom prst="rect">
            <a:avLst/>
          </a:prstGeom>
          <a:noFill/>
        </p:spPr>
      </p:pic>
      <p:pic>
        <p:nvPicPr>
          <p:cNvPr id="1027" name="Picture 3" descr="C:\Users\E6430\Desktop\images (1).jpg"/>
          <p:cNvPicPr>
            <a:picLocks noChangeAspect="1" noChangeArrowheads="1"/>
          </p:cNvPicPr>
          <p:nvPr/>
        </p:nvPicPr>
        <p:blipFill>
          <a:blip r:embed="rId3" cstate="print"/>
          <a:srcRect/>
          <a:stretch>
            <a:fillRect/>
          </a:stretch>
        </p:blipFill>
        <p:spPr bwMode="auto">
          <a:xfrm>
            <a:off x="7248128" y="4149081"/>
            <a:ext cx="3824632" cy="1223497"/>
          </a:xfrm>
          <a:prstGeom prst="rect">
            <a:avLst/>
          </a:prstGeom>
          <a:noFill/>
        </p:spPr>
      </p:pic>
      <p:pic>
        <p:nvPicPr>
          <p:cNvPr id="1028" name="Picture 4" descr="C:\Users\E6430\Desktop\téléchargement.jpg"/>
          <p:cNvPicPr>
            <a:picLocks noChangeAspect="1" noChangeArrowheads="1"/>
          </p:cNvPicPr>
          <p:nvPr/>
        </p:nvPicPr>
        <p:blipFill>
          <a:blip r:embed="rId4" cstate="print"/>
          <a:srcRect/>
          <a:stretch>
            <a:fillRect/>
          </a:stretch>
        </p:blipFill>
        <p:spPr bwMode="auto">
          <a:xfrm>
            <a:off x="2447595" y="1700809"/>
            <a:ext cx="3744416" cy="1685925"/>
          </a:xfrm>
          <a:prstGeom prst="rect">
            <a:avLst/>
          </a:prstGeom>
          <a:noFill/>
        </p:spPr>
      </p:pic>
      <p:pic>
        <p:nvPicPr>
          <p:cNvPr id="1029" name="Picture 5" descr="C:\Users\E6430\Desktop\world20of20bpmn.png"/>
          <p:cNvPicPr>
            <a:picLocks noChangeAspect="1" noChangeArrowheads="1"/>
          </p:cNvPicPr>
          <p:nvPr/>
        </p:nvPicPr>
        <p:blipFill>
          <a:blip r:embed="rId5" cstate="print"/>
          <a:srcRect/>
          <a:stretch>
            <a:fillRect/>
          </a:stretch>
        </p:blipFill>
        <p:spPr bwMode="auto">
          <a:xfrm>
            <a:off x="2159563" y="3861048"/>
            <a:ext cx="3552395" cy="248666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checkerboard(across)">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29"/>
                                        </p:tgtEl>
                                        <p:attrNameLst>
                                          <p:attrName>style.visibility</p:attrName>
                                        </p:attrNameLst>
                                      </p:cBhvr>
                                      <p:to>
                                        <p:strVal val="visible"/>
                                      </p:to>
                                    </p:set>
                                    <p:animEffect transition="in" filter="checkerboard(across)">
                                      <p:cBhvr>
                                        <p:cTn id="12" dur="500"/>
                                        <p:tgtEl>
                                          <p:spTgt spid="102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checkerboard(across)">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27"/>
                                        </p:tgtEl>
                                        <p:attrNameLst>
                                          <p:attrName>style.visibility</p:attrName>
                                        </p:attrNameLst>
                                      </p:cBhvr>
                                      <p:to>
                                        <p:strVal val="visible"/>
                                      </p:to>
                                    </p:set>
                                    <p:animEffect transition="in" filter="checkerboard(across)">
                                      <p:cBhvr>
                                        <p:cTn id="22"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962526" y="1556792"/>
            <a:ext cx="10924674" cy="144655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buBlip>
                <a:blip r:embed="rId2"/>
              </a:buBlip>
            </a:pPr>
            <a:endParaRPr lang="fr-FR" sz="2000" dirty="0"/>
          </a:p>
          <a:p>
            <a:pPr lvl="1">
              <a:buBlip>
                <a:blip r:embed="rId2"/>
              </a:buBlip>
            </a:pPr>
            <a:r>
              <a:rPr lang="fr-FR" sz="2400" dirty="0">
                <a:latin typeface="Comic Sans MS" panose="030F0702030302020204" pitchFamily="66" charset="0"/>
              </a:rPr>
              <a:t> Un processus représente un flux séquentiel d’activités ou de taches   réalisé dans une organisation afin de produire un ou plusieurs extrants.</a:t>
            </a:r>
          </a:p>
          <a:p>
            <a:endParaRPr lang="fr-FR" sz="2000" dirty="0"/>
          </a:p>
        </p:txBody>
      </p:sp>
      <p:pic>
        <p:nvPicPr>
          <p:cNvPr id="1026" name="Picture 2" descr="C:\Users\E6430\Desktop\processus.jpg"/>
          <p:cNvPicPr>
            <a:picLocks noChangeAspect="1" noChangeArrowheads="1"/>
          </p:cNvPicPr>
          <p:nvPr/>
        </p:nvPicPr>
        <p:blipFill>
          <a:blip r:embed="rId3" cstate="print"/>
          <a:srcRect/>
          <a:stretch>
            <a:fillRect/>
          </a:stretch>
        </p:blipFill>
        <p:spPr bwMode="auto">
          <a:xfrm>
            <a:off x="1991544" y="3490030"/>
            <a:ext cx="8208912" cy="3133774"/>
          </a:xfrm>
          <a:prstGeom prst="rect">
            <a:avLst/>
          </a:prstGeom>
          <a:noFill/>
        </p:spPr>
      </p:pic>
      <p:sp>
        <p:nvSpPr>
          <p:cNvPr id="6" name="Titre 1"/>
          <p:cNvSpPr txBox="1">
            <a:spLocks/>
          </p:cNvSpPr>
          <p:nvPr/>
        </p:nvSpPr>
        <p:spPr>
          <a:xfrm>
            <a:off x="2063551" y="497305"/>
            <a:ext cx="5957043" cy="757465"/>
          </a:xfrm>
          <a:prstGeom prst="rect">
            <a:avLst/>
          </a:prstGeo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fr-FR" sz="4000" dirty="0">
                <a:solidFill>
                  <a:schemeClr val="accent1"/>
                </a:solidFill>
                <a:latin typeface="Cooper Black" panose="0208090404030B020404" pitchFamily="18" charset="0"/>
                <a:ea typeface="+mj-ea"/>
                <a:cs typeface="+mj-cs"/>
              </a:rPr>
              <a:t>Processus métiers</a:t>
            </a:r>
          </a:p>
        </p:txBody>
      </p:sp>
    </p:spTree>
    <p:extLst>
      <p:ext uri="{BB962C8B-B14F-4D97-AF65-F5344CB8AC3E}">
        <p14:creationId xmlns:p14="http://schemas.microsoft.com/office/powerpoint/2010/main" val="1789982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994611" y="1772816"/>
            <a:ext cx="10475493" cy="224676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000" b="1" dirty="0">
                <a:solidFill>
                  <a:srgbClr val="C00000"/>
                </a:solidFill>
                <a:latin typeface="Comic Sans MS" panose="030F0702030302020204" pitchFamily="66" charset="0"/>
              </a:rPr>
              <a:t>La modélisation des processus métiers ?</a:t>
            </a:r>
          </a:p>
          <a:p>
            <a:endParaRPr lang="fr-FR" sz="2000" dirty="0">
              <a:latin typeface="Comic Sans MS" panose="030F0702030302020204" pitchFamily="66" charset="0"/>
            </a:endParaRPr>
          </a:p>
          <a:p>
            <a:pPr>
              <a:buBlip>
                <a:blip r:embed="rId2"/>
              </a:buBlip>
            </a:pPr>
            <a:r>
              <a:rPr lang="fr-FR" sz="2000" dirty="0">
                <a:latin typeface="Comic Sans MS" panose="030F0702030302020204" pitchFamily="66" charset="0"/>
              </a:rPr>
              <a:t> La représentation d’un processus se fait en rédigeant un modèle selon une notation plus ou moins formelle. Les méthodes et formalismes adoptés se sont imposés au gré de la démocratisation de l’utilisation des processus, et le terme ‘modélisation’ ou création d’un ‘modèle’ sera adopté pour exprimer la représentation d’un processus selon un formalisme spécifique</a:t>
            </a:r>
          </a:p>
        </p:txBody>
      </p:sp>
      <p:sp>
        <p:nvSpPr>
          <p:cNvPr id="8" name="ZoneTexte 7"/>
          <p:cNvSpPr txBox="1"/>
          <p:nvPr/>
        </p:nvSpPr>
        <p:spPr>
          <a:xfrm>
            <a:off x="994611" y="4495619"/>
            <a:ext cx="10475493" cy="160043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000" b="1" dirty="0">
                <a:solidFill>
                  <a:srgbClr val="C00000"/>
                </a:solidFill>
                <a:latin typeface="Comic Sans MS" panose="030F0702030302020204" pitchFamily="66" charset="0"/>
              </a:rPr>
              <a:t>La cartographie des processus métiers?</a:t>
            </a:r>
          </a:p>
          <a:p>
            <a:endParaRPr lang="fr-FR" sz="2000" dirty="0">
              <a:latin typeface="Comic Sans MS" panose="030F0702030302020204" pitchFamily="66" charset="0"/>
            </a:endParaRPr>
          </a:p>
          <a:p>
            <a:pPr>
              <a:buBlip>
                <a:blip r:embed="rId2"/>
              </a:buBlip>
            </a:pPr>
            <a:r>
              <a:rPr lang="fr-FR" sz="2000" dirty="0">
                <a:latin typeface="Comic Sans MS" panose="030F0702030302020204" pitchFamily="66" charset="0"/>
              </a:rPr>
              <a:t> Représentation graphique de chacun des étapes de l’ensemble des activités d’un processus et les liens entre elles, de manière à faciliter la visualisation de l’ensemble</a:t>
            </a:r>
            <a:r>
              <a:rPr lang="fr-FR" dirty="0"/>
              <a:t>.</a:t>
            </a:r>
          </a:p>
          <a:p>
            <a:endParaRPr lang="fr-FR" dirty="0"/>
          </a:p>
        </p:txBody>
      </p:sp>
      <p:sp>
        <p:nvSpPr>
          <p:cNvPr id="9" name="Titre 1"/>
          <p:cNvSpPr txBox="1">
            <a:spLocks/>
          </p:cNvSpPr>
          <p:nvPr/>
        </p:nvSpPr>
        <p:spPr>
          <a:xfrm>
            <a:off x="2063551" y="497305"/>
            <a:ext cx="5957043" cy="757465"/>
          </a:xfrm>
          <a:prstGeom prst="rect">
            <a:avLst/>
          </a:prstGeo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fr-FR" sz="4000" dirty="0">
                <a:solidFill>
                  <a:schemeClr val="accent1"/>
                </a:solidFill>
                <a:latin typeface="Cooper Black" panose="0208090404030B020404" pitchFamily="18" charset="0"/>
                <a:ea typeface="+mj-ea"/>
                <a:cs typeface="+mj-cs"/>
              </a:rPr>
              <a:t>Processus métiers</a:t>
            </a:r>
          </a:p>
        </p:txBody>
      </p:sp>
    </p:spTree>
    <p:extLst>
      <p:ext uri="{BB962C8B-B14F-4D97-AF65-F5344CB8AC3E}">
        <p14:creationId xmlns:p14="http://schemas.microsoft.com/office/powerpoint/2010/main" val="1959623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1223097" y="2020159"/>
            <a:ext cx="10804356" cy="409342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2000" b="1" dirty="0"/>
              <a:t> </a:t>
            </a:r>
            <a:endParaRPr lang="fr-FR" sz="2000" dirty="0">
              <a:latin typeface="Comic Sans MS" panose="030F0702030302020204" pitchFamily="66" charset="0"/>
            </a:endParaRPr>
          </a:p>
          <a:p>
            <a:r>
              <a:rPr lang="fr-FR" sz="2000" b="1" dirty="0">
                <a:solidFill>
                  <a:srgbClr val="C00000"/>
                </a:solidFill>
                <a:latin typeface="Comic Sans MS" panose="030F0702030302020204" pitchFamily="66" charset="0"/>
              </a:rPr>
              <a:t>Les standards (formalismes) de la modélisation des processus métiers</a:t>
            </a:r>
          </a:p>
          <a:p>
            <a:endParaRPr lang="fr-FR" sz="2000" dirty="0">
              <a:latin typeface="Comic Sans MS" panose="030F0702030302020204" pitchFamily="66" charset="0"/>
            </a:endParaRPr>
          </a:p>
          <a:p>
            <a:r>
              <a:rPr lang="fr-FR" sz="2000" dirty="0">
                <a:latin typeface="Comic Sans MS" panose="030F0702030302020204" pitchFamily="66" charset="0"/>
              </a:rPr>
              <a:t>Les composantes de la modélisation qui sont ‘échange’ et ‘représentation’ ont conduit à définir des langages communs, ou notations communes, qui deviendront des standards.</a:t>
            </a:r>
          </a:p>
          <a:p>
            <a:r>
              <a:rPr lang="fr-FR" sz="2000" dirty="0">
                <a:latin typeface="Comic Sans MS" panose="030F0702030302020204" pitchFamily="66" charset="0"/>
              </a:rPr>
              <a:t>Les principales méthodes ou langages retenues en raison de leur diffusion, ouverture, et officialisation sont :</a:t>
            </a:r>
          </a:p>
          <a:p>
            <a:pPr marL="342900" indent="-342900">
              <a:buFont typeface="Arial" panose="020B0604020202020204" pitchFamily="34" charset="0"/>
              <a:buChar char="•"/>
            </a:pPr>
            <a:r>
              <a:rPr lang="fr-FR" sz="2000" b="1" dirty="0">
                <a:latin typeface="Comic Sans MS" panose="030F0702030302020204" pitchFamily="66" charset="0"/>
              </a:rPr>
              <a:t>IDEF</a:t>
            </a:r>
          </a:p>
          <a:p>
            <a:pPr marL="342900" indent="-342900">
              <a:buFont typeface="Arial" panose="020B0604020202020204" pitchFamily="34" charset="0"/>
              <a:buChar char="•"/>
            </a:pPr>
            <a:r>
              <a:rPr lang="fr-FR" sz="2000" b="1" dirty="0">
                <a:latin typeface="Comic Sans MS" panose="030F0702030302020204" pitchFamily="66" charset="0"/>
              </a:rPr>
              <a:t>OSSAF</a:t>
            </a:r>
          </a:p>
          <a:p>
            <a:pPr marL="342900" indent="-342900">
              <a:buFont typeface="Arial" panose="020B0604020202020204" pitchFamily="34" charset="0"/>
              <a:buChar char="•"/>
            </a:pPr>
            <a:r>
              <a:rPr lang="fr-FR" sz="2000" b="1" dirty="0">
                <a:latin typeface="Comic Sans MS" panose="030F0702030302020204" pitchFamily="66" charset="0"/>
              </a:rPr>
              <a:t>MERISE </a:t>
            </a:r>
            <a:endParaRPr lang="fr-FR" sz="2000" dirty="0">
              <a:latin typeface="Comic Sans MS" panose="030F0702030302020204" pitchFamily="66" charset="0"/>
            </a:endParaRPr>
          </a:p>
          <a:p>
            <a:pPr marL="342900" indent="-342900">
              <a:buFont typeface="Arial" panose="020B0604020202020204" pitchFamily="34" charset="0"/>
              <a:buChar char="•"/>
            </a:pPr>
            <a:r>
              <a:rPr lang="fr-FR" sz="2000" b="1" dirty="0">
                <a:latin typeface="Comic Sans MS" panose="030F0702030302020204" pitchFamily="66" charset="0"/>
              </a:rPr>
              <a:t>UML </a:t>
            </a:r>
            <a:r>
              <a:rPr lang="fr-FR" sz="2000" b="1" i="1" dirty="0">
                <a:latin typeface="Comic Sans MS" panose="030F0702030302020204" pitchFamily="66" charset="0"/>
              </a:rPr>
              <a:t>(</a:t>
            </a:r>
            <a:r>
              <a:rPr lang="fr-FR" sz="2000" b="1" i="1" dirty="0" err="1">
                <a:latin typeface="Comic Sans MS" panose="030F0702030302020204" pitchFamily="66" charset="0"/>
              </a:rPr>
              <a:t>Unified</a:t>
            </a:r>
            <a:r>
              <a:rPr lang="fr-FR" sz="2000" b="1" i="1" dirty="0">
                <a:latin typeface="Comic Sans MS" panose="030F0702030302020204" pitchFamily="66" charset="0"/>
              </a:rPr>
              <a:t> </a:t>
            </a:r>
            <a:r>
              <a:rPr lang="fr-FR" sz="2000" b="1" i="1" dirty="0" err="1">
                <a:latin typeface="Comic Sans MS" panose="030F0702030302020204" pitchFamily="66" charset="0"/>
              </a:rPr>
              <a:t>Modeling</a:t>
            </a:r>
            <a:r>
              <a:rPr lang="fr-FR" sz="2000" b="1" i="1" dirty="0">
                <a:latin typeface="Comic Sans MS" panose="030F0702030302020204" pitchFamily="66" charset="0"/>
              </a:rPr>
              <a:t> </a:t>
            </a:r>
            <a:r>
              <a:rPr lang="fr-FR" sz="2000" b="1" i="1" dirty="0" err="1">
                <a:latin typeface="Comic Sans MS" panose="030F0702030302020204" pitchFamily="66" charset="0"/>
              </a:rPr>
              <a:t>Language</a:t>
            </a:r>
            <a:r>
              <a:rPr lang="fr-FR" sz="2000" b="1" dirty="0">
                <a:latin typeface="Comic Sans MS" panose="030F0702030302020204" pitchFamily="66" charset="0"/>
              </a:rPr>
              <a:t>)</a:t>
            </a:r>
            <a:r>
              <a:rPr lang="fr-FR" sz="2000" dirty="0">
                <a:latin typeface="Comic Sans MS" panose="030F0702030302020204" pitchFamily="66" charset="0"/>
              </a:rPr>
              <a:t> </a:t>
            </a:r>
          </a:p>
          <a:p>
            <a:pPr marL="342900" indent="-342900">
              <a:buFont typeface="Arial" panose="020B0604020202020204" pitchFamily="34" charset="0"/>
              <a:buChar char="•"/>
            </a:pPr>
            <a:r>
              <a:rPr lang="fr-FR" sz="2000" b="1" dirty="0">
                <a:latin typeface="Comic Sans MS" panose="030F0702030302020204" pitchFamily="66" charset="0"/>
              </a:rPr>
              <a:t>BPMN (</a:t>
            </a:r>
            <a:r>
              <a:rPr lang="fr-FR" sz="2000" b="1" i="1" dirty="0">
                <a:latin typeface="Comic Sans MS" panose="030F0702030302020204" pitchFamily="66" charset="0"/>
              </a:rPr>
              <a:t>Business </a:t>
            </a:r>
            <a:r>
              <a:rPr lang="fr-FR" sz="2000" b="1" i="1" dirty="0" err="1">
                <a:latin typeface="Comic Sans MS" panose="030F0702030302020204" pitchFamily="66" charset="0"/>
              </a:rPr>
              <a:t>Process</a:t>
            </a:r>
            <a:r>
              <a:rPr lang="fr-FR" sz="2000" b="1" i="1" dirty="0">
                <a:latin typeface="Comic Sans MS" panose="030F0702030302020204" pitchFamily="66" charset="0"/>
              </a:rPr>
              <a:t> Model and Notation</a:t>
            </a:r>
            <a:r>
              <a:rPr lang="fr-FR" sz="2000" b="1" dirty="0">
                <a:latin typeface="Comic Sans MS" panose="030F0702030302020204" pitchFamily="66" charset="0"/>
              </a:rPr>
              <a:t>)</a:t>
            </a:r>
            <a:r>
              <a:rPr lang="fr-FR" sz="2000" dirty="0">
                <a:latin typeface="Comic Sans MS" panose="030F0702030302020204" pitchFamily="66" charset="0"/>
              </a:rPr>
              <a:t> </a:t>
            </a:r>
          </a:p>
          <a:p>
            <a:endParaRPr lang="fr-FR" sz="2000" dirty="0">
              <a:latin typeface="Comic Sans MS" panose="030F0702030302020204" pitchFamily="66" charset="0"/>
            </a:endParaRPr>
          </a:p>
        </p:txBody>
      </p:sp>
      <p:sp>
        <p:nvSpPr>
          <p:cNvPr id="7" name="Titre 1"/>
          <p:cNvSpPr txBox="1">
            <a:spLocks/>
          </p:cNvSpPr>
          <p:nvPr/>
        </p:nvSpPr>
        <p:spPr>
          <a:xfrm>
            <a:off x="2063551" y="497305"/>
            <a:ext cx="5957043" cy="757465"/>
          </a:xfrm>
          <a:prstGeom prst="rect">
            <a:avLst/>
          </a:prstGeom>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fr-FR" sz="4000" dirty="0">
                <a:solidFill>
                  <a:schemeClr val="accent1"/>
                </a:solidFill>
                <a:latin typeface="Cooper Black" panose="0208090404030B020404" pitchFamily="18" charset="0"/>
                <a:ea typeface="+mj-ea"/>
                <a:cs typeface="+mj-cs"/>
              </a:rPr>
              <a:t>Processus métiers</a:t>
            </a:r>
          </a:p>
        </p:txBody>
      </p:sp>
    </p:spTree>
    <p:extLst>
      <p:ext uri="{BB962C8B-B14F-4D97-AF65-F5344CB8AC3E}">
        <p14:creationId xmlns:p14="http://schemas.microsoft.com/office/powerpoint/2010/main" val="378578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59928" y="2276160"/>
            <a:ext cx="4573730" cy="1280890"/>
          </a:xfrm>
        </p:spPr>
        <p:txBody>
          <a:bodyPr>
            <a:noAutofit/>
          </a:bodyPr>
          <a:lstStyle/>
          <a:p>
            <a:r>
              <a:rPr lang="fr-FR" sz="9600" dirty="0" err="1">
                <a:solidFill>
                  <a:schemeClr val="accent1"/>
                </a:solidFill>
                <a:latin typeface="Cooper Black" panose="0208090404030B020404" pitchFamily="18" charset="0"/>
              </a:rPr>
              <a:t>Bizagi</a:t>
            </a:r>
            <a:endParaRPr lang="fr-FR" sz="9600" dirty="0">
              <a:solidFill>
                <a:schemeClr val="accent1"/>
              </a:solidFill>
              <a:latin typeface="Cooper Black" panose="0208090404030B020404" pitchFamily="18" charset="0"/>
            </a:endParaRPr>
          </a:p>
        </p:txBody>
      </p:sp>
    </p:spTree>
    <p:extLst>
      <p:ext uri="{BB962C8B-B14F-4D97-AF65-F5344CB8AC3E}">
        <p14:creationId xmlns:p14="http://schemas.microsoft.com/office/powerpoint/2010/main" val="404916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9352" y="214206"/>
            <a:ext cx="8911687" cy="1280890"/>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534510" y="1072055"/>
            <a:ext cx="10226566" cy="4839167"/>
          </a:xfrm>
        </p:spPr>
        <p:txBody>
          <a:bodyPr/>
          <a:lstStyle/>
          <a:p>
            <a:endParaRPr lang="fr-FR" sz="2000" dirty="0">
              <a:latin typeface="Comic Sans MS" panose="030F0702030302020204" pitchFamily="66" charset="0"/>
            </a:endParaRPr>
          </a:p>
          <a:p>
            <a:r>
              <a:rPr lang="fr-FR" sz="2000" dirty="0">
                <a:latin typeface="Comic Sans MS" panose="030F0702030302020204" pitchFamily="66" charset="0"/>
              </a:rPr>
              <a:t>Un logiciel gratuit utilisé pour : </a:t>
            </a:r>
          </a:p>
          <a:p>
            <a:endParaRPr lang="fr-FR" sz="2000" dirty="0">
              <a:latin typeface="Comic Sans MS" panose="030F0702030302020204" pitchFamily="66" charset="0"/>
            </a:endParaRPr>
          </a:p>
          <a:p>
            <a:r>
              <a:rPr lang="fr-FR" sz="2000" dirty="0">
                <a:latin typeface="Comic Sans MS" panose="030F0702030302020204" pitchFamily="66" charset="0"/>
              </a:rPr>
              <a:t> Représenter un processus</a:t>
            </a:r>
          </a:p>
          <a:p>
            <a:r>
              <a:rPr lang="fr-FR" sz="2000" dirty="0">
                <a:latin typeface="Comic Sans MS" panose="030F0702030302020204" pitchFamily="66" charset="0"/>
              </a:rPr>
              <a:t> Créer le processus</a:t>
            </a:r>
          </a:p>
          <a:p>
            <a:r>
              <a:rPr lang="fr-FR" sz="2000" dirty="0">
                <a:latin typeface="Comic Sans MS" panose="030F0702030302020204" pitchFamily="66" charset="0"/>
              </a:rPr>
              <a:t> Documenter le processus</a:t>
            </a:r>
          </a:p>
          <a:p>
            <a:r>
              <a:rPr lang="fr-FR" sz="2000" dirty="0">
                <a:latin typeface="Comic Sans MS" panose="030F0702030302020204" pitchFamily="66" charset="0"/>
              </a:rPr>
              <a:t> Simuler le processus</a:t>
            </a:r>
          </a:p>
          <a:p>
            <a:r>
              <a:rPr lang="fr-FR" sz="2000" dirty="0">
                <a:latin typeface="Comic Sans MS" panose="030F0702030302020204" pitchFamily="66" charset="0"/>
              </a:rPr>
              <a:t> Collaborer dans le processus</a:t>
            </a:r>
          </a:p>
          <a:p>
            <a:pPr>
              <a:buNone/>
            </a:pPr>
            <a:endParaRPr lang="fr-FR" dirty="0"/>
          </a:p>
          <a:p>
            <a:endParaRPr lang="fr-FR" dirty="0"/>
          </a:p>
        </p:txBody>
      </p:sp>
      <p:sp>
        <p:nvSpPr>
          <p:cNvPr id="4" name="Accolade fermante 3"/>
          <p:cNvSpPr/>
          <p:nvPr/>
        </p:nvSpPr>
        <p:spPr>
          <a:xfrm>
            <a:off x="5992578" y="2222726"/>
            <a:ext cx="504496" cy="23002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 name="Rectangle 4"/>
          <p:cNvSpPr/>
          <p:nvPr/>
        </p:nvSpPr>
        <p:spPr>
          <a:xfrm>
            <a:off x="6708098" y="2962237"/>
            <a:ext cx="3926075" cy="400110"/>
          </a:xfrm>
          <a:prstGeom prst="rect">
            <a:avLst/>
          </a:prstGeom>
        </p:spPr>
        <p:txBody>
          <a:bodyPr wrap="none">
            <a:spAutoFit/>
          </a:bodyPr>
          <a:lstStyle/>
          <a:p>
            <a:pPr lvl="0">
              <a:spcBef>
                <a:spcPct val="0"/>
              </a:spcBef>
              <a:defRPr/>
            </a:pPr>
            <a:r>
              <a:rPr lang="fr-FR" sz="2000" dirty="0">
                <a:solidFill>
                  <a:schemeClr val="tx1">
                    <a:lumMod val="85000"/>
                    <a:lumOff val="15000"/>
                  </a:schemeClr>
                </a:solidFill>
                <a:latin typeface="Comic Sans MS" panose="030F0702030302020204" pitchFamily="66" charset="0"/>
              </a:rPr>
              <a:t>En utilisant le standard BPMN  </a:t>
            </a:r>
          </a:p>
        </p:txBody>
      </p:sp>
    </p:spTree>
    <p:extLst>
      <p:ext uri="{BB962C8B-B14F-4D97-AF65-F5344CB8AC3E}">
        <p14:creationId xmlns:p14="http://schemas.microsoft.com/office/powerpoint/2010/main" val="1350504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548893" y="1819137"/>
            <a:ext cx="10331669" cy="5038863"/>
          </a:xfrm>
        </p:spPr>
        <p:txBody>
          <a:bodyPr/>
          <a:lstStyle/>
          <a:p>
            <a:pPr marL="0" indent="0">
              <a:buNone/>
            </a:pPr>
            <a:endParaRPr lang="fr-FR" sz="2400" dirty="0"/>
          </a:p>
          <a:p>
            <a:pPr>
              <a:buFont typeface="Wingdings" panose="05000000000000000000" pitchFamily="2" charset="2"/>
              <a:buChar char="Ø"/>
            </a:pPr>
            <a:r>
              <a:rPr lang="fr-FR" sz="2400" dirty="0">
                <a:latin typeface="Comic Sans MS" panose="030F0702030302020204" pitchFamily="66" charset="0"/>
              </a:rPr>
              <a:t>Représenter un processus:</a:t>
            </a:r>
          </a:p>
          <a:p>
            <a:pPr marL="0" indent="0">
              <a:buNone/>
            </a:pPr>
            <a:endParaRPr lang="fr-FR" sz="2000" dirty="0">
              <a:latin typeface="Comic Sans MS" panose="030F0702030302020204" pitchFamily="66" charset="0"/>
            </a:endParaRPr>
          </a:p>
          <a:p>
            <a:pPr>
              <a:buFont typeface="Wingdings" panose="05000000000000000000" pitchFamily="2" charset="2"/>
              <a:buChar char="§"/>
            </a:pPr>
            <a:r>
              <a:rPr lang="fr-FR" sz="2000" dirty="0">
                <a:latin typeface="Comic Sans MS" panose="030F0702030302020204" pitchFamily="66" charset="0"/>
              </a:rPr>
              <a:t>Interface Utilisateur</a:t>
            </a:r>
          </a:p>
          <a:p>
            <a:pPr>
              <a:buFont typeface="Wingdings" panose="05000000000000000000" pitchFamily="2" charset="2"/>
              <a:buChar char="§"/>
            </a:pPr>
            <a:r>
              <a:rPr lang="fr-FR" sz="2000" dirty="0">
                <a:latin typeface="Comic Sans MS" panose="030F0702030302020204" pitchFamily="66" charset="0"/>
              </a:rPr>
              <a:t>Créer un processus</a:t>
            </a:r>
          </a:p>
          <a:p>
            <a:pPr>
              <a:buFont typeface="Wingdings" panose="05000000000000000000" pitchFamily="2" charset="2"/>
              <a:buChar char="§"/>
            </a:pPr>
            <a:r>
              <a:rPr lang="fr-FR" sz="2000" dirty="0">
                <a:latin typeface="Comic Sans MS" panose="030F0702030302020204" pitchFamily="66" charset="0"/>
              </a:rPr>
              <a:t>Impression</a:t>
            </a:r>
          </a:p>
          <a:p>
            <a:pPr>
              <a:buFont typeface="Wingdings" panose="05000000000000000000" pitchFamily="2" charset="2"/>
              <a:buChar char="Ø"/>
            </a:pPr>
            <a:r>
              <a:rPr lang="fr-FR" sz="2400" dirty="0">
                <a:latin typeface="Comic Sans MS" panose="030F0702030302020204" pitchFamily="66" charset="0"/>
              </a:rPr>
              <a:t>Collaborer dans un processus</a:t>
            </a:r>
          </a:p>
          <a:p>
            <a:pPr>
              <a:buFont typeface="Wingdings" panose="05000000000000000000" pitchFamily="2" charset="2"/>
              <a:buChar char="Ø"/>
            </a:pPr>
            <a:r>
              <a:rPr lang="fr-FR" sz="2400" dirty="0">
                <a:latin typeface="Comic Sans MS" panose="030F0702030302020204" pitchFamily="66" charset="0"/>
              </a:rPr>
              <a:t>Simuler un processus</a:t>
            </a:r>
          </a:p>
        </p:txBody>
      </p:sp>
    </p:spTree>
    <p:extLst>
      <p:ext uri="{BB962C8B-B14F-4D97-AF65-F5344CB8AC3E}">
        <p14:creationId xmlns:p14="http://schemas.microsoft.com/office/powerpoint/2010/main" val="166221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87425" y="829057"/>
            <a:ext cx="10473348" cy="5082166"/>
          </a:xfrm>
        </p:spPr>
        <p:txBody>
          <a:bodyPr/>
          <a:lstStyle/>
          <a:p>
            <a:r>
              <a:rPr lang="fr-FR" sz="2400" dirty="0"/>
              <a:t>Interface Utilisateur</a:t>
            </a:r>
          </a:p>
          <a:p>
            <a:pPr>
              <a:buNone/>
            </a:pPr>
            <a:endParaRPr lang="fr-FR" dirty="0"/>
          </a:p>
        </p:txBody>
      </p:sp>
      <p:sp>
        <p:nvSpPr>
          <p:cNvPr id="4" name="Titre 1"/>
          <p:cNvSpPr>
            <a:spLocks noGrp="1"/>
          </p:cNvSpPr>
          <p:nvPr>
            <p:ph type="title"/>
          </p:nvPr>
        </p:nvSpPr>
        <p:spPr>
          <a:xfrm>
            <a:off x="2455863" y="171450"/>
            <a:ext cx="8912225" cy="952500"/>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pic>
        <p:nvPicPr>
          <p:cNvPr id="5" name="Image 4" descr="Capture0.PNG"/>
          <p:cNvPicPr>
            <a:picLocks noChangeAspect="1"/>
          </p:cNvPicPr>
          <p:nvPr/>
        </p:nvPicPr>
        <p:blipFill>
          <a:blip r:embed="rId2"/>
          <a:stretch>
            <a:fillRect/>
          </a:stretch>
        </p:blipFill>
        <p:spPr>
          <a:xfrm>
            <a:off x="146304" y="1243584"/>
            <a:ext cx="12045695" cy="5614416"/>
          </a:xfrm>
          <a:prstGeom prst="rect">
            <a:avLst/>
          </a:prstGeom>
        </p:spPr>
      </p:pic>
    </p:spTree>
    <p:extLst>
      <p:ext uri="{BB962C8B-B14F-4D97-AF65-F5344CB8AC3E}">
        <p14:creationId xmlns:p14="http://schemas.microsoft.com/office/powerpoint/2010/main" val="1535276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29103" y="872359"/>
            <a:ext cx="10331669" cy="5038863"/>
          </a:xfrm>
        </p:spPr>
        <p:txBody>
          <a:bodyPr/>
          <a:lstStyle/>
          <a:p>
            <a:endParaRPr lang="fr-FR" dirty="0"/>
          </a:p>
          <a:p>
            <a:endParaRPr lang="fr-FR" dirty="0"/>
          </a:p>
        </p:txBody>
      </p:sp>
      <p:sp>
        <p:nvSpPr>
          <p:cNvPr id="4" name="Titre 1"/>
          <p:cNvSpPr>
            <a:spLocks noGrp="1"/>
          </p:cNvSpPr>
          <p:nvPr>
            <p:ph type="title"/>
          </p:nvPr>
        </p:nvSpPr>
        <p:spPr>
          <a:xfrm>
            <a:off x="2455863" y="171450"/>
            <a:ext cx="8912225" cy="952500"/>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pic>
        <p:nvPicPr>
          <p:cNvPr id="5" name="Image 4" descr="Capture2.PNG"/>
          <p:cNvPicPr>
            <a:picLocks noChangeAspect="1"/>
          </p:cNvPicPr>
          <p:nvPr/>
        </p:nvPicPr>
        <p:blipFill>
          <a:blip r:embed="rId2"/>
          <a:stretch>
            <a:fillRect/>
          </a:stretch>
        </p:blipFill>
        <p:spPr>
          <a:xfrm>
            <a:off x="195072" y="1219200"/>
            <a:ext cx="11996928" cy="5638800"/>
          </a:xfrm>
          <a:prstGeom prst="rect">
            <a:avLst/>
          </a:prstGeom>
        </p:spPr>
      </p:pic>
    </p:spTree>
    <p:extLst>
      <p:ext uri="{BB962C8B-B14F-4D97-AF65-F5344CB8AC3E}">
        <p14:creationId xmlns:p14="http://schemas.microsoft.com/office/powerpoint/2010/main" val="3943275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5038863"/>
          </a:xfrm>
        </p:spPr>
        <p:txBody>
          <a:bodyPr>
            <a:normAutofit/>
          </a:bodyPr>
          <a:lstStyle/>
          <a:p>
            <a:pPr>
              <a:buFont typeface="Wingdings" panose="05000000000000000000" pitchFamily="2" charset="2"/>
              <a:buChar char="Ø"/>
            </a:pPr>
            <a:r>
              <a:rPr lang="fr-FR" sz="2400" dirty="0">
                <a:latin typeface="Comic Sans MS" panose="030F0702030302020204" pitchFamily="66" charset="0"/>
              </a:rPr>
              <a:t>Créer un processus:</a:t>
            </a:r>
          </a:p>
          <a:p>
            <a:pPr>
              <a:buNone/>
            </a:pPr>
            <a:r>
              <a:rPr lang="fr-FR" sz="2000" dirty="0">
                <a:latin typeface="Comic Sans MS" panose="030F0702030302020204" pitchFamily="66" charset="0"/>
              </a:rPr>
              <a:t>  En créant un nouveau diagramme , un processus (groupement) est déjà présent.</a:t>
            </a:r>
          </a:p>
          <a:p>
            <a:pPr>
              <a:buNone/>
            </a:pPr>
            <a:r>
              <a:rPr lang="fr-FR" sz="2000" dirty="0">
                <a:latin typeface="Comic Sans MS" panose="030F0702030302020204" pitchFamily="66" charset="0"/>
              </a:rPr>
              <a:t>  Pour renommer le processus , il suffit de cliquer droit et choisir ‘</a:t>
            </a:r>
            <a:r>
              <a:rPr lang="fr-FR" sz="2000" dirty="0" err="1">
                <a:latin typeface="Comic Sans MS" panose="030F0702030302020204" pitchFamily="66" charset="0"/>
              </a:rPr>
              <a:t>edit</a:t>
            </a:r>
            <a:r>
              <a:rPr lang="fr-FR" sz="2000" dirty="0">
                <a:latin typeface="Comic Sans MS" panose="030F0702030302020204" pitchFamily="66" charset="0"/>
              </a:rPr>
              <a:t> </a:t>
            </a:r>
            <a:r>
              <a:rPr lang="fr-FR" sz="2000" dirty="0" err="1">
                <a:latin typeface="Comic Sans MS" panose="030F0702030302020204" pitchFamily="66" charset="0"/>
              </a:rPr>
              <a:t>text</a:t>
            </a:r>
            <a:r>
              <a:rPr lang="fr-FR" sz="2000" dirty="0">
                <a:latin typeface="Comic Sans MS" panose="030F0702030302020204" pitchFamily="66" charset="0"/>
              </a:rPr>
              <a:t>’.</a:t>
            </a:r>
          </a:p>
          <a:p>
            <a:pPr>
              <a:buNone/>
            </a:pPr>
            <a:r>
              <a:rPr lang="fr-FR" sz="2000" dirty="0">
                <a:latin typeface="Comic Sans MS" panose="030F0702030302020204" pitchFamily="66" charset="0"/>
              </a:rPr>
              <a:t> </a:t>
            </a:r>
          </a:p>
        </p:txBody>
      </p:sp>
      <p:sp>
        <p:nvSpPr>
          <p:cNvPr id="7" name="Titre 1"/>
          <p:cNvSpPr txBox="1">
            <a:spLocks/>
          </p:cNvSpPr>
          <p:nvPr/>
        </p:nvSpPr>
        <p:spPr>
          <a:xfrm>
            <a:off x="2108818" y="2938272"/>
            <a:ext cx="8911687" cy="960015"/>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029" name="Picture 5"/>
          <p:cNvPicPr>
            <a:picLocks noChangeAspect="1" noChangeArrowheads="1"/>
          </p:cNvPicPr>
          <p:nvPr/>
        </p:nvPicPr>
        <p:blipFill>
          <a:blip r:embed="rId2"/>
          <a:srcRect/>
          <a:stretch>
            <a:fillRect/>
          </a:stretch>
        </p:blipFill>
        <p:spPr bwMode="auto">
          <a:xfrm>
            <a:off x="2141728" y="2369249"/>
            <a:ext cx="7516813" cy="4143375"/>
          </a:xfrm>
          <a:prstGeom prst="rect">
            <a:avLst/>
          </a:prstGeom>
          <a:noFill/>
          <a:ln w="9525">
            <a:noFill/>
            <a:miter lim="800000"/>
            <a:headEnd/>
            <a:tailEnd/>
          </a:ln>
        </p:spPr>
      </p:pic>
    </p:spTree>
    <p:extLst>
      <p:ext uri="{BB962C8B-B14F-4D97-AF65-F5344CB8AC3E}">
        <p14:creationId xmlns:p14="http://schemas.microsoft.com/office/powerpoint/2010/main" val="466867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5038863"/>
          </a:xfrm>
        </p:spPr>
        <p:txBody>
          <a:bodyPr/>
          <a:lstStyle/>
          <a:p>
            <a:pPr>
              <a:buNone/>
            </a:pPr>
            <a:endParaRPr lang="fr-FR" dirty="0"/>
          </a:p>
          <a:p>
            <a:pPr>
              <a:buNone/>
            </a:pPr>
            <a:r>
              <a:rPr lang="fr-FR" sz="2000" dirty="0">
                <a:latin typeface="Comic Sans MS" panose="030F0702030302020204" pitchFamily="66" charset="0"/>
              </a:rPr>
              <a:t>       Identifier les participants:</a:t>
            </a:r>
          </a:p>
          <a:p>
            <a:pPr>
              <a:buNone/>
            </a:pPr>
            <a:r>
              <a:rPr lang="fr-FR" sz="2000" dirty="0">
                <a:latin typeface="Comic Sans MS" panose="030F0702030302020204" pitchFamily="66" charset="0"/>
              </a:rPr>
              <a:t>         Drag &amp; Drop depuis la palette pour</a:t>
            </a:r>
            <a:r>
              <a:rPr lang="fr-FR" sz="2000" dirty="0"/>
              <a:t> </a:t>
            </a:r>
            <a:r>
              <a:rPr lang="fr-FR" sz="2000" dirty="0">
                <a:latin typeface="Comic Sans MS" panose="030F0702030302020204" pitchFamily="66" charset="0"/>
              </a:rPr>
              <a:t>ajouter</a:t>
            </a:r>
            <a:r>
              <a:rPr lang="fr-FR" sz="2000" dirty="0"/>
              <a:t> </a:t>
            </a:r>
            <a:r>
              <a:rPr lang="fr-FR" sz="2000" dirty="0">
                <a:latin typeface="Comic Sans MS" panose="030F0702030302020204" pitchFamily="66" charset="0"/>
              </a:rPr>
              <a:t>pour</a:t>
            </a:r>
            <a:r>
              <a:rPr lang="fr-FR" sz="2000" dirty="0"/>
              <a:t> </a:t>
            </a:r>
            <a:r>
              <a:rPr lang="fr-FR" sz="2000" dirty="0">
                <a:latin typeface="Comic Sans MS" panose="030F0702030302020204" pitchFamily="66" charset="0"/>
              </a:rPr>
              <a:t>chaque</a:t>
            </a:r>
            <a:r>
              <a:rPr lang="fr-FR" sz="2000" dirty="0"/>
              <a:t> </a:t>
            </a:r>
            <a:r>
              <a:rPr lang="fr-FR" sz="2000" dirty="0">
                <a:latin typeface="Comic Sans MS" panose="030F0702030302020204" pitchFamily="66" charset="0"/>
              </a:rPr>
              <a:t>participant</a:t>
            </a:r>
            <a:r>
              <a:rPr lang="fr-FR" sz="2000" dirty="0"/>
              <a:t> </a:t>
            </a:r>
            <a:r>
              <a:rPr lang="fr-FR" sz="2000" dirty="0">
                <a:latin typeface="Comic Sans MS" panose="030F0702030302020204" pitchFamily="66" charset="0"/>
              </a:rPr>
              <a:t>une</a:t>
            </a:r>
            <a:r>
              <a:rPr lang="fr-FR" sz="2000" dirty="0"/>
              <a:t> </a:t>
            </a:r>
            <a:r>
              <a:rPr lang="fr-FR" sz="2000" dirty="0">
                <a:latin typeface="Comic Sans MS" panose="030F0702030302020204" pitchFamily="66" charset="0"/>
              </a:rPr>
              <a:t>bande</a:t>
            </a:r>
            <a:r>
              <a:rPr lang="fr-FR" sz="2000" dirty="0"/>
              <a:t>. </a:t>
            </a:r>
          </a:p>
          <a:p>
            <a:pPr>
              <a:buNone/>
            </a:pPr>
            <a:endParaRPr lang="fr-FR" sz="2000" dirty="0"/>
          </a:p>
        </p:txBody>
      </p:sp>
      <p:sp>
        <p:nvSpPr>
          <p:cNvPr id="4" name="Titre 1"/>
          <p:cNvSpPr txBox="1">
            <a:spLocks/>
          </p:cNvSpPr>
          <p:nvPr/>
        </p:nvSpPr>
        <p:spPr>
          <a:xfrm>
            <a:off x="1670304" y="780288"/>
            <a:ext cx="9081977" cy="1682496"/>
          </a:xfrm>
          <a:prstGeom prst="rect">
            <a:avLst/>
          </a:prstGeom>
        </p:spPr>
        <p:txBody>
          <a:bodyPr vert="horz" lIns="91440" tIns="45720" rIns="91440" bIns="45720" rtlCol="0" anchor="t">
            <a:normAutofit/>
          </a:bodyPr>
          <a:lstStyle/>
          <a:p>
            <a:pPr marL="342900" lvl="0" indent="-342900">
              <a:spcBef>
                <a:spcPts val="1000"/>
              </a:spcBef>
              <a:buClr>
                <a:srgbClr val="A5300F"/>
              </a:buClr>
              <a:buFont typeface="Wingdings" panose="05000000000000000000" pitchFamily="2" charset="2"/>
              <a:buChar char="Ø"/>
            </a:pPr>
            <a:r>
              <a:rPr lang="fr-FR" sz="2400" dirty="0">
                <a:solidFill>
                  <a:prstClr val="black">
                    <a:lumMod val="75000"/>
                    <a:lumOff val="25000"/>
                  </a:prstClr>
                </a:solidFill>
                <a:latin typeface="Comic Sans MS" panose="030F0702030302020204" pitchFamily="66" charset="0"/>
              </a:rPr>
              <a:t>Créer</a:t>
            </a:r>
            <a:r>
              <a:rPr lang="fr-FR" sz="2400" dirty="0">
                <a:solidFill>
                  <a:prstClr val="black">
                    <a:lumMod val="75000"/>
                    <a:lumOff val="25000"/>
                  </a:prstClr>
                </a:solidFill>
              </a:rPr>
              <a:t> </a:t>
            </a:r>
            <a:r>
              <a:rPr lang="fr-FR" sz="2400" dirty="0">
                <a:solidFill>
                  <a:prstClr val="black">
                    <a:lumMod val="75000"/>
                    <a:lumOff val="25000"/>
                  </a:prstClr>
                </a:solidFill>
                <a:latin typeface="Comic Sans MS" panose="030F0702030302020204" pitchFamily="66" charset="0"/>
              </a:rPr>
              <a:t>un</a:t>
            </a:r>
            <a:r>
              <a:rPr lang="fr-FR" sz="2400" dirty="0">
                <a:solidFill>
                  <a:prstClr val="black">
                    <a:lumMod val="75000"/>
                    <a:lumOff val="25000"/>
                  </a:prstClr>
                </a:solidFill>
              </a:rPr>
              <a:t> </a:t>
            </a:r>
            <a:r>
              <a:rPr lang="fr-FR" sz="2400" dirty="0">
                <a:solidFill>
                  <a:prstClr val="black">
                    <a:lumMod val="75000"/>
                    <a:lumOff val="25000"/>
                  </a:prstClr>
                </a:solidFill>
                <a:latin typeface="Comic Sans MS" panose="030F0702030302020204" pitchFamily="66" charset="0"/>
              </a:rPr>
              <a:t>processus</a:t>
            </a:r>
            <a:r>
              <a:rPr lang="fr-FR" sz="2400" dirty="0">
                <a:solidFill>
                  <a:prstClr val="black">
                    <a:lumMod val="75000"/>
                    <a:lumOff val="25000"/>
                  </a:prstClr>
                </a:solidFill>
              </a:rPr>
              <a:t>:</a:t>
            </a:r>
          </a:p>
          <a:p>
            <a:pPr marL="0" marR="0" lvl="0" indent="0" algn="l" defTabSz="457200" rtl="0" eaLnBrk="1" fontAlgn="auto" latinLnBrk="0" hangingPunct="1">
              <a:lnSpc>
                <a:spcPct val="100000"/>
              </a:lnSpc>
              <a:spcBef>
                <a:spcPct val="0"/>
              </a:spcBef>
              <a:spcAft>
                <a:spcPts val="0"/>
              </a:spcAft>
              <a:buClrTx/>
              <a:buSzTx/>
              <a:buFontTx/>
              <a:buNone/>
              <a:tabLst/>
              <a:defRPr/>
            </a:pPr>
            <a:r>
              <a:rPr lang="fr-FR" sz="2400" dirty="0">
                <a:solidFill>
                  <a:schemeClr val="tx1">
                    <a:lumMod val="85000"/>
                    <a:lumOff val="15000"/>
                  </a:schemeClr>
                </a:solidFill>
                <a:latin typeface="+mj-lt"/>
                <a:ea typeface="+mj-ea"/>
                <a:cs typeface="+mj-cs"/>
              </a:rPr>
              <a:t>  </a:t>
            </a:r>
            <a:endParaRPr kumimoji="0" lang="fr-FR" sz="2400" b="0" i="0" u="none" strike="noStrike" kern="1200" cap="none" spc="0" normalizeH="0" noProof="0" dirty="0">
              <a:ln>
                <a:noFill/>
              </a:ln>
              <a:solidFill>
                <a:schemeClr val="tx1">
                  <a:lumMod val="85000"/>
                  <a:lumOff val="15000"/>
                </a:schemeClr>
              </a:solidFill>
              <a:effectLst/>
              <a:uLnTx/>
              <a:uFillTx/>
              <a:latin typeface="+mj-lt"/>
              <a:ea typeface="+mj-ea"/>
              <a:cs typeface="+mj-cs"/>
            </a:endParaRPr>
          </a:p>
          <a:p>
            <a:pPr marL="0" marR="0" lvl="0" indent="0" algn="l" defTabSz="457200" rtl="0" eaLnBrk="1" fontAlgn="auto" latinLnBrk="0" hangingPunct="1">
              <a:lnSpc>
                <a:spcPct val="100000"/>
              </a:lnSpc>
              <a:spcBef>
                <a:spcPct val="0"/>
              </a:spcBef>
              <a:spcAft>
                <a:spcPts val="0"/>
              </a:spcAft>
              <a:buClrTx/>
              <a:buSzTx/>
              <a:buFontTx/>
              <a:buNone/>
              <a:tabLst/>
              <a:defRPr/>
            </a:pPr>
            <a:endParaRPr lang="fr-FR" sz="2400" dirty="0">
              <a:solidFill>
                <a:schemeClr val="tx1">
                  <a:lumMod val="85000"/>
                  <a:lumOff val="15000"/>
                </a:schemeClr>
              </a:solidFill>
              <a:latin typeface="+mj-lt"/>
              <a:ea typeface="+mj-ea"/>
              <a:cs typeface="+mj-cs"/>
            </a:endParaRPr>
          </a:p>
          <a:p>
            <a:pPr marL="0" marR="0" lvl="0" indent="0" algn="l" defTabSz="457200" rtl="0" eaLnBrk="1" fontAlgn="auto" latinLnBrk="0" hangingPunct="1">
              <a:lnSpc>
                <a:spcPct val="100000"/>
              </a:lnSpc>
              <a:spcBef>
                <a:spcPct val="0"/>
              </a:spcBef>
              <a:spcAft>
                <a:spcPts val="0"/>
              </a:spcAft>
              <a:buClrTx/>
              <a:buSzTx/>
              <a:buFontTx/>
              <a:buNone/>
              <a:tabLst/>
              <a:defRPr/>
            </a:pPr>
            <a:endParaRPr lang="fr-FR" sz="2400" dirty="0">
              <a:solidFill>
                <a:schemeClr val="tx1">
                  <a:lumMod val="85000"/>
                  <a:lumOff val="15000"/>
                </a:schemeClr>
              </a:solidFill>
              <a:latin typeface="+mj-lt"/>
              <a:ea typeface="+mj-ea"/>
              <a:cs typeface="+mj-cs"/>
            </a:endParaRPr>
          </a:p>
          <a:p>
            <a:pPr marL="0" marR="0" lvl="0" indent="0" algn="l" defTabSz="457200" rtl="0" eaLnBrk="1" fontAlgn="auto" latinLnBrk="0" hangingPunct="1">
              <a:lnSpc>
                <a:spcPct val="100000"/>
              </a:lnSpc>
              <a:spcBef>
                <a:spcPct val="0"/>
              </a:spcBef>
              <a:spcAft>
                <a:spcPts val="0"/>
              </a:spcAft>
              <a:buClrTx/>
              <a:buSzTx/>
              <a:buFontTx/>
              <a:buNone/>
              <a:tabLst/>
              <a:defRPr/>
            </a:pPr>
            <a:endParaRPr lang="fr-FR" sz="2400" dirty="0">
              <a:solidFill>
                <a:schemeClr val="tx1">
                  <a:lumMod val="85000"/>
                  <a:lumOff val="15000"/>
                </a:schemeClr>
              </a:solidFill>
              <a:latin typeface="+mj-lt"/>
              <a:ea typeface="+mj-ea"/>
              <a:cs typeface="+mj-cs"/>
            </a:endParaRPr>
          </a:p>
        </p:txBody>
      </p:sp>
      <p:sp>
        <p:nvSpPr>
          <p:cNvPr id="5" name="Titre 1"/>
          <p:cNvSpPr txBox="1">
            <a:spLocks/>
          </p:cNvSpPr>
          <p:nvPr/>
        </p:nvSpPr>
        <p:spPr>
          <a:xfrm>
            <a:off x="2206354" y="2775157"/>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2050" name="Picture 2" descr="C:\Users\lenovo\Pictures\Capture3.PNG"/>
          <p:cNvPicPr>
            <a:picLocks noChangeAspect="1" noChangeArrowheads="1"/>
          </p:cNvPicPr>
          <p:nvPr/>
        </p:nvPicPr>
        <p:blipFill>
          <a:blip r:embed="rId2"/>
          <a:srcRect/>
          <a:stretch>
            <a:fillRect/>
          </a:stretch>
        </p:blipFill>
        <p:spPr bwMode="auto">
          <a:xfrm>
            <a:off x="2043113" y="2414016"/>
            <a:ext cx="8104187" cy="4309047"/>
          </a:xfrm>
          <a:prstGeom prst="rect">
            <a:avLst/>
          </a:prstGeom>
          <a:noFill/>
        </p:spPr>
      </p:pic>
    </p:spTree>
    <p:extLst>
      <p:ext uri="{BB962C8B-B14F-4D97-AF65-F5344CB8AC3E}">
        <p14:creationId xmlns:p14="http://schemas.microsoft.com/office/powerpoint/2010/main" val="1509782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456313"/>
          </a:xfrm>
        </p:spPr>
        <p:txBody>
          <a:bodyPr>
            <a:normAutofit fontScale="92500" lnSpcReduction="20000"/>
          </a:bodyPr>
          <a:lstStyle/>
          <a:p>
            <a:pPr>
              <a:buFont typeface="Wingdings" panose="05000000000000000000" pitchFamily="2" charset="2"/>
              <a:buChar char="Ø"/>
            </a:pPr>
            <a:r>
              <a:rPr lang="fr-FR" sz="2200" dirty="0">
                <a:latin typeface="Comic Sans MS" panose="030F0702030302020204" pitchFamily="66" charset="0"/>
              </a:rPr>
              <a:t>Créer un processus:</a:t>
            </a:r>
          </a:p>
          <a:p>
            <a:pPr>
              <a:buNone/>
            </a:pPr>
            <a:r>
              <a:rPr lang="fr-FR" sz="2200" dirty="0">
                <a:latin typeface="Comic Sans MS" panose="030F0702030302020204" pitchFamily="66" charset="0"/>
              </a:rPr>
              <a:t>       Placer le point de départ en ajoutant l’événement de début.</a:t>
            </a:r>
          </a:p>
          <a:p>
            <a:pPr>
              <a:buNone/>
            </a:pPr>
            <a:r>
              <a:rPr lang="fr-FR" sz="2200" dirty="0">
                <a:latin typeface="Comic Sans MS" panose="030F0702030302020204" pitchFamily="66" charset="0"/>
              </a:rPr>
              <a:t>       Placer les autres éléments de la palette.</a:t>
            </a:r>
          </a:p>
          <a:p>
            <a:pPr>
              <a:buNone/>
            </a:pPr>
            <a:r>
              <a:rPr lang="fr-FR" sz="2200" dirty="0">
                <a:latin typeface="Comic Sans MS" panose="030F0702030302020204" pitchFamily="66" charset="0"/>
              </a:rPr>
              <a:t>       Les deux éléments sont automatiquement reliés.</a:t>
            </a:r>
          </a:p>
          <a:p>
            <a:pPr>
              <a:buNone/>
            </a:pPr>
            <a:endParaRPr lang="fr-FR" sz="2200" dirty="0">
              <a:latin typeface="Comic Sans MS" panose="030F0702030302020204" pitchFamily="66" charset="0"/>
            </a:endParaRPr>
          </a:p>
          <a:p>
            <a:pPr>
              <a:buNone/>
            </a:pPr>
            <a:endParaRPr lang="fr-FR" sz="2000" dirty="0"/>
          </a:p>
          <a:p>
            <a:pPr>
              <a:buNone/>
            </a:pPr>
            <a:endParaRPr lang="fr-FR" dirty="0"/>
          </a:p>
        </p:txBody>
      </p:sp>
      <p:sp>
        <p:nvSpPr>
          <p:cNvPr id="4" name="Titre 1"/>
          <p:cNvSpPr txBox="1">
            <a:spLocks/>
          </p:cNvSpPr>
          <p:nvPr/>
        </p:nvSpPr>
        <p:spPr>
          <a:xfrm>
            <a:off x="2023474" y="921973"/>
            <a:ext cx="9632078" cy="2199180"/>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5" name="Titre 1"/>
          <p:cNvSpPr txBox="1">
            <a:spLocks/>
          </p:cNvSpPr>
          <p:nvPr/>
        </p:nvSpPr>
        <p:spPr>
          <a:xfrm>
            <a:off x="1877170" y="221432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7" name="Titre 1"/>
          <p:cNvSpPr txBox="1">
            <a:spLocks/>
          </p:cNvSpPr>
          <p:nvPr/>
        </p:nvSpPr>
        <p:spPr>
          <a:xfrm>
            <a:off x="2060050" y="239720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8" name="Titre 1"/>
          <p:cNvSpPr txBox="1">
            <a:spLocks/>
          </p:cNvSpPr>
          <p:nvPr/>
        </p:nvSpPr>
        <p:spPr>
          <a:xfrm>
            <a:off x="2047858" y="2482549"/>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9" name="Titre 1"/>
          <p:cNvSpPr txBox="1">
            <a:spLocks/>
          </p:cNvSpPr>
          <p:nvPr/>
        </p:nvSpPr>
        <p:spPr>
          <a:xfrm>
            <a:off x="2096626" y="2616661"/>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3075" name="Picture 3" descr="C:\Users\lenovo\Pictures\Capture5.PNG"/>
          <p:cNvPicPr>
            <a:picLocks noChangeAspect="1" noChangeArrowheads="1"/>
          </p:cNvPicPr>
          <p:nvPr/>
        </p:nvPicPr>
        <p:blipFill>
          <a:blip r:embed="rId2"/>
          <a:srcRect/>
          <a:stretch>
            <a:fillRect/>
          </a:stretch>
        </p:blipFill>
        <p:spPr bwMode="auto">
          <a:xfrm>
            <a:off x="508635" y="2511551"/>
            <a:ext cx="11295063" cy="3574161"/>
          </a:xfrm>
          <a:prstGeom prst="rect">
            <a:avLst/>
          </a:prstGeom>
          <a:noFill/>
        </p:spPr>
      </p:pic>
    </p:spTree>
    <p:extLst>
      <p:ext uri="{BB962C8B-B14F-4D97-AF65-F5344CB8AC3E}">
        <p14:creationId xmlns:p14="http://schemas.microsoft.com/office/powerpoint/2010/main" val="1293130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078361"/>
          </a:xfrm>
        </p:spPr>
        <p:txBody>
          <a:bodyPr/>
          <a:lstStyle/>
          <a:p>
            <a:pPr>
              <a:buNone/>
            </a:pPr>
            <a:r>
              <a:rPr lang="fr-FR" sz="2000" dirty="0">
                <a:latin typeface="Comic Sans MS" panose="030F0702030302020204" pitchFamily="66" charset="0"/>
              </a:rPr>
              <a:t>          </a:t>
            </a:r>
          </a:p>
          <a:p>
            <a:pPr>
              <a:buNone/>
            </a:pPr>
            <a:r>
              <a:rPr lang="fr-FR" sz="2000" dirty="0">
                <a:latin typeface="Comic Sans MS" panose="030F0702030302020204" pitchFamily="66" charset="0"/>
              </a:rPr>
              <a:t>               Exemple de types de branchement.</a:t>
            </a:r>
          </a:p>
          <a:p>
            <a:pPr>
              <a:buNone/>
            </a:pPr>
            <a:endParaRPr lang="fr-FR" dirty="0"/>
          </a:p>
        </p:txBody>
      </p:sp>
      <p:sp>
        <p:nvSpPr>
          <p:cNvPr id="4" name="Titre 1"/>
          <p:cNvSpPr txBox="1">
            <a:spLocks/>
          </p:cNvSpPr>
          <p:nvPr/>
        </p:nvSpPr>
        <p:spPr>
          <a:xfrm>
            <a:off x="2035666" y="780288"/>
            <a:ext cx="8911687" cy="1313583"/>
          </a:xfrm>
          <a:prstGeom prst="rect">
            <a:avLst/>
          </a:prstGeom>
        </p:spPr>
        <p:txBody>
          <a:bodyPr vert="horz" lIns="91440" tIns="45720" rIns="91440" bIns="45720" rtlCol="0" anchor="t">
            <a:normAutofit/>
          </a:bodyPr>
          <a:lstStyle/>
          <a:p>
            <a:pPr marL="342900" lvl="0" indent="-342900">
              <a:spcBef>
                <a:spcPts val="1000"/>
              </a:spcBef>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Créer un processus:</a:t>
            </a:r>
          </a:p>
        </p:txBody>
      </p:sp>
      <p:sp>
        <p:nvSpPr>
          <p:cNvPr id="5" name="Titre 1"/>
          <p:cNvSpPr txBox="1">
            <a:spLocks/>
          </p:cNvSpPr>
          <p:nvPr/>
        </p:nvSpPr>
        <p:spPr>
          <a:xfrm>
            <a:off x="2328274" y="233624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6" name="Titre 1"/>
          <p:cNvSpPr txBox="1">
            <a:spLocks/>
          </p:cNvSpPr>
          <p:nvPr/>
        </p:nvSpPr>
        <p:spPr>
          <a:xfrm>
            <a:off x="2401426" y="2189941"/>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4098" name="Picture 2"/>
          <p:cNvPicPr>
            <a:picLocks noChangeAspect="1" noChangeArrowheads="1"/>
          </p:cNvPicPr>
          <p:nvPr/>
        </p:nvPicPr>
        <p:blipFill>
          <a:blip r:embed="rId2"/>
          <a:srcRect/>
          <a:stretch>
            <a:fillRect/>
          </a:stretch>
        </p:blipFill>
        <p:spPr bwMode="auto">
          <a:xfrm>
            <a:off x="1707642" y="1785938"/>
            <a:ext cx="8799513" cy="3895725"/>
          </a:xfrm>
          <a:prstGeom prst="rect">
            <a:avLst/>
          </a:prstGeom>
          <a:noFill/>
          <a:ln w="9525">
            <a:noFill/>
            <a:miter lim="800000"/>
            <a:headEnd/>
            <a:tailEnd/>
          </a:ln>
        </p:spPr>
      </p:pic>
    </p:spTree>
    <p:extLst>
      <p:ext uri="{BB962C8B-B14F-4D97-AF65-F5344CB8AC3E}">
        <p14:creationId xmlns:p14="http://schemas.microsoft.com/office/powerpoint/2010/main" val="73036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702255" y="804671"/>
            <a:ext cx="10331669" cy="1365505"/>
          </a:xfrm>
        </p:spPr>
        <p:txBody>
          <a:bodyPr>
            <a:normAutofit/>
          </a:bodyPr>
          <a:lstStyle/>
          <a:p>
            <a:endParaRPr lang="fr-FR" dirty="0"/>
          </a:p>
          <a:p>
            <a:pPr>
              <a:buFont typeface="Wingdings" panose="05000000000000000000" pitchFamily="2" charset="2"/>
              <a:buChar char="Ø"/>
            </a:pPr>
            <a:r>
              <a:rPr lang="fr-FR" sz="2000" dirty="0"/>
              <a:t>Créer un processus:</a:t>
            </a:r>
          </a:p>
          <a:p>
            <a:pPr>
              <a:buNone/>
            </a:pPr>
            <a:r>
              <a:rPr lang="fr-FR" sz="2000" dirty="0"/>
              <a:t>       Gestion de sous processus.</a:t>
            </a:r>
          </a:p>
        </p:txBody>
      </p:sp>
      <p:sp>
        <p:nvSpPr>
          <p:cNvPr id="4" name="Titre 1"/>
          <p:cNvSpPr txBox="1">
            <a:spLocks/>
          </p:cNvSpPr>
          <p:nvPr/>
        </p:nvSpPr>
        <p:spPr>
          <a:xfrm>
            <a:off x="2255122" y="2348437"/>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5122" name="Picture 2"/>
          <p:cNvPicPr>
            <a:picLocks noChangeAspect="1" noChangeArrowheads="1"/>
          </p:cNvPicPr>
          <p:nvPr/>
        </p:nvPicPr>
        <p:blipFill>
          <a:blip r:embed="rId2"/>
          <a:srcRect/>
          <a:stretch>
            <a:fillRect/>
          </a:stretch>
        </p:blipFill>
        <p:spPr bwMode="auto">
          <a:xfrm>
            <a:off x="1137666" y="2189226"/>
            <a:ext cx="4381500" cy="3162300"/>
          </a:xfrm>
          <a:prstGeom prst="rect">
            <a:avLst/>
          </a:prstGeom>
          <a:noFill/>
          <a:ln w="9525">
            <a:noFill/>
            <a:miter lim="800000"/>
            <a:headEnd/>
            <a:tailEnd/>
          </a:ln>
        </p:spPr>
      </p:pic>
      <p:pic>
        <p:nvPicPr>
          <p:cNvPr id="5123" name="Picture 3"/>
          <p:cNvPicPr>
            <a:picLocks noChangeAspect="1" noChangeArrowheads="1"/>
          </p:cNvPicPr>
          <p:nvPr/>
        </p:nvPicPr>
        <p:blipFill>
          <a:blip r:embed="rId3"/>
          <a:srcRect/>
          <a:stretch>
            <a:fillRect/>
          </a:stretch>
        </p:blipFill>
        <p:spPr bwMode="auto">
          <a:xfrm>
            <a:off x="6741224" y="1894332"/>
            <a:ext cx="3171825" cy="4191000"/>
          </a:xfrm>
          <a:prstGeom prst="rect">
            <a:avLst/>
          </a:prstGeom>
          <a:noFill/>
          <a:ln w="9525">
            <a:noFill/>
            <a:miter lim="800000"/>
            <a:headEnd/>
            <a:tailEnd/>
          </a:ln>
        </p:spPr>
      </p:pic>
    </p:spTree>
    <p:extLst>
      <p:ext uri="{BB962C8B-B14F-4D97-AF65-F5344CB8AC3E}">
        <p14:creationId xmlns:p14="http://schemas.microsoft.com/office/powerpoint/2010/main" val="1788272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761113"/>
          </a:xfrm>
        </p:spPr>
        <p:txBody>
          <a:bodyPr/>
          <a:lstStyle/>
          <a:p>
            <a:endParaRPr lang="fr-FR" dirty="0"/>
          </a:p>
          <a:p>
            <a:pPr>
              <a:buFont typeface="Wingdings" panose="05000000000000000000" pitchFamily="2" charset="2"/>
              <a:buChar char="Ø"/>
            </a:pPr>
            <a:r>
              <a:rPr lang="fr-FR" sz="2000" dirty="0"/>
              <a:t>Créer un processus:</a:t>
            </a:r>
          </a:p>
          <a:p>
            <a:pPr>
              <a:buNone/>
            </a:pPr>
            <a:r>
              <a:rPr lang="fr-FR" dirty="0"/>
              <a:t>        Gestion de sous processus :</a:t>
            </a:r>
          </a:p>
          <a:p>
            <a:pPr>
              <a:buNone/>
            </a:pPr>
            <a:r>
              <a:rPr lang="fr-FR" dirty="0"/>
              <a:t>           Modifier le type d’un sous processus.</a:t>
            </a:r>
          </a:p>
        </p:txBody>
      </p:sp>
      <p:sp>
        <p:nvSpPr>
          <p:cNvPr id="4" name="Titre 1"/>
          <p:cNvSpPr txBox="1">
            <a:spLocks/>
          </p:cNvSpPr>
          <p:nvPr/>
        </p:nvSpPr>
        <p:spPr>
          <a:xfrm>
            <a:off x="2035666" y="270200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6146" name="Picture 2"/>
          <p:cNvPicPr>
            <a:picLocks noChangeAspect="1" noChangeArrowheads="1"/>
          </p:cNvPicPr>
          <p:nvPr/>
        </p:nvPicPr>
        <p:blipFill>
          <a:blip r:embed="rId2"/>
          <a:srcRect/>
          <a:stretch>
            <a:fillRect/>
          </a:stretch>
        </p:blipFill>
        <p:spPr bwMode="auto">
          <a:xfrm>
            <a:off x="3835337" y="2489454"/>
            <a:ext cx="4448175" cy="4000500"/>
          </a:xfrm>
          <a:prstGeom prst="rect">
            <a:avLst/>
          </a:prstGeom>
          <a:noFill/>
          <a:ln w="9525">
            <a:noFill/>
            <a:miter lim="800000"/>
            <a:headEnd/>
            <a:tailEnd/>
          </a:ln>
        </p:spPr>
      </p:pic>
    </p:spTree>
    <p:extLst>
      <p:ext uri="{BB962C8B-B14F-4D97-AF65-F5344CB8AC3E}">
        <p14:creationId xmlns:p14="http://schemas.microsoft.com/office/powerpoint/2010/main" val="2197544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553849"/>
          </a:xfrm>
        </p:spPr>
        <p:txBody>
          <a:bodyPr>
            <a:normAutofit fontScale="70000" lnSpcReduction="20000"/>
          </a:bodyPr>
          <a:lstStyle/>
          <a:p>
            <a:endParaRPr lang="fr-FR" dirty="0"/>
          </a:p>
          <a:p>
            <a:pPr>
              <a:buFont typeface="Wingdings" panose="05000000000000000000" pitchFamily="2" charset="2"/>
              <a:buChar char="Ø"/>
            </a:pPr>
            <a:r>
              <a:rPr lang="fr-FR" sz="2900" dirty="0"/>
              <a:t>Créer  un processus:</a:t>
            </a:r>
          </a:p>
          <a:p>
            <a:pPr>
              <a:buNone/>
            </a:pPr>
            <a:r>
              <a:rPr lang="fr-FR" sz="2600" dirty="0"/>
              <a:t>         Attacher un événement à la frontière d’une activité.</a:t>
            </a:r>
          </a:p>
          <a:p>
            <a:pPr>
              <a:buNone/>
            </a:pPr>
            <a:endParaRPr lang="fr-FR" dirty="0"/>
          </a:p>
          <a:p>
            <a:pPr>
              <a:buNone/>
            </a:pPr>
            <a:r>
              <a:rPr lang="fr-FR" dirty="0"/>
              <a:t>        </a:t>
            </a:r>
          </a:p>
        </p:txBody>
      </p:sp>
      <p:sp>
        <p:nvSpPr>
          <p:cNvPr id="4" name="Titre 1"/>
          <p:cNvSpPr txBox="1">
            <a:spLocks/>
          </p:cNvSpPr>
          <p:nvPr/>
        </p:nvSpPr>
        <p:spPr>
          <a:xfrm>
            <a:off x="2206354" y="897589"/>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6" name="Titre 1"/>
          <p:cNvSpPr txBox="1">
            <a:spLocks/>
          </p:cNvSpPr>
          <p:nvPr/>
        </p:nvSpPr>
        <p:spPr>
          <a:xfrm>
            <a:off x="1901554" y="2141173"/>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7170" name="Picture 2"/>
          <p:cNvPicPr>
            <a:picLocks noChangeAspect="1" noChangeArrowheads="1"/>
          </p:cNvPicPr>
          <p:nvPr/>
        </p:nvPicPr>
        <p:blipFill>
          <a:blip r:embed="rId2"/>
          <a:srcRect/>
          <a:stretch>
            <a:fillRect/>
          </a:stretch>
        </p:blipFill>
        <p:spPr bwMode="auto">
          <a:xfrm>
            <a:off x="4429316" y="1816608"/>
            <a:ext cx="4162425" cy="4821174"/>
          </a:xfrm>
          <a:prstGeom prst="rect">
            <a:avLst/>
          </a:prstGeom>
          <a:noFill/>
          <a:ln w="9525">
            <a:noFill/>
            <a:miter lim="800000"/>
            <a:headEnd/>
            <a:tailEnd/>
          </a:ln>
        </p:spPr>
      </p:pic>
    </p:spTree>
    <p:extLst>
      <p:ext uri="{BB962C8B-B14F-4D97-AF65-F5344CB8AC3E}">
        <p14:creationId xmlns:p14="http://schemas.microsoft.com/office/powerpoint/2010/main" val="321398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5038863"/>
          </a:xfrm>
        </p:spPr>
        <p:txBody>
          <a:bodyPr/>
          <a:lstStyle/>
          <a:p>
            <a:pPr>
              <a:buFont typeface="Wingdings" panose="05000000000000000000" pitchFamily="2" charset="2"/>
              <a:buChar char="Ø"/>
            </a:pPr>
            <a:r>
              <a:rPr lang="fr-FR" sz="2000" dirty="0"/>
              <a:t>Impression d’un diagramme:</a:t>
            </a:r>
          </a:p>
          <a:p>
            <a:pPr>
              <a:buNone/>
            </a:pPr>
            <a:r>
              <a:rPr lang="fr-FR" sz="2000" dirty="0"/>
              <a:t>        Cliquer sur Menu/ Dossier / imprimer/Visualiser avant impression.</a:t>
            </a:r>
          </a:p>
          <a:p>
            <a:pPr>
              <a:buNone/>
            </a:pPr>
            <a:r>
              <a:rPr lang="fr-FR" dirty="0"/>
              <a:t>       </a:t>
            </a:r>
          </a:p>
        </p:txBody>
      </p:sp>
      <p:sp>
        <p:nvSpPr>
          <p:cNvPr id="4" name="Titre 1"/>
          <p:cNvSpPr txBox="1">
            <a:spLocks/>
          </p:cNvSpPr>
          <p:nvPr/>
        </p:nvSpPr>
        <p:spPr>
          <a:xfrm>
            <a:off x="1962514" y="81224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rPr>
              <a:t>   </a:t>
            </a:r>
          </a:p>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5" name="Titre 1"/>
          <p:cNvSpPr txBox="1">
            <a:spLocks/>
          </p:cNvSpPr>
          <p:nvPr/>
        </p:nvSpPr>
        <p:spPr>
          <a:xfrm>
            <a:off x="2023474" y="1531573"/>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8194" name="Picture 2"/>
          <p:cNvPicPr>
            <a:picLocks noChangeAspect="1" noChangeArrowheads="1"/>
          </p:cNvPicPr>
          <p:nvPr/>
        </p:nvPicPr>
        <p:blipFill>
          <a:blip r:embed="rId2"/>
          <a:srcRect/>
          <a:stretch>
            <a:fillRect/>
          </a:stretch>
        </p:blipFill>
        <p:spPr bwMode="auto">
          <a:xfrm>
            <a:off x="6193536" y="1873949"/>
            <a:ext cx="5169408" cy="3880675"/>
          </a:xfrm>
          <a:prstGeom prst="rect">
            <a:avLst/>
          </a:prstGeom>
          <a:noFill/>
          <a:ln w="9525">
            <a:noFill/>
            <a:miter lim="800000"/>
            <a:headEnd/>
            <a:tailEnd/>
          </a:ln>
        </p:spPr>
      </p:pic>
      <p:sp>
        <p:nvSpPr>
          <p:cNvPr id="7" name="Titre 1"/>
          <p:cNvSpPr txBox="1">
            <a:spLocks/>
          </p:cNvSpPr>
          <p:nvPr/>
        </p:nvSpPr>
        <p:spPr>
          <a:xfrm>
            <a:off x="1389887" y="2567892"/>
            <a:ext cx="4632961" cy="2382059"/>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lang="fr-FR" sz="2400" dirty="0">
                <a:solidFill>
                  <a:schemeClr val="tx1">
                    <a:lumMod val="85000"/>
                    <a:lumOff val="15000"/>
                  </a:schemeClr>
                </a:solidFill>
                <a:latin typeface="Comic Sans MS" panose="030F0702030302020204" pitchFamily="66" charset="0"/>
                <a:ea typeface="+mj-ea"/>
                <a:cs typeface="+mj-cs"/>
              </a:rPr>
              <a:t>Vous devez disposer d’une prévisualisation de votre diagramme que vous pouvez en modifier quelques options</a:t>
            </a:r>
            <a:r>
              <a:rPr lang="fr-FR" sz="2400" dirty="0">
                <a:solidFill>
                  <a:schemeClr val="tx1">
                    <a:lumMod val="85000"/>
                    <a:lumOff val="15000"/>
                  </a:schemeClr>
                </a:solidFill>
                <a:latin typeface="+mj-lt"/>
                <a:ea typeface="+mj-ea"/>
                <a:cs typeface="+mj-cs"/>
              </a:rPr>
              <a:t>. </a:t>
            </a:r>
            <a:endParaRPr kumimoji="0" lang="fr-FR" sz="24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Tree>
    <p:extLst>
      <p:ext uri="{BB962C8B-B14F-4D97-AF65-F5344CB8AC3E}">
        <p14:creationId xmlns:p14="http://schemas.microsoft.com/office/powerpoint/2010/main" val="3168672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2522" y="386651"/>
            <a:ext cx="8911687" cy="952442"/>
          </a:xfrm>
        </p:spPr>
        <p:txBody>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452640" y="1405439"/>
            <a:ext cx="10331669" cy="1608081"/>
          </a:xfrm>
        </p:spPr>
        <p:txBody>
          <a:bodyPr>
            <a:normAutofit lnSpcReduction="10000"/>
          </a:bodyPr>
          <a:lstStyle/>
          <a:p>
            <a:pPr>
              <a:buFont typeface="Wingdings" panose="05000000000000000000" pitchFamily="2" charset="2"/>
              <a:buChar char="Ø"/>
            </a:pPr>
            <a:r>
              <a:rPr lang="fr-FR" sz="2000" dirty="0">
                <a:latin typeface="Comic Sans MS" panose="030F0702030302020204" pitchFamily="66" charset="0"/>
              </a:rPr>
              <a:t>Documenter un processus:</a:t>
            </a:r>
          </a:p>
          <a:p>
            <a:pPr>
              <a:buNone/>
            </a:pPr>
            <a:r>
              <a:rPr lang="fr-FR" sz="2000" dirty="0">
                <a:latin typeface="Comic Sans MS" panose="030F0702030302020204" pitchFamily="66" charset="0"/>
              </a:rPr>
              <a:t>        Compléter les propriétés de chaque élément:</a:t>
            </a:r>
          </a:p>
          <a:p>
            <a:pPr>
              <a:buNone/>
            </a:pPr>
            <a:r>
              <a:rPr lang="fr-FR" sz="2000" dirty="0">
                <a:latin typeface="Comic Sans MS" panose="030F0702030302020204" pitchFamily="66" charset="0"/>
              </a:rPr>
              <a:t>           Accéder aux propriétés de l’élément:</a:t>
            </a:r>
          </a:p>
          <a:p>
            <a:pPr>
              <a:buNone/>
            </a:pPr>
            <a:r>
              <a:rPr lang="fr-FR" sz="2000" dirty="0">
                <a:latin typeface="Comic Sans MS" panose="030F0702030302020204" pitchFamily="66" charset="0"/>
              </a:rPr>
              <a:t>             -Elément de base.</a:t>
            </a:r>
          </a:p>
          <a:p>
            <a:pPr>
              <a:buNone/>
            </a:pPr>
            <a:endParaRPr lang="fr-FR" dirty="0"/>
          </a:p>
        </p:txBody>
      </p:sp>
      <p:sp>
        <p:nvSpPr>
          <p:cNvPr id="4" name="Titre 1"/>
          <p:cNvSpPr txBox="1">
            <a:spLocks/>
          </p:cNvSpPr>
          <p:nvPr/>
        </p:nvSpPr>
        <p:spPr>
          <a:xfrm>
            <a:off x="1936027" y="184856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027" name="Picture 3" descr="C:\Users\lenovo\Pictures\Capture14.PNG"/>
          <p:cNvPicPr>
            <a:picLocks noChangeAspect="1" noChangeArrowheads="1"/>
          </p:cNvPicPr>
          <p:nvPr/>
        </p:nvPicPr>
        <p:blipFill>
          <a:blip r:embed="rId2"/>
          <a:srcRect/>
          <a:stretch>
            <a:fillRect/>
          </a:stretch>
        </p:blipFill>
        <p:spPr bwMode="auto">
          <a:xfrm>
            <a:off x="2456290" y="2933700"/>
            <a:ext cx="6974938" cy="3924300"/>
          </a:xfrm>
          <a:prstGeom prst="rect">
            <a:avLst/>
          </a:prstGeom>
          <a:noFill/>
        </p:spPr>
      </p:pic>
    </p:spTree>
    <p:extLst>
      <p:ext uri="{BB962C8B-B14F-4D97-AF65-F5344CB8AC3E}">
        <p14:creationId xmlns:p14="http://schemas.microsoft.com/office/powerpoint/2010/main" val="3389795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60"/>
            <a:ext cx="10331669" cy="1870840"/>
          </a:xfrm>
        </p:spPr>
        <p:txBody>
          <a:bodyPr/>
          <a:lstStyle/>
          <a:p>
            <a:pPr>
              <a:buFont typeface="Wingdings" panose="05000000000000000000" pitchFamily="2" charset="2"/>
              <a:buChar char="Ø"/>
            </a:pPr>
            <a:r>
              <a:rPr lang="fr-FR" sz="2000" dirty="0">
                <a:latin typeface="Comic Sans MS" panose="030F0702030302020204" pitchFamily="66" charset="0"/>
              </a:rPr>
              <a:t>Documenter un processus:</a:t>
            </a:r>
          </a:p>
          <a:p>
            <a:pPr>
              <a:buNone/>
            </a:pPr>
            <a:r>
              <a:rPr lang="fr-FR" sz="2000" dirty="0">
                <a:latin typeface="Comic Sans MS" panose="030F0702030302020204" pitchFamily="66" charset="0"/>
              </a:rPr>
              <a:t>        Compléter les propriétés de chaque élément:</a:t>
            </a:r>
          </a:p>
          <a:p>
            <a:pPr>
              <a:buNone/>
            </a:pPr>
            <a:r>
              <a:rPr lang="fr-FR" sz="2000" dirty="0">
                <a:latin typeface="Comic Sans MS" panose="030F0702030302020204" pitchFamily="66" charset="0"/>
              </a:rPr>
              <a:t>           Accéder aux propriétés de l’élément:</a:t>
            </a:r>
          </a:p>
          <a:p>
            <a:pPr>
              <a:buNone/>
            </a:pPr>
            <a:r>
              <a:rPr lang="fr-FR" sz="2000" dirty="0">
                <a:latin typeface="Comic Sans MS" panose="030F0702030302020204" pitchFamily="66" charset="0"/>
              </a:rPr>
              <a:t>             -Elément étendu.</a:t>
            </a:r>
          </a:p>
          <a:p>
            <a:pPr>
              <a:buNone/>
            </a:pPr>
            <a:endParaRPr lang="fr-FR" dirty="0"/>
          </a:p>
          <a:p>
            <a:endParaRPr lang="fr-FR" dirty="0"/>
          </a:p>
        </p:txBody>
      </p:sp>
      <p:sp>
        <p:nvSpPr>
          <p:cNvPr id="4" name="Titre 1"/>
          <p:cNvSpPr txBox="1">
            <a:spLocks/>
          </p:cNvSpPr>
          <p:nvPr/>
        </p:nvSpPr>
        <p:spPr>
          <a:xfrm>
            <a:off x="1915008" y="2510717"/>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2050" name="Picture 2" descr="C:\Users\lenovo\Pictures\Capture17.PNG"/>
          <p:cNvPicPr>
            <a:picLocks noChangeAspect="1" noChangeArrowheads="1"/>
          </p:cNvPicPr>
          <p:nvPr/>
        </p:nvPicPr>
        <p:blipFill>
          <a:blip r:embed="rId2"/>
          <a:srcRect/>
          <a:stretch>
            <a:fillRect/>
          </a:stretch>
        </p:blipFill>
        <p:spPr bwMode="auto">
          <a:xfrm>
            <a:off x="304856" y="2555822"/>
            <a:ext cx="4477352" cy="3133725"/>
          </a:xfrm>
          <a:prstGeom prst="rect">
            <a:avLst/>
          </a:prstGeom>
          <a:noFill/>
        </p:spPr>
      </p:pic>
      <p:sp>
        <p:nvSpPr>
          <p:cNvPr id="7" name="Titre 1"/>
          <p:cNvSpPr txBox="1">
            <a:spLocks/>
          </p:cNvSpPr>
          <p:nvPr/>
        </p:nvSpPr>
        <p:spPr>
          <a:xfrm>
            <a:off x="5097517" y="2868068"/>
            <a:ext cx="7094483" cy="952442"/>
          </a:xfrm>
          <a:prstGeom prst="rect">
            <a:avLst/>
          </a:prstGeom>
        </p:spPr>
        <p:txBody>
          <a:bodyPr vert="horz" lIns="91440" tIns="45720" rIns="91440" bIns="45720" rtlCol="0" anchor="t">
            <a:normAutofit fontScale="92500" lnSpcReduction="20000"/>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rPr>
              <a:t>Présentation </a:t>
            </a:r>
            <a:r>
              <a:rPr kumimoji="0" lang="fr-FR" sz="3600" b="0" i="0" u="none" strike="noStrike" kern="1200" cap="none" spc="0" normalizeH="0" baseline="0" noProof="0" dirty="0" err="1">
                <a:ln>
                  <a:noFill/>
                </a:ln>
                <a:solidFill>
                  <a:schemeClr val="tx1">
                    <a:lumMod val="85000"/>
                    <a:lumOff val="15000"/>
                  </a:schemeClr>
                </a:solidFill>
                <a:effectLst/>
                <a:uLnTx/>
                <a:uFillTx/>
                <a:latin typeface="+mj-lt"/>
                <a:ea typeface="+mj-ea"/>
                <a:cs typeface="+mj-cs"/>
              </a:rPr>
              <a:t>Bizagi</a:t>
            </a:r>
            <a:r>
              <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rPr>
              <a:t> </a:t>
            </a:r>
            <a:r>
              <a:rPr kumimoji="0" lang="fr-FR" sz="3600" b="0" i="0" u="none" strike="noStrike" kern="1200" cap="none" spc="0" normalizeH="0" baseline="0" noProof="0" dirty="0" err="1">
                <a:ln>
                  <a:noFill/>
                </a:ln>
                <a:solidFill>
                  <a:schemeClr val="tx1">
                    <a:lumMod val="85000"/>
                    <a:lumOff val="15000"/>
                  </a:schemeClr>
                </a:solidFill>
                <a:effectLst/>
                <a:uLnTx/>
                <a:uFillTx/>
                <a:latin typeface="+mj-lt"/>
                <a:ea typeface="+mj-ea"/>
                <a:cs typeface="+mj-cs"/>
              </a:rPr>
              <a:t>Process</a:t>
            </a:r>
            <a:r>
              <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rPr>
              <a:t> Modeler</a:t>
            </a:r>
          </a:p>
        </p:txBody>
      </p:sp>
      <p:pic>
        <p:nvPicPr>
          <p:cNvPr id="2052" name="Picture 4" descr="C:\Users\lenovo\Pictures\Capture16.PNG"/>
          <p:cNvPicPr>
            <a:picLocks noChangeAspect="1" noChangeArrowheads="1"/>
          </p:cNvPicPr>
          <p:nvPr/>
        </p:nvPicPr>
        <p:blipFill>
          <a:blip r:embed="rId3"/>
          <a:srcRect/>
          <a:stretch>
            <a:fillRect/>
          </a:stretch>
        </p:blipFill>
        <p:spPr bwMode="auto">
          <a:xfrm>
            <a:off x="5034454" y="2343807"/>
            <a:ext cx="7157545" cy="3657600"/>
          </a:xfrm>
          <a:prstGeom prst="rect">
            <a:avLst/>
          </a:prstGeom>
          <a:noFill/>
        </p:spPr>
      </p:pic>
    </p:spTree>
    <p:extLst>
      <p:ext uri="{BB962C8B-B14F-4D97-AF65-F5344CB8AC3E}">
        <p14:creationId xmlns:p14="http://schemas.microsoft.com/office/powerpoint/2010/main" val="2185008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60"/>
            <a:ext cx="10331669" cy="1828800"/>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Documenter un processus:</a:t>
            </a:r>
          </a:p>
          <a:p>
            <a:pPr>
              <a:buNone/>
            </a:pPr>
            <a:r>
              <a:rPr lang="fr-FR" sz="2000" dirty="0">
                <a:latin typeface="Comic Sans MS" panose="030F0702030302020204" pitchFamily="66" charset="0"/>
              </a:rPr>
              <a:t>        Compléter les propriétés de chaque élément:</a:t>
            </a:r>
          </a:p>
          <a:p>
            <a:pPr>
              <a:buNone/>
            </a:pPr>
            <a:r>
              <a:rPr lang="fr-FR" sz="2000" dirty="0">
                <a:latin typeface="Comic Sans MS" panose="030F0702030302020204" pitchFamily="66" charset="0"/>
              </a:rPr>
              <a:t>           Accéder aux propriétés de l’élément:</a:t>
            </a:r>
          </a:p>
          <a:p>
            <a:pPr>
              <a:buNone/>
            </a:pPr>
            <a:r>
              <a:rPr lang="fr-FR" sz="2000" dirty="0">
                <a:latin typeface="Comic Sans MS" panose="030F0702030302020204" pitchFamily="66" charset="0"/>
              </a:rPr>
              <a:t>             -Elément avancé.</a:t>
            </a:r>
          </a:p>
        </p:txBody>
      </p:sp>
      <p:sp>
        <p:nvSpPr>
          <p:cNvPr id="4" name="Titre 1"/>
          <p:cNvSpPr txBox="1">
            <a:spLocks/>
          </p:cNvSpPr>
          <p:nvPr/>
        </p:nvSpPr>
        <p:spPr>
          <a:xfrm>
            <a:off x="1893986" y="2594799"/>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4098" name="Picture 2" descr="C:\Users\lenovo\Pictures\Capture19.PNG"/>
          <p:cNvPicPr>
            <a:picLocks noChangeAspect="1" noChangeArrowheads="1"/>
          </p:cNvPicPr>
          <p:nvPr/>
        </p:nvPicPr>
        <p:blipFill>
          <a:blip r:embed="rId2"/>
          <a:srcRect/>
          <a:stretch>
            <a:fillRect/>
          </a:stretch>
        </p:blipFill>
        <p:spPr bwMode="auto">
          <a:xfrm>
            <a:off x="451450" y="2451754"/>
            <a:ext cx="11542956" cy="4406246"/>
          </a:xfrm>
          <a:prstGeom prst="rect">
            <a:avLst/>
          </a:prstGeom>
          <a:noFill/>
        </p:spPr>
      </p:pic>
    </p:spTree>
    <p:extLst>
      <p:ext uri="{BB962C8B-B14F-4D97-AF65-F5344CB8AC3E}">
        <p14:creationId xmlns:p14="http://schemas.microsoft.com/office/powerpoint/2010/main" val="2798275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956441"/>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Documenter un processus:</a:t>
            </a:r>
          </a:p>
          <a:p>
            <a:pPr>
              <a:buNone/>
            </a:pPr>
            <a:r>
              <a:rPr lang="fr-FR" sz="2000" dirty="0">
                <a:latin typeface="Comic Sans MS" panose="030F0702030302020204" pitchFamily="66" charset="0"/>
              </a:rPr>
              <a:t>        Publier la documentation : Générer un document WORD</a:t>
            </a:r>
          </a:p>
        </p:txBody>
      </p:sp>
      <p:sp>
        <p:nvSpPr>
          <p:cNvPr id="4" name="Titre 1"/>
          <p:cNvSpPr txBox="1">
            <a:spLocks/>
          </p:cNvSpPr>
          <p:nvPr/>
        </p:nvSpPr>
        <p:spPr>
          <a:xfrm>
            <a:off x="1946538" y="1911627"/>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6146" name="Picture 2" descr="C:\Users\lenovo\Pictures\Capture20.PNG"/>
          <p:cNvPicPr>
            <a:picLocks noChangeAspect="1" noChangeArrowheads="1"/>
          </p:cNvPicPr>
          <p:nvPr/>
        </p:nvPicPr>
        <p:blipFill>
          <a:blip r:embed="rId2"/>
          <a:srcRect/>
          <a:stretch>
            <a:fillRect/>
          </a:stretch>
        </p:blipFill>
        <p:spPr bwMode="auto">
          <a:xfrm>
            <a:off x="517142" y="1660633"/>
            <a:ext cx="11114087" cy="5060567"/>
          </a:xfrm>
          <a:prstGeom prst="rect">
            <a:avLst/>
          </a:prstGeom>
          <a:noFill/>
        </p:spPr>
      </p:pic>
    </p:spTree>
    <p:extLst>
      <p:ext uri="{BB962C8B-B14F-4D97-AF65-F5344CB8AC3E}">
        <p14:creationId xmlns:p14="http://schemas.microsoft.com/office/powerpoint/2010/main" val="1127393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18593" y="1387367"/>
            <a:ext cx="10331669" cy="3657600"/>
          </a:xfrm>
        </p:spPr>
        <p:txBody>
          <a:bodyPr>
            <a:noAutofit/>
          </a:bodyPr>
          <a:lstStyle/>
          <a:p>
            <a:pPr marL="0" indent="0">
              <a:buNone/>
            </a:pPr>
            <a:r>
              <a:rPr lang="fr-FR" sz="2400" dirty="0">
                <a:latin typeface="Comic Sans MS" panose="030F0702030302020204" pitchFamily="66" charset="0"/>
              </a:rPr>
              <a:t>Collaborer dans un processus:</a:t>
            </a:r>
          </a:p>
          <a:p>
            <a:pPr>
              <a:buNone/>
            </a:pPr>
            <a:endParaRPr lang="fr-FR" sz="2400" dirty="0">
              <a:latin typeface="Comic Sans MS" panose="030F0702030302020204" pitchFamily="66" charset="0"/>
            </a:endParaRPr>
          </a:p>
          <a:p>
            <a:pPr>
              <a:buNone/>
            </a:pPr>
            <a:r>
              <a:rPr lang="fr-FR" sz="2400" dirty="0">
                <a:latin typeface="Comic Sans MS" panose="030F0702030302020204" pitchFamily="66" charset="0"/>
              </a:rPr>
              <a:t>        Types de fichiers:</a:t>
            </a:r>
          </a:p>
          <a:p>
            <a:pPr>
              <a:buFont typeface="Wingdings" pitchFamily="2" charset="2"/>
              <a:buChar char="v"/>
            </a:pPr>
            <a:r>
              <a:rPr lang="fr-FR" sz="2400" dirty="0">
                <a:latin typeface="Comic Sans MS" panose="030F0702030302020204" pitchFamily="66" charset="0"/>
              </a:rPr>
              <a:t>   .</a:t>
            </a:r>
            <a:r>
              <a:rPr lang="fr-FR" sz="2400" dirty="0" err="1">
                <a:latin typeface="Comic Sans MS" panose="030F0702030302020204" pitchFamily="66" charset="0"/>
              </a:rPr>
              <a:t>bpm</a:t>
            </a:r>
            <a:r>
              <a:rPr lang="fr-FR" sz="2400" dirty="0">
                <a:latin typeface="Comic Sans MS" panose="030F0702030302020204" pitchFamily="66" charset="0"/>
              </a:rPr>
              <a:t> : Type normal.</a:t>
            </a:r>
          </a:p>
          <a:p>
            <a:pPr>
              <a:buNone/>
            </a:pPr>
            <a:r>
              <a:rPr lang="fr-FR" sz="2400" dirty="0">
                <a:latin typeface="Comic Sans MS" panose="030F0702030302020204" pitchFamily="66" charset="0"/>
              </a:rPr>
              <a:t>                  </a:t>
            </a:r>
            <a:r>
              <a:rPr lang="fr-FR" sz="2400" dirty="0">
                <a:solidFill>
                  <a:srgbClr val="FF0000"/>
                </a:solidFill>
                <a:latin typeface="Comic Sans MS" panose="030F0702030302020204" pitchFamily="66" charset="0"/>
              </a:rPr>
              <a:t>!</a:t>
            </a:r>
            <a:r>
              <a:rPr lang="fr-FR" sz="2400" dirty="0">
                <a:latin typeface="Comic Sans MS" panose="030F0702030302020204" pitchFamily="66" charset="0"/>
              </a:rPr>
              <a:t> Pas protégé contre les accès concurrents.</a:t>
            </a:r>
          </a:p>
          <a:p>
            <a:pPr>
              <a:buFont typeface="Wingdings" pitchFamily="2" charset="2"/>
              <a:buChar char="v"/>
            </a:pPr>
            <a:r>
              <a:rPr lang="fr-FR" sz="2400" dirty="0">
                <a:latin typeface="Comic Sans MS" panose="030F0702030302020204" pitchFamily="66" charset="0"/>
              </a:rPr>
              <a:t>   .</a:t>
            </a:r>
            <a:r>
              <a:rPr lang="fr-FR" sz="2400" dirty="0" err="1">
                <a:latin typeface="Comic Sans MS" panose="030F0702030302020204" pitchFamily="66" charset="0"/>
              </a:rPr>
              <a:t>bpmc</a:t>
            </a:r>
            <a:r>
              <a:rPr lang="fr-FR" sz="2400" dirty="0">
                <a:latin typeface="Comic Sans MS" panose="030F0702030302020204" pitchFamily="66" charset="0"/>
              </a:rPr>
              <a:t> :  </a:t>
            </a:r>
          </a:p>
          <a:p>
            <a:pPr>
              <a:buNone/>
            </a:pPr>
            <a:r>
              <a:rPr lang="fr-FR" sz="2400" dirty="0">
                <a:latin typeface="Comic Sans MS" panose="030F0702030302020204" pitchFamily="66" charset="0"/>
              </a:rPr>
              <a:t>       Type collaboratif : possibilité de travailler à plusieurs sur le même fichier.</a:t>
            </a:r>
          </a:p>
          <a:p>
            <a:pPr>
              <a:buNone/>
            </a:pPr>
            <a:r>
              <a:rPr lang="fr-FR" sz="2400" dirty="0">
                <a:latin typeface="Comic Sans MS" panose="030F0702030302020204" pitchFamily="66" charset="0"/>
              </a:rPr>
              <a:t>       Chat entre les participants.</a:t>
            </a:r>
          </a:p>
          <a:p>
            <a:pPr>
              <a:buNone/>
            </a:pPr>
            <a:r>
              <a:rPr lang="fr-FR" sz="2400" dirty="0">
                <a:latin typeface="Comic Sans MS" panose="030F0702030302020204" pitchFamily="66" charset="0"/>
              </a:rPr>
              <a:t>       Commentaires possibles à différents niveaux.      </a:t>
            </a:r>
          </a:p>
        </p:txBody>
      </p:sp>
    </p:spTree>
    <p:extLst>
      <p:ext uri="{BB962C8B-B14F-4D97-AF65-F5344CB8AC3E}">
        <p14:creationId xmlns:p14="http://schemas.microsoft.com/office/powerpoint/2010/main" val="3833831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60"/>
            <a:ext cx="10331669" cy="1429406"/>
          </a:xfrm>
        </p:spPr>
        <p:txBody>
          <a:bodyPr>
            <a:normAutofit/>
          </a:bodyPr>
          <a:lstStyle/>
          <a:p>
            <a:pPr lvl="0">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Collaborer dans un processus:</a:t>
            </a:r>
          </a:p>
          <a:p>
            <a:pPr lvl="0">
              <a:buClr>
                <a:srgbClr val="A5300F"/>
              </a:buClr>
              <a:buNone/>
            </a:pPr>
            <a:r>
              <a:rPr lang="fr-FR" sz="2000" dirty="0">
                <a:solidFill>
                  <a:prstClr val="black">
                    <a:lumMod val="75000"/>
                    <a:lumOff val="25000"/>
                  </a:prstClr>
                </a:solidFill>
                <a:latin typeface="Comic Sans MS" panose="030F0702030302020204" pitchFamily="66" charset="0"/>
              </a:rPr>
              <a:t>        Etapes pour partager un processus :</a:t>
            </a:r>
          </a:p>
          <a:p>
            <a:pPr lvl="0">
              <a:buClr>
                <a:srgbClr val="A5300F"/>
              </a:buClr>
              <a:buNone/>
            </a:pPr>
            <a:r>
              <a:rPr lang="fr-FR" sz="2000" dirty="0">
                <a:solidFill>
                  <a:prstClr val="black">
                    <a:lumMod val="75000"/>
                    <a:lumOff val="25000"/>
                  </a:prstClr>
                </a:solidFill>
                <a:latin typeface="Comic Sans MS" panose="030F0702030302020204" pitchFamily="66" charset="0"/>
              </a:rPr>
              <a:t>     </a:t>
            </a:r>
            <a:r>
              <a:rPr lang="fr-FR" sz="2000" dirty="0">
                <a:solidFill>
                  <a:schemeClr val="accent2"/>
                </a:solidFill>
                <a:latin typeface="Comic Sans MS" panose="030F0702030302020204" pitchFamily="66" charset="0"/>
              </a:rPr>
              <a:t>Etape n°1 depuis </a:t>
            </a:r>
            <a:r>
              <a:rPr lang="fr-FR" sz="2000" dirty="0" err="1">
                <a:solidFill>
                  <a:schemeClr val="accent2"/>
                </a:solidFill>
                <a:latin typeface="Comic Sans MS" panose="030F0702030302020204" pitchFamily="66" charset="0"/>
              </a:rPr>
              <a:t>Bizagi</a:t>
            </a:r>
            <a:r>
              <a:rPr lang="fr-FR" sz="2000" dirty="0">
                <a:solidFill>
                  <a:schemeClr val="accent2"/>
                </a:solidFill>
                <a:latin typeface="Comic Sans MS" panose="030F0702030302020204" pitchFamily="66" charset="0"/>
              </a:rPr>
              <a:t> </a:t>
            </a:r>
            <a:r>
              <a:rPr lang="fr-FR" sz="2000" dirty="0" err="1">
                <a:solidFill>
                  <a:schemeClr val="accent2"/>
                </a:solidFill>
                <a:latin typeface="Comic Sans MS" panose="030F0702030302020204" pitchFamily="66" charset="0"/>
              </a:rPr>
              <a:t>Process</a:t>
            </a:r>
            <a:r>
              <a:rPr lang="fr-FR" sz="2000" dirty="0">
                <a:solidFill>
                  <a:schemeClr val="accent2"/>
                </a:solidFill>
                <a:latin typeface="Comic Sans MS" panose="030F0702030302020204" pitchFamily="66" charset="0"/>
              </a:rPr>
              <a:t> Modeler :        </a:t>
            </a:r>
          </a:p>
          <a:p>
            <a:pPr lvl="0">
              <a:buClr>
                <a:srgbClr val="A5300F"/>
              </a:buClr>
              <a:buNone/>
            </a:pPr>
            <a:endParaRPr lang="fr-FR" sz="2000" dirty="0">
              <a:solidFill>
                <a:prstClr val="black">
                  <a:lumMod val="75000"/>
                  <a:lumOff val="25000"/>
                </a:prstClr>
              </a:solidFill>
            </a:endParaRPr>
          </a:p>
        </p:txBody>
      </p:sp>
      <p:sp>
        <p:nvSpPr>
          <p:cNvPr id="4" name="Titre 1"/>
          <p:cNvSpPr txBox="1">
            <a:spLocks/>
          </p:cNvSpPr>
          <p:nvPr/>
        </p:nvSpPr>
        <p:spPr>
          <a:xfrm>
            <a:off x="1326428" y="1964178"/>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0242" name="Picture 2" descr="C:\Users\lenovo\Pictures\Capture25.PNG"/>
          <p:cNvPicPr>
            <a:picLocks noChangeAspect="1" noChangeArrowheads="1"/>
          </p:cNvPicPr>
          <p:nvPr/>
        </p:nvPicPr>
        <p:blipFill>
          <a:blip r:embed="rId2"/>
          <a:srcRect/>
          <a:stretch>
            <a:fillRect/>
          </a:stretch>
        </p:blipFill>
        <p:spPr bwMode="auto">
          <a:xfrm>
            <a:off x="2445955" y="2217682"/>
            <a:ext cx="6645493" cy="4424855"/>
          </a:xfrm>
          <a:prstGeom prst="rect">
            <a:avLst/>
          </a:prstGeom>
          <a:noFill/>
        </p:spPr>
      </p:pic>
    </p:spTree>
    <p:extLst>
      <p:ext uri="{BB962C8B-B14F-4D97-AF65-F5344CB8AC3E}">
        <p14:creationId xmlns:p14="http://schemas.microsoft.com/office/powerpoint/2010/main" val="3924853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60"/>
            <a:ext cx="10331669" cy="1492468"/>
          </a:xfrm>
        </p:spPr>
        <p:txBody>
          <a:bodyPr/>
          <a:lstStyle/>
          <a:p>
            <a:pPr lvl="0">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Collaborer dans un processus:</a:t>
            </a:r>
          </a:p>
          <a:p>
            <a:pPr lvl="0">
              <a:buClr>
                <a:srgbClr val="A5300F"/>
              </a:buClr>
              <a:buNone/>
            </a:pPr>
            <a:r>
              <a:rPr lang="fr-FR" sz="2000" dirty="0">
                <a:solidFill>
                  <a:prstClr val="black">
                    <a:lumMod val="75000"/>
                    <a:lumOff val="25000"/>
                  </a:prstClr>
                </a:solidFill>
                <a:latin typeface="Comic Sans MS" panose="030F0702030302020204" pitchFamily="66" charset="0"/>
              </a:rPr>
              <a:t>        Etapes pour partager un processus :</a:t>
            </a:r>
          </a:p>
          <a:p>
            <a:pPr lvl="0">
              <a:buClr>
                <a:srgbClr val="A5300F"/>
              </a:buClr>
              <a:buNone/>
            </a:pPr>
            <a:r>
              <a:rPr lang="fr-FR" sz="2000" dirty="0">
                <a:solidFill>
                  <a:schemeClr val="accent2"/>
                </a:solidFill>
                <a:latin typeface="Comic Sans MS" panose="030F0702030302020204" pitchFamily="66" charset="0"/>
              </a:rPr>
              <a:t>    Etape n°2 depuis </a:t>
            </a:r>
            <a:r>
              <a:rPr lang="fr-FR" sz="2000" dirty="0" err="1">
                <a:solidFill>
                  <a:schemeClr val="accent2"/>
                </a:solidFill>
                <a:latin typeface="Comic Sans MS" panose="030F0702030302020204" pitchFamily="66" charset="0"/>
              </a:rPr>
              <a:t>Dropbox</a:t>
            </a:r>
            <a:r>
              <a:rPr lang="fr-FR" sz="2000" dirty="0">
                <a:solidFill>
                  <a:schemeClr val="accent2"/>
                </a:solidFill>
                <a:latin typeface="Comic Sans MS" panose="030F0702030302020204" pitchFamily="66" charset="0"/>
              </a:rPr>
              <a:t> :</a:t>
            </a:r>
          </a:p>
          <a:p>
            <a:pPr lvl="0">
              <a:buClr>
                <a:srgbClr val="A5300F"/>
              </a:buClr>
              <a:buNone/>
            </a:pPr>
            <a:endParaRPr lang="fr-FR" sz="2000" dirty="0">
              <a:solidFill>
                <a:schemeClr val="accent2"/>
              </a:solidFill>
            </a:endParaRPr>
          </a:p>
        </p:txBody>
      </p:sp>
      <p:sp>
        <p:nvSpPr>
          <p:cNvPr id="4" name="Titre 1"/>
          <p:cNvSpPr txBox="1">
            <a:spLocks/>
          </p:cNvSpPr>
          <p:nvPr/>
        </p:nvSpPr>
        <p:spPr>
          <a:xfrm>
            <a:off x="1641738" y="2342551"/>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1266" name="Picture 2" descr="C:\Users\lenovo\Pictures\Capture24.PNG"/>
          <p:cNvPicPr>
            <a:picLocks noChangeAspect="1" noChangeArrowheads="1"/>
          </p:cNvPicPr>
          <p:nvPr/>
        </p:nvPicPr>
        <p:blipFill>
          <a:blip r:embed="rId2"/>
          <a:srcRect/>
          <a:stretch>
            <a:fillRect/>
          </a:stretch>
        </p:blipFill>
        <p:spPr bwMode="auto">
          <a:xfrm>
            <a:off x="1215806" y="2339865"/>
            <a:ext cx="9821863" cy="3124200"/>
          </a:xfrm>
          <a:prstGeom prst="rect">
            <a:avLst/>
          </a:prstGeom>
          <a:noFill/>
        </p:spPr>
      </p:pic>
    </p:spTree>
    <p:extLst>
      <p:ext uri="{BB962C8B-B14F-4D97-AF65-F5344CB8AC3E}">
        <p14:creationId xmlns:p14="http://schemas.microsoft.com/office/powerpoint/2010/main" val="1076557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450427"/>
          </a:xfrm>
        </p:spPr>
        <p:txBody>
          <a:bodyPr>
            <a:normAutofit/>
          </a:bodyPr>
          <a:lstStyle/>
          <a:p>
            <a:pPr lvl="0">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Collaborer dans un processus:</a:t>
            </a:r>
          </a:p>
          <a:p>
            <a:pPr lvl="0">
              <a:buClr>
                <a:srgbClr val="A5300F"/>
              </a:buClr>
              <a:buNone/>
            </a:pPr>
            <a:r>
              <a:rPr lang="fr-FR" sz="2000" dirty="0">
                <a:solidFill>
                  <a:prstClr val="black">
                    <a:lumMod val="75000"/>
                    <a:lumOff val="25000"/>
                  </a:prstClr>
                </a:solidFill>
                <a:latin typeface="Comic Sans MS" panose="030F0702030302020204" pitchFamily="66" charset="0"/>
              </a:rPr>
              <a:t>        Niveaux des commentaires:</a:t>
            </a:r>
          </a:p>
          <a:p>
            <a:pPr lvl="0">
              <a:buClr>
                <a:srgbClr val="A5300F"/>
              </a:buClr>
              <a:buNone/>
            </a:pPr>
            <a:r>
              <a:rPr lang="fr-FR" sz="2000" dirty="0">
                <a:solidFill>
                  <a:schemeClr val="accent2"/>
                </a:solidFill>
                <a:latin typeface="Comic Sans MS" panose="030F0702030302020204" pitchFamily="66" charset="0"/>
              </a:rPr>
              <a:t>           Niveau général                                                  </a:t>
            </a:r>
          </a:p>
        </p:txBody>
      </p:sp>
      <p:sp>
        <p:nvSpPr>
          <p:cNvPr id="4" name="Titre 1"/>
          <p:cNvSpPr txBox="1">
            <a:spLocks/>
          </p:cNvSpPr>
          <p:nvPr/>
        </p:nvSpPr>
        <p:spPr>
          <a:xfrm>
            <a:off x="601214" y="2405613"/>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7170" name="Picture 2" descr="C:\Users\lenovo\Pictures\Capture21.PNG"/>
          <p:cNvPicPr>
            <a:picLocks noChangeAspect="1" noChangeArrowheads="1"/>
          </p:cNvPicPr>
          <p:nvPr/>
        </p:nvPicPr>
        <p:blipFill>
          <a:blip r:embed="rId2"/>
          <a:srcRect/>
          <a:stretch>
            <a:fillRect/>
          </a:stretch>
        </p:blipFill>
        <p:spPr bwMode="auto">
          <a:xfrm>
            <a:off x="1313793" y="2202597"/>
            <a:ext cx="9795641" cy="4418920"/>
          </a:xfrm>
          <a:prstGeom prst="rect">
            <a:avLst/>
          </a:prstGeom>
          <a:noFill/>
        </p:spPr>
      </p:pic>
    </p:spTree>
    <p:extLst>
      <p:ext uri="{BB962C8B-B14F-4D97-AF65-F5344CB8AC3E}">
        <p14:creationId xmlns:p14="http://schemas.microsoft.com/office/powerpoint/2010/main" val="600936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60"/>
            <a:ext cx="10331669" cy="1345324"/>
          </a:xfrm>
        </p:spPr>
        <p:txBody>
          <a:bodyPr>
            <a:normAutofit/>
          </a:bodyPr>
          <a:lstStyle/>
          <a:p>
            <a:pPr lvl="0">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Collaborer dans un processus:</a:t>
            </a:r>
          </a:p>
          <a:p>
            <a:pPr lvl="0">
              <a:buClr>
                <a:srgbClr val="A5300F"/>
              </a:buClr>
              <a:buNone/>
            </a:pPr>
            <a:r>
              <a:rPr lang="fr-FR" sz="2000" dirty="0">
                <a:solidFill>
                  <a:prstClr val="black">
                    <a:lumMod val="75000"/>
                    <a:lumOff val="25000"/>
                  </a:prstClr>
                </a:solidFill>
                <a:latin typeface="Comic Sans MS" panose="030F0702030302020204" pitchFamily="66" charset="0"/>
              </a:rPr>
              <a:t>        Niveaux des commentaires:</a:t>
            </a:r>
          </a:p>
          <a:p>
            <a:pPr lvl="0">
              <a:buClr>
                <a:srgbClr val="A5300F"/>
              </a:buClr>
              <a:buNone/>
            </a:pPr>
            <a:r>
              <a:rPr lang="fr-FR" sz="2000" dirty="0">
                <a:solidFill>
                  <a:schemeClr val="accent2"/>
                </a:solidFill>
                <a:latin typeface="Comic Sans MS" panose="030F0702030302020204" pitchFamily="66" charset="0"/>
              </a:rPr>
              <a:t>           Niveau diagramme                                              </a:t>
            </a:r>
          </a:p>
        </p:txBody>
      </p:sp>
      <p:sp>
        <p:nvSpPr>
          <p:cNvPr id="4" name="Titre 1"/>
          <p:cNvSpPr txBox="1">
            <a:spLocks/>
          </p:cNvSpPr>
          <p:nvPr/>
        </p:nvSpPr>
        <p:spPr>
          <a:xfrm>
            <a:off x="1925518" y="2510716"/>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8194" name="Picture 2" descr="C:\Users\lenovo\Pictures\Capture22.PNG"/>
          <p:cNvPicPr>
            <a:picLocks noChangeAspect="1" noChangeArrowheads="1"/>
          </p:cNvPicPr>
          <p:nvPr/>
        </p:nvPicPr>
        <p:blipFill>
          <a:blip r:embed="rId2"/>
          <a:srcRect/>
          <a:stretch>
            <a:fillRect/>
          </a:stretch>
        </p:blipFill>
        <p:spPr bwMode="auto">
          <a:xfrm>
            <a:off x="1511057" y="2058622"/>
            <a:ext cx="9913564" cy="4648200"/>
          </a:xfrm>
          <a:prstGeom prst="rect">
            <a:avLst/>
          </a:prstGeom>
          <a:noFill/>
        </p:spPr>
      </p:pic>
    </p:spTree>
    <p:extLst>
      <p:ext uri="{BB962C8B-B14F-4D97-AF65-F5344CB8AC3E}">
        <p14:creationId xmlns:p14="http://schemas.microsoft.com/office/powerpoint/2010/main" val="783129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60786" y="2904855"/>
            <a:ext cx="5415959" cy="952442"/>
          </a:xfrm>
        </p:spPr>
        <p:txBody>
          <a:bodyPr/>
          <a:lstStyle/>
          <a:p>
            <a:endParaRPr lang="fr-FR" dirty="0"/>
          </a:p>
        </p:txBody>
      </p:sp>
      <p:sp>
        <p:nvSpPr>
          <p:cNvPr id="3" name="Espace réservé du contenu 2"/>
          <p:cNvSpPr>
            <a:spLocks noGrp="1"/>
          </p:cNvSpPr>
          <p:nvPr>
            <p:ph idx="1"/>
          </p:nvPr>
        </p:nvSpPr>
        <p:spPr>
          <a:xfrm>
            <a:off x="1629103" y="872359"/>
            <a:ext cx="10331669" cy="1397875"/>
          </a:xfrm>
        </p:spPr>
        <p:txBody>
          <a:bodyPr>
            <a:normAutofit/>
          </a:bodyPr>
          <a:lstStyle/>
          <a:p>
            <a:pPr lvl="0">
              <a:buClr>
                <a:srgbClr val="A5300F"/>
              </a:buClr>
              <a:buFont typeface="Wingdings" panose="05000000000000000000" pitchFamily="2" charset="2"/>
              <a:buChar char="Ø"/>
            </a:pPr>
            <a:r>
              <a:rPr lang="fr-FR" sz="2000" dirty="0">
                <a:solidFill>
                  <a:prstClr val="black">
                    <a:lumMod val="75000"/>
                    <a:lumOff val="25000"/>
                  </a:prstClr>
                </a:solidFill>
                <a:latin typeface="Comic Sans MS" panose="030F0702030302020204" pitchFamily="66" charset="0"/>
              </a:rPr>
              <a:t>Collaborer dans un processus:</a:t>
            </a:r>
          </a:p>
          <a:p>
            <a:pPr lvl="0">
              <a:buClr>
                <a:srgbClr val="A5300F"/>
              </a:buClr>
              <a:buNone/>
            </a:pPr>
            <a:r>
              <a:rPr lang="fr-FR" sz="2000" dirty="0">
                <a:solidFill>
                  <a:prstClr val="black">
                    <a:lumMod val="75000"/>
                    <a:lumOff val="25000"/>
                  </a:prstClr>
                </a:solidFill>
                <a:latin typeface="Comic Sans MS" panose="030F0702030302020204" pitchFamily="66" charset="0"/>
              </a:rPr>
              <a:t>        Niveaux des commentaires:</a:t>
            </a:r>
          </a:p>
          <a:p>
            <a:pPr lvl="0">
              <a:buClr>
                <a:srgbClr val="A5300F"/>
              </a:buClr>
              <a:buNone/>
            </a:pPr>
            <a:r>
              <a:rPr lang="fr-FR" sz="2000" dirty="0">
                <a:solidFill>
                  <a:schemeClr val="accent2"/>
                </a:solidFill>
                <a:latin typeface="Comic Sans MS" panose="030F0702030302020204" pitchFamily="66" charset="0"/>
              </a:rPr>
              <a:t>           Niveau élément                                              </a:t>
            </a:r>
          </a:p>
        </p:txBody>
      </p:sp>
      <p:sp>
        <p:nvSpPr>
          <p:cNvPr id="4" name="Titre 1"/>
          <p:cNvSpPr txBox="1">
            <a:spLocks/>
          </p:cNvSpPr>
          <p:nvPr/>
        </p:nvSpPr>
        <p:spPr>
          <a:xfrm>
            <a:off x="2608690" y="32456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lang="fr-FR" sz="3600" dirty="0">
                <a:solidFill>
                  <a:schemeClr val="accent1"/>
                </a:solidFill>
                <a:latin typeface="Cooper Black" panose="0208090404030B020404" pitchFamily="18" charset="0"/>
                <a:ea typeface="+mj-ea"/>
                <a:cs typeface="+mj-cs"/>
              </a:rPr>
              <a:t>Présentation </a:t>
            </a:r>
            <a:r>
              <a:rPr lang="fr-FR" sz="3600" dirty="0" err="1">
                <a:solidFill>
                  <a:schemeClr val="accent1"/>
                </a:solidFill>
                <a:latin typeface="Cooper Black" panose="0208090404030B020404" pitchFamily="18" charset="0"/>
                <a:ea typeface="+mj-ea"/>
                <a:cs typeface="+mj-cs"/>
              </a:rPr>
              <a:t>Bizagi</a:t>
            </a:r>
            <a:r>
              <a:rPr lang="fr-FR" sz="3600" dirty="0">
                <a:solidFill>
                  <a:schemeClr val="accent1"/>
                </a:solidFill>
                <a:latin typeface="Cooper Black" panose="0208090404030B020404" pitchFamily="18" charset="0"/>
                <a:ea typeface="+mj-ea"/>
                <a:cs typeface="+mj-cs"/>
              </a:rPr>
              <a:t> </a:t>
            </a:r>
            <a:r>
              <a:rPr lang="fr-FR" sz="3600" dirty="0" err="1">
                <a:solidFill>
                  <a:schemeClr val="accent1"/>
                </a:solidFill>
                <a:latin typeface="Cooper Black" panose="0208090404030B020404" pitchFamily="18" charset="0"/>
                <a:ea typeface="+mj-ea"/>
                <a:cs typeface="+mj-cs"/>
              </a:rPr>
              <a:t>Process</a:t>
            </a:r>
            <a:r>
              <a:rPr lang="fr-FR" sz="3600" dirty="0">
                <a:solidFill>
                  <a:schemeClr val="accent1"/>
                </a:solidFill>
                <a:latin typeface="Cooper Black" panose="0208090404030B020404" pitchFamily="18" charset="0"/>
                <a:ea typeface="+mj-ea"/>
                <a:cs typeface="+mj-cs"/>
              </a:rPr>
              <a:t> Modeler</a:t>
            </a:r>
          </a:p>
        </p:txBody>
      </p:sp>
      <p:pic>
        <p:nvPicPr>
          <p:cNvPr id="9218" name="Picture 2" descr="C:\Users\lenovo\Pictures\Capture23.PNG"/>
          <p:cNvPicPr>
            <a:picLocks noChangeAspect="1" noChangeArrowheads="1"/>
          </p:cNvPicPr>
          <p:nvPr/>
        </p:nvPicPr>
        <p:blipFill>
          <a:blip r:embed="rId2"/>
          <a:srcRect/>
          <a:stretch>
            <a:fillRect/>
          </a:stretch>
        </p:blipFill>
        <p:spPr bwMode="auto">
          <a:xfrm>
            <a:off x="1723696" y="2156923"/>
            <a:ext cx="8681545" cy="4352925"/>
          </a:xfrm>
          <a:prstGeom prst="rect">
            <a:avLst/>
          </a:prstGeom>
          <a:noFill/>
        </p:spPr>
      </p:pic>
    </p:spTree>
    <p:extLst>
      <p:ext uri="{BB962C8B-B14F-4D97-AF65-F5344CB8AC3E}">
        <p14:creationId xmlns:p14="http://schemas.microsoft.com/office/powerpoint/2010/main" val="1430415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flipH="1">
            <a:off x="5244660" y="4035971"/>
            <a:ext cx="1926011" cy="536027"/>
          </a:xfrm>
        </p:spPr>
        <p:txBody>
          <a:bodyPr>
            <a:normAutofit fontScale="90000"/>
          </a:bodyPr>
          <a:lstStyle/>
          <a:p>
            <a:endParaRPr lang="fr-FR" dirty="0"/>
          </a:p>
        </p:txBody>
      </p:sp>
      <p:sp>
        <p:nvSpPr>
          <p:cNvPr id="3" name="Espace réservé du contenu 2"/>
          <p:cNvSpPr>
            <a:spLocks noGrp="1"/>
          </p:cNvSpPr>
          <p:nvPr>
            <p:ph idx="1"/>
          </p:nvPr>
        </p:nvSpPr>
        <p:spPr>
          <a:xfrm>
            <a:off x="1629103" y="872360"/>
            <a:ext cx="10331669" cy="3184634"/>
          </a:xfrm>
        </p:spPr>
        <p:txBody>
          <a:bodyPr>
            <a:normAutofit/>
          </a:bodyPr>
          <a:lstStyle/>
          <a:p>
            <a:endParaRPr lang="fr-FR" dirty="0"/>
          </a:p>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Simulation est un outil  pour évaluer la performance d’un modèle, sous différentes configurations et sur de longues périodes de temps réel, afin de réduire les risques d’échecs pour répondre aux spécifications, pour éviter sous ou sur-utilisation des ressources et d’optimiser les performances du système.</a:t>
            </a:r>
          </a:p>
          <a:p>
            <a:pPr>
              <a:buNone/>
            </a:pPr>
            <a:endParaRPr lang="fr-FR" sz="2000" dirty="0">
              <a:latin typeface="Comic Sans MS" panose="030F0702030302020204" pitchFamily="66" charset="0"/>
            </a:endParaRPr>
          </a:p>
          <a:p>
            <a:pPr>
              <a:buNone/>
            </a:pPr>
            <a:r>
              <a:rPr lang="fr-FR" sz="2000" dirty="0">
                <a:latin typeface="Comic Sans MS" panose="030F0702030302020204" pitchFamily="66" charset="0"/>
              </a:rPr>
              <a:t>         Passer en vue simulation : </a:t>
            </a:r>
          </a:p>
        </p:txBody>
      </p:sp>
      <p:sp>
        <p:nvSpPr>
          <p:cNvPr id="4" name="Titre 1"/>
          <p:cNvSpPr txBox="1">
            <a:spLocks/>
          </p:cNvSpPr>
          <p:nvPr/>
        </p:nvSpPr>
        <p:spPr>
          <a:xfrm>
            <a:off x="2608690" y="32456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lang="fr-FR" sz="3600" dirty="0">
                <a:solidFill>
                  <a:schemeClr val="accent1"/>
                </a:solidFill>
                <a:latin typeface="Cooper Black" panose="0208090404030B020404" pitchFamily="18" charset="0"/>
                <a:ea typeface="+mj-ea"/>
                <a:cs typeface="+mj-cs"/>
              </a:rPr>
              <a:t>Présentation </a:t>
            </a:r>
            <a:r>
              <a:rPr lang="fr-FR" sz="3600" dirty="0" err="1">
                <a:solidFill>
                  <a:schemeClr val="accent1"/>
                </a:solidFill>
                <a:latin typeface="Cooper Black" panose="0208090404030B020404" pitchFamily="18" charset="0"/>
                <a:ea typeface="+mj-ea"/>
                <a:cs typeface="+mj-cs"/>
              </a:rPr>
              <a:t>Bizagi</a:t>
            </a:r>
            <a:r>
              <a:rPr lang="fr-FR" sz="3600" dirty="0">
                <a:solidFill>
                  <a:schemeClr val="accent1"/>
                </a:solidFill>
                <a:latin typeface="Cooper Black" panose="0208090404030B020404" pitchFamily="18" charset="0"/>
                <a:ea typeface="+mj-ea"/>
                <a:cs typeface="+mj-cs"/>
              </a:rPr>
              <a:t> </a:t>
            </a:r>
            <a:r>
              <a:rPr lang="fr-FR" sz="3600" dirty="0" err="1">
                <a:solidFill>
                  <a:schemeClr val="accent1"/>
                </a:solidFill>
                <a:latin typeface="Cooper Black" panose="0208090404030B020404" pitchFamily="18" charset="0"/>
                <a:ea typeface="+mj-ea"/>
                <a:cs typeface="+mj-cs"/>
              </a:rPr>
              <a:t>Process</a:t>
            </a:r>
            <a:r>
              <a:rPr lang="fr-FR" sz="3600" dirty="0">
                <a:solidFill>
                  <a:schemeClr val="accent1"/>
                </a:solidFill>
                <a:latin typeface="Cooper Black" panose="0208090404030B020404" pitchFamily="18" charset="0"/>
                <a:ea typeface="+mj-ea"/>
                <a:cs typeface="+mj-cs"/>
              </a:rPr>
              <a:t> Modeler</a:t>
            </a:r>
          </a:p>
        </p:txBody>
      </p:sp>
      <p:pic>
        <p:nvPicPr>
          <p:cNvPr id="12290" name="Picture 2" descr="C:\Users\lenovo\Pictures\Capture26.PNG"/>
          <p:cNvPicPr>
            <a:picLocks noChangeAspect="1" noChangeArrowheads="1"/>
          </p:cNvPicPr>
          <p:nvPr/>
        </p:nvPicPr>
        <p:blipFill>
          <a:blip r:embed="rId2"/>
          <a:srcRect/>
          <a:stretch>
            <a:fillRect/>
          </a:stretch>
        </p:blipFill>
        <p:spPr bwMode="auto">
          <a:xfrm>
            <a:off x="4192151" y="3983091"/>
            <a:ext cx="4543425" cy="1162050"/>
          </a:xfrm>
          <a:prstGeom prst="rect">
            <a:avLst/>
          </a:prstGeom>
          <a:noFill/>
        </p:spPr>
      </p:pic>
    </p:spTree>
    <p:extLst>
      <p:ext uri="{BB962C8B-B14F-4D97-AF65-F5344CB8AC3E}">
        <p14:creationId xmlns:p14="http://schemas.microsoft.com/office/powerpoint/2010/main" val="2440587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a:bodyPr>
          <a:lstStyle/>
          <a:p>
            <a:r>
              <a:rPr lang="fr-FR" dirty="0">
                <a:solidFill>
                  <a:schemeClr val="accent1"/>
                </a:solidFill>
                <a:latin typeface="Cooper Black" panose="0208090404030B020404" pitchFamily="18" charset="0"/>
              </a:rPr>
              <a:t>Présentation </a:t>
            </a:r>
            <a:r>
              <a:rPr lang="fr-FR" dirty="0" err="1">
                <a:solidFill>
                  <a:schemeClr val="accent1"/>
                </a:solidFill>
                <a:latin typeface="Cooper Black" panose="0208090404030B020404" pitchFamily="18" charset="0"/>
              </a:rPr>
              <a:t>Bizagi</a:t>
            </a:r>
            <a:r>
              <a:rPr lang="fr-FR" dirty="0">
                <a:solidFill>
                  <a:schemeClr val="accent1"/>
                </a:solidFill>
                <a:latin typeface="Cooper Black" panose="0208090404030B020404" pitchFamily="18" charset="0"/>
              </a:rPr>
              <a:t> </a:t>
            </a:r>
            <a:r>
              <a:rPr lang="fr-FR" dirty="0" err="1">
                <a:solidFill>
                  <a:schemeClr val="accent1"/>
                </a:solidFill>
                <a:latin typeface="Cooper Black" panose="0208090404030B020404" pitchFamily="18" charset="0"/>
              </a:rPr>
              <a:t>Process</a:t>
            </a:r>
            <a:r>
              <a:rPr lang="fr-FR" dirty="0">
                <a:solidFill>
                  <a:schemeClr val="accent1"/>
                </a:solidFill>
                <a:latin typeface="Cooper Black" panose="0208090404030B020404" pitchFamily="18" charset="0"/>
              </a:rPr>
              <a:t> Modeler</a:t>
            </a:r>
          </a:p>
        </p:txBody>
      </p:sp>
      <p:sp>
        <p:nvSpPr>
          <p:cNvPr id="3" name="Espace réservé du contenu 2"/>
          <p:cNvSpPr>
            <a:spLocks noGrp="1"/>
          </p:cNvSpPr>
          <p:nvPr>
            <p:ph idx="1"/>
          </p:nvPr>
        </p:nvSpPr>
        <p:spPr>
          <a:xfrm>
            <a:off x="1629103" y="872359"/>
            <a:ext cx="10331669" cy="1555531"/>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Niveau 1: </a:t>
            </a:r>
            <a:r>
              <a:rPr lang="fr-FR" sz="2000" dirty="0" err="1">
                <a:latin typeface="Comic Sans MS" panose="030F0702030302020204" pitchFamily="66" charset="0"/>
              </a:rPr>
              <a:t>Process</a:t>
            </a:r>
            <a:r>
              <a:rPr lang="fr-FR" sz="2000" dirty="0">
                <a:latin typeface="Comic Sans MS" panose="030F0702030302020204" pitchFamily="66" charset="0"/>
              </a:rPr>
              <a:t> validation</a:t>
            </a:r>
          </a:p>
          <a:p>
            <a:pPr>
              <a:buNone/>
            </a:pPr>
            <a:r>
              <a:rPr lang="fr-FR" sz="2000" dirty="0">
                <a:solidFill>
                  <a:schemeClr val="accent2"/>
                </a:solidFill>
                <a:latin typeface="Comic Sans MS" panose="030F0702030302020204" pitchFamily="66" charset="0"/>
              </a:rPr>
              <a:t>            Répartition sur les branchements</a:t>
            </a:r>
          </a:p>
        </p:txBody>
      </p:sp>
      <p:sp>
        <p:nvSpPr>
          <p:cNvPr id="4" name="Titre 1"/>
          <p:cNvSpPr txBox="1">
            <a:spLocks/>
          </p:cNvSpPr>
          <p:nvPr/>
        </p:nvSpPr>
        <p:spPr>
          <a:xfrm>
            <a:off x="1767862" y="244765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3314" name="Picture 2" descr="C:\Users\lenovo\Pictures\Capture28.PNG"/>
          <p:cNvPicPr>
            <a:picLocks noChangeAspect="1" noChangeArrowheads="1"/>
          </p:cNvPicPr>
          <p:nvPr/>
        </p:nvPicPr>
        <p:blipFill>
          <a:blip r:embed="rId2"/>
          <a:srcRect/>
          <a:stretch>
            <a:fillRect/>
          </a:stretch>
        </p:blipFill>
        <p:spPr bwMode="auto">
          <a:xfrm>
            <a:off x="2791372" y="2326069"/>
            <a:ext cx="6145213" cy="753461"/>
          </a:xfrm>
          <a:prstGeom prst="rect">
            <a:avLst/>
          </a:prstGeom>
          <a:noFill/>
        </p:spPr>
      </p:pic>
      <p:sp>
        <p:nvSpPr>
          <p:cNvPr id="6" name="Titre 1"/>
          <p:cNvSpPr txBox="1">
            <a:spLocks/>
          </p:cNvSpPr>
          <p:nvPr/>
        </p:nvSpPr>
        <p:spPr>
          <a:xfrm>
            <a:off x="2577159" y="3015214"/>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sp>
        <p:nvSpPr>
          <p:cNvPr id="7" name="Titre 1"/>
          <p:cNvSpPr txBox="1">
            <a:spLocks/>
          </p:cNvSpPr>
          <p:nvPr/>
        </p:nvSpPr>
        <p:spPr>
          <a:xfrm>
            <a:off x="2198787" y="3351544"/>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3315" name="Picture 3" descr="C:\Users\lenovo\Pictures\Capture27.PNG"/>
          <p:cNvPicPr>
            <a:picLocks noChangeAspect="1" noChangeArrowheads="1"/>
          </p:cNvPicPr>
          <p:nvPr/>
        </p:nvPicPr>
        <p:blipFill>
          <a:blip r:embed="rId3"/>
          <a:srcRect/>
          <a:stretch>
            <a:fillRect/>
          </a:stretch>
        </p:blipFill>
        <p:spPr bwMode="auto">
          <a:xfrm>
            <a:off x="2983842" y="3154088"/>
            <a:ext cx="5802313" cy="2342821"/>
          </a:xfrm>
          <a:prstGeom prst="rect">
            <a:avLst/>
          </a:prstGeom>
          <a:noFill/>
        </p:spPr>
      </p:pic>
    </p:spTree>
    <p:extLst>
      <p:ext uri="{BB962C8B-B14F-4D97-AF65-F5344CB8AC3E}">
        <p14:creationId xmlns:p14="http://schemas.microsoft.com/office/powerpoint/2010/main" val="3607705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92318" y="3777214"/>
            <a:ext cx="5741779" cy="952442"/>
          </a:xfrm>
        </p:spPr>
        <p:txBody>
          <a:bodyPr/>
          <a:lstStyle/>
          <a:p>
            <a:endParaRPr lang="fr-FR" dirty="0"/>
          </a:p>
        </p:txBody>
      </p:sp>
      <p:sp>
        <p:nvSpPr>
          <p:cNvPr id="3" name="Espace réservé du contenu 2"/>
          <p:cNvSpPr>
            <a:spLocks noGrp="1"/>
          </p:cNvSpPr>
          <p:nvPr>
            <p:ph idx="1"/>
          </p:nvPr>
        </p:nvSpPr>
        <p:spPr>
          <a:xfrm>
            <a:off x="1629103" y="872360"/>
            <a:ext cx="10331669" cy="1692163"/>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Niveau 2 : Time </a:t>
            </a:r>
            <a:r>
              <a:rPr lang="fr-FR" sz="2000" dirty="0" err="1">
                <a:latin typeface="Comic Sans MS" panose="030F0702030302020204" pitchFamily="66" charset="0"/>
              </a:rPr>
              <a:t>Analysis</a:t>
            </a:r>
            <a:endParaRPr lang="fr-FR" sz="2000" dirty="0">
              <a:latin typeface="Comic Sans MS" panose="030F0702030302020204" pitchFamily="66" charset="0"/>
            </a:endParaRPr>
          </a:p>
          <a:p>
            <a:pPr>
              <a:buNone/>
            </a:pPr>
            <a:r>
              <a:rPr lang="fr-FR" sz="2000" dirty="0">
                <a:solidFill>
                  <a:schemeClr val="accent2"/>
                </a:solidFill>
                <a:latin typeface="Comic Sans MS" panose="030F0702030302020204" pitchFamily="66" charset="0"/>
              </a:rPr>
              <a:t>          Mettre des durées sur les tâches</a:t>
            </a:r>
          </a:p>
          <a:p>
            <a:pPr>
              <a:buNone/>
            </a:pPr>
            <a:r>
              <a:rPr lang="fr-FR" sz="2000" dirty="0"/>
              <a:t>        </a:t>
            </a:r>
          </a:p>
        </p:txBody>
      </p:sp>
      <p:sp>
        <p:nvSpPr>
          <p:cNvPr id="4" name="Titre 1"/>
          <p:cNvSpPr txBox="1">
            <a:spLocks/>
          </p:cNvSpPr>
          <p:nvPr/>
        </p:nvSpPr>
        <p:spPr>
          <a:xfrm>
            <a:off x="2177765" y="275245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4339" name="Picture 3" descr="C:\Users\lenovo\Pictures\Capture29.PNG"/>
          <p:cNvPicPr>
            <a:picLocks noChangeAspect="1" noChangeArrowheads="1"/>
          </p:cNvPicPr>
          <p:nvPr/>
        </p:nvPicPr>
        <p:blipFill>
          <a:blip r:embed="rId2"/>
          <a:srcRect/>
          <a:stretch>
            <a:fillRect/>
          </a:stretch>
        </p:blipFill>
        <p:spPr bwMode="auto">
          <a:xfrm>
            <a:off x="3177902" y="2575033"/>
            <a:ext cx="5457825" cy="819807"/>
          </a:xfrm>
          <a:prstGeom prst="rect">
            <a:avLst/>
          </a:prstGeom>
          <a:noFill/>
        </p:spPr>
      </p:pic>
      <p:sp>
        <p:nvSpPr>
          <p:cNvPr id="7" name="Titre 1"/>
          <p:cNvSpPr txBox="1">
            <a:spLocks/>
          </p:cNvSpPr>
          <p:nvPr/>
        </p:nvSpPr>
        <p:spPr>
          <a:xfrm>
            <a:off x="2608690" y="324565"/>
            <a:ext cx="8911687" cy="952442"/>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sz="3600" b="0" i="0" u="none" strike="noStrike" kern="1200" cap="none" spc="0" normalizeH="0" baseline="0" noProof="0" dirty="0">
                <a:ln>
                  <a:noFill/>
                </a:ln>
                <a:solidFill>
                  <a:schemeClr val="accent1"/>
                </a:solidFill>
                <a:effectLst/>
                <a:uLnTx/>
                <a:uFillTx/>
                <a:latin typeface="Cooper Black" panose="0208090404030B020404" pitchFamily="18" charset="0"/>
                <a:ea typeface="+mj-ea"/>
                <a:cs typeface="+mj-cs"/>
              </a:rPr>
              <a:t>Présentation </a:t>
            </a:r>
            <a:r>
              <a:rPr kumimoji="0" lang="fr-FR" sz="3600" b="0" i="0" u="none" strike="noStrike" kern="1200" cap="none" spc="0" normalizeH="0" baseline="0" noProof="0" dirty="0" err="1">
                <a:ln>
                  <a:noFill/>
                </a:ln>
                <a:solidFill>
                  <a:schemeClr val="accent1"/>
                </a:solidFill>
                <a:effectLst/>
                <a:uLnTx/>
                <a:uFillTx/>
                <a:latin typeface="Cooper Black" panose="0208090404030B020404" pitchFamily="18" charset="0"/>
                <a:ea typeface="+mj-ea"/>
                <a:cs typeface="+mj-cs"/>
              </a:rPr>
              <a:t>Bizagi</a:t>
            </a:r>
            <a:r>
              <a:rPr kumimoji="0" lang="fr-FR" sz="3600" b="0" i="0" u="none" strike="noStrike" kern="1200" cap="none" spc="0" normalizeH="0" baseline="0" noProof="0" dirty="0">
                <a:ln>
                  <a:noFill/>
                </a:ln>
                <a:solidFill>
                  <a:schemeClr val="accent1"/>
                </a:solidFill>
                <a:effectLst/>
                <a:uLnTx/>
                <a:uFillTx/>
                <a:latin typeface="Cooper Black" panose="0208090404030B020404" pitchFamily="18" charset="0"/>
                <a:ea typeface="+mj-ea"/>
                <a:cs typeface="+mj-cs"/>
              </a:rPr>
              <a:t> </a:t>
            </a:r>
            <a:r>
              <a:rPr kumimoji="0" lang="fr-FR" sz="3600" b="0" i="0" u="none" strike="noStrike" kern="1200" cap="none" spc="0" normalizeH="0" baseline="0" noProof="0" dirty="0" err="1">
                <a:ln>
                  <a:noFill/>
                </a:ln>
                <a:solidFill>
                  <a:schemeClr val="accent1"/>
                </a:solidFill>
                <a:effectLst/>
                <a:uLnTx/>
                <a:uFillTx/>
                <a:latin typeface="Cooper Black" panose="0208090404030B020404" pitchFamily="18" charset="0"/>
                <a:ea typeface="+mj-ea"/>
                <a:cs typeface="+mj-cs"/>
              </a:rPr>
              <a:t>Process</a:t>
            </a:r>
            <a:r>
              <a:rPr kumimoji="0" lang="fr-FR" sz="3600" b="0" i="0" u="none" strike="noStrike" kern="1200" cap="none" spc="0" normalizeH="0" baseline="0" noProof="0" dirty="0">
                <a:ln>
                  <a:noFill/>
                </a:ln>
                <a:solidFill>
                  <a:schemeClr val="accent1"/>
                </a:solidFill>
                <a:effectLst/>
                <a:uLnTx/>
                <a:uFillTx/>
                <a:latin typeface="Cooper Black" panose="0208090404030B020404" pitchFamily="18" charset="0"/>
                <a:ea typeface="+mj-ea"/>
                <a:cs typeface="+mj-cs"/>
              </a:rPr>
              <a:t> Modeler</a:t>
            </a:r>
          </a:p>
        </p:txBody>
      </p:sp>
      <p:pic>
        <p:nvPicPr>
          <p:cNvPr id="14342" name="Picture 6" descr="C:\Users\lenovo\Pictures\Capture30.PNG"/>
          <p:cNvPicPr>
            <a:picLocks noChangeAspect="1" noChangeArrowheads="1"/>
          </p:cNvPicPr>
          <p:nvPr/>
        </p:nvPicPr>
        <p:blipFill>
          <a:blip r:embed="rId3"/>
          <a:srcRect/>
          <a:stretch>
            <a:fillRect/>
          </a:stretch>
        </p:blipFill>
        <p:spPr bwMode="auto">
          <a:xfrm>
            <a:off x="2764221" y="3598480"/>
            <a:ext cx="6316717" cy="1835368"/>
          </a:xfrm>
          <a:prstGeom prst="rect">
            <a:avLst/>
          </a:prstGeom>
          <a:noFill/>
        </p:spPr>
      </p:pic>
    </p:spTree>
    <p:extLst>
      <p:ext uri="{BB962C8B-B14F-4D97-AF65-F5344CB8AC3E}">
        <p14:creationId xmlns:p14="http://schemas.microsoft.com/office/powerpoint/2010/main" val="4024314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fontScale="90000"/>
          </a:bodyPr>
          <a:lstStyle/>
          <a:p>
            <a:pPr lvl="0"/>
            <a:r>
              <a:rPr lang="fr-FR" sz="4000" dirty="0">
                <a:solidFill>
                  <a:schemeClr val="accent1"/>
                </a:solidFill>
                <a:latin typeface="Cooper Black" panose="0208090404030B020404" pitchFamily="18" charset="0"/>
              </a:rPr>
              <a:t>Présentation </a:t>
            </a:r>
            <a:r>
              <a:rPr lang="fr-FR" sz="4000" dirty="0" err="1">
                <a:solidFill>
                  <a:schemeClr val="accent1"/>
                </a:solidFill>
                <a:latin typeface="Cooper Black" panose="0208090404030B020404" pitchFamily="18" charset="0"/>
              </a:rPr>
              <a:t>Bizagi</a:t>
            </a:r>
            <a:r>
              <a:rPr lang="fr-FR" sz="4000" dirty="0">
                <a:solidFill>
                  <a:schemeClr val="accent1"/>
                </a:solidFill>
                <a:latin typeface="Cooper Black" panose="0208090404030B020404" pitchFamily="18" charset="0"/>
              </a:rPr>
              <a:t> </a:t>
            </a:r>
            <a:r>
              <a:rPr lang="fr-FR" sz="4000" dirty="0" err="1">
                <a:solidFill>
                  <a:schemeClr val="accent1"/>
                </a:solidFill>
                <a:latin typeface="Cooper Black" panose="0208090404030B020404" pitchFamily="18" charset="0"/>
              </a:rPr>
              <a:t>Process</a:t>
            </a:r>
            <a:r>
              <a:rPr lang="fr-FR" sz="4000" dirty="0">
                <a:solidFill>
                  <a:schemeClr val="accent1"/>
                </a:solidFill>
                <a:latin typeface="Cooper Black" panose="0208090404030B020404" pitchFamily="18" charset="0"/>
              </a:rPr>
              <a:t> Modeler</a:t>
            </a:r>
            <a:br>
              <a:rPr lang="fr-FR" sz="4000" dirty="0">
                <a:solidFill>
                  <a:schemeClr val="accent1"/>
                </a:solidFill>
                <a:latin typeface="Cooper Black" panose="0208090404030B020404" pitchFamily="18" charset="0"/>
              </a:rPr>
            </a:br>
            <a:endParaRPr lang="fr-FR" sz="4000" dirty="0">
              <a:solidFill>
                <a:schemeClr val="accent1"/>
              </a:solidFill>
              <a:latin typeface="Cooper Black" panose="0208090404030B020404" pitchFamily="18" charset="0"/>
            </a:endParaRPr>
          </a:p>
        </p:txBody>
      </p:sp>
      <p:sp>
        <p:nvSpPr>
          <p:cNvPr id="3" name="Espace réservé du contenu 2"/>
          <p:cNvSpPr>
            <a:spLocks noGrp="1"/>
          </p:cNvSpPr>
          <p:nvPr>
            <p:ph idx="1"/>
          </p:nvPr>
        </p:nvSpPr>
        <p:spPr>
          <a:xfrm>
            <a:off x="1629103" y="872359"/>
            <a:ext cx="10331669" cy="1870841"/>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Niveau 3 : Resource </a:t>
            </a:r>
            <a:r>
              <a:rPr lang="fr-FR" sz="2000" dirty="0" err="1">
                <a:latin typeface="Comic Sans MS" panose="030F0702030302020204" pitchFamily="66" charset="0"/>
              </a:rPr>
              <a:t>Analysis</a:t>
            </a:r>
            <a:endParaRPr lang="fr-FR" sz="2000" dirty="0">
              <a:latin typeface="Comic Sans MS" panose="030F0702030302020204" pitchFamily="66" charset="0"/>
            </a:endParaRPr>
          </a:p>
          <a:p>
            <a:pPr>
              <a:buNone/>
            </a:pPr>
            <a:r>
              <a:rPr lang="fr-FR" sz="2000" dirty="0">
                <a:solidFill>
                  <a:schemeClr val="accent2"/>
                </a:solidFill>
                <a:latin typeface="Comic Sans MS" panose="030F0702030302020204" pitchFamily="66" charset="0"/>
              </a:rPr>
              <a:t>          Mettre des ressources et des couts sur les tâches</a:t>
            </a:r>
          </a:p>
          <a:p>
            <a:pPr>
              <a:buNone/>
            </a:pPr>
            <a:r>
              <a:rPr lang="fr-FR" sz="2000" dirty="0">
                <a:latin typeface="Comic Sans MS" panose="030F0702030302020204" pitchFamily="66" charset="0"/>
              </a:rPr>
              <a:t>          </a:t>
            </a:r>
          </a:p>
        </p:txBody>
      </p:sp>
      <p:sp>
        <p:nvSpPr>
          <p:cNvPr id="4" name="Titre 1"/>
          <p:cNvSpPr txBox="1">
            <a:spLocks/>
          </p:cNvSpPr>
          <p:nvPr/>
        </p:nvSpPr>
        <p:spPr>
          <a:xfrm>
            <a:off x="2219807" y="2794496"/>
            <a:ext cx="8911687"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5362" name="Picture 2" descr="C:\Users\lenovo\Pictures\Capture31.PNG"/>
          <p:cNvPicPr>
            <a:picLocks noChangeAspect="1" noChangeArrowheads="1"/>
          </p:cNvPicPr>
          <p:nvPr/>
        </p:nvPicPr>
        <p:blipFill>
          <a:blip r:embed="rId2"/>
          <a:srcRect/>
          <a:stretch>
            <a:fillRect/>
          </a:stretch>
        </p:blipFill>
        <p:spPr bwMode="auto">
          <a:xfrm>
            <a:off x="2857665" y="2294538"/>
            <a:ext cx="5739797" cy="890095"/>
          </a:xfrm>
          <a:prstGeom prst="rect">
            <a:avLst/>
          </a:prstGeom>
          <a:noFill/>
        </p:spPr>
      </p:pic>
      <p:sp>
        <p:nvSpPr>
          <p:cNvPr id="6" name="Titre 1"/>
          <p:cNvSpPr txBox="1">
            <a:spLocks/>
          </p:cNvSpPr>
          <p:nvPr/>
        </p:nvSpPr>
        <p:spPr>
          <a:xfrm>
            <a:off x="2177766" y="3750938"/>
            <a:ext cx="8911687"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5363" name="Picture 3" descr="C:\Users\lenovo\Pictures\Capture32.PNG"/>
          <p:cNvPicPr>
            <a:picLocks noChangeAspect="1" noChangeArrowheads="1"/>
          </p:cNvPicPr>
          <p:nvPr/>
        </p:nvPicPr>
        <p:blipFill>
          <a:blip r:embed="rId3"/>
          <a:srcRect/>
          <a:stretch>
            <a:fillRect/>
          </a:stretch>
        </p:blipFill>
        <p:spPr bwMode="auto">
          <a:xfrm>
            <a:off x="2895819" y="3330630"/>
            <a:ext cx="5726113" cy="2466975"/>
          </a:xfrm>
          <a:prstGeom prst="rect">
            <a:avLst/>
          </a:prstGeom>
          <a:noFill/>
        </p:spPr>
      </p:pic>
    </p:spTree>
    <p:extLst>
      <p:ext uri="{BB962C8B-B14F-4D97-AF65-F5344CB8AC3E}">
        <p14:creationId xmlns:p14="http://schemas.microsoft.com/office/powerpoint/2010/main" val="3285793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fontScale="90000"/>
          </a:bodyPr>
          <a:lstStyle/>
          <a:p>
            <a:pPr lvl="0"/>
            <a:r>
              <a:rPr lang="fr-FR" sz="4000" dirty="0">
                <a:solidFill>
                  <a:schemeClr val="accent1"/>
                </a:solidFill>
                <a:latin typeface="Cooper Black" panose="0208090404030B020404" pitchFamily="18" charset="0"/>
              </a:rPr>
              <a:t>Présentation </a:t>
            </a:r>
            <a:r>
              <a:rPr lang="fr-FR" sz="4000" dirty="0" err="1">
                <a:solidFill>
                  <a:schemeClr val="accent1"/>
                </a:solidFill>
                <a:latin typeface="Cooper Black" panose="0208090404030B020404" pitchFamily="18" charset="0"/>
              </a:rPr>
              <a:t>Bizagi</a:t>
            </a:r>
            <a:r>
              <a:rPr lang="fr-FR" sz="4000" dirty="0">
                <a:solidFill>
                  <a:schemeClr val="accent1"/>
                </a:solidFill>
                <a:latin typeface="Cooper Black" panose="0208090404030B020404" pitchFamily="18" charset="0"/>
              </a:rPr>
              <a:t> </a:t>
            </a:r>
            <a:r>
              <a:rPr lang="fr-FR" sz="4000" dirty="0" err="1">
                <a:solidFill>
                  <a:schemeClr val="accent1"/>
                </a:solidFill>
                <a:latin typeface="Cooper Black" panose="0208090404030B020404" pitchFamily="18" charset="0"/>
              </a:rPr>
              <a:t>Process</a:t>
            </a:r>
            <a:r>
              <a:rPr lang="fr-FR" sz="4000" dirty="0">
                <a:solidFill>
                  <a:schemeClr val="accent1"/>
                </a:solidFill>
                <a:latin typeface="Cooper Black" panose="0208090404030B020404" pitchFamily="18" charset="0"/>
              </a:rPr>
              <a:t> Modeler</a:t>
            </a:r>
            <a:br>
              <a:rPr lang="fr-FR" dirty="0"/>
            </a:br>
            <a:endParaRPr lang="fr-FR" dirty="0"/>
          </a:p>
        </p:txBody>
      </p:sp>
      <p:sp>
        <p:nvSpPr>
          <p:cNvPr id="3" name="Espace réservé du contenu 2"/>
          <p:cNvSpPr>
            <a:spLocks noGrp="1"/>
          </p:cNvSpPr>
          <p:nvPr>
            <p:ph idx="1"/>
          </p:nvPr>
        </p:nvSpPr>
        <p:spPr>
          <a:xfrm>
            <a:off x="1629103" y="872359"/>
            <a:ext cx="6369269" cy="5065986"/>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Niveau 4: </a:t>
            </a:r>
            <a:r>
              <a:rPr lang="fr-FR" sz="2000" dirty="0" err="1">
                <a:latin typeface="Comic Sans MS" panose="030F0702030302020204" pitchFamily="66" charset="0"/>
              </a:rPr>
              <a:t>Calendar</a:t>
            </a:r>
            <a:r>
              <a:rPr lang="fr-FR" sz="2000" dirty="0">
                <a:latin typeface="Comic Sans MS" panose="030F0702030302020204" pitchFamily="66" charset="0"/>
              </a:rPr>
              <a:t> </a:t>
            </a:r>
            <a:r>
              <a:rPr lang="fr-FR" sz="2000" dirty="0" err="1">
                <a:latin typeface="Comic Sans MS" panose="030F0702030302020204" pitchFamily="66" charset="0"/>
              </a:rPr>
              <a:t>Analysis</a:t>
            </a:r>
            <a:endParaRPr lang="fr-FR" sz="2000" dirty="0">
              <a:latin typeface="Comic Sans MS" panose="030F0702030302020204" pitchFamily="66" charset="0"/>
            </a:endParaRPr>
          </a:p>
          <a:p>
            <a:pPr>
              <a:buNone/>
            </a:pPr>
            <a:r>
              <a:rPr lang="fr-FR" sz="2000" dirty="0">
                <a:solidFill>
                  <a:schemeClr val="accent2"/>
                </a:solidFill>
                <a:latin typeface="Comic Sans MS" panose="030F0702030302020204" pitchFamily="66" charset="0"/>
              </a:rPr>
              <a:t>          Mettre un calendrier sur chaque ressource:</a:t>
            </a:r>
          </a:p>
          <a:p>
            <a:pPr>
              <a:buNone/>
            </a:pPr>
            <a:r>
              <a:rPr lang="fr-FR" sz="2000" dirty="0">
                <a:solidFill>
                  <a:schemeClr val="accent2"/>
                </a:solidFill>
                <a:latin typeface="Comic Sans MS" panose="030F0702030302020204" pitchFamily="66" charset="0"/>
              </a:rPr>
              <a:t>           1.Définir &amp; gérer les calendriers :</a:t>
            </a:r>
          </a:p>
          <a:p>
            <a:pPr>
              <a:buNone/>
            </a:pPr>
            <a:endParaRPr lang="fr-FR" sz="2000" dirty="0">
              <a:solidFill>
                <a:schemeClr val="accent2"/>
              </a:solidFill>
              <a:latin typeface="Comic Sans MS" panose="030F0702030302020204" pitchFamily="66" charset="0"/>
            </a:endParaRPr>
          </a:p>
          <a:p>
            <a:pPr>
              <a:buNone/>
            </a:pPr>
            <a:endParaRPr lang="fr-FR" sz="2000" dirty="0">
              <a:solidFill>
                <a:schemeClr val="accent2"/>
              </a:solidFill>
              <a:latin typeface="Comic Sans MS" panose="030F0702030302020204" pitchFamily="66" charset="0"/>
            </a:endParaRPr>
          </a:p>
          <a:p>
            <a:pPr>
              <a:buNone/>
            </a:pPr>
            <a:r>
              <a:rPr lang="fr-FR" sz="2000" dirty="0">
                <a:solidFill>
                  <a:schemeClr val="accent2"/>
                </a:solidFill>
                <a:latin typeface="Comic Sans MS" panose="030F0702030302020204" pitchFamily="66" charset="0"/>
              </a:rPr>
              <a:t>           2.Gérer les ressources : affecter les </a:t>
            </a:r>
          </a:p>
          <a:p>
            <a:pPr>
              <a:buNone/>
            </a:pPr>
            <a:r>
              <a:rPr lang="fr-FR" sz="2000" dirty="0">
                <a:solidFill>
                  <a:schemeClr val="accent2"/>
                </a:solidFill>
                <a:latin typeface="Comic Sans MS" panose="030F0702030302020204" pitchFamily="66" charset="0"/>
              </a:rPr>
              <a:t>              calendriers</a:t>
            </a:r>
          </a:p>
        </p:txBody>
      </p:sp>
      <p:sp>
        <p:nvSpPr>
          <p:cNvPr id="4" name="Titre 1"/>
          <p:cNvSpPr txBox="1">
            <a:spLocks/>
          </p:cNvSpPr>
          <p:nvPr/>
        </p:nvSpPr>
        <p:spPr>
          <a:xfrm>
            <a:off x="8366235" y="2184895"/>
            <a:ext cx="3446775"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6386" name="Picture 2" descr="C:\Users\lenovo\Pictures\Capture34.PNG"/>
          <p:cNvPicPr>
            <a:picLocks noChangeAspect="1" noChangeArrowheads="1"/>
          </p:cNvPicPr>
          <p:nvPr/>
        </p:nvPicPr>
        <p:blipFill>
          <a:blip r:embed="rId2"/>
          <a:srcRect/>
          <a:stretch>
            <a:fillRect/>
          </a:stretch>
        </p:blipFill>
        <p:spPr bwMode="auto">
          <a:xfrm>
            <a:off x="7717221" y="2265144"/>
            <a:ext cx="4114800" cy="1171575"/>
          </a:xfrm>
          <a:prstGeom prst="rect">
            <a:avLst/>
          </a:prstGeom>
          <a:noFill/>
        </p:spPr>
      </p:pic>
      <p:sp>
        <p:nvSpPr>
          <p:cNvPr id="6" name="Titre 1"/>
          <p:cNvSpPr txBox="1">
            <a:spLocks/>
          </p:cNvSpPr>
          <p:nvPr/>
        </p:nvSpPr>
        <p:spPr>
          <a:xfrm>
            <a:off x="7746124" y="4297476"/>
            <a:ext cx="4015991"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6387" name="Picture 3" descr="C:\Users\lenovo\Pictures\Capture35.PNG"/>
          <p:cNvPicPr>
            <a:picLocks noChangeAspect="1" noChangeArrowheads="1"/>
          </p:cNvPicPr>
          <p:nvPr/>
        </p:nvPicPr>
        <p:blipFill>
          <a:blip r:embed="rId3"/>
          <a:srcRect/>
          <a:stretch>
            <a:fillRect/>
          </a:stretch>
        </p:blipFill>
        <p:spPr bwMode="auto">
          <a:xfrm>
            <a:off x="6968357" y="3804745"/>
            <a:ext cx="4381828" cy="2777523"/>
          </a:xfrm>
          <a:prstGeom prst="rect">
            <a:avLst/>
          </a:prstGeom>
          <a:noFill/>
        </p:spPr>
      </p:pic>
    </p:spTree>
    <p:extLst>
      <p:ext uri="{BB962C8B-B14F-4D97-AF65-F5344CB8AC3E}">
        <p14:creationId xmlns:p14="http://schemas.microsoft.com/office/powerpoint/2010/main" val="2122884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56290" y="172165"/>
            <a:ext cx="8911687" cy="952442"/>
          </a:xfrm>
        </p:spPr>
        <p:txBody>
          <a:bodyPr>
            <a:normAutofit fontScale="90000"/>
          </a:bodyPr>
          <a:lstStyle/>
          <a:p>
            <a:pPr lvl="0"/>
            <a:r>
              <a:rPr lang="fr-FR" sz="4000" dirty="0">
                <a:solidFill>
                  <a:schemeClr val="accent1"/>
                </a:solidFill>
                <a:latin typeface="Cooper Black" panose="0208090404030B020404" pitchFamily="18" charset="0"/>
              </a:rPr>
              <a:t>Présentation </a:t>
            </a:r>
            <a:r>
              <a:rPr lang="fr-FR" sz="4000" dirty="0" err="1">
                <a:solidFill>
                  <a:schemeClr val="accent1"/>
                </a:solidFill>
                <a:latin typeface="Cooper Black" panose="0208090404030B020404" pitchFamily="18" charset="0"/>
              </a:rPr>
              <a:t>Bizagi</a:t>
            </a:r>
            <a:r>
              <a:rPr lang="fr-FR" sz="4000" dirty="0">
                <a:solidFill>
                  <a:schemeClr val="accent1"/>
                </a:solidFill>
                <a:latin typeface="Cooper Black" panose="0208090404030B020404" pitchFamily="18" charset="0"/>
              </a:rPr>
              <a:t> </a:t>
            </a:r>
            <a:r>
              <a:rPr lang="fr-FR" sz="4000" dirty="0" err="1">
                <a:solidFill>
                  <a:schemeClr val="accent1"/>
                </a:solidFill>
                <a:latin typeface="Cooper Black" panose="0208090404030B020404" pitchFamily="18" charset="0"/>
              </a:rPr>
              <a:t>Process</a:t>
            </a:r>
            <a:r>
              <a:rPr lang="fr-FR" sz="4000" dirty="0">
                <a:solidFill>
                  <a:schemeClr val="accent1"/>
                </a:solidFill>
                <a:latin typeface="Cooper Black" panose="0208090404030B020404" pitchFamily="18" charset="0"/>
              </a:rPr>
              <a:t> Modeler</a:t>
            </a:r>
            <a:br>
              <a:rPr lang="fr-FR" dirty="0"/>
            </a:br>
            <a:endParaRPr lang="fr-FR" dirty="0"/>
          </a:p>
        </p:txBody>
      </p:sp>
      <p:sp>
        <p:nvSpPr>
          <p:cNvPr id="3" name="Espace réservé du contenu 2"/>
          <p:cNvSpPr>
            <a:spLocks noGrp="1"/>
          </p:cNvSpPr>
          <p:nvPr>
            <p:ph idx="1"/>
          </p:nvPr>
        </p:nvSpPr>
        <p:spPr>
          <a:xfrm>
            <a:off x="1629103" y="872359"/>
            <a:ext cx="4593021" cy="5038863"/>
          </a:xfrm>
        </p:spPr>
        <p:txBody>
          <a:bodyPr>
            <a:normAutofit/>
          </a:bodyPr>
          <a:lstStyle/>
          <a:p>
            <a:pPr>
              <a:buFont typeface="Wingdings" panose="05000000000000000000" pitchFamily="2" charset="2"/>
              <a:buChar char="Ø"/>
            </a:pPr>
            <a:r>
              <a:rPr lang="fr-FR" sz="2000" dirty="0">
                <a:latin typeface="Comic Sans MS" panose="030F0702030302020204" pitchFamily="66" charset="0"/>
              </a:rPr>
              <a:t>Simuler un processus:</a:t>
            </a:r>
          </a:p>
          <a:p>
            <a:pPr>
              <a:buNone/>
            </a:pPr>
            <a:r>
              <a:rPr lang="fr-FR" sz="2000" dirty="0">
                <a:latin typeface="Comic Sans MS" panose="030F0702030302020204" pitchFamily="66" charset="0"/>
              </a:rPr>
              <a:t>       Lancer la simulation :</a:t>
            </a:r>
          </a:p>
          <a:p>
            <a:pPr>
              <a:buNone/>
            </a:pPr>
            <a:endParaRPr lang="fr-FR" sz="2000" dirty="0">
              <a:latin typeface="Comic Sans MS" panose="030F0702030302020204" pitchFamily="66" charset="0"/>
            </a:endParaRPr>
          </a:p>
          <a:p>
            <a:pPr>
              <a:buNone/>
            </a:pPr>
            <a:endParaRPr lang="fr-FR" sz="2000" dirty="0">
              <a:latin typeface="Comic Sans MS" panose="030F0702030302020204" pitchFamily="66" charset="0"/>
            </a:endParaRPr>
          </a:p>
          <a:p>
            <a:pPr>
              <a:buNone/>
            </a:pPr>
            <a:endParaRPr lang="fr-FR" sz="2000" dirty="0">
              <a:latin typeface="Comic Sans MS" panose="030F0702030302020204" pitchFamily="66" charset="0"/>
            </a:endParaRPr>
          </a:p>
          <a:p>
            <a:pPr>
              <a:buNone/>
            </a:pPr>
            <a:r>
              <a:rPr lang="fr-FR" sz="2000" dirty="0">
                <a:latin typeface="Comic Sans MS" panose="030F0702030302020204" pitchFamily="66" charset="0"/>
              </a:rPr>
              <a:t>       </a:t>
            </a:r>
          </a:p>
          <a:p>
            <a:pPr>
              <a:buNone/>
            </a:pPr>
            <a:r>
              <a:rPr lang="fr-FR" sz="2000" dirty="0">
                <a:latin typeface="Comic Sans MS" panose="030F0702030302020204" pitchFamily="66" charset="0"/>
              </a:rPr>
              <a:t>       </a:t>
            </a:r>
          </a:p>
          <a:p>
            <a:pPr>
              <a:buNone/>
            </a:pPr>
            <a:r>
              <a:rPr lang="fr-FR" sz="2000" dirty="0">
                <a:latin typeface="Comic Sans MS" panose="030F0702030302020204" pitchFamily="66" charset="0"/>
              </a:rPr>
              <a:t>     Afficher les résultats:</a:t>
            </a:r>
          </a:p>
        </p:txBody>
      </p:sp>
      <p:sp>
        <p:nvSpPr>
          <p:cNvPr id="4" name="Titre 1"/>
          <p:cNvSpPr txBox="1">
            <a:spLocks/>
          </p:cNvSpPr>
          <p:nvPr/>
        </p:nvSpPr>
        <p:spPr>
          <a:xfrm>
            <a:off x="6863255" y="1669890"/>
            <a:ext cx="5119577"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7410" name="Picture 2" descr="C:\Users\lenovo\Pictures\Capture36.PNG"/>
          <p:cNvPicPr>
            <a:picLocks noChangeAspect="1" noChangeArrowheads="1"/>
          </p:cNvPicPr>
          <p:nvPr/>
        </p:nvPicPr>
        <p:blipFill>
          <a:blip r:embed="rId2"/>
          <a:srcRect/>
          <a:stretch>
            <a:fillRect/>
          </a:stretch>
        </p:blipFill>
        <p:spPr bwMode="auto">
          <a:xfrm>
            <a:off x="6528566" y="1077475"/>
            <a:ext cx="4095750" cy="1171575"/>
          </a:xfrm>
          <a:prstGeom prst="rect">
            <a:avLst/>
          </a:prstGeom>
          <a:noFill/>
        </p:spPr>
      </p:pic>
      <p:sp>
        <p:nvSpPr>
          <p:cNvPr id="6" name="Titre 1"/>
          <p:cNvSpPr txBox="1">
            <a:spLocks/>
          </p:cNvSpPr>
          <p:nvPr/>
        </p:nvSpPr>
        <p:spPr>
          <a:xfrm>
            <a:off x="6600497" y="2668372"/>
            <a:ext cx="4194666"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7411" name="Picture 3" descr="C:\Users\lenovo\Pictures\Capture37.PNG"/>
          <p:cNvPicPr>
            <a:picLocks noChangeAspect="1" noChangeArrowheads="1"/>
          </p:cNvPicPr>
          <p:nvPr/>
        </p:nvPicPr>
        <p:blipFill>
          <a:blip r:embed="rId3"/>
          <a:srcRect/>
          <a:stretch>
            <a:fillRect/>
          </a:stretch>
        </p:blipFill>
        <p:spPr bwMode="auto">
          <a:xfrm>
            <a:off x="3211403" y="2487667"/>
            <a:ext cx="6713537" cy="1104900"/>
          </a:xfrm>
          <a:prstGeom prst="rect">
            <a:avLst/>
          </a:prstGeom>
          <a:noFill/>
        </p:spPr>
      </p:pic>
      <p:sp>
        <p:nvSpPr>
          <p:cNvPr id="8" name="Titre 1"/>
          <p:cNvSpPr txBox="1">
            <a:spLocks/>
          </p:cNvSpPr>
          <p:nvPr/>
        </p:nvSpPr>
        <p:spPr>
          <a:xfrm>
            <a:off x="5959366" y="4833503"/>
            <a:ext cx="5676625" cy="952442"/>
          </a:xfrm>
          <a:prstGeom prst="rect">
            <a:avLst/>
          </a:prstGeom>
        </p:spPr>
        <p:txBody>
          <a:bodyPr vert="horz" lIns="91440" tIns="45720" rIns="91440" bIns="45720" rtlCol="0" anchor="t">
            <a:normAutofit fontScale="97500"/>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fr-FR" sz="3600" b="0" i="0" u="none" strike="noStrike" kern="1200" cap="none" spc="0" normalizeH="0" baseline="0" noProof="0" dirty="0">
              <a:ln>
                <a:noFill/>
              </a:ln>
              <a:solidFill>
                <a:schemeClr val="tx1">
                  <a:lumMod val="85000"/>
                  <a:lumOff val="15000"/>
                </a:schemeClr>
              </a:solidFill>
              <a:effectLst/>
              <a:uLnTx/>
              <a:uFillTx/>
              <a:latin typeface="+mj-lt"/>
              <a:ea typeface="+mj-ea"/>
              <a:cs typeface="+mj-cs"/>
            </a:endParaRPr>
          </a:p>
        </p:txBody>
      </p:sp>
      <p:pic>
        <p:nvPicPr>
          <p:cNvPr id="17412" name="Picture 4" descr="C:\Users\lenovo\Pictures\Capture39.PNG"/>
          <p:cNvPicPr>
            <a:picLocks noChangeAspect="1" noChangeArrowheads="1"/>
          </p:cNvPicPr>
          <p:nvPr/>
        </p:nvPicPr>
        <p:blipFill>
          <a:blip r:embed="rId4"/>
          <a:srcRect/>
          <a:stretch>
            <a:fillRect/>
          </a:stretch>
        </p:blipFill>
        <p:spPr bwMode="auto">
          <a:xfrm>
            <a:off x="4796987" y="4331904"/>
            <a:ext cx="3943350" cy="1200150"/>
          </a:xfrm>
          <a:prstGeom prst="rect">
            <a:avLst/>
          </a:prstGeom>
          <a:noFill/>
        </p:spPr>
      </p:pic>
    </p:spTree>
    <p:extLst>
      <p:ext uri="{BB962C8B-B14F-4D97-AF65-F5344CB8AC3E}">
        <p14:creationId xmlns:p14="http://schemas.microsoft.com/office/powerpoint/2010/main" val="3545834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796835" y="258850"/>
            <a:ext cx="11181805" cy="2262781"/>
          </a:xfrm>
        </p:spPr>
        <p:txBody>
          <a:bodyPr>
            <a:normAutofit/>
          </a:bodyPr>
          <a:lstStyle/>
          <a:p>
            <a:pPr algn="ctr"/>
            <a:r>
              <a:rPr lang="fr-FR" sz="6600" dirty="0">
                <a:latin typeface="Cooper Black" panose="0208090404030B020404" pitchFamily="18" charset="0"/>
              </a:rPr>
              <a:t>Exemple :processus d’emprunt d’un livre</a:t>
            </a:r>
          </a:p>
        </p:txBody>
      </p:sp>
    </p:spTree>
    <p:extLst>
      <p:ext uri="{BB962C8B-B14F-4D97-AF65-F5344CB8AC3E}">
        <p14:creationId xmlns:p14="http://schemas.microsoft.com/office/powerpoint/2010/main" val="1713889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41862" y="431076"/>
            <a:ext cx="10123715" cy="5636902"/>
          </a:xfrm>
        </p:spPr>
        <p:txBody>
          <a:bodyPr/>
          <a:lstStyle/>
          <a:p>
            <a:r>
              <a:rPr lang="fr-FR" dirty="0"/>
              <a:t>Pour décrire nos processus métier nous avons choisi comme méthode de travail une qui s’appelle SIPOC</a:t>
            </a:r>
          </a:p>
          <a:p>
            <a:r>
              <a:rPr lang="fr-FR" b="1" dirty="0"/>
              <a:t>SIPOC</a:t>
            </a:r>
            <a:r>
              <a:rPr lang="fr-FR" dirty="0"/>
              <a:t> est l'</a:t>
            </a:r>
            <a:r>
              <a:rPr lang="fr-FR" dirty="0">
                <a:hlinkClick r:id="rId2" tooltip="Acronyme"/>
              </a:rPr>
              <a:t>acronyme</a:t>
            </a:r>
            <a:r>
              <a:rPr lang="fr-FR" dirty="0"/>
              <a:t> de </a:t>
            </a:r>
            <a:r>
              <a:rPr lang="fr-FR" b="1" dirty="0"/>
              <a:t>S</a:t>
            </a:r>
            <a:r>
              <a:rPr lang="fr-FR" dirty="0"/>
              <a:t>upplier         </a:t>
            </a:r>
            <a:r>
              <a:rPr lang="fr-FR" b="1" dirty="0"/>
              <a:t>I</a:t>
            </a:r>
            <a:r>
              <a:rPr lang="fr-FR" dirty="0"/>
              <a:t>nput     </a:t>
            </a:r>
            <a:r>
              <a:rPr lang="fr-FR" b="1" dirty="0"/>
              <a:t>P</a:t>
            </a:r>
            <a:r>
              <a:rPr lang="fr-FR" dirty="0"/>
              <a:t>rocess    </a:t>
            </a:r>
            <a:r>
              <a:rPr lang="fr-FR" b="1" dirty="0"/>
              <a:t>O</a:t>
            </a:r>
            <a:r>
              <a:rPr lang="fr-FR" dirty="0"/>
              <a:t>utput  </a:t>
            </a:r>
            <a:r>
              <a:rPr lang="fr-FR" b="1" dirty="0"/>
              <a:t>C</a:t>
            </a:r>
            <a:r>
              <a:rPr lang="fr-FR" dirty="0"/>
              <a:t>ustomer,</a:t>
            </a:r>
          </a:p>
          <a:p>
            <a:pPr>
              <a:buNone/>
            </a:pPr>
            <a:r>
              <a:rPr lang="fr-FR" dirty="0"/>
              <a:t>                           en français   </a:t>
            </a:r>
            <a:r>
              <a:rPr lang="fr-FR" b="1" dirty="0"/>
              <a:t>F</a:t>
            </a:r>
            <a:r>
              <a:rPr lang="fr-FR" dirty="0"/>
              <a:t>ournisseurs   </a:t>
            </a:r>
            <a:r>
              <a:rPr lang="fr-FR" b="1" dirty="0"/>
              <a:t>E</a:t>
            </a:r>
            <a:r>
              <a:rPr lang="fr-FR" dirty="0"/>
              <a:t>ntrées </a:t>
            </a:r>
            <a:r>
              <a:rPr lang="fr-FR" b="1" dirty="0"/>
              <a:t>P</a:t>
            </a:r>
            <a:r>
              <a:rPr lang="fr-FR" dirty="0"/>
              <a:t>rocessus  </a:t>
            </a:r>
            <a:r>
              <a:rPr lang="fr-FR" b="1" dirty="0"/>
              <a:t>S</a:t>
            </a:r>
            <a:r>
              <a:rPr lang="fr-FR" dirty="0"/>
              <a:t>orties   </a:t>
            </a:r>
            <a:r>
              <a:rPr lang="fr-FR" b="1" dirty="0"/>
              <a:t>C</a:t>
            </a:r>
            <a:r>
              <a:rPr lang="fr-FR" dirty="0"/>
              <a:t>lients</a:t>
            </a:r>
          </a:p>
          <a:p>
            <a:r>
              <a:rPr lang="fr-FR" dirty="0"/>
              <a:t>Il est présenté sous forme d'une carte dans laquelle on va décrire ce processus du fournisseur (entrées) au client (sorties) à travers ses activités. </a:t>
            </a:r>
          </a:p>
          <a:p>
            <a:pPr>
              <a:buNone/>
            </a:pPr>
            <a:endParaRPr lang="fr-FR" dirty="0"/>
          </a:p>
          <a:p>
            <a:pPr>
              <a:buNone/>
            </a:pPr>
            <a:endParaRPr lang="fr-FR" dirty="0"/>
          </a:p>
        </p:txBody>
      </p:sp>
      <p:pic>
        <p:nvPicPr>
          <p:cNvPr id="4" name="Image 3" descr="tb.JPG"/>
          <p:cNvPicPr>
            <a:picLocks noChangeAspect="1"/>
          </p:cNvPicPr>
          <p:nvPr/>
        </p:nvPicPr>
        <p:blipFill>
          <a:blip r:embed="rId3"/>
          <a:stretch>
            <a:fillRect/>
          </a:stretch>
        </p:blipFill>
        <p:spPr>
          <a:xfrm>
            <a:off x="3108960" y="2926080"/>
            <a:ext cx="6466114" cy="2299063"/>
          </a:xfrm>
          <a:prstGeom prst="rect">
            <a:avLst/>
          </a:prstGeom>
          <a:ln>
            <a:solidFill>
              <a:srgbClr val="C00000"/>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1802675" y="1489166"/>
          <a:ext cx="10280468" cy="3940098"/>
        </p:xfrm>
        <a:graphic>
          <a:graphicData uri="http://schemas.openxmlformats.org/drawingml/2006/table">
            <a:tbl>
              <a:tblPr firstRow="1" bandRow="1">
                <a:tableStyleId>{22838BEF-8BB2-4498-84A7-C5851F593DF1}</a:tableStyleId>
              </a:tblPr>
              <a:tblGrid>
                <a:gridCol w="1291145">
                  <a:extLst>
                    <a:ext uri="{9D8B030D-6E8A-4147-A177-3AD203B41FA5}">
                      <a16:colId xmlns:a16="http://schemas.microsoft.com/office/drawing/2014/main" val="20000"/>
                    </a:ext>
                  </a:extLst>
                </a:gridCol>
                <a:gridCol w="968358">
                  <a:extLst>
                    <a:ext uri="{9D8B030D-6E8A-4147-A177-3AD203B41FA5}">
                      <a16:colId xmlns:a16="http://schemas.microsoft.com/office/drawing/2014/main" val="20001"/>
                    </a:ext>
                  </a:extLst>
                </a:gridCol>
                <a:gridCol w="1129750">
                  <a:extLst>
                    <a:ext uri="{9D8B030D-6E8A-4147-A177-3AD203B41FA5}">
                      <a16:colId xmlns:a16="http://schemas.microsoft.com/office/drawing/2014/main" val="20002"/>
                    </a:ext>
                  </a:extLst>
                </a:gridCol>
                <a:gridCol w="1049054">
                  <a:extLst>
                    <a:ext uri="{9D8B030D-6E8A-4147-A177-3AD203B41FA5}">
                      <a16:colId xmlns:a16="http://schemas.microsoft.com/office/drawing/2014/main" val="20003"/>
                    </a:ext>
                  </a:extLst>
                </a:gridCol>
                <a:gridCol w="1049054">
                  <a:extLst>
                    <a:ext uri="{9D8B030D-6E8A-4147-A177-3AD203B41FA5}">
                      <a16:colId xmlns:a16="http://schemas.microsoft.com/office/drawing/2014/main" val="20004"/>
                    </a:ext>
                  </a:extLst>
                </a:gridCol>
                <a:gridCol w="1291143">
                  <a:extLst>
                    <a:ext uri="{9D8B030D-6E8A-4147-A177-3AD203B41FA5}">
                      <a16:colId xmlns:a16="http://schemas.microsoft.com/office/drawing/2014/main" val="20005"/>
                    </a:ext>
                  </a:extLst>
                </a:gridCol>
                <a:gridCol w="1006958">
                  <a:extLst>
                    <a:ext uri="{9D8B030D-6E8A-4147-A177-3AD203B41FA5}">
                      <a16:colId xmlns:a16="http://schemas.microsoft.com/office/drawing/2014/main" val="20006"/>
                    </a:ext>
                  </a:extLst>
                </a:gridCol>
                <a:gridCol w="757646">
                  <a:extLst>
                    <a:ext uri="{9D8B030D-6E8A-4147-A177-3AD203B41FA5}">
                      <a16:colId xmlns:a16="http://schemas.microsoft.com/office/drawing/2014/main" val="20007"/>
                    </a:ext>
                  </a:extLst>
                </a:gridCol>
                <a:gridCol w="857836">
                  <a:extLst>
                    <a:ext uri="{9D8B030D-6E8A-4147-A177-3AD203B41FA5}">
                      <a16:colId xmlns:a16="http://schemas.microsoft.com/office/drawing/2014/main" val="20008"/>
                    </a:ext>
                  </a:extLst>
                </a:gridCol>
                <a:gridCol w="879524">
                  <a:extLst>
                    <a:ext uri="{9D8B030D-6E8A-4147-A177-3AD203B41FA5}">
                      <a16:colId xmlns:a16="http://schemas.microsoft.com/office/drawing/2014/main" val="20009"/>
                    </a:ext>
                  </a:extLst>
                </a:gridCol>
              </a:tblGrid>
              <a:tr h="563529">
                <a:tc>
                  <a:txBody>
                    <a:bodyPr/>
                    <a:lstStyle/>
                    <a:p>
                      <a:pPr algn="ctr"/>
                      <a:r>
                        <a:rPr lang="fr-FR" sz="1400" dirty="0"/>
                        <a:t>fournisseurs</a:t>
                      </a:r>
                      <a:endParaRPr lang="fr-FR" sz="1400" b="1" dirty="0"/>
                    </a:p>
                  </a:txBody>
                  <a:tcPr marL="121920" marR="121920"/>
                </a:tc>
                <a:tc>
                  <a:txBody>
                    <a:bodyPr/>
                    <a:lstStyle/>
                    <a:p>
                      <a:pPr algn="ctr"/>
                      <a:r>
                        <a:rPr lang="fr-FR" sz="1400" dirty="0"/>
                        <a:t>entrées</a:t>
                      </a:r>
                    </a:p>
                  </a:txBody>
                  <a:tcPr marL="121920" marR="121920"/>
                </a:tc>
                <a:tc gridSpan="6">
                  <a:txBody>
                    <a:bodyPr/>
                    <a:lstStyle/>
                    <a:p>
                      <a:pPr algn="ctr"/>
                      <a:r>
                        <a:rPr lang="fr-FR" sz="1400" dirty="0"/>
                        <a:t>processus</a:t>
                      </a:r>
                    </a:p>
                  </a:txBody>
                  <a:tcPr marL="121920" marR="121920"/>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a:txBody>
                    <a:bodyPr/>
                    <a:lstStyle/>
                    <a:p>
                      <a:pPr algn="ctr"/>
                      <a:r>
                        <a:rPr lang="fr-FR" sz="1400" dirty="0"/>
                        <a:t>sorties</a:t>
                      </a:r>
                    </a:p>
                  </a:txBody>
                  <a:tcPr marL="121920" marR="121920"/>
                </a:tc>
                <a:tc>
                  <a:txBody>
                    <a:bodyPr/>
                    <a:lstStyle/>
                    <a:p>
                      <a:pPr algn="ctr"/>
                      <a:r>
                        <a:rPr lang="fr-FR" sz="1400" dirty="0"/>
                        <a:t>clients</a:t>
                      </a:r>
                    </a:p>
                  </a:txBody>
                  <a:tcPr marL="121920" marR="121920"/>
                </a:tc>
                <a:extLst>
                  <a:ext uri="{0D108BD9-81ED-4DB2-BD59-A6C34878D82A}">
                    <a16:rowId xmlns:a16="http://schemas.microsoft.com/office/drawing/2014/main" val="10000"/>
                  </a:ext>
                </a:extLst>
              </a:tr>
              <a:tr h="840535">
                <a:tc>
                  <a:txBody>
                    <a:bodyPr/>
                    <a:lstStyle/>
                    <a:p>
                      <a:endParaRPr lang="fr-FR"/>
                    </a:p>
                  </a:txBody>
                  <a:tcPr marL="121920" marR="121920"/>
                </a:tc>
                <a:tc>
                  <a:txBody>
                    <a:bodyPr/>
                    <a:lstStyle/>
                    <a:p>
                      <a:endParaRPr lang="fr-FR" sz="1400"/>
                    </a:p>
                  </a:txBody>
                  <a:tcPr marL="121920" marR="121920"/>
                </a:tc>
                <a:tc>
                  <a:txBody>
                    <a:bodyPr/>
                    <a:lstStyle/>
                    <a:p>
                      <a:pPr algn="ctr"/>
                      <a:r>
                        <a:rPr lang="fr-FR" sz="1400" dirty="0"/>
                        <a:t>étape1</a:t>
                      </a:r>
                    </a:p>
                  </a:txBody>
                  <a:tcPr marL="121920" marR="121920"/>
                </a:tc>
                <a:tc>
                  <a:txBody>
                    <a:bodyPr/>
                    <a:lstStyle/>
                    <a:p>
                      <a:pPr algn="ctr"/>
                      <a:r>
                        <a:rPr lang="fr-FR" sz="1400" dirty="0"/>
                        <a:t>étape2</a:t>
                      </a:r>
                    </a:p>
                  </a:txBody>
                  <a:tcPr marL="121920" marR="121920"/>
                </a:tc>
                <a:tc>
                  <a:txBody>
                    <a:bodyPr/>
                    <a:lstStyle/>
                    <a:p>
                      <a:pPr algn="ctr"/>
                      <a:r>
                        <a:rPr lang="fr-FR" sz="1400" dirty="0"/>
                        <a:t>étape3</a:t>
                      </a:r>
                    </a:p>
                  </a:txBody>
                  <a:tcPr marL="121920" marR="121920"/>
                </a:tc>
                <a:tc>
                  <a:txBody>
                    <a:bodyPr/>
                    <a:lstStyle/>
                    <a:p>
                      <a:pPr algn="ctr"/>
                      <a:r>
                        <a:rPr lang="fr-FR" sz="1400" dirty="0"/>
                        <a:t>étape4</a:t>
                      </a:r>
                    </a:p>
                  </a:txBody>
                  <a:tcPr marL="121920" marR="121920"/>
                </a:tc>
                <a:tc>
                  <a:txBody>
                    <a:bodyPr/>
                    <a:lstStyle/>
                    <a:p>
                      <a:pPr algn="ctr"/>
                      <a:r>
                        <a:rPr lang="fr-FR" sz="1400" dirty="0"/>
                        <a:t>étape5</a:t>
                      </a:r>
                    </a:p>
                  </a:txBody>
                  <a:tcPr marL="121920" marR="121920"/>
                </a:tc>
                <a:tc>
                  <a:txBody>
                    <a:bodyPr/>
                    <a:lstStyle/>
                    <a:p>
                      <a:pPr algn="ctr"/>
                      <a:r>
                        <a:rPr lang="fr-FR" sz="1100" dirty="0"/>
                        <a:t>étape6</a:t>
                      </a:r>
                    </a:p>
                  </a:txBody>
                  <a:tcPr marL="121920" marR="121920"/>
                </a:tc>
                <a:tc>
                  <a:txBody>
                    <a:bodyPr/>
                    <a:lstStyle/>
                    <a:p>
                      <a:pPr algn="ctr"/>
                      <a:endParaRPr lang="fr-FR" sz="1400" dirty="0"/>
                    </a:p>
                  </a:txBody>
                  <a:tcPr marL="121920" marR="121920"/>
                </a:tc>
                <a:tc>
                  <a:txBody>
                    <a:bodyPr/>
                    <a:lstStyle/>
                    <a:p>
                      <a:pPr algn="ctr"/>
                      <a:endParaRPr lang="fr-FR" sz="1400" dirty="0"/>
                    </a:p>
                  </a:txBody>
                  <a:tcPr marL="121920" marR="121920"/>
                </a:tc>
                <a:extLst>
                  <a:ext uri="{0D108BD9-81ED-4DB2-BD59-A6C34878D82A}">
                    <a16:rowId xmlns:a16="http://schemas.microsoft.com/office/drawing/2014/main" val="10001"/>
                  </a:ext>
                </a:extLst>
              </a:tr>
              <a:tr h="2536034">
                <a:tc>
                  <a:txBody>
                    <a:bodyPr/>
                    <a:lstStyle/>
                    <a:p>
                      <a:r>
                        <a:rPr lang="fr-FR" sz="1100" dirty="0"/>
                        <a:t>Etudiant</a:t>
                      </a:r>
                    </a:p>
                    <a:p>
                      <a:endParaRPr lang="fr-FR" sz="1100" dirty="0"/>
                    </a:p>
                    <a:p>
                      <a:endParaRPr lang="fr-FR" sz="1100" dirty="0"/>
                    </a:p>
                    <a:p>
                      <a:endParaRPr lang="fr-FR" sz="1100" dirty="0"/>
                    </a:p>
                    <a:p>
                      <a:r>
                        <a:rPr lang="fr-FR" sz="1100" dirty="0"/>
                        <a:t>Bibliothécaire</a:t>
                      </a:r>
                      <a:r>
                        <a:rPr lang="fr-FR" sz="1100" baseline="0" dirty="0"/>
                        <a:t> </a:t>
                      </a:r>
                      <a:endParaRPr lang="fr-FR" sz="1100" dirty="0"/>
                    </a:p>
                  </a:txBody>
                  <a:tcPr marL="121920" marR="121920"/>
                </a:tc>
                <a:tc>
                  <a:txBody>
                    <a:bodyPr/>
                    <a:lstStyle/>
                    <a:p>
                      <a:r>
                        <a:rPr lang="fr-FR" sz="1100" dirty="0"/>
                        <a:t>Demande d’emprunt</a:t>
                      </a:r>
                    </a:p>
                    <a:p>
                      <a:endParaRPr lang="fr-FR" sz="1100" dirty="0"/>
                    </a:p>
                    <a:p>
                      <a:endParaRPr lang="fr-FR" sz="1100" dirty="0"/>
                    </a:p>
                    <a:p>
                      <a:pPr algn="ctr"/>
                      <a:r>
                        <a:rPr lang="fr-FR" sz="1100" dirty="0"/>
                        <a:t>Demande formulaire</a:t>
                      </a:r>
                    </a:p>
                    <a:p>
                      <a:endParaRPr lang="fr-FR" sz="1100" dirty="0"/>
                    </a:p>
                    <a:p>
                      <a:endParaRPr lang="fr-FR" sz="1100" dirty="0"/>
                    </a:p>
                    <a:p>
                      <a:endParaRPr lang="fr-FR" sz="1100" dirty="0"/>
                    </a:p>
                    <a:p>
                      <a:endParaRPr lang="fr-FR" sz="1100" dirty="0"/>
                    </a:p>
                    <a:p>
                      <a:endParaRPr lang="fr-FR" sz="1100" dirty="0"/>
                    </a:p>
                  </a:txBody>
                  <a:tcPr marL="121920" marR="121920"/>
                </a:tc>
                <a:tc>
                  <a:txBody>
                    <a:bodyPr/>
                    <a:lstStyle/>
                    <a:p>
                      <a:pPr algn="ctr"/>
                      <a:r>
                        <a:rPr lang="fr-FR" sz="1100" dirty="0"/>
                        <a:t>Demande formulaire</a:t>
                      </a:r>
                    </a:p>
                    <a:p>
                      <a:pPr algn="ctr"/>
                      <a:endParaRPr lang="fr-FR" sz="1100" dirty="0"/>
                    </a:p>
                    <a:p>
                      <a:pPr algn="ctr"/>
                      <a:endParaRPr lang="fr-FR" sz="1100" dirty="0"/>
                    </a:p>
                    <a:p>
                      <a:pPr algn="l"/>
                      <a:endParaRPr lang="fr-FR" sz="1100" dirty="0"/>
                    </a:p>
                  </a:txBody>
                  <a:tcPr marL="121920" marR="121920"/>
                </a:tc>
                <a:tc>
                  <a:txBody>
                    <a:bodyPr/>
                    <a:lstStyle/>
                    <a:p>
                      <a:pPr algn="ctr"/>
                      <a:r>
                        <a:rPr lang="fr-FR" sz="1100" dirty="0"/>
                        <a:t>Recherche</a:t>
                      </a:r>
                    </a:p>
                    <a:p>
                      <a:pPr algn="ctr"/>
                      <a:r>
                        <a:rPr lang="fr-FR" sz="1100" dirty="0"/>
                        <a:t>le livre</a:t>
                      </a:r>
                    </a:p>
                  </a:txBody>
                  <a:tcPr marL="121920" marR="121920"/>
                </a:tc>
                <a:tc>
                  <a:txBody>
                    <a:bodyPr/>
                    <a:lstStyle/>
                    <a:p>
                      <a:pPr algn="ctr"/>
                      <a:r>
                        <a:rPr lang="fr-FR" sz="1100" dirty="0"/>
                        <a:t>Remplir formulaire</a:t>
                      </a:r>
                    </a:p>
                  </a:txBody>
                  <a:tcPr marL="121920" marR="121920"/>
                </a:tc>
                <a:tc>
                  <a:txBody>
                    <a:bodyPr/>
                    <a:lstStyle/>
                    <a:p>
                      <a:pPr algn="ctr"/>
                      <a:endParaRPr lang="fr-FR" sz="1100" dirty="0"/>
                    </a:p>
                    <a:p>
                      <a:pPr algn="ctr"/>
                      <a:endParaRPr lang="fr-FR" sz="1100" dirty="0"/>
                    </a:p>
                    <a:p>
                      <a:pPr algn="ctr"/>
                      <a:endParaRPr lang="fr-FR" sz="1100" dirty="0"/>
                    </a:p>
                    <a:p>
                      <a:pPr algn="ctr"/>
                      <a:endParaRPr lang="fr-FR" sz="1100" dirty="0"/>
                    </a:p>
                    <a:p>
                      <a:pPr algn="ctr"/>
                      <a:r>
                        <a:rPr lang="fr-FR" sz="1100" dirty="0"/>
                        <a:t>Recherche le</a:t>
                      </a:r>
                      <a:r>
                        <a:rPr lang="fr-FR" sz="1100" baseline="0" dirty="0"/>
                        <a:t> livre demandé</a:t>
                      </a:r>
                      <a:endParaRPr lang="fr-FR" sz="1100" dirty="0"/>
                    </a:p>
                  </a:txBody>
                  <a:tcPr marL="121920" marR="121920"/>
                </a:tc>
                <a:tc>
                  <a:txBody>
                    <a:bodyPr/>
                    <a:lstStyle/>
                    <a:p>
                      <a:pPr algn="ctr"/>
                      <a:endParaRPr lang="fr-FR" sz="1100" dirty="0"/>
                    </a:p>
                    <a:p>
                      <a:pPr algn="ctr"/>
                      <a:endParaRPr lang="fr-FR" sz="1100" dirty="0"/>
                    </a:p>
                    <a:p>
                      <a:pPr algn="ctr"/>
                      <a:endParaRPr lang="fr-FR" sz="1100" dirty="0"/>
                    </a:p>
                    <a:p>
                      <a:pPr algn="ctr"/>
                      <a:endParaRPr lang="fr-FR" sz="1100" dirty="0"/>
                    </a:p>
                    <a:p>
                      <a:pPr algn="ctr"/>
                      <a:r>
                        <a:rPr lang="fr-FR" sz="1100" dirty="0"/>
                        <a:t>Demande</a:t>
                      </a:r>
                      <a:r>
                        <a:rPr lang="fr-FR" sz="1100" baseline="0" dirty="0"/>
                        <a:t> la carte</a:t>
                      </a:r>
                    </a:p>
                    <a:p>
                      <a:pPr algn="ctr"/>
                      <a:r>
                        <a:rPr lang="fr-FR" sz="1100" baseline="0" dirty="0"/>
                        <a:t>D’étudiant</a:t>
                      </a:r>
                      <a:endParaRPr lang="fr-FR" sz="1100" dirty="0"/>
                    </a:p>
                  </a:txBody>
                  <a:tcPr marL="121920" marR="121920"/>
                </a:tc>
                <a:tc>
                  <a:txBody>
                    <a:bodyPr/>
                    <a:lstStyle/>
                    <a:p>
                      <a:pPr algn="ctr"/>
                      <a:r>
                        <a:rPr lang="fr-FR" sz="1100" dirty="0"/>
                        <a:t>Fournir la carte </a:t>
                      </a:r>
                    </a:p>
                  </a:txBody>
                  <a:tcPr marL="121920" marR="121920"/>
                </a:tc>
                <a:tc>
                  <a:txBody>
                    <a:bodyPr/>
                    <a:lstStyle/>
                    <a:p>
                      <a:pPr algn="ctr"/>
                      <a:r>
                        <a:rPr lang="fr-FR" sz="1100" dirty="0"/>
                        <a:t>Livre </a:t>
                      </a:r>
                      <a:r>
                        <a:rPr lang="fr-FR" sz="1000" dirty="0"/>
                        <a:t>emprunté</a:t>
                      </a:r>
                      <a:endParaRPr lang="fr-FR" sz="1100" dirty="0"/>
                    </a:p>
                  </a:txBody>
                  <a:tcPr marL="121920" marR="121920"/>
                </a:tc>
                <a:tc>
                  <a:txBody>
                    <a:bodyPr/>
                    <a:lstStyle/>
                    <a:p>
                      <a:pPr algn="ctr"/>
                      <a:r>
                        <a:rPr lang="fr-FR" sz="1100" dirty="0"/>
                        <a:t>Étudiant avec livre</a:t>
                      </a:r>
                    </a:p>
                  </a:txBody>
                  <a:tcPr marL="121920" marR="121920"/>
                </a:tc>
                <a:extLst>
                  <a:ext uri="{0D108BD9-81ED-4DB2-BD59-A6C34878D82A}">
                    <a16:rowId xmlns:a16="http://schemas.microsoft.com/office/drawing/2014/main" val="10002"/>
                  </a:ext>
                </a:extLst>
              </a:tr>
            </a:tbl>
          </a:graphicData>
        </a:graphic>
      </p:graphicFrame>
      <p:sp>
        <p:nvSpPr>
          <p:cNvPr id="5" name="ZoneTexte 4"/>
          <p:cNvSpPr txBox="1"/>
          <p:nvPr/>
        </p:nvSpPr>
        <p:spPr>
          <a:xfrm>
            <a:off x="476211" y="642918"/>
            <a:ext cx="7429552" cy="369332"/>
          </a:xfrm>
          <a:prstGeom prst="rect">
            <a:avLst/>
          </a:prstGeom>
          <a:noFill/>
        </p:spPr>
        <p:txBody>
          <a:bodyPr wrap="square" rtlCol="0">
            <a:spAutoFit/>
          </a:bodyPr>
          <a:lstStyle/>
          <a:p>
            <a:r>
              <a:rPr lang="fr-FR" b="1" dirty="0"/>
              <a:t>Méthode SIPOC</a:t>
            </a:r>
            <a:r>
              <a:rPr lang="fr-FR" dirty="0"/>
              <a:t> : Emprunter </a:t>
            </a:r>
            <a:r>
              <a:rPr lang="fr-FR"/>
              <a:t>livre ( l’état actuel )</a:t>
            </a:r>
            <a:endParaRPr lang="fr-F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3737" y="0"/>
            <a:ext cx="8911687" cy="1280890"/>
          </a:xfrm>
        </p:spPr>
        <p:txBody>
          <a:bodyPr/>
          <a:lstStyle/>
          <a:p>
            <a:r>
              <a:rPr lang="fr-FR" u="sng" dirty="0"/>
              <a:t>Scénario 1</a:t>
            </a:r>
          </a:p>
        </p:txBody>
      </p:sp>
      <p:pic>
        <p:nvPicPr>
          <p:cNvPr id="6" name="Espace réservé du contenu 5" descr="scenario1.JPG"/>
          <p:cNvPicPr>
            <a:picLocks noGrp="1" noChangeAspect="1"/>
          </p:cNvPicPr>
          <p:nvPr>
            <p:ph idx="1"/>
          </p:nvPr>
        </p:nvPicPr>
        <p:blipFill>
          <a:blip r:embed="rId2"/>
          <a:stretch>
            <a:fillRect/>
          </a:stretch>
        </p:blipFill>
        <p:spPr>
          <a:xfrm>
            <a:off x="1619794" y="731520"/>
            <a:ext cx="10398035" cy="6126479"/>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72937" y="2426784"/>
            <a:ext cx="9310053" cy="1280890"/>
          </a:xfrm>
        </p:spPr>
        <p:txBody>
          <a:bodyPr>
            <a:normAutofit fontScale="90000"/>
          </a:bodyPr>
          <a:lstStyle/>
          <a:p>
            <a:pPr algn="ctr"/>
            <a:r>
              <a:rPr lang="fr-FR" sz="6600" dirty="0">
                <a:latin typeface="Cooper Black" panose="0208090404030B020404" pitchFamily="18" charset="0"/>
              </a:rPr>
              <a:t>Simulation des niveaux pour le scenario 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1</a:t>
            </a:r>
            <a:r>
              <a:rPr lang="fr-FR" u="sng" baseline="30000" dirty="0"/>
              <a:t>ère</a:t>
            </a:r>
            <a:r>
              <a:rPr lang="fr-FR" u="sng" dirty="0"/>
              <a:t> niveau : Process validation</a:t>
            </a:r>
          </a:p>
        </p:txBody>
      </p:sp>
      <p:pic>
        <p:nvPicPr>
          <p:cNvPr id="6" name="Espace réservé du contenu 5" descr="sc1.JPG"/>
          <p:cNvPicPr>
            <a:picLocks noGrp="1" noChangeAspect="1"/>
          </p:cNvPicPr>
          <p:nvPr>
            <p:ph idx="1"/>
          </p:nvPr>
        </p:nvPicPr>
        <p:blipFill>
          <a:blip r:embed="rId2"/>
          <a:stretch>
            <a:fillRect/>
          </a:stretch>
        </p:blipFill>
        <p:spPr>
          <a:xfrm>
            <a:off x="1632858" y="992777"/>
            <a:ext cx="10254342" cy="5564777"/>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6090" y="193036"/>
            <a:ext cx="8911687" cy="734427"/>
          </a:xfrm>
        </p:spPr>
        <p:txBody>
          <a:bodyPr>
            <a:normAutofit/>
          </a:bodyPr>
          <a:lstStyle/>
          <a:p>
            <a:r>
              <a:rPr lang="fr-FR" sz="3200" dirty="0"/>
              <a:t>Et en cliquant sur RUN puis sur START:</a:t>
            </a:r>
          </a:p>
        </p:txBody>
      </p:sp>
      <p:pic>
        <p:nvPicPr>
          <p:cNvPr id="6" name="Espace réservé du contenu 5" descr="sim.JPG"/>
          <p:cNvPicPr>
            <a:picLocks noGrp="1" noChangeAspect="1"/>
          </p:cNvPicPr>
          <p:nvPr>
            <p:ph idx="1"/>
          </p:nvPr>
        </p:nvPicPr>
        <p:blipFill>
          <a:blip r:embed="rId2"/>
          <a:stretch>
            <a:fillRect/>
          </a:stretch>
        </p:blipFill>
        <p:spPr>
          <a:xfrm>
            <a:off x="1606731" y="966651"/>
            <a:ext cx="10411098" cy="566928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96090" y="0"/>
            <a:ext cx="8911687" cy="1280890"/>
          </a:xfrm>
        </p:spPr>
        <p:txBody>
          <a:bodyPr>
            <a:normAutofit fontScale="90000"/>
          </a:bodyPr>
          <a:lstStyle/>
          <a:p>
            <a:r>
              <a:rPr lang="fr-FR" sz="3100" u="sng" dirty="0"/>
              <a:t>Résultats </a:t>
            </a:r>
            <a:r>
              <a:rPr lang="fr-FR" u="sng" dirty="0"/>
              <a:t>:</a:t>
            </a:r>
            <a:br>
              <a:rPr lang="fr-FR" dirty="0"/>
            </a:br>
            <a:r>
              <a:rPr lang="fr-FR" sz="2200" dirty="0"/>
              <a:t>Lorsque la simulation est terminée nous pouvons afficher les résultats en sélectionnant l'option </a:t>
            </a:r>
            <a:r>
              <a:rPr lang="fr-FR" sz="2200" dirty="0" err="1"/>
              <a:t>Results</a:t>
            </a:r>
            <a:r>
              <a:rPr lang="fr-FR" sz="2200" dirty="0"/>
              <a:t>.</a:t>
            </a:r>
            <a:endParaRPr lang="fr-FR" dirty="0"/>
          </a:p>
        </p:txBody>
      </p:sp>
      <p:pic>
        <p:nvPicPr>
          <p:cNvPr id="6" name="Espace réservé du contenu 3" descr="rs.JPG"/>
          <p:cNvPicPr>
            <a:picLocks noGrp="1" noChangeAspect="1"/>
          </p:cNvPicPr>
          <p:nvPr>
            <p:ph idx="1"/>
          </p:nvPr>
        </p:nvPicPr>
        <p:blipFill>
          <a:blip r:embed="rId2"/>
          <a:stretch>
            <a:fillRect/>
          </a:stretch>
        </p:blipFill>
        <p:spPr>
          <a:xfrm>
            <a:off x="809897" y="1358537"/>
            <a:ext cx="11064240" cy="5290457"/>
          </a:xfrm>
          <a:ln>
            <a:solidFill>
              <a:srgbClr val="FF0000"/>
            </a:solidFill>
          </a:ln>
        </p:spPr>
        <p:style>
          <a:lnRef idx="2">
            <a:schemeClr val="dk1"/>
          </a:lnRef>
          <a:fillRef idx="1">
            <a:schemeClr val="lt1"/>
          </a:fillRef>
          <a:effectRef idx="0">
            <a:schemeClr val="dk1"/>
          </a:effectRef>
          <a:fontRef idx="minor">
            <a:schemeClr val="dk1"/>
          </a:fontRef>
        </p:style>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65461" y="613954"/>
            <a:ext cx="10273989" cy="640080"/>
          </a:xfrm>
        </p:spPr>
        <p:txBody>
          <a:bodyPr>
            <a:normAutofit/>
          </a:bodyPr>
          <a:lstStyle/>
          <a:p>
            <a:r>
              <a:rPr lang="fr-FR" sz="2800" dirty="0"/>
              <a:t>Le résultat peut être exporter sous forme d’un fichier Excel  </a:t>
            </a:r>
          </a:p>
        </p:txBody>
      </p:sp>
      <p:pic>
        <p:nvPicPr>
          <p:cNvPr id="6" name="Espace réservé du contenu 5" descr="xel.JPG"/>
          <p:cNvPicPr>
            <a:picLocks noGrp="1" noChangeAspect="1"/>
          </p:cNvPicPr>
          <p:nvPr>
            <p:ph idx="1"/>
          </p:nvPr>
        </p:nvPicPr>
        <p:blipFill>
          <a:blip r:embed="rId2"/>
          <a:stretch>
            <a:fillRect/>
          </a:stretch>
        </p:blipFill>
        <p:spPr>
          <a:xfrm>
            <a:off x="2913018" y="1724297"/>
            <a:ext cx="7145382" cy="3762103"/>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2</a:t>
            </a:r>
            <a:r>
              <a:rPr lang="fr-FR" u="sng" baseline="30000" dirty="0"/>
              <a:t>ème</a:t>
            </a:r>
            <a:r>
              <a:rPr lang="fr-FR" u="sng" dirty="0"/>
              <a:t> niveau : Time Analysis</a:t>
            </a:r>
          </a:p>
        </p:txBody>
      </p:sp>
      <p:pic>
        <p:nvPicPr>
          <p:cNvPr id="5" name="Espace réservé du contenu 4" descr="sim2.JPG"/>
          <p:cNvPicPr>
            <a:picLocks noGrp="1" noChangeAspect="1"/>
          </p:cNvPicPr>
          <p:nvPr>
            <p:ph idx="1"/>
          </p:nvPr>
        </p:nvPicPr>
        <p:blipFill>
          <a:blip r:embed="rId2"/>
          <a:stretch>
            <a:fillRect/>
          </a:stretch>
        </p:blipFill>
        <p:spPr>
          <a:xfrm>
            <a:off x="1658984" y="940526"/>
            <a:ext cx="10175966" cy="5538651"/>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6090" y="193036"/>
            <a:ext cx="8911687" cy="734427"/>
          </a:xfrm>
        </p:spPr>
        <p:txBody>
          <a:bodyPr>
            <a:normAutofit/>
          </a:bodyPr>
          <a:lstStyle/>
          <a:p>
            <a:r>
              <a:rPr lang="fr-FR" sz="3200" dirty="0"/>
              <a:t>Et en cliquant sur RUN puis sur START:</a:t>
            </a:r>
          </a:p>
        </p:txBody>
      </p:sp>
      <p:pic>
        <p:nvPicPr>
          <p:cNvPr id="5" name="Espace réservé du contenu 4" descr="sim22.JPG"/>
          <p:cNvPicPr>
            <a:picLocks noGrp="1" noChangeAspect="1"/>
          </p:cNvPicPr>
          <p:nvPr>
            <p:ph idx="1"/>
          </p:nvPr>
        </p:nvPicPr>
        <p:blipFill>
          <a:blip r:embed="rId2"/>
          <a:stretch>
            <a:fillRect/>
          </a:stretch>
        </p:blipFill>
        <p:spPr>
          <a:xfrm>
            <a:off x="1685109" y="927463"/>
            <a:ext cx="10149840" cy="5734594"/>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96090" y="0"/>
            <a:ext cx="8911687" cy="1280890"/>
          </a:xfrm>
        </p:spPr>
        <p:txBody>
          <a:bodyPr>
            <a:normAutofit/>
          </a:bodyPr>
          <a:lstStyle/>
          <a:p>
            <a:r>
              <a:rPr lang="fr-FR" sz="3100" dirty="0"/>
              <a:t>Résultats </a:t>
            </a:r>
            <a:r>
              <a:rPr lang="fr-FR" dirty="0"/>
              <a:t>:</a:t>
            </a:r>
            <a:br>
              <a:rPr lang="fr-FR" dirty="0"/>
            </a:br>
            <a:endParaRPr lang="fr-FR" dirty="0"/>
          </a:p>
        </p:txBody>
      </p:sp>
      <p:pic>
        <p:nvPicPr>
          <p:cNvPr id="7" name="Espace réservé du contenu 6" descr="time.JPG"/>
          <p:cNvPicPr>
            <a:picLocks noGrp="1" noChangeAspect="1"/>
          </p:cNvPicPr>
          <p:nvPr>
            <p:ph idx="1"/>
          </p:nvPr>
        </p:nvPicPr>
        <p:blipFill>
          <a:blip r:embed="rId2"/>
          <a:stretch>
            <a:fillRect/>
          </a:stretch>
        </p:blipFill>
        <p:spPr>
          <a:xfrm>
            <a:off x="1672046" y="666206"/>
            <a:ext cx="10280468" cy="5891348"/>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3</a:t>
            </a:r>
            <a:r>
              <a:rPr lang="fr-FR" u="sng" baseline="30000" dirty="0"/>
              <a:t>ème</a:t>
            </a:r>
            <a:r>
              <a:rPr lang="fr-FR" u="sng" dirty="0"/>
              <a:t> niveau : Resources Analysis</a:t>
            </a:r>
          </a:p>
        </p:txBody>
      </p:sp>
      <p:pic>
        <p:nvPicPr>
          <p:cNvPr id="6" name="Espace réservé du contenu 5" descr="ress.JPG"/>
          <p:cNvPicPr>
            <a:picLocks noGrp="1" noChangeAspect="1"/>
          </p:cNvPicPr>
          <p:nvPr>
            <p:ph idx="1"/>
          </p:nvPr>
        </p:nvPicPr>
        <p:blipFill>
          <a:blip r:embed="rId2"/>
          <a:stretch>
            <a:fillRect/>
          </a:stretch>
        </p:blipFill>
        <p:spPr>
          <a:xfrm>
            <a:off x="1711234" y="914400"/>
            <a:ext cx="10189029" cy="5643154"/>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6090" y="193036"/>
            <a:ext cx="8911687" cy="734427"/>
          </a:xfrm>
        </p:spPr>
        <p:txBody>
          <a:bodyPr>
            <a:normAutofit/>
          </a:bodyPr>
          <a:lstStyle/>
          <a:p>
            <a:r>
              <a:rPr lang="fr-FR" sz="3200" dirty="0"/>
              <a:t>Et en cliquant sur RUN puis sur START:</a:t>
            </a:r>
          </a:p>
        </p:txBody>
      </p:sp>
      <p:pic>
        <p:nvPicPr>
          <p:cNvPr id="6" name="Espace réservé du contenu 5" descr="resso.JPG"/>
          <p:cNvPicPr>
            <a:picLocks noGrp="1" noChangeAspect="1"/>
          </p:cNvPicPr>
          <p:nvPr>
            <p:ph idx="1"/>
          </p:nvPr>
        </p:nvPicPr>
        <p:blipFill>
          <a:blip r:embed="rId2"/>
          <a:stretch>
            <a:fillRect/>
          </a:stretch>
        </p:blipFill>
        <p:spPr>
          <a:xfrm>
            <a:off x="1619794" y="822960"/>
            <a:ext cx="10398035" cy="5878286"/>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96090" y="0"/>
            <a:ext cx="8911687" cy="1280890"/>
          </a:xfrm>
        </p:spPr>
        <p:txBody>
          <a:bodyPr>
            <a:normAutofit/>
          </a:bodyPr>
          <a:lstStyle/>
          <a:p>
            <a:r>
              <a:rPr lang="fr-FR" sz="3100" dirty="0"/>
              <a:t>Résultats </a:t>
            </a:r>
            <a:r>
              <a:rPr lang="fr-FR" dirty="0"/>
              <a:t>:</a:t>
            </a:r>
            <a:br>
              <a:rPr lang="fr-FR" dirty="0"/>
            </a:br>
            <a:endParaRPr lang="fr-FR" dirty="0"/>
          </a:p>
        </p:txBody>
      </p:sp>
      <p:pic>
        <p:nvPicPr>
          <p:cNvPr id="6" name="Espace réservé du contenu 5" descr="rs.JPG"/>
          <p:cNvPicPr>
            <a:picLocks noGrp="1" noChangeAspect="1"/>
          </p:cNvPicPr>
          <p:nvPr>
            <p:ph idx="1"/>
          </p:nvPr>
        </p:nvPicPr>
        <p:blipFill>
          <a:blip r:embed="rId2"/>
          <a:stretch>
            <a:fillRect/>
          </a:stretch>
        </p:blipFill>
        <p:spPr>
          <a:xfrm>
            <a:off x="2455817" y="1136469"/>
            <a:ext cx="8569234" cy="4558937"/>
          </a:xfrm>
          <a:ln>
            <a:solidFill>
              <a:srgbClr val="C00000"/>
            </a:solid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4</a:t>
            </a:r>
            <a:r>
              <a:rPr lang="fr-FR" u="sng" baseline="30000" dirty="0"/>
              <a:t>ème</a:t>
            </a:r>
            <a:r>
              <a:rPr lang="fr-FR" u="sng" dirty="0"/>
              <a:t> niveau : Calendar Analysis</a:t>
            </a:r>
          </a:p>
        </p:txBody>
      </p:sp>
      <p:pic>
        <p:nvPicPr>
          <p:cNvPr id="5" name="Espace réservé du contenu 4" descr="ca.JPG"/>
          <p:cNvPicPr>
            <a:picLocks noGrp="1" noChangeAspect="1"/>
          </p:cNvPicPr>
          <p:nvPr>
            <p:ph idx="1"/>
          </p:nvPr>
        </p:nvPicPr>
        <p:blipFill>
          <a:blip r:embed="rId2"/>
          <a:stretch>
            <a:fillRect/>
          </a:stretch>
        </p:blipFill>
        <p:spPr>
          <a:xfrm>
            <a:off x="2063931" y="1110343"/>
            <a:ext cx="9405258" cy="5172891"/>
          </a:xfr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6090" y="193036"/>
            <a:ext cx="8911687" cy="734427"/>
          </a:xfrm>
        </p:spPr>
        <p:txBody>
          <a:bodyPr>
            <a:normAutofit/>
          </a:bodyPr>
          <a:lstStyle/>
          <a:p>
            <a:r>
              <a:rPr lang="fr-FR" sz="3200" dirty="0"/>
              <a:t>Et en cliquant sur RUN puis sur START:</a:t>
            </a:r>
          </a:p>
        </p:txBody>
      </p:sp>
      <p:pic>
        <p:nvPicPr>
          <p:cNvPr id="5" name="Espace réservé du contenu 4" descr="calen.JPG"/>
          <p:cNvPicPr>
            <a:picLocks noGrp="1" noChangeAspect="1"/>
          </p:cNvPicPr>
          <p:nvPr>
            <p:ph idx="1"/>
          </p:nvPr>
        </p:nvPicPr>
        <p:blipFill>
          <a:blip r:embed="rId2"/>
          <a:stretch>
            <a:fillRect/>
          </a:stretch>
        </p:blipFill>
        <p:spPr>
          <a:xfrm>
            <a:off x="1645920" y="901337"/>
            <a:ext cx="10384971" cy="5786846"/>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887530" y="287383"/>
            <a:ext cx="8911687" cy="1280890"/>
          </a:xfrm>
        </p:spPr>
        <p:txBody>
          <a:bodyPr>
            <a:normAutofit/>
          </a:bodyPr>
          <a:lstStyle/>
          <a:p>
            <a:r>
              <a:rPr lang="fr-FR" sz="3100" dirty="0"/>
              <a:t>Résultats </a:t>
            </a:r>
            <a:r>
              <a:rPr lang="fr-FR" dirty="0"/>
              <a:t>:</a:t>
            </a:r>
            <a:br>
              <a:rPr lang="fr-FR" dirty="0"/>
            </a:br>
            <a:endParaRPr lang="fr-FR" dirty="0"/>
          </a:p>
        </p:txBody>
      </p:sp>
      <p:pic>
        <p:nvPicPr>
          <p:cNvPr id="7" name="Espace réservé du contenu 6" descr="dd.JPG"/>
          <p:cNvPicPr>
            <a:picLocks noGrp="1" noChangeAspect="1"/>
          </p:cNvPicPr>
          <p:nvPr>
            <p:ph idx="1"/>
          </p:nvPr>
        </p:nvPicPr>
        <p:blipFill>
          <a:blip r:embed="rId2"/>
          <a:stretch>
            <a:fillRect/>
          </a:stretch>
        </p:blipFill>
        <p:spPr>
          <a:xfrm>
            <a:off x="2586447" y="1502229"/>
            <a:ext cx="8386354" cy="4604157"/>
          </a:xfr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1593668" y="1449978"/>
          <a:ext cx="10217289" cy="4050724"/>
        </p:xfrm>
        <a:graphic>
          <a:graphicData uri="http://schemas.openxmlformats.org/drawingml/2006/table">
            <a:tbl>
              <a:tblPr firstRow="1" bandRow="1">
                <a:tableStyleId>{22838BEF-8BB2-4498-84A7-C5851F593DF1}</a:tableStyleId>
              </a:tblPr>
              <a:tblGrid>
                <a:gridCol w="1379880">
                  <a:extLst>
                    <a:ext uri="{9D8B030D-6E8A-4147-A177-3AD203B41FA5}">
                      <a16:colId xmlns:a16="http://schemas.microsoft.com/office/drawing/2014/main" val="20000"/>
                    </a:ext>
                  </a:extLst>
                </a:gridCol>
                <a:gridCol w="1034909">
                  <a:extLst>
                    <a:ext uri="{9D8B030D-6E8A-4147-A177-3AD203B41FA5}">
                      <a16:colId xmlns:a16="http://schemas.microsoft.com/office/drawing/2014/main" val="20001"/>
                    </a:ext>
                  </a:extLst>
                </a:gridCol>
                <a:gridCol w="1207395">
                  <a:extLst>
                    <a:ext uri="{9D8B030D-6E8A-4147-A177-3AD203B41FA5}">
                      <a16:colId xmlns:a16="http://schemas.microsoft.com/office/drawing/2014/main" val="20002"/>
                    </a:ext>
                  </a:extLst>
                </a:gridCol>
                <a:gridCol w="1121152">
                  <a:extLst>
                    <a:ext uri="{9D8B030D-6E8A-4147-A177-3AD203B41FA5}">
                      <a16:colId xmlns:a16="http://schemas.microsoft.com/office/drawing/2014/main" val="20003"/>
                    </a:ext>
                  </a:extLst>
                </a:gridCol>
                <a:gridCol w="1121152">
                  <a:extLst>
                    <a:ext uri="{9D8B030D-6E8A-4147-A177-3AD203B41FA5}">
                      <a16:colId xmlns:a16="http://schemas.microsoft.com/office/drawing/2014/main" val="20004"/>
                    </a:ext>
                  </a:extLst>
                </a:gridCol>
                <a:gridCol w="1379879">
                  <a:extLst>
                    <a:ext uri="{9D8B030D-6E8A-4147-A177-3AD203B41FA5}">
                      <a16:colId xmlns:a16="http://schemas.microsoft.com/office/drawing/2014/main" val="20005"/>
                    </a:ext>
                  </a:extLst>
                </a:gridCol>
                <a:gridCol w="1099776">
                  <a:extLst>
                    <a:ext uri="{9D8B030D-6E8A-4147-A177-3AD203B41FA5}">
                      <a16:colId xmlns:a16="http://schemas.microsoft.com/office/drawing/2014/main" val="20006"/>
                    </a:ext>
                  </a:extLst>
                </a:gridCol>
                <a:gridCol w="1021736">
                  <a:extLst>
                    <a:ext uri="{9D8B030D-6E8A-4147-A177-3AD203B41FA5}">
                      <a16:colId xmlns:a16="http://schemas.microsoft.com/office/drawing/2014/main" val="20007"/>
                    </a:ext>
                  </a:extLst>
                </a:gridCol>
                <a:gridCol w="851410">
                  <a:extLst>
                    <a:ext uri="{9D8B030D-6E8A-4147-A177-3AD203B41FA5}">
                      <a16:colId xmlns:a16="http://schemas.microsoft.com/office/drawing/2014/main" val="20008"/>
                    </a:ext>
                  </a:extLst>
                </a:gridCol>
              </a:tblGrid>
              <a:tr h="579351">
                <a:tc>
                  <a:txBody>
                    <a:bodyPr/>
                    <a:lstStyle/>
                    <a:p>
                      <a:pPr algn="ctr"/>
                      <a:r>
                        <a:rPr lang="fr-FR" sz="1400" dirty="0"/>
                        <a:t>fournisseurs</a:t>
                      </a:r>
                      <a:endParaRPr lang="fr-FR" sz="1400" b="1" dirty="0"/>
                    </a:p>
                  </a:txBody>
                  <a:tcPr marL="121920" marR="121920"/>
                </a:tc>
                <a:tc>
                  <a:txBody>
                    <a:bodyPr/>
                    <a:lstStyle/>
                    <a:p>
                      <a:pPr algn="ctr"/>
                      <a:r>
                        <a:rPr lang="fr-FR" sz="1400" dirty="0"/>
                        <a:t>entrées</a:t>
                      </a:r>
                    </a:p>
                  </a:txBody>
                  <a:tcPr marL="121920" marR="121920"/>
                </a:tc>
                <a:tc gridSpan="5">
                  <a:txBody>
                    <a:bodyPr/>
                    <a:lstStyle/>
                    <a:p>
                      <a:pPr algn="ctr"/>
                      <a:r>
                        <a:rPr lang="fr-FR" sz="1400" dirty="0"/>
                        <a:t>processus</a:t>
                      </a:r>
                    </a:p>
                  </a:txBody>
                  <a:tcPr marL="121920" marR="121920"/>
                </a:tc>
                <a:tc hMerge="1">
                  <a:txBody>
                    <a:bodyPr/>
                    <a:lstStyle/>
                    <a:p>
                      <a:endParaRPr lang="fr-FR" dirty="0"/>
                    </a:p>
                  </a:txBody>
                  <a:tcPr/>
                </a:tc>
                <a:tc hMerge="1">
                  <a:txBody>
                    <a:bodyPr/>
                    <a:lstStyle/>
                    <a:p>
                      <a:endParaRPr lang="fr-FR" dirty="0"/>
                    </a:p>
                  </a:txBody>
                  <a:tcPr/>
                </a:tc>
                <a:tc hMerge="1">
                  <a:txBody>
                    <a:bodyPr/>
                    <a:lstStyle/>
                    <a:p>
                      <a:endParaRPr lang="fr-FR" dirty="0"/>
                    </a:p>
                  </a:txBody>
                  <a:tcPr/>
                </a:tc>
                <a:tc hMerge="1">
                  <a:txBody>
                    <a:bodyPr/>
                    <a:lstStyle/>
                    <a:p>
                      <a:endParaRPr lang="fr-FR" dirty="0"/>
                    </a:p>
                  </a:txBody>
                  <a:tcPr/>
                </a:tc>
                <a:tc>
                  <a:txBody>
                    <a:bodyPr/>
                    <a:lstStyle/>
                    <a:p>
                      <a:pPr algn="ctr"/>
                      <a:r>
                        <a:rPr lang="fr-FR" sz="1400" dirty="0"/>
                        <a:t>sorties</a:t>
                      </a:r>
                    </a:p>
                  </a:txBody>
                  <a:tcPr marL="121920" marR="121920"/>
                </a:tc>
                <a:tc>
                  <a:txBody>
                    <a:bodyPr/>
                    <a:lstStyle/>
                    <a:p>
                      <a:pPr algn="ctr"/>
                      <a:r>
                        <a:rPr lang="fr-FR" sz="1400" dirty="0"/>
                        <a:t>clients</a:t>
                      </a:r>
                    </a:p>
                  </a:txBody>
                  <a:tcPr marL="121920" marR="121920"/>
                </a:tc>
                <a:extLst>
                  <a:ext uri="{0D108BD9-81ED-4DB2-BD59-A6C34878D82A}">
                    <a16:rowId xmlns:a16="http://schemas.microsoft.com/office/drawing/2014/main" val="10000"/>
                  </a:ext>
                </a:extLst>
              </a:tr>
              <a:tr h="864134">
                <a:tc>
                  <a:txBody>
                    <a:bodyPr/>
                    <a:lstStyle/>
                    <a:p>
                      <a:endParaRPr lang="fr-FR" dirty="0"/>
                    </a:p>
                  </a:txBody>
                  <a:tcPr marL="121920" marR="121920"/>
                </a:tc>
                <a:tc>
                  <a:txBody>
                    <a:bodyPr/>
                    <a:lstStyle/>
                    <a:p>
                      <a:endParaRPr lang="fr-FR" sz="1400"/>
                    </a:p>
                  </a:txBody>
                  <a:tcPr marL="121920" marR="121920"/>
                </a:tc>
                <a:tc>
                  <a:txBody>
                    <a:bodyPr/>
                    <a:lstStyle/>
                    <a:p>
                      <a:pPr algn="ctr"/>
                      <a:r>
                        <a:rPr lang="fr-FR" sz="1400" dirty="0"/>
                        <a:t>étape1</a:t>
                      </a:r>
                    </a:p>
                  </a:txBody>
                  <a:tcPr marL="121920" marR="121920"/>
                </a:tc>
                <a:tc>
                  <a:txBody>
                    <a:bodyPr/>
                    <a:lstStyle/>
                    <a:p>
                      <a:pPr algn="ctr"/>
                      <a:r>
                        <a:rPr lang="fr-FR" sz="1400" dirty="0"/>
                        <a:t>étape2</a:t>
                      </a:r>
                    </a:p>
                  </a:txBody>
                  <a:tcPr marL="121920" marR="121920"/>
                </a:tc>
                <a:tc>
                  <a:txBody>
                    <a:bodyPr/>
                    <a:lstStyle/>
                    <a:p>
                      <a:pPr algn="ctr"/>
                      <a:r>
                        <a:rPr lang="fr-FR" sz="1400" dirty="0"/>
                        <a:t>étape3</a:t>
                      </a:r>
                    </a:p>
                  </a:txBody>
                  <a:tcPr marL="121920" marR="121920"/>
                </a:tc>
                <a:tc>
                  <a:txBody>
                    <a:bodyPr/>
                    <a:lstStyle/>
                    <a:p>
                      <a:pPr algn="ctr"/>
                      <a:r>
                        <a:rPr lang="fr-FR" sz="1400" dirty="0"/>
                        <a:t>étape4</a:t>
                      </a:r>
                    </a:p>
                  </a:txBody>
                  <a:tcPr marL="121920" marR="121920"/>
                </a:tc>
                <a:tc>
                  <a:txBody>
                    <a:bodyPr/>
                    <a:lstStyle/>
                    <a:p>
                      <a:pPr algn="ctr"/>
                      <a:r>
                        <a:rPr lang="fr-FR" sz="1400" dirty="0"/>
                        <a:t>étape5</a:t>
                      </a:r>
                    </a:p>
                  </a:txBody>
                  <a:tcPr marL="121920" marR="121920"/>
                </a:tc>
                <a:tc>
                  <a:txBody>
                    <a:bodyPr/>
                    <a:lstStyle/>
                    <a:p>
                      <a:pPr algn="ctr"/>
                      <a:endParaRPr lang="fr-FR" sz="1400" dirty="0"/>
                    </a:p>
                  </a:txBody>
                  <a:tcPr marL="121920" marR="121920"/>
                </a:tc>
                <a:tc>
                  <a:txBody>
                    <a:bodyPr/>
                    <a:lstStyle/>
                    <a:p>
                      <a:pPr algn="ctr"/>
                      <a:endParaRPr lang="fr-FR" sz="1400" dirty="0"/>
                    </a:p>
                  </a:txBody>
                  <a:tcPr marL="121920" marR="121920"/>
                </a:tc>
                <a:extLst>
                  <a:ext uri="{0D108BD9-81ED-4DB2-BD59-A6C34878D82A}">
                    <a16:rowId xmlns:a16="http://schemas.microsoft.com/office/drawing/2014/main" val="10001"/>
                  </a:ext>
                </a:extLst>
              </a:tr>
              <a:tr h="2607239">
                <a:tc>
                  <a:txBody>
                    <a:bodyPr/>
                    <a:lstStyle/>
                    <a:p>
                      <a:r>
                        <a:rPr lang="fr-FR" sz="1100" dirty="0"/>
                        <a:t>Etudiant</a:t>
                      </a:r>
                    </a:p>
                    <a:p>
                      <a:endParaRPr lang="fr-FR" sz="1100" dirty="0"/>
                    </a:p>
                    <a:p>
                      <a:endParaRPr lang="fr-FR" sz="1100" dirty="0"/>
                    </a:p>
                    <a:p>
                      <a:endParaRPr lang="fr-FR" sz="1100" dirty="0"/>
                    </a:p>
                    <a:p>
                      <a:endParaRPr lang="fr-FR" sz="1100" dirty="0"/>
                    </a:p>
                    <a:p>
                      <a:r>
                        <a:rPr lang="fr-FR" sz="1100" dirty="0"/>
                        <a:t>Bibliothécaire</a:t>
                      </a:r>
                      <a:r>
                        <a:rPr lang="fr-FR" sz="1100" baseline="0" dirty="0"/>
                        <a:t> </a:t>
                      </a:r>
                      <a:endParaRPr lang="fr-FR" sz="1100" dirty="0"/>
                    </a:p>
                  </a:txBody>
                  <a:tcPr marL="121920" marR="121920"/>
                </a:tc>
                <a:tc>
                  <a:txBody>
                    <a:bodyPr/>
                    <a:lstStyle/>
                    <a:p>
                      <a:r>
                        <a:rPr lang="fr-FR" sz="1100" dirty="0"/>
                        <a:t>Demande d’emprunt</a:t>
                      </a:r>
                    </a:p>
                    <a:p>
                      <a:endParaRPr lang="fr-FR" sz="1100" dirty="0"/>
                    </a:p>
                    <a:p>
                      <a:endParaRPr lang="fr-FR" sz="1100" dirty="0"/>
                    </a:p>
                    <a:p>
                      <a:endParaRPr lang="fr-FR" sz="1100" dirty="0"/>
                    </a:p>
                    <a:p>
                      <a:endParaRPr lang="fr-FR" sz="1100" dirty="0"/>
                    </a:p>
                    <a:p>
                      <a:endParaRPr lang="fr-FR" sz="1100" dirty="0"/>
                    </a:p>
                    <a:p>
                      <a:endParaRPr lang="fr-FR" sz="1100" dirty="0"/>
                    </a:p>
                    <a:p>
                      <a:endParaRPr lang="fr-FR" sz="1100" dirty="0"/>
                    </a:p>
                  </a:txBody>
                  <a:tcPr marL="121920" marR="121920"/>
                </a:tc>
                <a:tc>
                  <a:txBody>
                    <a:bodyPr/>
                    <a:lstStyle/>
                    <a:p>
                      <a:pPr algn="ctr"/>
                      <a:r>
                        <a:rPr lang="fr-FR" sz="1100" dirty="0"/>
                        <a:t>Rechercher livre</a:t>
                      </a:r>
                    </a:p>
                    <a:p>
                      <a:pPr algn="l"/>
                      <a:endParaRPr lang="fr-FR" sz="1100" dirty="0"/>
                    </a:p>
                  </a:txBody>
                  <a:tcPr marL="121920" marR="121920"/>
                </a:tc>
                <a:tc>
                  <a:txBody>
                    <a:bodyPr/>
                    <a:lstStyle/>
                    <a:p>
                      <a:pPr algn="ctr"/>
                      <a:r>
                        <a:rPr lang="fr-FR" sz="1100" dirty="0"/>
                        <a:t>Remplir formulaire</a:t>
                      </a:r>
                    </a:p>
                  </a:txBody>
                  <a:tcPr marL="121920" marR="121920"/>
                </a:tc>
                <a:tc>
                  <a:txBody>
                    <a:bodyPr/>
                    <a:lstStyle/>
                    <a:p>
                      <a:pPr algn="ctr"/>
                      <a:endParaRPr lang="fr-FR" sz="1100" dirty="0"/>
                    </a:p>
                    <a:p>
                      <a:pPr algn="ctr"/>
                      <a:endParaRPr lang="fr-FR" sz="1100" dirty="0"/>
                    </a:p>
                    <a:p>
                      <a:pPr algn="ctr"/>
                      <a:endParaRPr lang="fr-FR" sz="1100" dirty="0"/>
                    </a:p>
                    <a:p>
                      <a:pPr algn="ctr"/>
                      <a:endParaRPr lang="fr-FR" sz="1100" dirty="0"/>
                    </a:p>
                    <a:p>
                      <a:pPr algn="ctr"/>
                      <a:endParaRPr lang="fr-FR" sz="1100" dirty="0"/>
                    </a:p>
                    <a:p>
                      <a:pPr algn="ctr"/>
                      <a:r>
                        <a:rPr lang="fr-FR" sz="1100" dirty="0"/>
                        <a:t>Vérifier disponibilité du livre</a:t>
                      </a:r>
                    </a:p>
                  </a:txBody>
                  <a:tcPr marL="121920" marR="121920"/>
                </a:tc>
                <a:tc>
                  <a:txBody>
                    <a:bodyPr/>
                    <a:lstStyle/>
                    <a:p>
                      <a:pPr algn="ctr"/>
                      <a:endParaRPr lang="fr-FR" sz="1100" dirty="0"/>
                    </a:p>
                    <a:p>
                      <a:pPr algn="ctr"/>
                      <a:endParaRPr lang="fr-FR" sz="1100" dirty="0"/>
                    </a:p>
                    <a:p>
                      <a:pPr algn="ctr"/>
                      <a:endParaRPr lang="fr-FR" sz="1100" dirty="0"/>
                    </a:p>
                    <a:p>
                      <a:pPr algn="ctr"/>
                      <a:endParaRPr lang="fr-FR" sz="1100" dirty="0"/>
                    </a:p>
                    <a:p>
                      <a:pPr algn="ctr"/>
                      <a:endParaRPr lang="fr-FR" sz="1100" dirty="0"/>
                    </a:p>
                    <a:p>
                      <a:pPr algn="ctr"/>
                      <a:r>
                        <a:rPr lang="fr-FR" sz="1100" dirty="0"/>
                        <a:t>Informe</a:t>
                      </a:r>
                      <a:r>
                        <a:rPr lang="fr-FR" sz="1100" baseline="0" dirty="0"/>
                        <a:t> l’étudiant</a:t>
                      </a:r>
                    </a:p>
                    <a:p>
                      <a:pPr algn="ctr"/>
                      <a:r>
                        <a:rPr lang="fr-FR" sz="1100" baseline="0" dirty="0"/>
                        <a:t>De la disponibilité du livre</a:t>
                      </a:r>
                      <a:endParaRPr lang="fr-FR" sz="1100" dirty="0"/>
                    </a:p>
                  </a:txBody>
                  <a:tcPr marL="121920" marR="121920"/>
                </a:tc>
                <a:tc>
                  <a:txBody>
                    <a:bodyPr/>
                    <a:lstStyle/>
                    <a:p>
                      <a:pPr algn="ctr"/>
                      <a:endParaRPr lang="fr-FR" sz="1100" dirty="0"/>
                    </a:p>
                    <a:p>
                      <a:pPr algn="ctr"/>
                      <a:endParaRPr lang="fr-FR" sz="1100" dirty="0"/>
                    </a:p>
                    <a:p>
                      <a:pPr algn="ctr"/>
                      <a:endParaRPr lang="fr-FR" sz="1100" dirty="0"/>
                    </a:p>
                    <a:p>
                      <a:pPr algn="ctr"/>
                      <a:endParaRPr lang="fr-FR" sz="1100" dirty="0"/>
                    </a:p>
                    <a:p>
                      <a:pPr algn="ctr"/>
                      <a:endParaRPr lang="fr-FR" sz="1100" dirty="0"/>
                    </a:p>
                    <a:p>
                      <a:pPr algn="ctr"/>
                      <a:r>
                        <a:rPr lang="fr-FR" sz="1100" dirty="0"/>
                        <a:t>Enregistrer</a:t>
                      </a:r>
                      <a:r>
                        <a:rPr lang="fr-FR" sz="1100" baseline="0" dirty="0"/>
                        <a:t> l’emprunt</a:t>
                      </a:r>
                      <a:endParaRPr lang="fr-FR" sz="1100" dirty="0"/>
                    </a:p>
                  </a:txBody>
                  <a:tcPr marL="121920" marR="121920"/>
                </a:tc>
                <a:tc>
                  <a:txBody>
                    <a:bodyPr/>
                    <a:lstStyle/>
                    <a:p>
                      <a:pPr algn="ctr"/>
                      <a:r>
                        <a:rPr lang="fr-FR" sz="1100" dirty="0"/>
                        <a:t>Livre emprunté</a:t>
                      </a:r>
                    </a:p>
                  </a:txBody>
                  <a:tcPr marL="121920" marR="121920"/>
                </a:tc>
                <a:tc>
                  <a:txBody>
                    <a:bodyPr/>
                    <a:lstStyle/>
                    <a:p>
                      <a:pPr algn="ctr"/>
                      <a:r>
                        <a:rPr lang="fr-FR" sz="1100" dirty="0"/>
                        <a:t>Étudiant avec livre</a:t>
                      </a:r>
                    </a:p>
                  </a:txBody>
                  <a:tcPr marL="121920" marR="121920"/>
                </a:tc>
                <a:extLst>
                  <a:ext uri="{0D108BD9-81ED-4DB2-BD59-A6C34878D82A}">
                    <a16:rowId xmlns:a16="http://schemas.microsoft.com/office/drawing/2014/main" val="10002"/>
                  </a:ext>
                </a:extLst>
              </a:tr>
            </a:tbl>
          </a:graphicData>
        </a:graphic>
      </p:graphicFrame>
      <p:sp>
        <p:nvSpPr>
          <p:cNvPr id="5" name="ZoneTexte 4"/>
          <p:cNvSpPr txBox="1"/>
          <p:nvPr/>
        </p:nvSpPr>
        <p:spPr>
          <a:xfrm>
            <a:off x="1717183" y="493103"/>
            <a:ext cx="6191293" cy="369332"/>
          </a:xfrm>
          <a:prstGeom prst="rect">
            <a:avLst/>
          </a:prstGeom>
          <a:noFill/>
        </p:spPr>
        <p:txBody>
          <a:bodyPr wrap="square" rtlCol="0">
            <a:spAutoFit/>
          </a:bodyPr>
          <a:lstStyle/>
          <a:p>
            <a:r>
              <a:rPr lang="fr-FR" b="1" dirty="0"/>
              <a:t> Méthode SIPOC :</a:t>
            </a:r>
            <a:r>
              <a:rPr lang="fr-FR" dirty="0"/>
              <a:t> Emprunter livre (Solution proposé)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3737" y="0"/>
            <a:ext cx="8911687" cy="1280890"/>
          </a:xfrm>
        </p:spPr>
        <p:txBody>
          <a:bodyPr/>
          <a:lstStyle/>
          <a:p>
            <a:r>
              <a:rPr lang="fr-FR" u="sng" dirty="0"/>
              <a:t>Scénario 2</a:t>
            </a:r>
          </a:p>
        </p:txBody>
      </p:sp>
      <p:pic>
        <p:nvPicPr>
          <p:cNvPr id="5" name="Espace réservé du contenu 4" descr="sc2.JPG"/>
          <p:cNvPicPr>
            <a:picLocks noGrp="1" noChangeAspect="1"/>
          </p:cNvPicPr>
          <p:nvPr>
            <p:ph idx="1"/>
          </p:nvPr>
        </p:nvPicPr>
        <p:blipFill>
          <a:blip r:embed="rId2"/>
          <a:stretch>
            <a:fillRect/>
          </a:stretch>
        </p:blipFill>
        <p:spPr>
          <a:xfrm>
            <a:off x="1672046" y="927463"/>
            <a:ext cx="10254343" cy="5499463"/>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72937" y="2426784"/>
            <a:ext cx="9310053" cy="1280890"/>
          </a:xfrm>
        </p:spPr>
        <p:txBody>
          <a:bodyPr>
            <a:normAutofit fontScale="90000"/>
          </a:bodyPr>
          <a:lstStyle/>
          <a:p>
            <a:pPr algn="ctr"/>
            <a:r>
              <a:rPr lang="fr-FR" sz="6600" dirty="0">
                <a:latin typeface="Cooper Black" panose="0208090404030B020404" pitchFamily="18" charset="0"/>
              </a:rPr>
              <a:t>Simulation des niveaux pour le scenario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dirty="0"/>
              <a:t>1</a:t>
            </a:r>
            <a:r>
              <a:rPr lang="fr-FR" baseline="30000" dirty="0"/>
              <a:t>ère</a:t>
            </a:r>
            <a:r>
              <a:rPr lang="fr-FR" dirty="0"/>
              <a:t> niveau : Process validation</a:t>
            </a:r>
          </a:p>
        </p:txBody>
      </p:sp>
      <p:pic>
        <p:nvPicPr>
          <p:cNvPr id="5" name="Espace réservé du contenu 4" descr="sc2.JPG"/>
          <p:cNvPicPr>
            <a:picLocks noGrp="1" noChangeAspect="1"/>
          </p:cNvPicPr>
          <p:nvPr>
            <p:ph idx="1"/>
          </p:nvPr>
        </p:nvPicPr>
        <p:blipFill>
          <a:blip r:embed="rId2"/>
          <a:stretch>
            <a:fillRect/>
          </a:stretch>
        </p:blipFill>
        <p:spPr>
          <a:xfrm>
            <a:off x="1685108" y="953589"/>
            <a:ext cx="10189029" cy="5277394"/>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96090" y="222069"/>
            <a:ext cx="8911687" cy="705394"/>
          </a:xfrm>
        </p:spPr>
        <p:txBody>
          <a:bodyPr>
            <a:normAutofit fontScale="90000"/>
          </a:bodyPr>
          <a:lstStyle/>
          <a:p>
            <a:r>
              <a:rPr lang="fr-FR" sz="3100" u="sng" dirty="0"/>
              <a:t>Résultats </a:t>
            </a:r>
            <a:r>
              <a:rPr lang="fr-FR" u="sng" dirty="0"/>
              <a:t>:</a:t>
            </a:r>
            <a:br>
              <a:rPr lang="fr-FR" dirty="0"/>
            </a:br>
            <a:endParaRPr lang="fr-FR" dirty="0"/>
          </a:p>
        </p:txBody>
      </p:sp>
      <p:pic>
        <p:nvPicPr>
          <p:cNvPr id="7" name="Espace réservé du contenu 6" descr="d1.JPG"/>
          <p:cNvPicPr>
            <a:picLocks noGrp="1" noChangeAspect="1"/>
          </p:cNvPicPr>
          <p:nvPr>
            <p:ph idx="1"/>
          </p:nvPr>
        </p:nvPicPr>
        <p:blipFill>
          <a:blip r:embed="rId2"/>
          <a:stretch>
            <a:fillRect/>
          </a:stretch>
        </p:blipFill>
        <p:spPr>
          <a:xfrm>
            <a:off x="1685109" y="1110343"/>
            <a:ext cx="9666514" cy="5303520"/>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2</a:t>
            </a:r>
            <a:r>
              <a:rPr lang="fr-FR" u="sng" baseline="30000" dirty="0"/>
              <a:t>ème</a:t>
            </a:r>
            <a:r>
              <a:rPr lang="fr-FR" u="sng" dirty="0"/>
              <a:t> niveau : Time Analysis</a:t>
            </a:r>
          </a:p>
        </p:txBody>
      </p:sp>
      <p:pic>
        <p:nvPicPr>
          <p:cNvPr id="6" name="Espace réservé du contenu 5" descr="sys.JPG"/>
          <p:cNvPicPr>
            <a:picLocks noGrp="1" noChangeAspect="1"/>
          </p:cNvPicPr>
          <p:nvPr>
            <p:ph idx="1"/>
          </p:nvPr>
        </p:nvPicPr>
        <p:blipFill>
          <a:blip r:embed="rId2"/>
          <a:stretch>
            <a:fillRect/>
          </a:stretch>
        </p:blipFill>
        <p:spPr>
          <a:xfrm>
            <a:off x="1828799" y="1045029"/>
            <a:ext cx="9731829" cy="5551714"/>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69965" y="300446"/>
            <a:ext cx="8911687" cy="1280890"/>
          </a:xfrm>
        </p:spPr>
        <p:txBody>
          <a:bodyPr>
            <a:normAutofit/>
          </a:bodyPr>
          <a:lstStyle/>
          <a:p>
            <a:r>
              <a:rPr lang="fr-FR" sz="3100" dirty="0"/>
              <a:t>Résultats </a:t>
            </a:r>
            <a:r>
              <a:rPr lang="fr-FR" dirty="0"/>
              <a:t>:</a:t>
            </a:r>
            <a:br>
              <a:rPr lang="fr-FR" dirty="0"/>
            </a:br>
            <a:endParaRPr lang="fr-FR" dirty="0"/>
          </a:p>
        </p:txBody>
      </p:sp>
      <p:pic>
        <p:nvPicPr>
          <p:cNvPr id="6" name="Espace réservé du contenu 5" descr="sys1.JPG"/>
          <p:cNvPicPr>
            <a:picLocks noGrp="1" noChangeAspect="1"/>
          </p:cNvPicPr>
          <p:nvPr>
            <p:ph idx="1"/>
          </p:nvPr>
        </p:nvPicPr>
        <p:blipFill>
          <a:blip r:embed="rId2"/>
          <a:stretch>
            <a:fillRect/>
          </a:stretch>
        </p:blipFill>
        <p:spPr>
          <a:xfrm>
            <a:off x="1645920" y="1045029"/>
            <a:ext cx="9627326" cy="5512525"/>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3</a:t>
            </a:r>
            <a:r>
              <a:rPr lang="fr-FR" u="sng" baseline="30000" dirty="0"/>
              <a:t>ème</a:t>
            </a:r>
            <a:r>
              <a:rPr lang="fr-FR" u="sng" dirty="0"/>
              <a:t> niveau : Resources Analysis</a:t>
            </a:r>
          </a:p>
        </p:txBody>
      </p:sp>
      <p:pic>
        <p:nvPicPr>
          <p:cNvPr id="5" name="Espace réservé du contenu 4" descr="ressou.JPG"/>
          <p:cNvPicPr>
            <a:picLocks noGrp="1" noChangeAspect="1"/>
          </p:cNvPicPr>
          <p:nvPr>
            <p:ph idx="1"/>
          </p:nvPr>
        </p:nvPicPr>
        <p:blipFill>
          <a:blip r:embed="rId2"/>
          <a:stretch>
            <a:fillRect/>
          </a:stretch>
        </p:blipFill>
        <p:spPr>
          <a:xfrm>
            <a:off x="1750422" y="1045029"/>
            <a:ext cx="10162903" cy="5617028"/>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769965" y="300446"/>
            <a:ext cx="8911687" cy="1280890"/>
          </a:xfrm>
        </p:spPr>
        <p:txBody>
          <a:bodyPr>
            <a:normAutofit/>
          </a:bodyPr>
          <a:lstStyle/>
          <a:p>
            <a:r>
              <a:rPr lang="fr-FR" sz="3100" dirty="0"/>
              <a:t>Résultats </a:t>
            </a:r>
            <a:r>
              <a:rPr lang="fr-FR" dirty="0"/>
              <a:t>:</a:t>
            </a:r>
            <a:br>
              <a:rPr lang="fr-FR" dirty="0"/>
            </a:br>
            <a:endParaRPr lang="fr-FR" dirty="0"/>
          </a:p>
        </p:txBody>
      </p:sp>
      <p:pic>
        <p:nvPicPr>
          <p:cNvPr id="7" name="Espace réservé du contenu 6" descr="resu.JPG"/>
          <p:cNvPicPr>
            <a:picLocks noGrp="1" noChangeAspect="1"/>
          </p:cNvPicPr>
          <p:nvPr>
            <p:ph idx="1"/>
          </p:nvPr>
        </p:nvPicPr>
        <p:blipFill>
          <a:blip r:embed="rId2"/>
          <a:stretch>
            <a:fillRect/>
          </a:stretch>
        </p:blipFill>
        <p:spPr>
          <a:xfrm>
            <a:off x="1881051" y="1541417"/>
            <a:ext cx="8948058" cy="4019595"/>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28" y="156754"/>
            <a:ext cx="8911687" cy="862149"/>
          </a:xfrm>
        </p:spPr>
        <p:txBody>
          <a:bodyPr/>
          <a:lstStyle/>
          <a:p>
            <a:r>
              <a:rPr lang="fr-FR" u="sng" dirty="0"/>
              <a:t>4</a:t>
            </a:r>
            <a:r>
              <a:rPr lang="fr-FR" u="sng" baseline="30000" dirty="0"/>
              <a:t>ème</a:t>
            </a:r>
            <a:r>
              <a:rPr lang="fr-FR" u="sng" dirty="0"/>
              <a:t> niveau : Calendar Analysis</a:t>
            </a:r>
          </a:p>
        </p:txBody>
      </p:sp>
      <p:pic>
        <p:nvPicPr>
          <p:cNvPr id="6" name="Espace réservé du contenu 5" descr="calend.JPG"/>
          <p:cNvPicPr>
            <a:picLocks noGrp="1" noChangeAspect="1"/>
          </p:cNvPicPr>
          <p:nvPr>
            <p:ph idx="1"/>
          </p:nvPr>
        </p:nvPicPr>
        <p:blipFill>
          <a:blip r:embed="rId2"/>
          <a:stretch>
            <a:fillRect/>
          </a:stretch>
        </p:blipFill>
        <p:spPr>
          <a:xfrm>
            <a:off x="1593668" y="1058091"/>
            <a:ext cx="10358845" cy="5499463"/>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444446" y="2991394"/>
            <a:ext cx="261257" cy="156755"/>
          </a:xfrm>
          <a:prstGeom prst="rect">
            <a:avLst/>
          </a:prstGeom>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1913656" y="574766"/>
            <a:ext cx="8911687" cy="1280890"/>
          </a:xfrm>
        </p:spPr>
        <p:txBody>
          <a:bodyPr>
            <a:normAutofit/>
          </a:bodyPr>
          <a:lstStyle/>
          <a:p>
            <a:r>
              <a:rPr lang="fr-FR" sz="3100" dirty="0"/>
              <a:t>Résultats </a:t>
            </a:r>
            <a:r>
              <a:rPr lang="fr-FR" dirty="0"/>
              <a:t>:</a:t>
            </a:r>
            <a:br>
              <a:rPr lang="fr-FR" dirty="0"/>
            </a:br>
            <a:endParaRPr lang="fr-FR" dirty="0"/>
          </a:p>
        </p:txBody>
      </p:sp>
      <p:pic>
        <p:nvPicPr>
          <p:cNvPr id="6" name="Espace réservé du contenu 5" descr="cae.JPG"/>
          <p:cNvPicPr>
            <a:picLocks noGrp="1" noChangeAspect="1"/>
          </p:cNvPicPr>
          <p:nvPr>
            <p:ph idx="1"/>
          </p:nvPr>
        </p:nvPicPr>
        <p:blipFill>
          <a:blip r:embed="rId2"/>
          <a:stretch>
            <a:fillRect/>
          </a:stretch>
        </p:blipFill>
        <p:spPr>
          <a:xfrm>
            <a:off x="2168434" y="2155371"/>
            <a:ext cx="9336179" cy="3762103"/>
          </a:xfr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15738" y="0"/>
            <a:ext cx="9993084" cy="1005840"/>
          </a:xfrm>
        </p:spPr>
        <p:txBody>
          <a:bodyPr>
            <a:normAutofit/>
          </a:bodyPr>
          <a:lstStyle/>
          <a:p>
            <a:r>
              <a:rPr lang="fr-FR" sz="3200" dirty="0"/>
              <a:t>Comparaison entre le processus1 et processus2</a:t>
            </a:r>
          </a:p>
        </p:txBody>
      </p:sp>
      <p:pic>
        <p:nvPicPr>
          <p:cNvPr id="4" name="Espace réservé du contenu 6" descr="time.JPG"/>
          <p:cNvPicPr>
            <a:picLocks noGrp="1" noChangeAspect="1"/>
          </p:cNvPicPr>
          <p:nvPr>
            <p:ph idx="1"/>
          </p:nvPr>
        </p:nvPicPr>
        <p:blipFill>
          <a:blip r:embed="rId2"/>
          <a:stretch>
            <a:fillRect/>
          </a:stretch>
        </p:blipFill>
        <p:spPr>
          <a:xfrm>
            <a:off x="-1240971" y="483326"/>
            <a:ext cx="6544491" cy="6374674"/>
          </a:xfrm>
        </p:spPr>
      </p:pic>
      <p:pic>
        <p:nvPicPr>
          <p:cNvPr id="5" name="Espace réservé du contenu 5" descr="sys1.JPG"/>
          <p:cNvPicPr>
            <a:picLocks noChangeAspect="1"/>
          </p:cNvPicPr>
          <p:nvPr/>
        </p:nvPicPr>
        <p:blipFill>
          <a:blip r:embed="rId3"/>
          <a:stretch>
            <a:fillRect/>
          </a:stretch>
        </p:blipFill>
        <p:spPr>
          <a:xfrm>
            <a:off x="5617030" y="548640"/>
            <a:ext cx="6574970" cy="6309360"/>
          </a:xfrm>
          <a:prstGeom prst="rect">
            <a:avLst/>
          </a:prstGeom>
        </p:spPr>
      </p:pic>
      <p:cxnSp>
        <p:nvCxnSpPr>
          <p:cNvPr id="7" name="Connecteur droit 6"/>
          <p:cNvCxnSpPr/>
          <p:nvPr/>
        </p:nvCxnSpPr>
        <p:spPr>
          <a:xfrm rot="16200000" flipH="1">
            <a:off x="2299063" y="3670662"/>
            <a:ext cx="6348549" cy="2612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80313" y="2413722"/>
            <a:ext cx="8911687" cy="1280890"/>
          </a:xfrm>
        </p:spPr>
        <p:txBody>
          <a:bodyPr>
            <a:normAutofit/>
          </a:bodyPr>
          <a:lstStyle/>
          <a:p>
            <a:r>
              <a:rPr lang="fr-FR" sz="6000" b="1" dirty="0">
                <a:solidFill>
                  <a:schemeClr val="accent1"/>
                </a:solidFill>
                <a:latin typeface="Cooper Black" panose="0208090404030B020404" pitchFamily="18" charset="0"/>
              </a:rPr>
              <a:t>Conclusion</a:t>
            </a:r>
          </a:p>
        </p:txBody>
      </p:sp>
    </p:spTree>
    <p:extLst>
      <p:ext uri="{BB962C8B-B14F-4D97-AF65-F5344CB8AC3E}">
        <p14:creationId xmlns:p14="http://schemas.microsoft.com/office/powerpoint/2010/main" val="3006017908"/>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906</TotalTime>
  <Words>1297</Words>
  <Application>Microsoft Office PowerPoint</Application>
  <PresentationFormat>Grand écran</PresentationFormat>
  <Paragraphs>308</Paragraphs>
  <Slides>66</Slides>
  <Notes>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66</vt:i4>
      </vt:variant>
    </vt:vector>
  </HeadingPairs>
  <TitlesOfParts>
    <vt:vector size="75" baseType="lpstr">
      <vt:lpstr>Arial</vt:lpstr>
      <vt:lpstr>Calibri</vt:lpstr>
      <vt:lpstr>Century Gothic</vt:lpstr>
      <vt:lpstr>Comic Sans MS</vt:lpstr>
      <vt:lpstr>Cooper Black</vt:lpstr>
      <vt:lpstr>Lucida Calligraphy</vt:lpstr>
      <vt:lpstr>Wingdings</vt:lpstr>
      <vt:lpstr>Wingdings 3</vt:lpstr>
      <vt:lpstr>Brin</vt:lpstr>
      <vt:lpstr>Bizagi</vt:lpstr>
      <vt:lpstr>PLAN</vt:lpstr>
      <vt:lpstr>Introduction</vt:lpstr>
      <vt:lpstr>Présentation PowerPoint</vt:lpstr>
      <vt:lpstr>Présentation PowerPoint</vt:lpstr>
      <vt:lpstr>Présentation PowerPoint</vt:lpstr>
      <vt:lpstr>Bizagi</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Bizagi Process Modeler</vt:lpstr>
      <vt:lpstr>Présentation PowerPoint</vt:lpstr>
      <vt:lpstr>Présentation PowerPoint</vt:lpstr>
      <vt:lpstr>Présentation Bizagi Process Modeler</vt:lpstr>
      <vt:lpstr>Présentation PowerPoint</vt:lpstr>
      <vt:lpstr>Présentation Bizagi Process Modeler </vt:lpstr>
      <vt:lpstr>Présentation Bizagi Process Modeler </vt:lpstr>
      <vt:lpstr>Présentation Bizagi Process Modeler </vt:lpstr>
      <vt:lpstr>Exemple :processus d’emprunt d’un livre</vt:lpstr>
      <vt:lpstr>Présentation PowerPoint</vt:lpstr>
      <vt:lpstr>Présentation PowerPoint</vt:lpstr>
      <vt:lpstr>Scénario 1</vt:lpstr>
      <vt:lpstr>Simulation des niveaux pour le scenario 1</vt:lpstr>
      <vt:lpstr>1ère niveau : Process validation</vt:lpstr>
      <vt:lpstr>Et en cliquant sur RUN puis sur START:</vt:lpstr>
      <vt:lpstr>Résultats : Lorsque la simulation est terminée nous pouvons afficher les résultats en sélectionnant l'option Results.</vt:lpstr>
      <vt:lpstr>Le résultat peut être exporter sous forme d’un fichier Excel  </vt:lpstr>
      <vt:lpstr>2ème niveau : Time Analysis</vt:lpstr>
      <vt:lpstr>Et en cliquant sur RUN puis sur START:</vt:lpstr>
      <vt:lpstr>Résultats : </vt:lpstr>
      <vt:lpstr>3ème niveau : Resources Analysis</vt:lpstr>
      <vt:lpstr>Et en cliquant sur RUN puis sur START:</vt:lpstr>
      <vt:lpstr>Résultats : </vt:lpstr>
      <vt:lpstr>4ème niveau : Calendar Analysis</vt:lpstr>
      <vt:lpstr>Et en cliquant sur RUN puis sur START:</vt:lpstr>
      <vt:lpstr>Résultats : </vt:lpstr>
      <vt:lpstr>Présentation PowerPoint</vt:lpstr>
      <vt:lpstr>Scénario 2</vt:lpstr>
      <vt:lpstr>Simulation des niveaux pour le scenario 2</vt:lpstr>
      <vt:lpstr>1ère niveau : Process validation</vt:lpstr>
      <vt:lpstr>Résultats : </vt:lpstr>
      <vt:lpstr>2ème niveau : Time Analysis</vt:lpstr>
      <vt:lpstr>Résultats : </vt:lpstr>
      <vt:lpstr>3ème niveau : Resources Analysis</vt:lpstr>
      <vt:lpstr>Résultats : </vt:lpstr>
      <vt:lpstr>4ème niveau : Calendar Analysis</vt:lpstr>
      <vt:lpstr>Résultats : </vt:lpstr>
      <vt:lpstr>Comparaison entre le processus1 et processus2</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Admin</dc:creator>
  <cp:lastModifiedBy>Rachida AIT ABDELOUAHID</cp:lastModifiedBy>
  <cp:revision>144</cp:revision>
  <dcterms:created xsi:type="dcterms:W3CDTF">2015-02-02T01:19:33Z</dcterms:created>
  <dcterms:modified xsi:type="dcterms:W3CDTF">2023-05-21T13:56:26Z</dcterms:modified>
</cp:coreProperties>
</file>