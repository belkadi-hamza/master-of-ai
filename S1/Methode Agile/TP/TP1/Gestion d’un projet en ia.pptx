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9" r:id="rId4"/>
    <p:sldId id="260" r:id="rId5"/>
    <p:sldId id="263" r:id="rId6"/>
    <p:sldId id="267" r:id="rId7"/>
    <p:sldId id="264" r:id="rId8"/>
    <p:sldId id="266" r:id="rId9"/>
    <p:sldId id="258" r:id="rId10"/>
    <p:sldId id="271" r:id="rId11"/>
    <p:sldId id="26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284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DC9F0-0E1F-4654-B2FF-56B21DBD445F}" type="datetimeFigureOut">
              <a:rPr lang="fr-FR" smtClean="0"/>
              <a:t>22/01/2026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97D5F-1A27-4969-B5BC-24EB025B674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8222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088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4088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A6E66-7D0A-4464-A801-0035A4A4DECE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39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70D2F-363D-4ECB-B37A-8E28595378FB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8605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A24B4-CC9E-4207-9392-B284926B135C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46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04088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1344" y="2221992"/>
            <a:ext cx="5212080" cy="37398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4F986-76D8-44E8-9AC5-8869018D729D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721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29147"/>
            <a:ext cx="10689336" cy="79845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4088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4088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1344" y="1756538"/>
            <a:ext cx="5212080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1344" y="2442702"/>
            <a:ext cx="5212080" cy="35191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675A8-635C-4E37-970A-0B4A027839F6}" type="datetime1">
              <a:rPr lang="en-US" smtClean="0"/>
              <a:t>1/22/2026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044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B03D29-F264-4C8E-8AEB-230F05C65C5A}" type="datetime1">
              <a:rPr lang="en-US" smtClean="0"/>
              <a:t>1/22/2026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5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84267-8A5C-4E1C-921C-C49C708D2CA7}" type="datetime1">
              <a:rPr lang="en-US" smtClean="0"/>
              <a:t>1/22/2026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22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9848"/>
            <a:ext cx="4093599" cy="131673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69848"/>
            <a:ext cx="6172200" cy="47912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1176"/>
            <a:ext cx="4093599" cy="33192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15258-D0A4-4208-8219-9651FB26F71C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52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4088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B7155-0094-4659-9455-B76892E0F1B9}" type="datetime1">
              <a:rPr lang="en-US" smtClean="0"/>
              <a:t>1/22/2026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5365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730E-2CCA-4CED-852C-7200CC0C1C28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19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68927" y="997973"/>
            <a:ext cx="8473395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7F0235-C458-4A3E-B069-C500EF4E3F34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976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3719ABC1-0D8A-4048-9F6C-5341888CA449}" type="datetime1">
              <a:rPr lang="en-US" smtClean="0"/>
              <a:t>1/22/2026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27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B36D82-6B55-0040-0083-27B0E42C01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04552" y="871758"/>
            <a:ext cx="5825448" cy="3871143"/>
          </a:xfrm>
        </p:spPr>
        <p:txBody>
          <a:bodyPr>
            <a:normAutofit/>
          </a:bodyPr>
          <a:lstStyle/>
          <a:p>
            <a:r>
              <a:rPr lang="fr-FR" sz="4800" dirty="0">
                <a:solidFill>
                  <a:srgbClr val="0070C0"/>
                </a:solidFill>
              </a:rPr>
              <a:t>Gestion d’un projet en </a:t>
            </a:r>
            <a:r>
              <a:rPr lang="fr-FR" sz="4800" dirty="0" err="1">
                <a:solidFill>
                  <a:srgbClr val="0070C0"/>
                </a:solidFill>
              </a:rPr>
              <a:t>ia</a:t>
            </a:r>
            <a:r>
              <a:rPr lang="fr-FR" sz="4800" dirty="0">
                <a:solidFill>
                  <a:srgbClr val="0070C0"/>
                </a:solidFill>
              </a:rPr>
              <a:t> </a:t>
            </a:r>
            <a:r>
              <a:rPr lang="fr-FR" sz="4800" dirty="0" err="1">
                <a:solidFill>
                  <a:srgbClr val="0070C0"/>
                </a:solidFill>
              </a:rPr>
              <a:t>avev</a:t>
            </a:r>
            <a:r>
              <a:rPr lang="fr-FR" sz="4800" dirty="0">
                <a:solidFill>
                  <a:srgbClr val="0070C0"/>
                </a:solidFill>
              </a:rPr>
              <a:t> </a:t>
            </a:r>
            <a:r>
              <a:rPr lang="fr-FR" sz="4800" dirty="0" err="1">
                <a:solidFill>
                  <a:srgbClr val="0070C0"/>
                </a:solidFill>
              </a:rPr>
              <a:t>jira</a:t>
            </a:r>
            <a:r>
              <a:rPr lang="fr-FR" sz="4800" dirty="0">
                <a:solidFill>
                  <a:srgbClr val="0070C0"/>
                </a:solidFill>
              </a:rPr>
              <a:t>			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18478-FC3E-C33A-6EDA-E1D77E560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19964" y="3368040"/>
            <a:ext cx="6537788" cy="2042161"/>
          </a:xfrm>
        </p:spPr>
        <p:txBody>
          <a:bodyPr>
            <a:normAutofit/>
          </a:bodyPr>
          <a:lstStyle/>
          <a:p>
            <a:r>
              <a:rPr lang="fr-FR" dirty="0"/>
              <a:t>Réalisé par:</a:t>
            </a:r>
            <a:br>
              <a:rPr lang="fr-FR" dirty="0"/>
            </a:br>
            <a:r>
              <a:rPr lang="fr-FR" dirty="0"/>
              <a:t>	- Abdelhaq EL AMRAOUI</a:t>
            </a:r>
          </a:p>
          <a:p>
            <a:r>
              <a:rPr lang="fr-FR" dirty="0"/>
              <a:t>	- Anass BOURAS</a:t>
            </a:r>
          </a:p>
          <a:p>
            <a:r>
              <a:rPr lang="fr-FR" dirty="0"/>
              <a:t>	- Hamza BELKADI</a:t>
            </a:r>
          </a:p>
        </p:txBody>
      </p:sp>
      <p:pic>
        <p:nvPicPr>
          <p:cNvPr id="16" name="Picture 15" descr="An abstract genetic concept">
            <a:extLst>
              <a:ext uri="{FF2B5EF4-FFF2-40B4-BE49-F238E27FC236}">
                <a16:creationId xmlns:a16="http://schemas.microsoft.com/office/drawing/2014/main" id="{D78AB1F2-15B3-35B7-AE6C-BD6F035F838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941" r="11948"/>
          <a:stretch>
            <a:fillRect/>
          </a:stretch>
        </p:blipFill>
        <p:spPr>
          <a:xfrm>
            <a:off x="1" y="10"/>
            <a:ext cx="4876799" cy="685798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ubtitle 2">
            <a:extLst>
              <a:ext uri="{FF2B5EF4-FFF2-40B4-BE49-F238E27FC236}">
                <a16:creationId xmlns:a16="http://schemas.microsoft.com/office/drawing/2014/main" id="{3B5C37A0-074E-2721-2229-27C5FD375681}"/>
              </a:ext>
            </a:extLst>
          </p:cNvPr>
          <p:cNvSpPr txBox="1">
            <a:spLocks/>
          </p:cNvSpPr>
          <p:nvPr/>
        </p:nvSpPr>
        <p:spPr>
          <a:xfrm>
            <a:off x="10310116" y="5624013"/>
            <a:ext cx="1729486" cy="362229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dirty="0"/>
              <a:t>2025-2026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D34AF-7493-91D1-7410-24BA14F55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4676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14A3C-B0D6-D05E-70EA-2C8E24AFA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B6853-A90E-2E72-0C2C-B5FD87FDF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3200" b="1" dirty="0">
                <a:solidFill>
                  <a:srgbClr val="0070C0"/>
                </a:solidFill>
              </a:rPr>
              <a:t>Projet</a:t>
            </a:r>
            <a:r>
              <a:rPr lang="fr-FR" b="1" dirty="0"/>
              <a:t>:</a:t>
            </a:r>
            <a:r>
              <a:rPr lang="fr-FR" dirty="0"/>
              <a:t> consiste en la conception et le développement d'un système intelligent de recommandation académique.</a:t>
            </a:r>
          </a:p>
          <a:p>
            <a:r>
              <a:rPr lang="fr-FR" sz="3200" b="1" dirty="0">
                <a:solidFill>
                  <a:srgbClr val="0070C0"/>
                </a:solidFill>
              </a:rPr>
              <a:t>Objectif</a:t>
            </a:r>
            <a:r>
              <a:rPr lang="fr-FR" dirty="0"/>
              <a:t> : pas seulement de créer une solution technique, mais de l'exécuter dans un cadre professionnel collaboratif, itératif et incrémental. En utilisant la méthode Agile Scrum et l'outil </a:t>
            </a:r>
            <a:r>
              <a:rPr lang="fr-FR" u="sng" dirty="0"/>
              <a:t>JIRA</a:t>
            </a:r>
            <a:r>
              <a:rPr lang="fr-FR" dirty="0"/>
              <a:t>, nous avons appris à transformer des besoins utilisateurs en fonctionnalités concrètes tout en respectant les valeurs de transparence et d'amélioration continue.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389AB-2F8C-AAFA-9BFE-466B956210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753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39942-278A-D653-8C14-15A17772D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Notre Équipe (Rôles &amp; Gouvernance)</a:t>
            </a:r>
          </a:p>
        </p:txBody>
      </p:sp>
      <p:sp>
        <p:nvSpPr>
          <p:cNvPr id="5" name="AutoShape 4">
            <a:extLst>
              <a:ext uri="{FF2B5EF4-FFF2-40B4-BE49-F238E27FC236}">
                <a16:creationId xmlns:a16="http://schemas.microsoft.com/office/drawing/2014/main" id="{1ABC66C7-EC70-E309-8871-1AD114D56F0D}"/>
              </a:ext>
            </a:extLst>
          </p:cNvPr>
          <p:cNvSpPr>
            <a:spLocks noGrp="1" noChangeAspect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>
              <a:lnSpc>
                <a:spcPct val="150000"/>
              </a:lnSpc>
            </a:pPr>
            <a:r>
              <a:rPr lang="fr-FR" dirty="0"/>
              <a:t>Anass (</a:t>
            </a:r>
            <a:r>
              <a:rPr lang="fr-FR" b="1" dirty="0"/>
              <a:t>Développeur IA</a:t>
            </a:r>
            <a:r>
              <a:rPr lang="fr-FR" dirty="0"/>
              <a:t>) : Responsable de la collecte, de la génération des données et de l'entraînement du modèle prédictif.</a:t>
            </a:r>
          </a:p>
          <a:p>
            <a:pPr>
              <a:lnSpc>
                <a:spcPct val="150000"/>
              </a:lnSpc>
            </a:pPr>
            <a:r>
              <a:rPr lang="fr-FR" dirty="0"/>
              <a:t>Hamza (</a:t>
            </a:r>
            <a:r>
              <a:rPr lang="fr-FR" b="1" dirty="0"/>
              <a:t>Développeur Web &amp; Backend</a:t>
            </a:r>
            <a:r>
              <a:rPr lang="fr-FR" dirty="0"/>
              <a:t>) : Responsable de la conception technique (UML), de l'interface utilisateur via </a:t>
            </a:r>
            <a:r>
              <a:rPr lang="fr-FR" dirty="0" err="1"/>
              <a:t>React</a:t>
            </a:r>
            <a:r>
              <a:rPr lang="fr-FR" dirty="0"/>
              <a:t> </a:t>
            </a:r>
            <a:r>
              <a:rPr lang="fr-FR" dirty="0" err="1"/>
              <a:t>js</a:t>
            </a:r>
            <a:r>
              <a:rPr lang="fr-FR" dirty="0"/>
              <a:t> et de l'intégration de l'API.</a:t>
            </a:r>
          </a:p>
          <a:p>
            <a:pPr>
              <a:lnSpc>
                <a:spcPct val="150000"/>
              </a:lnSpc>
            </a:pPr>
            <a:r>
              <a:rPr lang="fr-FR" dirty="0"/>
              <a:t>Abdelhaq (</a:t>
            </a:r>
            <a:r>
              <a:rPr lang="fr-FR" b="1" dirty="0"/>
              <a:t>Testeur</a:t>
            </a:r>
            <a:r>
              <a:rPr lang="fr-FR" dirty="0"/>
              <a:t>) : Garant de la qualité, responsable des tests fonctionnels et de la validation de la précision du modèle.</a:t>
            </a: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F7514A46-BA39-654F-4FB5-730242239C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7" name="AutoShape 8">
            <a:extLst>
              <a:ext uri="{FF2B5EF4-FFF2-40B4-BE49-F238E27FC236}">
                <a16:creationId xmlns:a16="http://schemas.microsoft.com/office/drawing/2014/main" id="{4AAB2CE6-1E71-B3D6-6DE0-B6E5A8EE7F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ED861EF-E138-8AFE-E1A7-9F72B472C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21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384EB-1ED0-9C9E-4CE7-6A3DBAF26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Scrum Master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EF7D56-BFFF-E2BF-3E5B-E4C98FBF05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fr-FR" dirty="0"/>
          </a:p>
          <a:p>
            <a:pPr marL="0" indent="0" algn="ctr">
              <a:buNone/>
            </a:pPr>
            <a:r>
              <a:rPr lang="fr-FR" dirty="0"/>
              <a:t>Pour chaque version du projet, nous avons alterné ce rôle.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 Le Scrum Master était chargé de l'animation des cérémonies (Daily Scrum, Sprint </a:t>
            </a:r>
            <a:r>
              <a:rPr lang="fr-FR" dirty="0" err="1"/>
              <a:t>Review</a:t>
            </a:r>
            <a:r>
              <a:rPr lang="fr-FR" dirty="0"/>
              <a:t>) et du respect du cadre Scrum sur JIRA.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BCB802-C6C0-CA26-0E2B-35B5E7223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668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18068-B06A-7C14-2850-E056602E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BCF0-99EF-8864-D336-C1404369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projet sur </a:t>
            </a:r>
            <a:r>
              <a:rPr lang="fr-FR" dirty="0" err="1"/>
              <a:t>jira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A378DA-A51C-C25C-25FE-79D7F062D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515"/>
          <a:stretch>
            <a:fillRect/>
          </a:stretch>
        </p:blipFill>
        <p:spPr>
          <a:xfrm>
            <a:off x="4909415" y="2018792"/>
            <a:ext cx="6482485" cy="3497955"/>
          </a:xfr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F52A4-B127-729D-CA90-456DCB523038}"/>
              </a:ext>
            </a:extLst>
          </p:cNvPr>
          <p:cNvSpPr txBox="1"/>
          <p:nvPr/>
        </p:nvSpPr>
        <p:spPr>
          <a:xfrm>
            <a:off x="1310640" y="2768196"/>
            <a:ext cx="32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+mj-lt"/>
              </a:rPr>
              <a:t>Le </a:t>
            </a:r>
            <a:r>
              <a:rPr lang="fr-FR" sz="2400" dirty="0" err="1">
                <a:solidFill>
                  <a:srgbClr val="0070C0"/>
                </a:solidFill>
                <a:latin typeface="+mj-lt"/>
              </a:rPr>
              <a:t>Backlog</a:t>
            </a:r>
            <a:endParaRPr lang="fr-FR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7068F-F486-2DC9-2E42-668DF3C61CF9}"/>
              </a:ext>
            </a:extLst>
          </p:cNvPr>
          <p:cNvSpPr/>
          <p:nvPr/>
        </p:nvSpPr>
        <p:spPr>
          <a:xfrm>
            <a:off x="919885" y="2841347"/>
            <a:ext cx="315365" cy="31536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DC38F-279F-B8A7-8E48-A2629846CF97}"/>
              </a:ext>
            </a:extLst>
          </p:cNvPr>
          <p:cNvSpPr txBox="1"/>
          <p:nvPr/>
        </p:nvSpPr>
        <p:spPr>
          <a:xfrm>
            <a:off x="919885" y="3515360"/>
            <a:ext cx="338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Notre travail à réaliser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D1319-FD51-4E6D-4E35-966BCB7F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8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18068-B06A-7C14-2850-E056602E1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6BCF0-99EF-8864-D336-C14043698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projet sur </a:t>
            </a:r>
            <a:r>
              <a:rPr lang="fr-FR" dirty="0" err="1"/>
              <a:t>jira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8A378DA-A51C-C25C-25FE-79D7F062D5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721" b="5794"/>
          <a:stretch/>
        </p:blipFill>
        <p:spPr>
          <a:xfrm>
            <a:off x="4909415" y="2018792"/>
            <a:ext cx="6482485" cy="3497955"/>
          </a:xfr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7FF52A4-B127-729D-CA90-456DCB523038}"/>
              </a:ext>
            </a:extLst>
          </p:cNvPr>
          <p:cNvSpPr txBox="1"/>
          <p:nvPr/>
        </p:nvSpPr>
        <p:spPr>
          <a:xfrm>
            <a:off x="1310640" y="2768196"/>
            <a:ext cx="32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+mj-lt"/>
              </a:rPr>
              <a:t>Le </a:t>
            </a:r>
            <a:r>
              <a:rPr lang="fr-FR" sz="2400" dirty="0" err="1">
                <a:solidFill>
                  <a:srgbClr val="0070C0"/>
                </a:solidFill>
                <a:latin typeface="+mj-lt"/>
              </a:rPr>
              <a:t>Backlog</a:t>
            </a:r>
            <a:endParaRPr lang="fr-FR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97068F-F486-2DC9-2E42-668DF3C61CF9}"/>
              </a:ext>
            </a:extLst>
          </p:cNvPr>
          <p:cNvSpPr/>
          <p:nvPr/>
        </p:nvSpPr>
        <p:spPr>
          <a:xfrm>
            <a:off x="919885" y="2841347"/>
            <a:ext cx="315365" cy="31536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DC38F-279F-B8A7-8E48-A2629846CF97}"/>
              </a:ext>
            </a:extLst>
          </p:cNvPr>
          <p:cNvSpPr txBox="1"/>
          <p:nvPr/>
        </p:nvSpPr>
        <p:spPr>
          <a:xfrm>
            <a:off x="919885" y="3515360"/>
            <a:ext cx="338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Notre travail à réaliser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CD1319-FD51-4E6D-4E35-966BCB7F1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7753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EB4F6-2946-1A92-2DB2-ED89C1D95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8A61D-1D54-7864-9441-E8C47DE84B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projet sur </a:t>
            </a:r>
            <a:r>
              <a:rPr lang="fr-FR" dirty="0" err="1"/>
              <a:t>jira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3208A-5FDD-7A55-5598-D1610A51BC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4909415" y="2018792"/>
            <a:ext cx="6482485" cy="3497955"/>
          </a:xfr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57CC9C-4331-9848-1A58-102848A70121}"/>
              </a:ext>
            </a:extLst>
          </p:cNvPr>
          <p:cNvSpPr txBox="1"/>
          <p:nvPr/>
        </p:nvSpPr>
        <p:spPr>
          <a:xfrm>
            <a:off x="1310640" y="2768196"/>
            <a:ext cx="32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+mj-lt"/>
              </a:rPr>
              <a:t>Note </a:t>
            </a:r>
            <a:r>
              <a:rPr lang="fr-FR" sz="2400" dirty="0" err="1">
                <a:solidFill>
                  <a:srgbClr val="0070C0"/>
                </a:solidFill>
                <a:latin typeface="+mj-lt"/>
              </a:rPr>
              <a:t>board</a:t>
            </a:r>
            <a:endParaRPr lang="fr-FR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0A5121-DC9C-E786-9FF3-3573A5D3E447}"/>
              </a:ext>
            </a:extLst>
          </p:cNvPr>
          <p:cNvSpPr/>
          <p:nvPr/>
        </p:nvSpPr>
        <p:spPr>
          <a:xfrm>
            <a:off x="919885" y="2841347"/>
            <a:ext cx="315365" cy="31536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56C96B-758B-E35D-07F2-61D2ACF0701C}"/>
              </a:ext>
            </a:extLst>
          </p:cNvPr>
          <p:cNvSpPr txBox="1"/>
          <p:nvPr/>
        </p:nvSpPr>
        <p:spPr>
          <a:xfrm>
            <a:off x="919885" y="3515360"/>
            <a:ext cx="33879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7A468-07E5-27D6-644C-B54B4116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653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DD26-7C26-CD8B-36CD-5DE8B3EB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6F19-43FE-ABE8-66CB-039691E10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Notre projet sur </a:t>
            </a:r>
            <a:r>
              <a:rPr lang="fr-FR" dirty="0" err="1"/>
              <a:t>jira</a:t>
            </a:r>
            <a:endParaRPr lang="fr-FR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218566-B60D-75DB-C1BB-2473C89FDF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" r="21"/>
          <a:stretch/>
        </p:blipFill>
        <p:spPr>
          <a:xfrm>
            <a:off x="4909415" y="2018792"/>
            <a:ext cx="6482485" cy="3497955"/>
          </a:xfr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70307A-729C-BD9C-0FA8-7CB26308C47C}"/>
              </a:ext>
            </a:extLst>
          </p:cNvPr>
          <p:cNvSpPr txBox="1"/>
          <p:nvPr/>
        </p:nvSpPr>
        <p:spPr>
          <a:xfrm>
            <a:off x="1310640" y="2768196"/>
            <a:ext cx="32080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solidFill>
                  <a:srgbClr val="0070C0"/>
                </a:solidFill>
                <a:latin typeface="+mj-lt"/>
              </a:rPr>
              <a:t>Le Timeline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9F31A7B-D4ED-2EE7-7DE5-87125B3498EC}"/>
              </a:ext>
            </a:extLst>
          </p:cNvPr>
          <p:cNvSpPr/>
          <p:nvPr/>
        </p:nvSpPr>
        <p:spPr>
          <a:xfrm>
            <a:off x="919885" y="2841347"/>
            <a:ext cx="315365" cy="315365"/>
          </a:xfrm>
          <a:prstGeom prst="rect">
            <a:avLst/>
          </a:prstGeom>
          <a:solidFill>
            <a:srgbClr val="0070C0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9E599-08D4-AFB9-3DB9-1DEF0A35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038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BB31-6B81-108E-C109-764D8A6D3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3A875-0497-C3AD-1C05-F393A2F490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182880" indent="914400" algn="just">
              <a:lnSpc>
                <a:spcPct val="150000"/>
              </a:lnSpc>
              <a:buNone/>
            </a:pPr>
            <a:r>
              <a:rPr lang="fr-FR" dirty="0"/>
              <a:t>Ce projet nous a permis de livrer un système intelligent de recommandation académique fonctionnel en appliquant la méthodologie Agile Scrum via JIRA. Nous avons respecté le cycle de 4 Sprints et comme on a assuré une rotation des rôles de Scrum Master, nous avons transformé les cinq User Stories du </a:t>
            </a:r>
            <a:r>
              <a:rPr lang="fr-FR" dirty="0" err="1"/>
              <a:t>backlog</a:t>
            </a:r>
            <a:r>
              <a:rPr lang="fr-FR" dirty="0"/>
              <a:t> en un produit concret alliant un modèle IA et une interface web.</a:t>
            </a:r>
          </a:p>
          <a:p>
            <a:pPr marL="182880" indent="914400" algn="just">
              <a:lnSpc>
                <a:spcPct val="150000"/>
              </a:lnSpc>
              <a:buNone/>
            </a:pPr>
            <a:r>
              <a:rPr lang="fr-FR" dirty="0"/>
              <a:t>Cette expérience a renforcé notre capacité à travailler de manière itérative, tout en garantissant la transparence et l'amélioration continue essentielles aux standards professionnels actuels.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54DCC-2BE8-6C9A-42B2-C88331F0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89204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E0DD26-7C26-CD8B-36CD-5DE8B3EB5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06F19-43FE-ABE8-66CB-039691E10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622300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/>
              <a:t>App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9E599-08D4-AFB9-3DB9-1DEF0A35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FB13719-706B-45C1-60D3-6345F48A0C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081" y="1764091"/>
            <a:ext cx="6735838" cy="3329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0070C0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8771709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6BB31-6B81-108E-C109-764D8A6D3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368" y="2416175"/>
            <a:ext cx="10691265" cy="2025650"/>
          </a:xfrm>
        </p:spPr>
        <p:txBody>
          <a:bodyPr>
            <a:normAutofit/>
          </a:bodyPr>
          <a:lstStyle/>
          <a:p>
            <a:pPr algn="ctr"/>
            <a:r>
              <a:rPr lang="fr-FR" sz="8800" b="1" dirty="0"/>
              <a:t>Merci 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54DCC-2BE8-6C9A-42B2-C88331F09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70324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363</Words>
  <Application>Microsoft Office PowerPoint</Application>
  <PresentationFormat>Widescreen</PresentationFormat>
  <Paragraphs>43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Calisto MT</vt:lpstr>
      <vt:lpstr>Univers Condensed</vt:lpstr>
      <vt:lpstr>ChronicleVTI</vt:lpstr>
      <vt:lpstr>Gestion d’un projet en ia avev jira    </vt:lpstr>
      <vt:lpstr>introduction</vt:lpstr>
      <vt:lpstr>Notre Équipe (Rôles &amp; Gouvernance)</vt:lpstr>
      <vt:lpstr>Le Scrum Master</vt:lpstr>
      <vt:lpstr>Notre projet sur jira</vt:lpstr>
      <vt:lpstr>Notre projet sur jira</vt:lpstr>
      <vt:lpstr>Notre projet sur jira</vt:lpstr>
      <vt:lpstr>Notre projet sur jira</vt:lpstr>
      <vt:lpstr>conclusion</vt:lpstr>
      <vt:lpstr>App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Abdelhaq EL AMRAOUI</dc:creator>
  <cp:lastModifiedBy>BELKADI HAMZA</cp:lastModifiedBy>
  <cp:revision>5</cp:revision>
  <dcterms:created xsi:type="dcterms:W3CDTF">2026-01-22T10:19:22Z</dcterms:created>
  <dcterms:modified xsi:type="dcterms:W3CDTF">2026-01-22T20:43:50Z</dcterms:modified>
</cp:coreProperties>
</file>